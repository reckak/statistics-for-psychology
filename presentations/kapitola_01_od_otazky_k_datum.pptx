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74" r:id="rId10"/>
    <p:sldId id="264" r:id="rId11"/>
    <p:sldId id="265" r:id="rId12"/>
    <p:sldId id="266" r:id="rId13"/>
    <p:sldId id="267" r:id="rId14"/>
    <p:sldId id="268" r:id="rId15"/>
    <p:sldId id="269" r:id="rId16"/>
    <p:sldId id="270" r:id="rId17"/>
    <p:sldId id="271" r:id="rId18"/>
    <p:sldId id="272" r:id="rId19"/>
    <p:sldId id="273" r:id="rId20"/>
    <p:sldId id="275" r:id="rId21"/>
    <p:sldId id="276" r:id="rId22"/>
    <p:sldId id="277" r:id="rId23"/>
    <p:sldId id="278" r:id="rId24"/>
    <p:sldId id="279" r:id="rId25"/>
    <p:sldId id="280" r:id="rId26"/>
    <p:sldId id="281" r:id="rId27"/>
    <p:sldId id="282" r:id="rId28"/>
    <p:sldId id="283" r:id="rId29"/>
    <p:sldId id="284" r:id="rId30"/>
  </p:sldIdLst>
  <p:sldSz cx="15240000" cy="8572500"/>
  <p:notesSz cx="6797675" cy="9926638"/>
  <p:defaultTextStyle>
    <a:defPPr>
      <a:defRPr lang="cs-CZ" altLang="cs-CZ" noProof="0"/>
    </a:defPPr>
    <a:lvl1pPr marL="0" algn="l" defTabSz="914400" rtl="0" eaLnBrk="1" latinLnBrk="0" hangingPunct="1">
      <a:defRPr lang="cs-CZ" altLang="cs-CZ" sz="1800" kern="1200" noProof="0">
        <a:solidFill>
          <a:schemeClr val="tx1"/>
        </a:solidFill>
        <a:latin typeface="+mn-lt"/>
        <a:ea typeface="+mn-ea"/>
        <a:cs typeface="+mn-cs"/>
      </a:defRPr>
    </a:lvl1pPr>
    <a:lvl2pPr marL="457200" algn="l" defTabSz="914400" rtl="0" eaLnBrk="1" latinLnBrk="0" hangingPunct="1">
      <a:defRPr lang="cs-CZ" altLang="cs-CZ" sz="1800" kern="1200" noProof="0">
        <a:solidFill>
          <a:schemeClr val="tx1"/>
        </a:solidFill>
        <a:latin typeface="+mn-lt"/>
        <a:ea typeface="+mn-ea"/>
        <a:cs typeface="+mn-cs"/>
      </a:defRPr>
    </a:lvl2pPr>
    <a:lvl3pPr marL="914400" algn="l" defTabSz="914400" rtl="0" eaLnBrk="1" latinLnBrk="0" hangingPunct="1">
      <a:defRPr lang="cs-CZ" altLang="cs-CZ" sz="1800" kern="1200" noProof="0">
        <a:solidFill>
          <a:schemeClr val="tx1"/>
        </a:solidFill>
        <a:latin typeface="+mn-lt"/>
        <a:ea typeface="+mn-ea"/>
        <a:cs typeface="+mn-cs"/>
      </a:defRPr>
    </a:lvl3pPr>
    <a:lvl4pPr marL="1371600" algn="l" defTabSz="914400" rtl="0" eaLnBrk="1" latinLnBrk="0" hangingPunct="1">
      <a:defRPr lang="cs-CZ" altLang="cs-CZ" sz="1800" kern="1200" noProof="0">
        <a:solidFill>
          <a:schemeClr val="tx1"/>
        </a:solidFill>
        <a:latin typeface="+mn-lt"/>
        <a:ea typeface="+mn-ea"/>
        <a:cs typeface="+mn-cs"/>
      </a:defRPr>
    </a:lvl4pPr>
    <a:lvl5pPr marL="1828800" algn="l" defTabSz="914400" rtl="0" eaLnBrk="1" latinLnBrk="0" hangingPunct="1">
      <a:defRPr lang="cs-CZ" altLang="cs-CZ" sz="1800" kern="1200" noProof="0">
        <a:solidFill>
          <a:schemeClr val="tx1"/>
        </a:solidFill>
        <a:latin typeface="+mn-lt"/>
        <a:ea typeface="+mn-ea"/>
        <a:cs typeface="+mn-cs"/>
      </a:defRPr>
    </a:lvl5pPr>
    <a:lvl6pPr marL="2286000" algn="l" defTabSz="914400" rtl="0" eaLnBrk="1" latinLnBrk="0" hangingPunct="1">
      <a:defRPr lang="cs-CZ" altLang="cs-CZ" sz="1800" kern="1200" noProof="0">
        <a:solidFill>
          <a:schemeClr val="tx1"/>
        </a:solidFill>
        <a:latin typeface="+mn-lt"/>
        <a:ea typeface="+mn-ea"/>
        <a:cs typeface="+mn-cs"/>
      </a:defRPr>
    </a:lvl6pPr>
    <a:lvl7pPr marL="2743200" algn="l" defTabSz="914400" rtl="0" eaLnBrk="1" latinLnBrk="0" hangingPunct="1">
      <a:defRPr lang="cs-CZ" altLang="cs-CZ" sz="1800" kern="1200" noProof="0">
        <a:solidFill>
          <a:schemeClr val="tx1"/>
        </a:solidFill>
        <a:latin typeface="+mn-lt"/>
        <a:ea typeface="+mn-ea"/>
        <a:cs typeface="+mn-cs"/>
      </a:defRPr>
    </a:lvl7pPr>
    <a:lvl8pPr marL="3200400" algn="l" defTabSz="914400" rtl="0" eaLnBrk="1" latinLnBrk="0" hangingPunct="1">
      <a:defRPr lang="cs-CZ" altLang="cs-CZ" sz="1800" kern="1200" noProof="0">
        <a:solidFill>
          <a:schemeClr val="tx1"/>
        </a:solidFill>
        <a:latin typeface="+mn-lt"/>
        <a:ea typeface="+mn-ea"/>
        <a:cs typeface="+mn-cs"/>
      </a:defRPr>
    </a:lvl8pPr>
    <a:lvl9pPr marL="3657600" algn="l" defTabSz="914400" rtl="0" eaLnBrk="1" latinLnBrk="0" hangingPunct="1">
      <a:defRPr lang="cs-CZ" altLang="cs-CZ" sz="1800" kern="1200" noProof="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0258" autoAdjust="0"/>
  </p:normalViewPr>
  <p:slideViewPr>
    <p:cSldViewPr snapToGrid="0">
      <p:cViewPr varScale="1">
        <p:scale>
          <a:sx n="57" d="100"/>
          <a:sy n="57" d="100"/>
        </p:scale>
        <p:origin x="3086" y="60"/>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lIns="95562" tIns="47781" rIns="95562" bIns="47781"/>
          <a:lstStyle/>
          <a:p>
            <a:pPr>
              <a:defRPr lang="cs-CZ" altLang="cs-CZ" noProof="0"/>
            </a:pPr>
            <a:endParaRPr lang="cs-CZ" altLang="cs-CZ" noProof="0"/>
          </a:p>
        </p:txBody>
      </p:sp>
      <p:sp>
        <p:nvSpPr>
          <p:cNvPr id="3" name="Date Placeholder"/>
          <p:cNvSpPr>
            <a:spLocks noGrp="1"/>
          </p:cNvSpPr>
          <p:nvPr>
            <p:ph type="dt" sz="quarter" idx="1"/>
          </p:nvPr>
        </p:nvSpPr>
        <p:spPr>
          <a:prstGeom prst="rect">
            <a:avLst/>
          </a:prstGeom>
        </p:spPr>
        <p:txBody>
          <a:bodyPr lIns="95562" tIns="47781" rIns="95562" bIns="47781"/>
          <a:lstStyle/>
          <a:p>
            <a:pPr>
              <a:defRPr lang="cs-CZ" altLang="cs-CZ" noProof="0"/>
            </a:pPr>
            <a:endParaRPr lang="cs-CZ" altLang="cs-CZ" noProof="0"/>
          </a:p>
        </p:txBody>
      </p:sp>
      <p:sp>
        <p:nvSpPr>
          <p:cNvPr id="4" name="Slide Image Placeholder"/>
          <p:cNvSpPr>
            <a:spLocks noGrp="1" noRot="1" noChangeAspect="1"/>
          </p:cNvSpPr>
          <p:nvPr>
            <p:ph type="sldImg" idx="2"/>
          </p:nvPr>
        </p:nvSpPr>
        <p:spPr>
          <a:prstGeom prst="rect">
            <a:avLst/>
          </a:prstGeom>
        </p:spPr>
        <p:txBody>
          <a:bodyPr lIns="95562" tIns="47781" rIns="95562" bIns="47781"/>
          <a:lstStyle/>
          <a:p>
            <a:pPr>
              <a:defRPr lang="cs-CZ" altLang="cs-CZ" noProof="0"/>
            </a:pPr>
            <a:endParaRPr lang="cs-CZ" altLang="cs-CZ" noProof="0"/>
          </a:p>
        </p:txBody>
      </p:sp>
      <p:sp>
        <p:nvSpPr>
          <p:cNvPr id="5" name="Notes Placeholder"/>
          <p:cNvSpPr>
            <a:spLocks noGrp="1"/>
          </p:cNvSpPr>
          <p:nvPr>
            <p:ph type="body" sz="quarter" idx="3"/>
          </p:nvPr>
        </p:nvSpPr>
        <p:spPr>
          <a:prstGeom prst="rect">
            <a:avLst/>
          </a:prstGeom>
        </p:spPr>
        <p:txBody>
          <a:bodyPr lIns="95562" tIns="47781" rIns="95562" bIns="47781"/>
          <a:lstStyle/>
          <a:p>
            <a:pPr>
              <a:defRPr lang="cs-CZ" altLang="cs-CZ" noProof="0"/>
            </a:pPr>
            <a:endParaRPr lang="cs-CZ" altLang="cs-CZ" noProof="0"/>
          </a:p>
        </p:txBody>
      </p:sp>
      <p:sp>
        <p:nvSpPr>
          <p:cNvPr id="6" name="Footer Placeholder"/>
          <p:cNvSpPr>
            <a:spLocks noGrp="1"/>
          </p:cNvSpPr>
          <p:nvPr>
            <p:ph type="ftr" sz="quarter" idx="4"/>
          </p:nvPr>
        </p:nvSpPr>
        <p:spPr>
          <a:prstGeom prst="rect">
            <a:avLst/>
          </a:prstGeom>
        </p:spPr>
        <p:txBody>
          <a:bodyPr lIns="95562" tIns="47781" rIns="95562" bIns="47781"/>
          <a:lstStyle/>
          <a:p>
            <a:pPr>
              <a:defRPr lang="cs-CZ" altLang="cs-CZ" noProof="0"/>
            </a:pPr>
            <a:endParaRPr lang="cs-CZ" altLang="cs-CZ" noProof="0"/>
          </a:p>
        </p:txBody>
      </p:sp>
      <p:sp>
        <p:nvSpPr>
          <p:cNvPr id="7" name="Slide Number Placeholder"/>
          <p:cNvSpPr>
            <a:spLocks noGrp="1"/>
          </p:cNvSpPr>
          <p:nvPr>
            <p:ph type="sldNum" sz="quarter" idx="5"/>
          </p:nvPr>
        </p:nvSpPr>
        <p:spPr>
          <a:prstGeom prst="rect">
            <a:avLst/>
          </a:prstGeom>
        </p:spPr>
        <p:txBody>
          <a:bodyPr lIns="95562" tIns="47781" rIns="95562" bIns="47781"/>
          <a:lstStyle/>
          <a:p>
            <a:pPr>
              <a:defRPr lang="cs-CZ" altLang="cs-CZ" noProof="0"/>
            </a:pPr>
            <a:endParaRPr lang="cs-CZ" altLang="cs-CZ" noProof="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lang="cs-CZ" altLang="cs-CZ" sz="1200" kern="1200" noProof="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noProof="0"/>
              <a:t>Na prvním semináři se budeme zabývat tím, co si potřebujeme ujasnit před tím, než začneme dělat jakékoli výpočty.</a:t>
            </a:r>
          </a:p>
          <a:p>
            <a:pPr marL="179178" indent="-179178">
              <a:buFont typeface="Arial" panose="020B0604020202020204" pitchFamily="34" charset="0"/>
              <a:buChar char="•"/>
              <a:defRPr lang="cs-CZ" altLang="cs-CZ" noProof="0"/>
            </a:pPr>
            <a:r>
              <a:rPr lang="cs-CZ" altLang="cs-CZ" noProof="0"/>
              <a:t>Statistika nám pomáhá zodpovědět mnohé psychologické otázky.</a:t>
            </a:r>
          </a:p>
          <a:p>
            <a:pPr marL="179178" indent="-179178">
              <a:buFont typeface="Arial" panose="020B0604020202020204" pitchFamily="34" charset="0"/>
              <a:buChar char="•"/>
              <a:defRPr lang="cs-CZ" altLang="cs-CZ" noProof="0"/>
            </a:pPr>
            <a:r>
              <a:rPr lang="cs-CZ" altLang="cs-CZ" noProof="0"/>
              <a:t>Psychologické otázky bývají formulovány obecně. například zda spánek souvisí s pamětí. </a:t>
            </a:r>
          </a:p>
          <a:p>
            <a:pPr marL="179178" indent="-179178">
              <a:buFont typeface="Arial" panose="020B0604020202020204" pitchFamily="34" charset="0"/>
              <a:buChar char="•"/>
              <a:defRPr lang="cs-CZ" altLang="cs-CZ" noProof="0"/>
            </a:pPr>
            <a:r>
              <a:rPr lang="cs-CZ" altLang="cs-CZ" noProof="0"/>
              <a:t>Ale abychom ji mohli takovouto otázku zodpovědět, musíme určit, koho budeme sledovat, co přesně zaznamenáme a které závěry budou takto získaná data podporovat.</a:t>
            </a:r>
          </a:p>
          <a:p>
            <a:pPr marL="179178" indent="-179178">
              <a:buFont typeface="Arial" panose="020B0604020202020204" pitchFamily="34" charset="0"/>
              <a:buChar char="•"/>
              <a:defRPr lang="cs-CZ" altLang="cs-CZ" noProof="0"/>
            </a:pPr>
            <a:r>
              <a:rPr lang="cs-CZ" altLang="cs-CZ" noProof="0"/>
              <a:t>Pro ilustraci použijeme modelovou studii spánku a vybavování slov.</a:t>
            </a:r>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noProof="0"/>
              <a:t>Mnoho psychologických otázek vychází z </a:t>
            </a:r>
            <a:r>
              <a:rPr lang="cs-CZ" altLang="cs-CZ" b="1" noProof="0"/>
              <a:t>běžné zkušenosti</a:t>
            </a:r>
            <a:r>
              <a:rPr lang="cs-CZ" altLang="cs-CZ" noProof="0"/>
              <a:t>.</a:t>
            </a:r>
          </a:p>
          <a:p>
            <a:pPr marL="179178" indent="-179178">
              <a:buFont typeface="Arial" panose="020B0604020202020204" pitchFamily="34" charset="0"/>
              <a:buChar char="•"/>
              <a:defRPr lang="cs-CZ" altLang="cs-CZ" noProof="0"/>
            </a:pPr>
            <a:r>
              <a:rPr lang="cs-CZ" altLang="cs-CZ" noProof="0"/>
              <a:t>Představme si zkušenost, kterou může mít mnoho z vás: </a:t>
            </a:r>
            <a:r>
              <a:rPr lang="cs-CZ" altLang="cs-CZ" b="1" noProof="0"/>
              <a:t>po nedostatečném spánku se jde učení obtížněji</a:t>
            </a:r>
            <a:r>
              <a:rPr lang="cs-CZ" altLang="cs-CZ" noProof="0"/>
              <a:t>. </a:t>
            </a:r>
          </a:p>
          <a:p>
            <a:pPr marL="179178" indent="-179178">
              <a:buFont typeface="Arial" panose="020B0604020202020204" pitchFamily="34" charset="0"/>
              <a:buChar char="•"/>
              <a:defRPr lang="cs-CZ" altLang="cs-CZ" noProof="0"/>
            </a:pPr>
            <a:r>
              <a:rPr lang="cs-CZ" altLang="cs-CZ" noProof="0"/>
              <a:t>Taková zkušenost je dobrým </a:t>
            </a:r>
            <a:r>
              <a:rPr lang="cs-CZ" altLang="cs-CZ" b="1" noProof="0"/>
              <a:t>podnětem k výzkumné otázce</a:t>
            </a:r>
            <a:r>
              <a:rPr lang="cs-CZ" altLang="cs-CZ" noProof="0"/>
              <a:t>. Sama však ještě neukazuje, jak průkazný a systematický je vztah mezi spánkem a učením. </a:t>
            </a:r>
          </a:p>
          <a:p>
            <a:pPr marL="179178" indent="-179178">
              <a:buFont typeface="Arial" panose="020B0604020202020204" pitchFamily="34" charset="0"/>
              <a:buChar char="•"/>
              <a:defRPr lang="cs-CZ" altLang="cs-CZ" noProof="0"/>
            </a:pPr>
            <a:r>
              <a:rPr lang="cs-CZ" altLang="cs-CZ" noProof="0"/>
              <a:t>Snadno si vybavíme případy, které odpovídají našemu očekávání, a opomeneme ty, které mu odporují (</a:t>
            </a:r>
            <a:r>
              <a:rPr lang="cs-CZ" altLang="cs-CZ" b="1" noProof="0"/>
              <a:t>konfirmační zkreslení</a:t>
            </a:r>
            <a:r>
              <a:rPr lang="cs-CZ" altLang="cs-CZ" noProof="0"/>
              <a:t>). </a:t>
            </a:r>
          </a:p>
          <a:p>
            <a:pPr marL="179178" indent="-179178">
              <a:buFont typeface="Arial" panose="020B0604020202020204" pitchFamily="34" charset="0"/>
              <a:buChar char="•"/>
              <a:defRPr lang="cs-CZ" altLang="cs-CZ" noProof="0"/>
            </a:pPr>
            <a:r>
              <a:rPr lang="cs-CZ" altLang="cs-CZ" noProof="0"/>
              <a:t>Navíc se obvykle </a:t>
            </a:r>
            <a:r>
              <a:rPr lang="cs-CZ" altLang="cs-CZ" b="1" noProof="0"/>
              <a:t>mění více okolností nebo faktorů současně</a:t>
            </a:r>
            <a:r>
              <a:rPr lang="cs-CZ" altLang="cs-CZ" noProof="0"/>
              <a:t>. Před zkouškou můžeme méně spát, ale také se snažit naučit mnohem větší objev učiva a současně prožívat vyšší úzkost nebo jiné nepříjemné pocity.</a:t>
            </a:r>
          </a:p>
          <a:p>
            <a:pPr marL="179178" indent="-179178">
              <a:buFont typeface="Arial" panose="020B0604020202020204" pitchFamily="34" charset="0"/>
              <a:buChar char="•"/>
              <a:defRPr lang="cs-CZ" altLang="cs-CZ" noProof="0"/>
            </a:pPr>
            <a:r>
              <a:rPr lang="cs-CZ" altLang="cs-CZ" noProof="0"/>
              <a:t>Výrok „Po krátkém spánku si nic nepamatuji“ proto potřebujeme </a:t>
            </a:r>
            <a:r>
              <a:rPr lang="cs-CZ" altLang="cs-CZ" b="1" noProof="0"/>
              <a:t>zpřesnit, konkretizovat</a:t>
            </a:r>
            <a:r>
              <a:rPr lang="cs-CZ" altLang="cs-CZ" noProof="0"/>
              <a:t>. </a:t>
            </a:r>
          </a:p>
          <a:p>
            <a:pPr marL="179178" indent="-179178">
              <a:buFont typeface="Arial" panose="020B0604020202020204" pitchFamily="34" charset="0"/>
              <a:buChar char="•"/>
              <a:defRPr lang="cs-CZ" altLang="cs-CZ" noProof="0"/>
            </a:pPr>
            <a:r>
              <a:rPr lang="cs-CZ" altLang="cs-CZ" noProof="0"/>
              <a:t>Není jasné, kolik hodin znamená krátký spánek ani jakou stránku paměti máme na mysli. </a:t>
            </a:r>
          </a:p>
          <a:p>
            <a:pPr marL="179178" indent="-179178">
              <a:buFont typeface="Arial" panose="020B0604020202020204" pitchFamily="34" charset="0"/>
              <a:buChar char="•"/>
              <a:defRPr lang="cs-CZ" altLang="cs-CZ" noProof="0"/>
            </a:pPr>
            <a:r>
              <a:rPr lang="cs-CZ" altLang="cs-CZ" noProof="0"/>
              <a:t>V naší modelové studii se ptáme, zda </a:t>
            </a:r>
            <a:r>
              <a:rPr lang="cs-CZ" altLang="cs-CZ" b="1" noProof="0"/>
              <a:t>studentem uvedená doba spánku během předchozí noci souvisí s počtem slov, která si vybaví po předložení seznamu dvanácti slov</a:t>
            </a:r>
            <a:r>
              <a:rPr lang="cs-CZ" altLang="cs-CZ" noProof="0"/>
              <a:t>. </a:t>
            </a:r>
          </a:p>
          <a:p>
            <a:pPr marL="179178" indent="-179178">
              <a:buFont typeface="Arial" panose="020B0604020202020204" pitchFamily="34" charset="0"/>
              <a:buChar char="•"/>
              <a:defRPr lang="cs-CZ" altLang="cs-CZ" noProof="0"/>
            </a:pPr>
            <a:r>
              <a:rPr lang="cs-CZ" altLang="cs-CZ" noProof="0"/>
              <a:t>Nyní víme, jaké dva údaje chceme získat. Zatím ale nevíme, jaká jejich souvislost skutečně bude ani zda se bude jednat o souvislost kauzální.</a:t>
            </a:r>
          </a:p>
          <a:p>
            <a:pPr marL="179178" indent="-179178">
              <a:buFont typeface="Arial" panose="020B0604020202020204" pitchFamily="34" charset="0"/>
              <a:buChar char="•"/>
              <a:defRPr lang="cs-CZ" altLang="cs-CZ" noProof="0"/>
            </a:pPr>
            <a:r>
              <a:rPr lang="cs-CZ" altLang="cs-CZ" b="1" noProof="0"/>
              <a:t>Statistika a metodologie </a:t>
            </a:r>
            <a:r>
              <a:rPr lang="cs-CZ" altLang="cs-CZ" noProof="0"/>
              <a:t>zde hraje hlavní roli, protože zahrnuje postupy, které pomáhají </a:t>
            </a:r>
            <a:r>
              <a:rPr lang="cs-CZ" altLang="cs-CZ" b="1" noProof="0"/>
              <a:t>plánovat sběr dat</a:t>
            </a:r>
            <a:r>
              <a:rPr lang="cs-CZ" altLang="cs-CZ" noProof="0"/>
              <a:t>, </a:t>
            </a:r>
            <a:r>
              <a:rPr lang="cs-CZ" altLang="cs-CZ" b="1" noProof="0"/>
              <a:t>popisovat data </a:t>
            </a:r>
            <a:r>
              <a:rPr lang="cs-CZ" altLang="cs-CZ" noProof="0"/>
              <a:t>a </a:t>
            </a:r>
            <a:r>
              <a:rPr lang="cs-CZ" altLang="cs-CZ" b="1" noProof="0"/>
              <a:t>vyvozovat z nich závěry s přihlédnutím k nejistotě</a:t>
            </a:r>
            <a:r>
              <a:rPr lang="cs-CZ" altLang="cs-CZ" noProof="0"/>
              <a:t>, kterou nelze nikdy zcela odstranit. </a:t>
            </a:r>
          </a:p>
          <a:p>
            <a:pPr marL="179178" indent="-179178">
              <a:buFont typeface="Arial" panose="020B0604020202020204" pitchFamily="34" charset="0"/>
              <a:buChar char="•"/>
              <a:defRPr lang="cs-CZ" altLang="cs-CZ" noProof="0"/>
            </a:pPr>
            <a:r>
              <a:rPr lang="cs-CZ" altLang="cs-CZ" noProof="0"/>
              <a:t>Nejde pouze o provádění výpočtů. Statistické uvažování potřebujeme </a:t>
            </a:r>
            <a:r>
              <a:rPr lang="cs-CZ" altLang="cs-CZ" b="1" noProof="0"/>
              <a:t>už při rozhodování, jaká data mohou odpovědět na naši otázku</a:t>
            </a:r>
            <a:r>
              <a:rPr lang="cs-CZ" altLang="cs-CZ" noProof="0"/>
              <a:t>.</a:t>
            </a:r>
          </a:p>
          <a:p>
            <a:pPr marL="179178" indent="-179178">
              <a:buFont typeface="Arial" panose="020B0604020202020204" pitchFamily="34" charset="0"/>
              <a:buChar char="•"/>
              <a:defRPr lang="cs-CZ" altLang="cs-CZ" noProof="0"/>
            </a:pPr>
            <a:r>
              <a:rPr lang="cs-CZ" altLang="cs-CZ" noProof="0"/>
              <a:t>Ani správný výpočet nezachrání nesprávný postup. Pokud část lidí uvede dobu spánku a jiná část dobu strávenou v posteli, pracujeme s údaji, které neznamenají totéž. </a:t>
            </a:r>
          </a:p>
          <a:p>
            <a:pPr marL="179178" indent="-179178">
              <a:buFont typeface="Arial" panose="020B0604020202020204" pitchFamily="34" charset="0"/>
              <a:buChar char="•"/>
              <a:defRPr lang="cs-CZ" altLang="cs-CZ" noProof="0"/>
            </a:pPr>
            <a:r>
              <a:rPr lang="cs-CZ" altLang="cs-CZ" noProof="0"/>
              <a:t>Nejistota také není něco, co dobrý výpočet vždy odstraní. I dobře provedená studie může podpořit určitý závěr a současně ponechat prostor pro jeho pozdější zpřesnění nebo zpochybnění.</a:t>
            </a:r>
          </a:p>
          <a:p>
            <a:pPr marL="179178" indent="-179178" defTabSz="955613">
              <a:buFont typeface="Arial" panose="020B0604020202020204" pitchFamily="34" charset="0"/>
              <a:buChar char="•"/>
              <a:defRPr lang="cs-CZ" altLang="cs-CZ" noProof="0"/>
            </a:pPr>
            <a:r>
              <a:rPr lang="cs-CZ" altLang="cs-CZ" i="1" noProof="0"/>
              <a:t>Jak byste převedli tvrzení „Ve stresu se hůře učím“ na konkrétní otázku, kterou lze zkoumat pomocí dat?</a:t>
            </a:r>
            <a:endParaRPr lang="cs-CZ" altLang="cs-CZ" noProof="0"/>
          </a:p>
          <a:p>
            <a:pPr>
              <a:defRPr lang="cs-CZ" altLang="cs-CZ" noProof="0"/>
            </a:pPr>
            <a:endParaRPr lang="cs-CZ" altLang="cs-CZ" noProof="0"/>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noProof="0"/>
              <a:t>Nejprve se podíváme na některé základní pojmy.</a:t>
            </a:r>
          </a:p>
          <a:p>
            <a:pPr marL="179178" indent="-179178">
              <a:buFont typeface="Arial" panose="020B0604020202020204" pitchFamily="34" charset="0"/>
              <a:buChar char="•"/>
              <a:defRPr lang="cs-CZ" altLang="cs-CZ" noProof="0"/>
            </a:pPr>
            <a:r>
              <a:rPr lang="cs-CZ" altLang="cs-CZ" noProof="0"/>
              <a:t>Na slidu vidíme </a:t>
            </a:r>
            <a:r>
              <a:rPr lang="cs-CZ" altLang="cs-CZ" b="1" noProof="0"/>
              <a:t>záznam o studentovi označeném P01</a:t>
            </a:r>
            <a:r>
              <a:rPr lang="cs-CZ" altLang="cs-CZ" noProof="0"/>
              <a:t>. </a:t>
            </a:r>
          </a:p>
          <a:p>
            <a:pPr marL="179178" indent="-179178">
              <a:buFont typeface="Arial" panose="020B0604020202020204" pitchFamily="34" charset="0"/>
              <a:buChar char="•"/>
              <a:defRPr lang="cs-CZ" altLang="cs-CZ" noProof="0"/>
            </a:pPr>
            <a:r>
              <a:rPr lang="cs-CZ" altLang="cs-CZ" noProof="0"/>
              <a:t>Při jednom měření uvedl šest hodin spánku, správně vybavil pět slov a přišel dopoledne. Na tomto jediném řádku můžeme rozlišit několik základních pojmů.</a:t>
            </a:r>
          </a:p>
          <a:p>
            <a:pPr marL="179178" indent="-179178">
              <a:buFont typeface="Arial" panose="020B0604020202020204" pitchFamily="34" charset="0"/>
              <a:buChar char="•"/>
              <a:defRPr lang="cs-CZ" altLang="cs-CZ" noProof="0"/>
            </a:pPr>
            <a:r>
              <a:rPr lang="cs-CZ" altLang="cs-CZ" b="1" noProof="0"/>
              <a:t>Případ (case)</a:t>
            </a:r>
            <a:r>
              <a:rPr lang="cs-CZ" altLang="cs-CZ" noProof="0"/>
              <a:t> je </a:t>
            </a:r>
            <a:r>
              <a:rPr lang="cs-CZ" altLang="cs-CZ" i="1" noProof="0"/>
              <a:t>statistická jednotka, o které vedeme soubor údajů</a:t>
            </a:r>
            <a:r>
              <a:rPr lang="cs-CZ" altLang="cs-CZ" noProof="0"/>
              <a:t>. Zde je případem konkrétní student při konkrétní návštěvě. </a:t>
            </a:r>
          </a:p>
          <a:p>
            <a:pPr marL="179178" indent="-179178">
              <a:buFont typeface="Arial" panose="020B0604020202020204" pitchFamily="34" charset="0"/>
              <a:buChar char="•"/>
              <a:defRPr lang="cs-CZ" altLang="cs-CZ" noProof="0"/>
            </a:pPr>
            <a:r>
              <a:rPr lang="cs-CZ" altLang="cs-CZ" noProof="0"/>
              <a:t>V jiném výzkumu by případem mohla být rodina, školní třída nebo jedna návštěva klienta. </a:t>
            </a:r>
          </a:p>
          <a:p>
            <a:pPr marL="179178" indent="-179178">
              <a:buFont typeface="Arial" panose="020B0604020202020204" pitchFamily="34" charset="0"/>
              <a:buChar char="•"/>
              <a:defRPr lang="cs-CZ" altLang="cs-CZ" noProof="0"/>
            </a:pPr>
            <a:r>
              <a:rPr lang="cs-CZ" altLang="cs-CZ" noProof="0"/>
              <a:t>Vždy proto musíme výslovně určit, co jeden případ představuje.</a:t>
            </a:r>
          </a:p>
          <a:p>
            <a:pPr marL="179178" indent="-179178">
              <a:buFont typeface="Arial" panose="020B0604020202020204" pitchFamily="34" charset="0"/>
              <a:buChar char="•"/>
              <a:defRPr lang="cs-CZ" altLang="cs-CZ" noProof="0"/>
            </a:pPr>
            <a:r>
              <a:rPr lang="cs-CZ" altLang="cs-CZ" b="1" noProof="0"/>
              <a:t>Proměnná (</a:t>
            </a:r>
            <a:r>
              <a:rPr lang="cs-CZ" altLang="cs-CZ" b="1" noProof="0" err="1"/>
              <a:t>variable</a:t>
            </a:r>
            <a:r>
              <a:rPr lang="cs-CZ" altLang="cs-CZ" b="1" noProof="0"/>
              <a:t>) </a:t>
            </a:r>
            <a:r>
              <a:rPr lang="cs-CZ" altLang="cs-CZ" noProof="0"/>
              <a:t>je vlastnost či údaj, který může u různých případů nabývat různých hodnot. </a:t>
            </a:r>
          </a:p>
          <a:p>
            <a:pPr marL="179178" indent="-179178">
              <a:buFont typeface="Arial" panose="020B0604020202020204" pitchFamily="34" charset="0"/>
              <a:buChar char="•"/>
              <a:defRPr lang="cs-CZ" altLang="cs-CZ" noProof="0"/>
            </a:pPr>
            <a:r>
              <a:rPr lang="cs-CZ" altLang="cs-CZ" noProof="0"/>
              <a:t>Zde sledujeme dobu spánku, počet vybavených slov a část dne. </a:t>
            </a:r>
          </a:p>
          <a:p>
            <a:pPr marL="179178" indent="-179178">
              <a:buFont typeface="Arial" panose="020B0604020202020204" pitchFamily="34" charset="0"/>
              <a:buChar char="•"/>
              <a:defRPr lang="cs-CZ" altLang="cs-CZ" noProof="0"/>
            </a:pPr>
            <a:r>
              <a:rPr lang="cs-CZ" altLang="cs-CZ" b="1" noProof="0"/>
              <a:t>Hodnota (</a:t>
            </a:r>
            <a:r>
              <a:rPr lang="cs-CZ" altLang="cs-CZ" b="1" noProof="0" err="1"/>
              <a:t>value</a:t>
            </a:r>
            <a:r>
              <a:rPr lang="cs-CZ" altLang="cs-CZ" b="1" noProof="0"/>
              <a:t>) </a:t>
            </a:r>
            <a:r>
              <a:rPr lang="cs-CZ" altLang="cs-CZ" noProof="0"/>
              <a:t>je </a:t>
            </a:r>
            <a:r>
              <a:rPr lang="cs-CZ" altLang="cs-CZ" i="1" noProof="0"/>
              <a:t>konkrétní záznam</a:t>
            </a:r>
            <a:r>
              <a:rPr lang="cs-CZ" altLang="cs-CZ" noProof="0"/>
              <a:t>: šest hodin, pět slov nebo dopoledne. </a:t>
            </a:r>
          </a:p>
          <a:p>
            <a:pPr marL="179178" indent="-179178">
              <a:buFont typeface="Arial" panose="020B0604020202020204" pitchFamily="34" charset="0"/>
              <a:buChar char="•"/>
              <a:defRPr lang="cs-CZ" altLang="cs-CZ" noProof="0"/>
            </a:pPr>
            <a:r>
              <a:rPr lang="cs-CZ" altLang="cs-CZ" noProof="0"/>
              <a:t>Hodnoty tedy </a:t>
            </a:r>
            <a:r>
              <a:rPr lang="cs-CZ" altLang="cs-CZ" i="1" noProof="0"/>
              <a:t>nemusí být číselné</a:t>
            </a:r>
            <a:r>
              <a:rPr lang="cs-CZ" altLang="cs-CZ" noProof="0"/>
              <a:t>. Samotné číslo šest navíc neříká, zda jde o hodiny, počet odpovědí, nebo identifikační kód.</a:t>
            </a:r>
          </a:p>
          <a:p>
            <a:pPr marL="179178" indent="-179178">
              <a:buFont typeface="Arial" panose="020B0604020202020204" pitchFamily="34" charset="0"/>
              <a:buChar char="•"/>
              <a:defRPr lang="cs-CZ" altLang="cs-CZ" noProof="0"/>
            </a:pPr>
            <a:r>
              <a:rPr lang="cs-CZ" altLang="cs-CZ" noProof="0"/>
              <a:t>Od </a:t>
            </a:r>
            <a:r>
              <a:rPr lang="cs-CZ" altLang="cs-CZ" b="1" noProof="0"/>
              <a:t>zaznamenané hodnoty </a:t>
            </a:r>
            <a:r>
              <a:rPr lang="cs-CZ" altLang="cs-CZ" noProof="0"/>
              <a:t>odlišujeme </a:t>
            </a:r>
            <a:r>
              <a:rPr lang="cs-CZ" altLang="cs-CZ" b="1" noProof="0"/>
              <a:t>možné hodnoty</a:t>
            </a:r>
            <a:r>
              <a:rPr lang="cs-CZ" altLang="cs-CZ" noProof="0"/>
              <a:t>. V úloze s dvanácti slovy je možné správně vybavit nula až dvanáct různých slov. U P01 jsme zaznamenali pět. To, že v malém souboru nikdo </a:t>
            </a:r>
            <a:r>
              <a:rPr lang="cs-CZ" altLang="cs-CZ" b="0" noProof="0"/>
              <a:t>nezíská</a:t>
            </a:r>
            <a:r>
              <a:rPr lang="cs-CZ" altLang="cs-CZ" noProof="0"/>
              <a:t> dvanáct, neznamená, že dvanáct přestalo být možnou hodnotou.</a:t>
            </a:r>
          </a:p>
          <a:p>
            <a:pPr marL="179178" indent="-179178">
              <a:buFont typeface="Arial" panose="020B0604020202020204" pitchFamily="34" charset="0"/>
              <a:buChar char="•"/>
              <a:defRPr lang="cs-CZ" altLang="cs-CZ" noProof="0"/>
            </a:pPr>
            <a:r>
              <a:rPr lang="cs-CZ" altLang="cs-CZ" b="1" noProof="0"/>
              <a:t>Konstanta</a:t>
            </a:r>
            <a:r>
              <a:rPr lang="cs-CZ" altLang="cs-CZ" noProof="0"/>
              <a:t> má ve vymezeném souboru nebo za vymezených podmínek stále stejnou hodnotu. Pokud sledujeme jen druhý ročník, ročník je v tomto souboru konstantní. Po přidání prváků se začne lišit. Konstantnost tedy závisí také na tom, jaký soubor posuzujeme. </a:t>
            </a:r>
          </a:p>
          <a:p>
            <a:pPr marL="179178" indent="-179178">
              <a:buFont typeface="Arial" panose="020B0604020202020204" pitchFamily="34" charset="0"/>
              <a:buChar char="•"/>
              <a:defRPr lang="cs-CZ" altLang="cs-CZ" noProof="0"/>
            </a:pPr>
            <a:r>
              <a:rPr lang="cs-CZ" altLang="cs-CZ" noProof="0"/>
              <a:t>A konečně: pokud tentýž člověk přijde vícekrát, může mít více záznamů. Počet řádků proto nesmíme automaticky zaměnit za počet různých lidí.</a:t>
            </a:r>
          </a:p>
          <a:p>
            <a:pPr marL="179178" indent="-179178" defTabSz="955613">
              <a:buFont typeface="Arial" panose="020B0604020202020204" pitchFamily="34" charset="0"/>
              <a:buChar char="•"/>
              <a:defRPr lang="cs-CZ" altLang="cs-CZ" noProof="0"/>
            </a:pPr>
            <a:r>
              <a:rPr lang="cs-CZ" altLang="cs-CZ" i="1" noProof="0"/>
              <a:t>Když u deseti studentů zaznamenáme </a:t>
            </a:r>
            <a:r>
              <a:rPr lang="cs-CZ" altLang="cs-CZ" i="1" noProof="0" err="1"/>
              <a:t>odpočatost</a:t>
            </a:r>
            <a:r>
              <a:rPr lang="cs-CZ" altLang="cs-CZ" i="1" noProof="0"/>
              <a:t> každé ráno po dobu týdne, co bude představovat jeden případ v naší tabulce?</a:t>
            </a:r>
          </a:p>
          <a:p>
            <a:pPr>
              <a:defRPr lang="cs-CZ" altLang="cs-CZ" noProof="0"/>
            </a:pPr>
            <a:endParaRPr lang="cs-CZ" altLang="cs-CZ" noProof="0"/>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b="1" noProof="0"/>
              <a:t>Populace (</a:t>
            </a:r>
            <a:r>
              <a:rPr lang="cs-CZ" altLang="cs-CZ" b="1" noProof="0" err="1"/>
              <a:t>population</a:t>
            </a:r>
            <a:r>
              <a:rPr lang="cs-CZ" altLang="cs-CZ" b="1" noProof="0"/>
              <a:t>) </a:t>
            </a:r>
            <a:r>
              <a:rPr lang="cs-CZ" altLang="cs-CZ" noProof="0"/>
              <a:t>je soubor případů, ke kterému se vztahuje naše výzkumná otázka. Množina všech případů, o kterých chceme činit závěry.</a:t>
            </a:r>
          </a:p>
          <a:p>
            <a:pPr marL="179178" indent="-179178">
              <a:buFont typeface="Arial" panose="020B0604020202020204" pitchFamily="34" charset="0"/>
              <a:buChar char="•"/>
              <a:defRPr lang="cs-CZ" altLang="cs-CZ" noProof="0"/>
            </a:pPr>
            <a:r>
              <a:rPr lang="cs-CZ" altLang="cs-CZ" noProof="0"/>
              <a:t>Mohou ji být např. bakalářští studenti jedné fakulty v určitém akademickém roce. Vymezení fakulty, typu studia a období je podstatné. Bez něj bychom nevěděli, na koho chceme závěr vztáhnout.</a:t>
            </a:r>
          </a:p>
          <a:p>
            <a:pPr marL="179178" indent="-179178">
              <a:buFont typeface="Arial" panose="020B0604020202020204" pitchFamily="34" charset="0"/>
              <a:buChar char="•"/>
              <a:defRPr lang="cs-CZ" altLang="cs-CZ" noProof="0"/>
            </a:pPr>
            <a:r>
              <a:rPr lang="cs-CZ" altLang="cs-CZ" b="1" noProof="0"/>
              <a:t>Výběr (sample) </a:t>
            </a:r>
            <a:r>
              <a:rPr lang="cs-CZ" altLang="cs-CZ" noProof="0"/>
              <a:t>je část (podmnožina) této populace zahrnutá do studie. Pokud získáme údaje jen od některých vymezených studentů, máme výběr. </a:t>
            </a:r>
          </a:p>
          <a:p>
            <a:pPr marL="179178" indent="-179178">
              <a:buFont typeface="Arial" panose="020B0604020202020204" pitchFamily="34" charset="0"/>
              <a:buChar char="•"/>
              <a:defRPr lang="cs-CZ" altLang="cs-CZ" noProof="0"/>
            </a:pPr>
            <a:r>
              <a:rPr lang="cs-CZ" altLang="cs-CZ" noProof="0"/>
              <a:t>V psychologii se používají také označení </a:t>
            </a:r>
            <a:r>
              <a:rPr lang="cs-CZ" altLang="cs-CZ" i="1" noProof="0"/>
              <a:t>výzkumný soubor </a:t>
            </a:r>
            <a:r>
              <a:rPr lang="cs-CZ" altLang="cs-CZ" noProof="0"/>
              <a:t>nebo </a:t>
            </a:r>
            <a:r>
              <a:rPr lang="cs-CZ" altLang="cs-CZ" i="1" noProof="0"/>
              <a:t>vzorek</a:t>
            </a:r>
            <a:r>
              <a:rPr lang="cs-CZ" altLang="cs-CZ" noProof="0"/>
              <a:t>. </a:t>
            </a:r>
          </a:p>
          <a:p>
            <a:pPr marL="179178" indent="-179178">
              <a:buFont typeface="Arial" panose="020B0604020202020204" pitchFamily="34" charset="0"/>
              <a:buChar char="•"/>
              <a:defRPr lang="cs-CZ" altLang="cs-CZ" noProof="0"/>
            </a:pPr>
            <a:r>
              <a:rPr lang="cs-CZ" altLang="cs-CZ" noProof="0"/>
              <a:t>Samotné slovo výběr však </a:t>
            </a:r>
            <a:r>
              <a:rPr lang="cs-CZ" altLang="cs-CZ" b="1" noProof="0"/>
              <a:t>neříká, jakým způsobem byli lidé získáni (vybíráni)</a:t>
            </a:r>
            <a:r>
              <a:rPr lang="cs-CZ" altLang="cs-CZ" noProof="0"/>
              <a:t>. Mohli být vylosováni, osloveni podle dostupnosti nebo se přihlásit dobrovolně.</a:t>
            </a:r>
          </a:p>
          <a:p>
            <a:pPr marL="179178" indent="-179178">
              <a:buFont typeface="Arial" panose="020B0604020202020204" pitchFamily="34" charset="0"/>
              <a:buChar char="•"/>
              <a:defRPr lang="cs-CZ" altLang="cs-CZ" noProof="0"/>
            </a:pPr>
            <a:r>
              <a:rPr lang="cs-CZ" altLang="cs-CZ" noProof="0"/>
              <a:t>Rozdíl mezi populací a výběrem </a:t>
            </a:r>
            <a:r>
              <a:rPr lang="cs-CZ" altLang="cs-CZ" b="1" noProof="0"/>
              <a:t>není dán velikostí skupiny</a:t>
            </a:r>
            <a:r>
              <a:rPr lang="cs-CZ" altLang="cs-CZ" noProof="0"/>
              <a:t>. </a:t>
            </a:r>
          </a:p>
          <a:p>
            <a:pPr marL="179178" indent="-179178">
              <a:buFont typeface="Arial" panose="020B0604020202020204" pitchFamily="34" charset="0"/>
              <a:buChar char="•"/>
              <a:defRPr lang="cs-CZ" altLang="cs-CZ" noProof="0"/>
            </a:pPr>
            <a:r>
              <a:rPr lang="cs-CZ" altLang="cs-CZ" noProof="0"/>
              <a:t>Představme si, že získáme údaje od všech studentů druhého ročníku psychologie jedné fakulty. Chceme-li popsat právě tento obor a ročník v daném roce, máme údaje o celé cílové populaci. Pokud chceme ze stejných údajů usuzovat na všechny studenty psychologie v Česku, tatáž skupina je výběrem z mnohem širší populace.</a:t>
            </a:r>
          </a:p>
          <a:p>
            <a:pPr marL="179178" indent="-179178">
              <a:buFont typeface="Arial" panose="020B0604020202020204" pitchFamily="34" charset="0"/>
              <a:buChar char="•"/>
              <a:defRPr lang="cs-CZ" altLang="cs-CZ" noProof="0"/>
            </a:pPr>
            <a:r>
              <a:rPr lang="cs-CZ" altLang="cs-CZ" noProof="0"/>
              <a:t>Lidé ani údaje se nezměnili. Změnila se otázka a rozsah zamýšleného závěru. </a:t>
            </a:r>
          </a:p>
          <a:p>
            <a:pPr marL="179178" indent="-179178">
              <a:buFont typeface="Arial" panose="020B0604020202020204" pitchFamily="34" charset="0"/>
              <a:buChar char="•"/>
              <a:defRPr lang="cs-CZ" altLang="cs-CZ" noProof="0"/>
            </a:pPr>
            <a:r>
              <a:rPr lang="cs-CZ" altLang="cs-CZ" noProof="0"/>
              <a:t>Úplné pokrytí jednoho ročníku samo nezaručuje, že tento ročník dobře zastupuje studenty z jiných škol, ročníků nebo období. Pro širší závěr potřebujeme zdůvodnit, proč by se výsledky měly přenášet také na ně.</a:t>
            </a:r>
          </a:p>
          <a:p>
            <a:pPr marL="179178" indent="-179178">
              <a:buFont typeface="Arial" panose="020B0604020202020204" pitchFamily="34" charset="0"/>
              <a:buChar char="•"/>
              <a:defRPr lang="cs-CZ" altLang="cs-CZ" noProof="0"/>
            </a:pPr>
            <a:r>
              <a:rPr lang="cs-CZ" altLang="cs-CZ" noProof="0"/>
              <a:t>Před čtením každého výzkumného výsledku je proto užitečné položit si dvě oddělené otázky: o kom autoři chtějí něco tvrdit a od koho skutečně získali údaje. Právě vzdálenost mezi těmito dvěma skupinami bývá pro posouzení zobecnění důležitá.</a:t>
            </a:r>
          </a:p>
          <a:p>
            <a:pPr marL="179178" indent="-179178" defTabSz="955613">
              <a:buFont typeface="Arial" panose="020B0604020202020204" pitchFamily="34" charset="0"/>
              <a:buChar char="•"/>
              <a:defRPr lang="cs-CZ" altLang="cs-CZ" noProof="0"/>
            </a:pPr>
            <a:r>
              <a:rPr lang="cs-CZ" altLang="cs-CZ" i="1" noProof="0"/>
              <a:t>Pro jakou výzkumnou otázku by všichni lidé přítomní v této učebně tvořili celou populaci a pro jakou pouze výběr?</a:t>
            </a:r>
            <a:endParaRPr lang="cs-CZ" altLang="cs-CZ" noProof="0"/>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noProof="0"/>
              <a:t>Když něco zkoumáme, můžeme činit </a:t>
            </a:r>
            <a:r>
              <a:rPr lang="cs-CZ" altLang="cs-CZ" b="1" noProof="0"/>
              <a:t>různě silné závěry</a:t>
            </a:r>
            <a:r>
              <a:rPr lang="cs-CZ" altLang="cs-CZ" noProof="0"/>
              <a:t>.</a:t>
            </a:r>
          </a:p>
          <a:p>
            <a:pPr marL="179178" indent="-179178">
              <a:buFont typeface="Arial" panose="020B0604020202020204" pitchFamily="34" charset="0"/>
              <a:buChar char="•"/>
              <a:defRPr lang="cs-CZ" altLang="cs-CZ" noProof="0"/>
            </a:pPr>
            <a:r>
              <a:rPr lang="cs-CZ" altLang="cs-CZ" noProof="0"/>
              <a:t>Na slidu jsou tři výroky, které mohou na první pohled působit podobně. Každý však klade </a:t>
            </a:r>
            <a:r>
              <a:rPr lang="cs-CZ" altLang="cs-CZ" b="1" noProof="0"/>
              <a:t>jiný nárok na důkazy</a:t>
            </a:r>
            <a:r>
              <a:rPr lang="cs-CZ" altLang="cs-CZ" noProof="0"/>
              <a:t>. </a:t>
            </a:r>
          </a:p>
          <a:p>
            <a:pPr marL="179178" indent="-179178">
              <a:buFont typeface="Arial" panose="020B0604020202020204" pitchFamily="34" charset="0"/>
              <a:buChar char="•"/>
              <a:defRPr lang="cs-CZ" altLang="cs-CZ" noProof="0"/>
            </a:pPr>
            <a:r>
              <a:rPr lang="cs-CZ" altLang="cs-CZ" noProof="0"/>
              <a:t>Předpokládejme pro tento modelový příklad, že jsme zjistili kladnou souvislost souvislost mezi uvedenou dobou spánku a výkonem v našem souboru, tedy že delší spánek souvisí s lepším výkonem v testu vybavování slov.</a:t>
            </a:r>
          </a:p>
          <a:p>
            <a:pPr marL="179178" indent="-179178">
              <a:buFont typeface="Arial" panose="020B0604020202020204" pitchFamily="34" charset="0"/>
              <a:buChar char="•"/>
              <a:defRPr lang="cs-CZ" altLang="cs-CZ" noProof="0"/>
            </a:pPr>
            <a:r>
              <a:rPr lang="cs-CZ" altLang="cs-CZ" noProof="0"/>
              <a:t>První výrok říká pouze to, co se objevilo v získaných datech. Patří do oblasti </a:t>
            </a:r>
            <a:r>
              <a:rPr lang="cs-CZ" altLang="cs-CZ" b="1" noProof="0"/>
              <a:t>popisné statistiky </a:t>
            </a:r>
            <a:r>
              <a:rPr lang="cs-CZ" altLang="cs-CZ" b="0" noProof="0"/>
              <a:t>(</a:t>
            </a:r>
            <a:r>
              <a:rPr lang="cs-CZ" altLang="cs-CZ" b="0" noProof="0" err="1"/>
              <a:t>descriptive</a:t>
            </a:r>
            <a:r>
              <a:rPr lang="cs-CZ" altLang="cs-CZ" b="0" noProof="0"/>
              <a:t> </a:t>
            </a:r>
            <a:r>
              <a:rPr lang="cs-CZ" altLang="cs-CZ" b="0" noProof="0" err="1"/>
              <a:t>statistics</a:t>
            </a:r>
            <a:r>
              <a:rPr lang="cs-CZ" altLang="cs-CZ" b="0" noProof="0"/>
              <a:t>). </a:t>
            </a:r>
            <a:r>
              <a:rPr lang="cs-CZ" altLang="cs-CZ" noProof="0"/>
              <a:t>Popisná statistika data uspořádává a shrnuje. Výrok může být správný pro zkoumané účastníky, aniž by platil v jiné skupině (jiném výběru) nebo na úrovni populace.</a:t>
            </a:r>
          </a:p>
          <a:p>
            <a:pPr marL="179178" indent="-179178">
              <a:buFont typeface="Arial" panose="020B0604020202020204" pitchFamily="34" charset="0"/>
              <a:buChar char="•"/>
              <a:defRPr lang="cs-CZ" altLang="cs-CZ" noProof="0"/>
            </a:pPr>
            <a:r>
              <a:rPr lang="cs-CZ" altLang="cs-CZ" noProof="0"/>
              <a:t>Druhý výrok jde za rámec těchto účastníků (nad rámec výběru). Očekává podobný vztah u všech studentů fakulty. </a:t>
            </a:r>
            <a:r>
              <a:rPr lang="cs-CZ" altLang="cs-CZ" b="1" noProof="0"/>
              <a:t>Inferenční statistika </a:t>
            </a:r>
            <a:r>
              <a:rPr lang="cs-CZ" altLang="cs-CZ" noProof="0"/>
              <a:t>(</a:t>
            </a:r>
            <a:r>
              <a:rPr lang="cs-CZ" altLang="cs-CZ" noProof="0" err="1"/>
              <a:t>inferential</a:t>
            </a:r>
            <a:r>
              <a:rPr lang="cs-CZ" altLang="cs-CZ" noProof="0"/>
              <a:t> </a:t>
            </a:r>
            <a:r>
              <a:rPr lang="cs-CZ" altLang="cs-CZ" noProof="0" err="1"/>
              <a:t>statistics</a:t>
            </a:r>
            <a:r>
              <a:rPr lang="cs-CZ" altLang="cs-CZ" noProof="0"/>
              <a:t>) poskytuje postupy pro takové usuzování za bezprostřední rámec dat. </a:t>
            </a:r>
          </a:p>
          <a:p>
            <a:pPr marL="179178" indent="-179178">
              <a:buFont typeface="Arial" panose="020B0604020202020204" pitchFamily="34" charset="0"/>
              <a:buChar char="•"/>
              <a:defRPr lang="cs-CZ" altLang="cs-CZ" noProof="0"/>
            </a:pPr>
            <a:r>
              <a:rPr lang="cs-CZ" altLang="cs-CZ" noProof="0"/>
              <a:t>Zobecnění však vyžaduje předpoklady o tom, jak data vznikla, a zahrnuje nejistotu. Potřebujeme posoudit způsob získání účastníků a důvody, proč očekáváme podobný vztah v cílové populaci.</a:t>
            </a:r>
          </a:p>
          <a:p>
            <a:pPr marL="179178" indent="-179178">
              <a:buFont typeface="Arial" panose="020B0604020202020204" pitchFamily="34" charset="0"/>
              <a:buChar char="•"/>
              <a:defRPr lang="cs-CZ" altLang="cs-CZ" noProof="0"/>
            </a:pPr>
            <a:r>
              <a:rPr lang="cs-CZ" altLang="cs-CZ" noProof="0"/>
              <a:t>Třetí výrok </a:t>
            </a:r>
            <a:r>
              <a:rPr lang="cs-CZ" altLang="cs-CZ" b="1" noProof="0"/>
              <a:t>předpovídá účinek zásahu</a:t>
            </a:r>
            <a:r>
              <a:rPr lang="cs-CZ" altLang="cs-CZ" noProof="0"/>
              <a:t>: prodloužíme-li studentům spánek, zlepšíme tím jejich výkon. To je </a:t>
            </a:r>
            <a:r>
              <a:rPr lang="cs-CZ" altLang="cs-CZ" b="1" noProof="0"/>
              <a:t>kauzální závěr</a:t>
            </a:r>
            <a:r>
              <a:rPr lang="cs-CZ" altLang="cs-CZ" noProof="0"/>
              <a:t>. Samotná pozorovaná souvislost jej nezaručuje. Se spánkem i výkonem může souviset například studijní zátěž. Musíme tedy posoudit i alternativní vysvětlení a to, zda design studie umožňuje účinek zásahu odlišit.</a:t>
            </a:r>
          </a:p>
          <a:p>
            <a:pPr marL="179178" indent="-179178">
              <a:buFont typeface="Arial" panose="020B0604020202020204" pitchFamily="34" charset="0"/>
              <a:buChar char="•"/>
              <a:defRPr lang="cs-CZ" altLang="cs-CZ" noProof="0"/>
            </a:pPr>
            <a:r>
              <a:rPr lang="cs-CZ" altLang="cs-CZ" noProof="0"/>
              <a:t>Tyto tři otázky je vhodné rozlišovat už při plánování studie. Ani přesný popis souboru, ani to, že dobře reprezentuje populaci, totiž neprokazuje příčinu. </a:t>
            </a:r>
          </a:p>
          <a:p>
            <a:pPr marL="179178" indent="-179178">
              <a:buFont typeface="Arial" panose="020B0604020202020204" pitchFamily="34" charset="0"/>
              <a:buChar char="•"/>
              <a:defRPr lang="cs-CZ" altLang="cs-CZ" noProof="0"/>
            </a:pPr>
            <a:r>
              <a:rPr lang="cs-CZ" altLang="cs-CZ" noProof="0"/>
              <a:t>Podrobnější statistický výpočet také nemůže bez potřebných předpokladů dodat oporu, která chybí ve způsobu vzniku dat.</a:t>
            </a:r>
          </a:p>
          <a:p>
            <a:pPr marL="179178" indent="-179178" defTabSz="955613">
              <a:buFont typeface="Arial" panose="020B0604020202020204" pitchFamily="34" charset="0"/>
              <a:buChar char="•"/>
              <a:defRPr lang="cs-CZ" altLang="cs-CZ" noProof="0"/>
            </a:pPr>
            <a:r>
              <a:rPr lang="cs-CZ" altLang="cs-CZ" i="1" noProof="0"/>
              <a:t>Kdybychom u všech studentů fakulty zjistili, že delší spánek souvisí s lepším výkonem, opravňovalo by nás to doporučit prodloužení spánku jako způsob zlepšení výkonu?</a:t>
            </a:r>
            <a:endParaRPr lang="cs-CZ" altLang="cs-CZ" noProof="0"/>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noProof="0"/>
              <a:t>Obecně existují dva hlavní způsoby získávání účastníků.</a:t>
            </a:r>
          </a:p>
          <a:p>
            <a:pPr marL="179178" indent="-179178">
              <a:buFont typeface="Arial" panose="020B0604020202020204" pitchFamily="34" charset="0"/>
              <a:buChar char="•"/>
              <a:defRPr lang="cs-CZ" altLang="cs-CZ" noProof="0"/>
            </a:pPr>
            <a:r>
              <a:rPr lang="cs-CZ" altLang="cs-CZ" b="1" noProof="0"/>
              <a:t>Náhodný výběr (</a:t>
            </a:r>
            <a:r>
              <a:rPr lang="cs-CZ" altLang="cs-CZ" b="1" noProof="0" err="1"/>
              <a:t>random</a:t>
            </a:r>
            <a:r>
              <a:rPr lang="cs-CZ" altLang="cs-CZ" b="1" noProof="0"/>
              <a:t> </a:t>
            </a:r>
            <a:r>
              <a:rPr lang="cs-CZ" altLang="cs-CZ" b="1" noProof="0" err="1"/>
              <a:t>sampling</a:t>
            </a:r>
            <a:r>
              <a:rPr lang="cs-CZ" altLang="cs-CZ" b="1" noProof="0"/>
              <a:t>) </a:t>
            </a:r>
            <a:r>
              <a:rPr lang="cs-CZ" altLang="cs-CZ" noProof="0"/>
              <a:t>používá náhodný mechanismus. Každý případ ve vymezené populaci má známou a nenulovou pravděpodobnost vybrání. Tyto pravděpodobnosti nemusí být v každém typu náhodného výběru stejné.</a:t>
            </a:r>
          </a:p>
          <a:p>
            <a:pPr marL="179178" indent="-179178">
              <a:buFont typeface="Arial" panose="020B0604020202020204" pitchFamily="34" charset="0"/>
              <a:buChar char="•"/>
              <a:defRPr lang="cs-CZ" altLang="cs-CZ" noProof="0"/>
            </a:pPr>
            <a:r>
              <a:rPr lang="cs-CZ" altLang="cs-CZ" noProof="0"/>
              <a:t>Jednoduchou podobou je </a:t>
            </a:r>
            <a:r>
              <a:rPr lang="cs-CZ" altLang="cs-CZ" b="1" noProof="0"/>
              <a:t>prostý náhodný výběr</a:t>
            </a:r>
            <a:r>
              <a:rPr lang="cs-CZ" altLang="cs-CZ" noProof="0"/>
              <a:t>. Ze seznamu všech tisíce studentů fakulty vylosujeme sto různých studentů tak, aby každá možná skupina sta studentů měla stejnou šanci. Každý student má pak desetiprocentní pravděpodobnost, že bude vybrán k oslovení. </a:t>
            </a:r>
          </a:p>
          <a:p>
            <a:pPr marL="179178" indent="-179178">
              <a:buFont typeface="Arial" panose="020B0604020202020204" pitchFamily="34" charset="0"/>
              <a:buChar char="•"/>
              <a:defRPr lang="cs-CZ" altLang="cs-CZ" noProof="0"/>
            </a:pPr>
            <a:r>
              <a:rPr lang="cs-CZ" altLang="cs-CZ" noProof="0"/>
              <a:t>Tím však ještě není zaručena jeho skutečná účast: může pozvání odmítnout. Různé řádně provedené výběry se také mohou náhodou lišit svým složením.</a:t>
            </a:r>
          </a:p>
          <a:p>
            <a:pPr marL="179178" indent="-179178">
              <a:buFont typeface="Arial" panose="020B0604020202020204" pitchFamily="34" charset="0"/>
              <a:buChar char="•"/>
              <a:defRPr lang="cs-CZ" altLang="cs-CZ" noProof="0"/>
            </a:pPr>
            <a:r>
              <a:rPr lang="cs-CZ" altLang="cs-CZ" b="1" noProof="0"/>
              <a:t>Příležitostný výběr (</a:t>
            </a:r>
            <a:r>
              <a:rPr lang="cs-CZ" altLang="cs-CZ" b="1" noProof="0" err="1"/>
              <a:t>convenience</a:t>
            </a:r>
            <a:r>
              <a:rPr lang="cs-CZ" altLang="cs-CZ" b="1" noProof="0"/>
              <a:t> </a:t>
            </a:r>
            <a:r>
              <a:rPr lang="cs-CZ" altLang="cs-CZ" b="1" noProof="0" err="1"/>
              <a:t>sampling</a:t>
            </a:r>
            <a:r>
              <a:rPr lang="cs-CZ" altLang="cs-CZ" b="1" noProof="0"/>
              <a:t>) </a:t>
            </a:r>
            <a:r>
              <a:rPr lang="cs-CZ" altLang="cs-CZ" noProof="0"/>
              <a:t>získává účastníky především podle dostupnosti. Příkladem je nábor v semináři, který výzkumnice vyučuje. Pokud se z oslovených přihlásí jen dobrovolníci, soubor dále ovlivní ochota zúčastnit se. </a:t>
            </a:r>
          </a:p>
          <a:p>
            <a:pPr marL="179178" indent="-179178">
              <a:buFont typeface="Arial" panose="020B0604020202020204" pitchFamily="34" charset="0"/>
              <a:buChar char="•"/>
              <a:defRPr lang="cs-CZ" altLang="cs-CZ" noProof="0"/>
            </a:pPr>
            <a:r>
              <a:rPr lang="cs-CZ" altLang="cs-CZ" noProof="0"/>
              <a:t>Příležitostný výběr je jedním z nenáhodných postupů. </a:t>
            </a:r>
          </a:p>
          <a:p>
            <a:pPr marL="179178" indent="-179178">
              <a:buFont typeface="Arial" panose="020B0604020202020204" pitchFamily="34" charset="0"/>
              <a:buChar char="•"/>
              <a:defRPr lang="cs-CZ" altLang="cs-CZ" noProof="0"/>
            </a:pPr>
            <a:r>
              <a:rPr lang="cs-CZ" altLang="cs-CZ" noProof="0"/>
              <a:t>Oslovit lidi, které právě potkáme, není totéž jako náhodně losovat ze seznamu populace, nahodilost není totéž co náhodnost.</a:t>
            </a:r>
          </a:p>
          <a:p>
            <a:pPr marL="179178" indent="-179178">
              <a:buFont typeface="Arial" panose="020B0604020202020204" pitchFamily="34" charset="0"/>
              <a:buChar char="•"/>
              <a:defRPr lang="cs-CZ" altLang="cs-CZ" noProof="0"/>
            </a:pPr>
            <a:r>
              <a:rPr lang="cs-CZ" altLang="cs-CZ" b="1" noProof="0"/>
              <a:t>Náhodnost</a:t>
            </a:r>
            <a:r>
              <a:rPr lang="cs-CZ" altLang="cs-CZ" noProof="0"/>
              <a:t> označuje způsob výběru. </a:t>
            </a:r>
          </a:p>
          <a:p>
            <a:pPr marL="179178" indent="-179178">
              <a:buFont typeface="Arial" panose="020B0604020202020204" pitchFamily="34" charset="0"/>
              <a:buChar char="•"/>
              <a:defRPr lang="cs-CZ" altLang="cs-CZ" noProof="0"/>
            </a:pPr>
            <a:r>
              <a:rPr lang="cs-CZ" altLang="cs-CZ" b="1" noProof="0"/>
              <a:t>Reprezentativnost</a:t>
            </a:r>
            <a:r>
              <a:rPr lang="cs-CZ" altLang="cs-CZ" noProof="0"/>
              <a:t> se týká toho, nakolik soubor vystihuje populaci v ohledech důležitých pro daný závěr. </a:t>
            </a:r>
          </a:p>
          <a:p>
            <a:pPr marL="179178" indent="-179178">
              <a:buFont typeface="Arial" panose="020B0604020202020204" pitchFamily="34" charset="0"/>
              <a:buChar char="•"/>
              <a:defRPr lang="cs-CZ" altLang="cs-CZ" noProof="0"/>
            </a:pPr>
            <a:r>
              <a:rPr lang="cs-CZ" altLang="cs-CZ" noProof="0"/>
              <a:t>Ani původní losování automaticky neřeší situaci, kdy odpovídají především lidé s určitými zkušenostmi nebo režimem.</a:t>
            </a:r>
          </a:p>
          <a:p>
            <a:pPr marL="179178" indent="-179178">
              <a:buFont typeface="Arial" panose="020B0604020202020204" pitchFamily="34" charset="0"/>
              <a:buChar char="•"/>
              <a:defRPr lang="cs-CZ" altLang="cs-CZ" noProof="0"/>
            </a:pPr>
            <a:r>
              <a:rPr lang="cs-CZ" altLang="cs-CZ" noProof="0"/>
              <a:t>Větší počet odpovědí přináší více údajů, ale sám neopraví nevhodný nábor. Pokud chceme zjistit zastoupení potíží se spánkem, skupina zaměřená právě na tyto potíže může být pro zobecnění problematická i při tisíci odpovědích. </a:t>
            </a:r>
          </a:p>
          <a:p>
            <a:pPr marL="179178" indent="-179178">
              <a:buFont typeface="Arial" panose="020B0604020202020204" pitchFamily="34" charset="0"/>
              <a:buChar char="•"/>
              <a:defRPr lang="cs-CZ" altLang="cs-CZ" noProof="0"/>
            </a:pPr>
            <a:r>
              <a:rPr lang="cs-CZ" altLang="cs-CZ" noProof="0"/>
              <a:t>Pro posouzení potřebujeme znát výzkumnou otázku, způsob získání účastníků a důležité rozdíly mezi nimi a cílovou populací.</a:t>
            </a:r>
          </a:p>
          <a:p>
            <a:pPr marL="179178" indent="-179178">
              <a:buFont typeface="Arial" panose="020B0604020202020204" pitchFamily="34" charset="0"/>
              <a:buChar char="•"/>
              <a:defRPr lang="cs-CZ" altLang="cs-CZ" noProof="0"/>
            </a:pPr>
            <a:r>
              <a:rPr lang="cs-CZ" altLang="cs-CZ" i="1" noProof="0"/>
              <a:t>Proč může tisíc odpovědí získaných ve skupině pro lidi s nespavostí poskytovat zavádějící obraz spánku všech vysokoškoláků?</a:t>
            </a:r>
          </a:p>
          <a:p>
            <a:pPr>
              <a:defRPr lang="cs-CZ" altLang="cs-CZ" noProof="0"/>
            </a:pPr>
            <a:endParaRPr lang="cs-CZ" altLang="cs-CZ" noProof="0"/>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noProof="0"/>
              <a:t>Je důležité vždy vzít v úvahu, že souvislost automaticky neznamená, že mezi proměnnými je příčinný vztah.</a:t>
            </a:r>
          </a:p>
          <a:p>
            <a:pPr marL="179178" indent="-179178">
              <a:buFont typeface="Arial" panose="020B0604020202020204" pitchFamily="34" charset="0"/>
              <a:buChar char="•"/>
              <a:defRPr lang="cs-CZ" altLang="cs-CZ" noProof="0"/>
            </a:pPr>
            <a:r>
              <a:rPr lang="cs-CZ" altLang="cs-CZ" b="1" noProof="0"/>
              <a:t>Souvislost</a:t>
            </a:r>
            <a:r>
              <a:rPr lang="cs-CZ" altLang="cs-CZ" noProof="0"/>
              <a:t> znamená, že hodnoty dvou proměnných vykazují vztah. Znalost jedné poskytuje určitou informaci o druhé. </a:t>
            </a:r>
          </a:p>
          <a:p>
            <a:pPr marL="179178" indent="-179178">
              <a:buFont typeface="Arial" panose="020B0604020202020204" pitchFamily="34" charset="0"/>
              <a:buChar char="•"/>
              <a:defRPr lang="cs-CZ" altLang="cs-CZ" noProof="0"/>
            </a:pPr>
            <a:r>
              <a:rPr lang="cs-CZ" altLang="cs-CZ" b="1" noProof="0"/>
              <a:t>Kauzální závěr </a:t>
            </a:r>
            <a:r>
              <a:rPr lang="cs-CZ" altLang="cs-CZ" noProof="0"/>
              <a:t>jde dále: tvrdí, že změna určité podmínky vyvolá změnu výsledku.</a:t>
            </a:r>
          </a:p>
          <a:p>
            <a:pPr marL="179178" indent="-179178">
              <a:buFont typeface="Arial" panose="020B0604020202020204" pitchFamily="34" charset="0"/>
              <a:buChar char="•"/>
              <a:defRPr lang="cs-CZ" altLang="cs-CZ" noProof="0"/>
            </a:pPr>
            <a:r>
              <a:rPr lang="cs-CZ" altLang="cs-CZ" noProof="0"/>
              <a:t>V naší modelové studii necháváme studenty spát obvyklým způsobem. Pouze zaznamenáme, jak dlouho podle svého odhadu spali, a změříme jejich následný výkon v paměťové úloze. </a:t>
            </a:r>
          </a:p>
          <a:p>
            <a:pPr marL="179178" indent="-179178">
              <a:buFont typeface="Arial" panose="020B0604020202020204" pitchFamily="34" charset="0"/>
              <a:buChar char="•"/>
              <a:defRPr lang="cs-CZ" altLang="cs-CZ" noProof="0"/>
            </a:pPr>
            <a:r>
              <a:rPr lang="cs-CZ" altLang="cs-CZ" noProof="0"/>
              <a:t>I kdyby se v datech ukázalo, že studenti s delším spánkem vybavují více slov, ještě tím nevíme, co by způsobilo záměrné prodloužení jejich spánku.</a:t>
            </a:r>
          </a:p>
          <a:p>
            <a:pPr marL="179178" indent="-179178">
              <a:buFont typeface="Arial" panose="020B0604020202020204" pitchFamily="34" charset="0"/>
              <a:buChar char="•"/>
              <a:defRPr lang="cs-CZ" altLang="cs-CZ" noProof="0"/>
            </a:pPr>
            <a:r>
              <a:rPr lang="cs-CZ" altLang="cs-CZ" noProof="0"/>
              <a:t>Uvažujme o studijní zátěži. V náročném období mohou studenti současně méně spát a být více rozptýlení či unavení. </a:t>
            </a:r>
          </a:p>
          <a:p>
            <a:pPr marL="179178" indent="-179178">
              <a:buFont typeface="Arial" panose="020B0604020202020204" pitchFamily="34" charset="0"/>
              <a:buChar char="•"/>
              <a:defRPr lang="cs-CZ" altLang="cs-CZ" noProof="0"/>
            </a:pPr>
            <a:r>
              <a:rPr lang="cs-CZ" altLang="cs-CZ" noProof="0"/>
              <a:t>Případný vztah mezi uvedenou dobou spánku a výkonem by potom mohl souviset také s okolnostmi zkouškového období. Zde jde pouze o možné alternativní vysvětlení. Netvrdíme, že jsme jeho působení v této modelové studii prokázali.</a:t>
            </a:r>
          </a:p>
          <a:p>
            <a:pPr marL="179178" indent="-179178">
              <a:buFont typeface="Arial" panose="020B0604020202020204" pitchFamily="34" charset="0"/>
              <a:buChar char="•"/>
              <a:defRPr lang="cs-CZ" altLang="cs-CZ" noProof="0"/>
            </a:pPr>
            <a:r>
              <a:rPr lang="cs-CZ" altLang="cs-CZ" noProof="0"/>
              <a:t>Podstatné je, že pozorování dvou údajů samo neodděluje všechna vysvětlení jejich vztahu. Potřebujeme vědět, jak data vznikla, co bylo záměrně měněno a které další vlivy připadají v úvahu. Právě proto se výrok o souvislosti liší od předpovědi účinku zásahu.</a:t>
            </a:r>
          </a:p>
          <a:p>
            <a:pPr marL="179178" indent="-179178">
              <a:buFont typeface="Arial" panose="020B0604020202020204" pitchFamily="34" charset="0"/>
              <a:buChar char="•"/>
              <a:defRPr lang="cs-CZ" altLang="cs-CZ" noProof="0"/>
            </a:pPr>
            <a:r>
              <a:rPr lang="cs-CZ" altLang="cs-CZ" noProof="0"/>
              <a:t>V dalším příkladu proto </a:t>
            </a:r>
            <a:r>
              <a:rPr lang="cs-CZ" altLang="cs-CZ" b="1" noProof="0"/>
              <a:t>přejdeme k experimentu s tichým a zvukovým prostředím při učení.</a:t>
            </a:r>
            <a:r>
              <a:rPr lang="cs-CZ" altLang="cs-CZ" noProof="0"/>
              <a:t> Výzkumník v něm jednu podmínku záměrně mění. </a:t>
            </a:r>
          </a:p>
          <a:p>
            <a:pPr marL="179178" indent="-179178">
              <a:buFont typeface="Arial" panose="020B0604020202020204" pitchFamily="34" charset="0"/>
              <a:buChar char="•"/>
              <a:defRPr lang="cs-CZ" altLang="cs-CZ" noProof="0"/>
            </a:pPr>
            <a:r>
              <a:rPr lang="cs-CZ" altLang="cs-CZ" noProof="0"/>
              <a:t>Ani experiment však nefunguje pouze díky názvu. Opora pro příčinu závisí na jeho konkrétním provedení, na dodržení podmínek a na zohlednění nejistoty.</a:t>
            </a:r>
          </a:p>
          <a:p>
            <a:pPr marL="179178" indent="-179178">
              <a:buFont typeface="Arial" panose="020B0604020202020204" pitchFamily="34" charset="0"/>
              <a:buChar char="•"/>
              <a:defRPr lang="cs-CZ" altLang="cs-CZ" noProof="0"/>
            </a:pPr>
            <a:endParaRPr lang="cs-CZ" altLang="cs-CZ" noProof="0"/>
          </a:p>
          <a:p>
            <a:pPr marL="179178" indent="-179178">
              <a:buFont typeface="Arial" panose="020B0604020202020204" pitchFamily="34" charset="0"/>
              <a:buChar char="•"/>
              <a:defRPr lang="cs-CZ" altLang="cs-CZ" noProof="0"/>
            </a:pPr>
            <a:r>
              <a:rPr lang="cs-CZ" altLang="cs-CZ" noProof="0"/>
              <a:t>Jak by bylo možné vysvětlit vztah mezi studijními výsledky a motivací?</a:t>
            </a:r>
          </a:p>
          <a:p>
            <a:pPr>
              <a:defRPr lang="cs-CZ" altLang="cs-CZ" noProof="0"/>
            </a:pPr>
            <a:r>
              <a:rPr lang="cs-CZ" altLang="cs-CZ" b="1" noProof="0"/>
              <a:t>1. A ovlivňuje B: motivace podporuje studijní úspěch</a:t>
            </a:r>
            <a:endParaRPr lang="cs-CZ" altLang="cs-CZ" noProof="0"/>
          </a:p>
          <a:p>
            <a:pPr>
              <a:defRPr lang="cs-CZ" altLang="cs-CZ" noProof="0"/>
            </a:pPr>
            <a:r>
              <a:rPr lang="cs-CZ" altLang="cs-CZ" b="1" noProof="0"/>
              <a:t>Motivace → studijní úspěch</a:t>
            </a:r>
            <a:endParaRPr lang="cs-CZ" altLang="cs-CZ" noProof="0"/>
          </a:p>
          <a:p>
            <a:pPr>
              <a:defRPr lang="cs-CZ" altLang="cs-CZ" noProof="0"/>
            </a:pPr>
            <a:r>
              <a:rPr lang="cs-CZ" altLang="cs-CZ" noProof="0"/>
              <a:t>Motivovanější student se pravidelně připravuje, obtížnému učivu věnuje více času a při neúspěchu hledá jiný způsob učení. Díky tomu látce lépe porozumí a dosahuje lepších výsledků.</a:t>
            </a:r>
          </a:p>
          <a:p>
            <a:pPr>
              <a:defRPr lang="cs-CZ" altLang="cs-CZ" noProof="0"/>
            </a:pPr>
            <a:r>
              <a:rPr lang="cs-CZ" altLang="cs-CZ" noProof="0"/>
              <a:t>Pozorujeme tedy, že motivovanější studenti bývají úspěšnější. Jedním možným vysvětlením je, že </a:t>
            </a:r>
            <a:r>
              <a:rPr lang="cs-CZ" altLang="cs-CZ" b="1" noProof="0"/>
              <a:t>motivace prostřednictvím studijního chování přispívá k úspěchu</a:t>
            </a:r>
            <a:r>
              <a:rPr lang="cs-CZ" altLang="cs-CZ" noProof="0"/>
              <a:t>.</a:t>
            </a:r>
          </a:p>
          <a:p>
            <a:pPr>
              <a:defRPr lang="cs-CZ" altLang="cs-CZ" noProof="0"/>
            </a:pPr>
            <a:r>
              <a:rPr lang="cs-CZ" altLang="cs-CZ" noProof="0"/>
              <a:t>Studentům lze říci: „Možná se mu daří lépe proto, že má větší chuť se učit.“</a:t>
            </a:r>
          </a:p>
          <a:p>
            <a:pPr>
              <a:defRPr lang="cs-CZ" altLang="cs-CZ" noProof="0"/>
            </a:pPr>
            <a:r>
              <a:rPr lang="cs-CZ" altLang="cs-CZ" b="1" noProof="0"/>
              <a:t>2. B ovlivňuje A: studijní úspěch podporuje motivaci</a:t>
            </a:r>
            <a:endParaRPr lang="cs-CZ" altLang="cs-CZ" noProof="0"/>
          </a:p>
          <a:p>
            <a:pPr>
              <a:defRPr lang="cs-CZ" altLang="cs-CZ" noProof="0"/>
            </a:pPr>
            <a:r>
              <a:rPr lang="cs-CZ" altLang="cs-CZ" b="1" noProof="0"/>
              <a:t>Studijní úspěch → motivace</a:t>
            </a:r>
            <a:endParaRPr lang="cs-CZ" altLang="cs-CZ" noProof="0"/>
          </a:p>
          <a:p>
            <a:pPr>
              <a:defRPr lang="cs-CZ" altLang="cs-CZ" noProof="0"/>
            </a:pPr>
            <a:r>
              <a:rPr lang="cs-CZ" altLang="cs-CZ" noProof="0"/>
              <a:t>Student zpočátku nemá o předmět velký zájem. Podaří se mu však vyřešit několik náročných úloh a dostane dobrou zpětnou vazbu. Začne věřit, že předmětu může porozumět, a získá větší chuť se mu věnovat.</a:t>
            </a:r>
          </a:p>
          <a:p>
            <a:pPr>
              <a:defRPr lang="cs-CZ" altLang="cs-CZ" noProof="0"/>
            </a:pPr>
            <a:r>
              <a:rPr lang="cs-CZ" altLang="cs-CZ" noProof="0"/>
              <a:t>Znovu můžeme pozorovat, že úspěšnější studenti jsou motivovanější. Tentokrát je však vysvětlením, že </a:t>
            </a:r>
            <a:r>
              <a:rPr lang="cs-CZ" altLang="cs-CZ" b="1" noProof="0"/>
              <a:t>předchozí úspěch posílil následnou motivaci</a:t>
            </a:r>
            <a:r>
              <a:rPr lang="cs-CZ" altLang="cs-CZ" noProof="0"/>
              <a:t>.</a:t>
            </a:r>
          </a:p>
          <a:p>
            <a:pPr>
              <a:defRPr lang="cs-CZ" altLang="cs-CZ" noProof="0"/>
            </a:pPr>
            <a:r>
              <a:rPr lang="cs-CZ" altLang="cs-CZ" noProof="0"/>
              <a:t>Studentům lze říci: „Možná má větší chuť se učit proto, že se mu začalo dařit.“</a:t>
            </a:r>
          </a:p>
          <a:p>
            <a:pPr>
              <a:defRPr lang="cs-CZ" altLang="cs-CZ" noProof="0"/>
            </a:pPr>
            <a:r>
              <a:rPr lang="cs-CZ" altLang="cs-CZ" noProof="0"/>
              <a:t>Oba mechanismy mohou působit současně: motivace dnes ovlivní přípravu a výsledek zkoušky, výsledek zkoušky pak ovlivní další motivaci. Nejde tedy nutně o volbu jediného směru.</a:t>
            </a:r>
          </a:p>
          <a:p>
            <a:pPr>
              <a:defRPr lang="cs-CZ" altLang="cs-CZ" noProof="0"/>
            </a:pPr>
            <a:r>
              <a:rPr lang="cs-CZ" altLang="cs-CZ" b="1" noProof="0"/>
              <a:t>3. C je společnou příčinou A i B</a:t>
            </a:r>
            <a:endParaRPr lang="cs-CZ" altLang="cs-CZ" noProof="0"/>
          </a:p>
          <a:p>
            <a:pPr>
              <a:defRPr lang="cs-CZ" altLang="cs-CZ" noProof="0"/>
            </a:pPr>
            <a:r>
              <a:rPr lang="cs-CZ" altLang="cs-CZ" b="1" noProof="0"/>
              <a:t>Motivace ← podpora vyučujícího → studijní úspěch</a:t>
            </a:r>
            <a:endParaRPr lang="cs-CZ" altLang="cs-CZ" noProof="0"/>
          </a:p>
          <a:p>
            <a:pPr>
              <a:defRPr lang="cs-CZ" altLang="cs-CZ" noProof="0"/>
            </a:pPr>
            <a:r>
              <a:rPr lang="cs-CZ" altLang="cs-CZ" noProof="0"/>
              <a:t>Představme si vyučujícího, který srozumitelně vysvětluje látku, poskytuje užitečnou zpětnou vazbu a vytváří prostor pro otázky. Jeho přístup může současně:</a:t>
            </a:r>
          </a:p>
          <a:p>
            <a:pPr lvl="0">
              <a:defRPr lang="cs-CZ" altLang="cs-CZ" noProof="0"/>
            </a:pPr>
            <a:r>
              <a:rPr lang="cs-CZ" altLang="cs-CZ" noProof="0"/>
              <a:t>zvyšovat motivaci studentů, protože se v předmětu lépe orientují;</a:t>
            </a:r>
          </a:p>
          <a:p>
            <a:pPr lvl="0">
              <a:defRPr lang="cs-CZ" altLang="cs-CZ" noProof="0"/>
            </a:pPr>
            <a:r>
              <a:rPr lang="cs-CZ" altLang="cs-CZ" noProof="0"/>
              <a:t>zlepšovat jejich výsledky, protože snáze porozumějí učivu a opraví své chyby.</a:t>
            </a:r>
          </a:p>
          <a:p>
            <a:pPr>
              <a:defRPr lang="cs-CZ" altLang="cs-CZ" noProof="0"/>
            </a:pPr>
            <a:r>
              <a:rPr lang="cs-CZ" altLang="cs-CZ" noProof="0"/>
              <a:t>Motivace a úspěch potom mohou souviset </a:t>
            </a:r>
            <a:r>
              <a:rPr lang="cs-CZ" altLang="cs-CZ" b="1" noProof="0"/>
              <a:t>alespoň částečně proto, že je ovlivňuje společná příčina</a:t>
            </a:r>
            <a:r>
              <a:rPr lang="cs-CZ" altLang="cs-CZ" noProof="0"/>
              <a:t>. Nemusí to vylučovat také přímé působení motivace na úspěch.</a:t>
            </a:r>
          </a:p>
          <a:p>
            <a:pPr>
              <a:defRPr lang="cs-CZ" altLang="cs-CZ" noProof="0"/>
            </a:pPr>
            <a:r>
              <a:rPr lang="cs-CZ" altLang="cs-CZ" noProof="0"/>
              <a:t>Studentům lze říci: „Možná mají větší chuť se učit i lepší výsledky proto, že dostávají kvalitnější podporu.“</a:t>
            </a:r>
          </a:p>
          <a:p>
            <a:pPr>
              <a:defRPr lang="cs-CZ" altLang="cs-CZ" noProof="0"/>
            </a:pPr>
            <a:r>
              <a:rPr lang="cs-CZ" altLang="cs-CZ" b="1" noProof="0"/>
              <a:t>4. Souvislost vytvoří výběr podle společného následku</a:t>
            </a:r>
            <a:endParaRPr lang="cs-CZ" altLang="cs-CZ" noProof="0"/>
          </a:p>
          <a:p>
            <a:pPr>
              <a:defRPr lang="cs-CZ" altLang="cs-CZ" noProof="0"/>
            </a:pPr>
            <a:r>
              <a:rPr lang="cs-CZ" altLang="cs-CZ" noProof="0"/>
              <a:t>Zde se obrací uspořádání šipek:</a:t>
            </a:r>
          </a:p>
          <a:p>
            <a:pPr>
              <a:defRPr lang="cs-CZ" altLang="cs-CZ" noProof="0"/>
            </a:pPr>
            <a:r>
              <a:rPr lang="cs-CZ" altLang="cs-CZ" b="1" noProof="0"/>
              <a:t>Inteligence → školní úspěch ← motivace</a:t>
            </a:r>
            <a:endParaRPr lang="cs-CZ" altLang="cs-CZ" noProof="0"/>
          </a:p>
          <a:p>
            <a:pPr>
              <a:defRPr lang="cs-CZ" altLang="cs-CZ" noProof="0"/>
            </a:pPr>
            <a:r>
              <a:rPr lang="cs-CZ" altLang="cs-CZ" noProof="0"/>
              <a:t>Školní úspěch je v tomto modelu </a:t>
            </a:r>
            <a:r>
              <a:rPr lang="cs-CZ" altLang="cs-CZ" b="1" noProof="0"/>
              <a:t>společným následkem</a:t>
            </a:r>
            <a:r>
              <a:rPr lang="cs-CZ" altLang="cs-CZ" noProof="0"/>
              <a:t> inteligence a motivace. Pokud zkoumáme pouze úspěšné studenty, vybíráme účastníky podle něčeho, co mohou ovlivnit obě sledované vlastnosti. </a:t>
            </a:r>
          </a:p>
          <a:p>
            <a:pPr>
              <a:defRPr lang="cs-CZ" altLang="cs-CZ" noProof="0"/>
            </a:pPr>
            <a:r>
              <a:rPr lang="cs-CZ" altLang="cs-CZ" noProof="0"/>
              <a:t>Takový výběr může mezi nimi vytvořit souvislost i tehdy, když v celé populaci nesouvisejí. Jde o </a:t>
            </a:r>
            <a:r>
              <a:rPr lang="cs-CZ" altLang="cs-CZ" i="1" noProof="0"/>
              <a:t>podmiňování společným následkem</a:t>
            </a:r>
            <a:r>
              <a:rPr lang="cs-CZ" altLang="cs-CZ" noProof="0"/>
              <a:t>, označované jako </a:t>
            </a:r>
            <a:r>
              <a:rPr lang="cs-CZ" altLang="cs-CZ" i="1" noProof="0" err="1"/>
              <a:t>collider</a:t>
            </a:r>
            <a:r>
              <a:rPr lang="cs-CZ" altLang="cs-CZ" i="1" noProof="0"/>
              <a:t> </a:t>
            </a:r>
            <a:r>
              <a:rPr lang="cs-CZ" altLang="cs-CZ" i="1" noProof="0" err="1"/>
              <a:t>bias</a:t>
            </a:r>
            <a:endParaRPr lang="cs-CZ" altLang="cs-CZ" noProof="0"/>
          </a:p>
          <a:p>
            <a:pPr>
              <a:defRPr lang="cs-CZ" altLang="cs-CZ" noProof="0"/>
            </a:pPr>
            <a:endParaRPr lang="cs-CZ" altLang="cs-CZ" noProof="0"/>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noProof="0"/>
              <a:t>Nejsolidnější kauzální závěry umožňuje experiment.</a:t>
            </a:r>
          </a:p>
          <a:p>
            <a:pPr marL="179178" indent="-179178">
              <a:buFont typeface="Arial" panose="020B0604020202020204" pitchFamily="34" charset="0"/>
              <a:buChar char="•"/>
              <a:defRPr lang="cs-CZ" altLang="cs-CZ" noProof="0"/>
            </a:pPr>
            <a:r>
              <a:rPr lang="cs-CZ" altLang="cs-CZ" b="1" noProof="0"/>
              <a:t>Experiment</a:t>
            </a:r>
            <a:r>
              <a:rPr lang="cs-CZ" altLang="cs-CZ" noProof="0"/>
              <a:t> je uspořádání (výzkumný design), v němž výzkumník záměrně mění určitou podmínku a sleduje její důsledky. </a:t>
            </a:r>
          </a:p>
          <a:p>
            <a:pPr marL="179178" indent="-179178">
              <a:buFont typeface="Arial" panose="020B0604020202020204" pitchFamily="34" charset="0"/>
              <a:buChar char="•"/>
              <a:defRPr lang="cs-CZ" altLang="cs-CZ" noProof="0"/>
            </a:pPr>
            <a:r>
              <a:rPr lang="cs-CZ" altLang="cs-CZ" noProof="0"/>
              <a:t>V tomto modelovém příkladu zkoumáme, zda učení slov ovlivňují rušivé zvuky. </a:t>
            </a:r>
          </a:p>
          <a:p>
            <a:pPr marL="179178" indent="-179178">
              <a:buFont typeface="Arial" panose="020B0604020202020204" pitchFamily="34" charset="0"/>
              <a:buChar char="•"/>
              <a:defRPr lang="cs-CZ" altLang="cs-CZ" noProof="0"/>
            </a:pPr>
            <a:r>
              <a:rPr lang="cs-CZ" altLang="cs-CZ" noProof="0"/>
              <a:t>Jedna skupina dostane za úkol zapamatovat si seznam slov v tichém prostředí, druhá za přítomnosti zvukové nahrávky. Záměrně vytváříme rozdíl ve zvukových podmínkách.</a:t>
            </a:r>
          </a:p>
          <a:p>
            <a:pPr marL="179178" indent="-179178">
              <a:buFont typeface="Arial" panose="020B0604020202020204" pitchFamily="34" charset="0"/>
              <a:buChar char="•"/>
              <a:defRPr lang="cs-CZ" altLang="cs-CZ" noProof="0"/>
            </a:pPr>
            <a:r>
              <a:rPr lang="cs-CZ" altLang="cs-CZ" noProof="0"/>
              <a:t>Ostatní okolnosti, které by mohly ovlivnit výkon, se snažíme zachovat stejné: Obě skupiny proto dostanou stejný seznam, stejné instrukce, stejnou dobu na učení a stejný čas pro odpověď. </a:t>
            </a:r>
          </a:p>
          <a:p>
            <a:pPr marL="179178" indent="-179178">
              <a:buFont typeface="Arial" panose="020B0604020202020204" pitchFamily="34" charset="0"/>
              <a:buChar char="•"/>
              <a:defRPr lang="cs-CZ" altLang="cs-CZ" noProof="0"/>
            </a:pPr>
            <a:r>
              <a:rPr lang="cs-CZ" altLang="cs-CZ" noProof="0"/>
              <a:t>Kdyby jedna skupina dostala současně těžší seznam, případný rozdíl bychom nemohli jednoznačně připsat zvukům. Měnily by se totiž dvě věci současně.</a:t>
            </a:r>
          </a:p>
          <a:p>
            <a:pPr marL="179178" indent="-179178">
              <a:buFont typeface="Arial" panose="020B0604020202020204" pitchFamily="34" charset="0"/>
              <a:buChar char="•"/>
              <a:defRPr lang="cs-CZ" altLang="cs-CZ" noProof="0"/>
            </a:pPr>
            <a:r>
              <a:rPr lang="cs-CZ" altLang="cs-CZ" noProof="0"/>
              <a:t>Účastníky k podmínkám přiřadíme náhodně.</a:t>
            </a:r>
            <a:r>
              <a:rPr lang="cs-CZ" altLang="cs-CZ" b="1" noProof="0"/>
              <a:t/>
            </a:r>
            <a:r>
              <a:rPr lang="cs-CZ" altLang="cs-CZ" noProof="0"/>
              <a:t> Nemohou si tedy zvolit ticho podle toho, jak snadno je zvuky rozptylují, a nerozdělujeme je podle předchozích paměťových schopností. </a:t>
            </a:r>
          </a:p>
          <a:p>
            <a:pPr marL="179178" indent="-179178">
              <a:buFont typeface="Arial" panose="020B0604020202020204" pitchFamily="34" charset="0"/>
              <a:buChar char="•"/>
              <a:defRPr lang="cs-CZ" altLang="cs-CZ" noProof="0"/>
            </a:pPr>
            <a:r>
              <a:rPr lang="cs-CZ" altLang="cs-CZ" noProof="0"/>
              <a:t>Náhodné přiřazení tak omezuje systematické přiřazování lidí podle jejich vlastností či přání.</a:t>
            </a:r>
          </a:p>
          <a:p>
            <a:pPr marL="179178" indent="-179178">
              <a:buFont typeface="Arial" panose="020B0604020202020204" pitchFamily="34" charset="0"/>
              <a:buChar char="•"/>
              <a:defRPr lang="cs-CZ" altLang="cs-CZ" noProof="0"/>
            </a:pPr>
            <a:r>
              <a:rPr lang="cs-CZ" altLang="cs-CZ" noProof="0"/>
              <a:t>Má tedy za cíl omezit systematické rozdíly mezi skupinami v proměnných, které nemůžeme jednoduše kontrolovat.</a:t>
            </a:r>
          </a:p>
          <a:p>
            <a:pPr marL="179178" indent="-179178">
              <a:buFont typeface="Arial" panose="020B0604020202020204" pitchFamily="34" charset="0"/>
              <a:buChar char="•"/>
              <a:defRPr lang="cs-CZ" altLang="cs-CZ" noProof="0"/>
            </a:pPr>
            <a:r>
              <a:rPr lang="cs-CZ" altLang="cs-CZ" noProof="0"/>
              <a:t>Ani řádné losování však nezaručuje přesně stejné skupiny. Do jedné se mohou náhodou dostat lidé s lepší pamětí. </a:t>
            </a:r>
          </a:p>
          <a:p>
            <a:pPr marL="179178" indent="-179178">
              <a:buFont typeface="Arial" panose="020B0604020202020204" pitchFamily="34" charset="0"/>
              <a:buChar char="•"/>
              <a:defRPr lang="cs-CZ" altLang="cs-CZ" noProof="0"/>
            </a:pPr>
            <a:r>
              <a:rPr lang="cs-CZ" altLang="cs-CZ" noProof="0"/>
              <a:t>Nezaručuje ani správné provedení úlohy: asistent může například předložit jiné instrukce nebo omylem změnit čas. Při vyhodnocení proto musíme zohlednit nejistotu a ověřit, co se ve studii skutečně dělo.</a:t>
            </a:r>
          </a:p>
          <a:p>
            <a:pPr marL="179178" indent="-179178">
              <a:buFont typeface="Arial" panose="020B0604020202020204" pitchFamily="34" charset="0"/>
              <a:buChar char="•"/>
              <a:defRPr lang="cs-CZ" altLang="cs-CZ" noProof="0"/>
            </a:pPr>
            <a:r>
              <a:rPr lang="cs-CZ" altLang="cs-CZ" noProof="0"/>
              <a:t>Opora pro příčinný závěr vychází ze spojení vhodného uspořádání, jeho dodržení a odpovídajícího vyhodnocení. Samotný název experiment ani samotné losování nedokazují, že každý zjištěný rozdíl způsobil zkoumaný zásah.</a:t>
            </a:r>
          </a:p>
          <a:p>
            <a:pPr marL="179178" indent="-179178">
              <a:buFont typeface="Arial" panose="020B0604020202020204" pitchFamily="34" charset="0"/>
              <a:buChar char="•"/>
              <a:defRPr lang="cs-CZ" altLang="cs-CZ" noProof="0"/>
            </a:pPr>
            <a:r>
              <a:rPr lang="cs-CZ" altLang="cs-CZ" i="1" noProof="0"/>
              <a:t>Co by nám bránilo připsat rozdíl ve výkonu zvukům, kdyby se skupina v tichu učila ráno a skupina se zvuky večer?</a:t>
            </a:r>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noProof="0" dirty="0"/>
              <a:t>V experimentu s učením slov jsme rozlišili podmínku, kterou záměrně měníme, a výsledek, který následně měříme. Pro tyto dvě role používáme označení nezávislá a závislá proměnná.</a:t>
            </a:r>
          </a:p>
          <a:p>
            <a:pPr marL="179178" indent="-179178">
              <a:buFont typeface="Arial" panose="020B0604020202020204" pitchFamily="34" charset="0"/>
              <a:buChar char="•"/>
              <a:defRPr lang="cs-CZ" altLang="cs-CZ" noProof="0"/>
            </a:pPr>
            <a:r>
              <a:rPr lang="cs-CZ" altLang="cs-CZ" b="1" noProof="0" dirty="0"/>
              <a:t>Nezávislou proměnnou </a:t>
            </a:r>
            <a:r>
              <a:rPr lang="cs-CZ" altLang="cs-CZ" noProof="0" dirty="0"/>
              <a:t>je v našem experimentu zvukové prostředí při učení. Má dvě podoby neboli úrovně: ticho a přítomnost rušivých zvuků. Výzkumník určuje, jaké podmínky vytvoří, a účastníky do nich náhodně rozděluje. Nezávislá proměnná nemusí být číselná. Zde rozlišuje dvě kategorie prostředí.</a:t>
            </a:r>
          </a:p>
          <a:p>
            <a:pPr marL="179178" indent="-179178">
              <a:buFont typeface="Arial" panose="020B0604020202020204" pitchFamily="34" charset="0"/>
              <a:buChar char="•"/>
              <a:defRPr lang="cs-CZ" altLang="cs-CZ" noProof="0"/>
            </a:pPr>
            <a:r>
              <a:rPr lang="cs-CZ" altLang="cs-CZ" b="1" noProof="0" dirty="0"/>
              <a:t>Závislou proměnnou</a:t>
            </a:r>
            <a:r>
              <a:rPr lang="cs-CZ" altLang="cs-CZ" noProof="0" dirty="0"/>
              <a:t>, anglicky </a:t>
            </a:r>
            <a:r>
              <a:rPr lang="cs-CZ" altLang="cs-CZ" noProof="0" dirty="0" err="1"/>
              <a:t>dependent</a:t>
            </a:r>
            <a:r>
              <a:rPr lang="cs-CZ" altLang="cs-CZ" noProof="0" dirty="0"/>
              <a:t> </a:t>
            </a:r>
            <a:r>
              <a:rPr lang="cs-CZ" altLang="cs-CZ" noProof="0" dirty="0" err="1"/>
              <a:t>variable</a:t>
            </a:r>
            <a:r>
              <a:rPr lang="cs-CZ" altLang="cs-CZ" noProof="0" dirty="0"/>
              <a:t>, je počet správně vybavených slov. Jde o měřený výsledek, pomocí něhož posuzujeme, zda se výkon mezi podmínkami liší. Označení „závislá“ neznamená, že jsme už prokázali její závislost na zvukovém prostředí. Vyjadřuje, že právě na tomto výsledku hledáme případný účinek. Experiment může také poskytnout údaje, které přesvědčivý rozdíl mezi podmínkami neukážou.</a:t>
            </a:r>
          </a:p>
          <a:p>
            <a:pPr marL="179178" indent="-179178">
              <a:buFont typeface="Arial" panose="020B0604020202020204" pitchFamily="34" charset="0"/>
              <a:buChar char="•"/>
              <a:defRPr lang="cs-CZ" altLang="cs-CZ" noProof="0"/>
            </a:pPr>
            <a:r>
              <a:rPr lang="cs-CZ" altLang="cs-CZ" noProof="0" dirty="0"/>
              <a:t>Stejně tak slovo „nezávislá“ neznamená, že proměnná nemůže souviset s jinými proměnnými. Jde o označení její role v uspořádání studie, nikoli o tvrzení o statistické nezávislosti.</a:t>
            </a:r>
          </a:p>
          <a:p>
            <a:pPr marL="179178" indent="-179178">
              <a:buFont typeface="Arial" panose="020B0604020202020204" pitchFamily="34" charset="0"/>
              <a:buChar char="•"/>
              <a:defRPr lang="cs-CZ" altLang="cs-CZ" noProof="0"/>
            </a:pPr>
            <a:r>
              <a:rPr lang="cs-CZ" altLang="cs-CZ" noProof="0" dirty="0"/>
              <a:t>Tyto role nejsou trvalou vlastností konkrétního údaje. Například délku spánku bychom v jedné studii mohli záměrně měnit a sledovat následný výkon. V jiné studii bychom mohli měnit večerní osvětlení a délku spánku měřit jako výsledek. Role proměnné tedy závisí na výzkumné otázce a uspořádání studie.</a:t>
            </a:r>
          </a:p>
          <a:p>
            <a:pPr marL="179178" indent="-179178">
              <a:buFont typeface="Arial" panose="020B0604020202020204" pitchFamily="34" charset="0"/>
              <a:buChar char="•"/>
              <a:defRPr lang="cs-CZ" altLang="cs-CZ" noProof="0"/>
            </a:pPr>
            <a:r>
              <a:rPr lang="cs-CZ" altLang="cs-CZ" noProof="0" dirty="0"/>
              <a:t>V naší původní pozorovací studii však studentům délku spánku neurčujeme. Pouze ji zaznamenáváme spolu s výkonem. </a:t>
            </a:r>
            <a:r>
              <a:rPr lang="cs-CZ" altLang="cs-CZ" b="1" noProof="0" dirty="0"/>
              <a:t>Také v neexperimentálních studiích se někdy používají názvy nezávislá a závislá proměnná,</a:t>
            </a:r>
            <a:r>
              <a:rPr lang="cs-CZ" altLang="cs-CZ" noProof="0" dirty="0"/>
              <a:t> ale samotné označení spánku za nezávislou proměnnou by z pozorování neudělalo experiment a neprokázalo by jeho příčinný účinek.</a:t>
            </a:r>
          </a:p>
          <a:p>
            <a:pPr marL="179178" indent="-179178">
              <a:buFont typeface="Arial" panose="020B0604020202020204" pitchFamily="34" charset="0"/>
              <a:buChar char="•"/>
              <a:defRPr lang="cs-CZ" altLang="cs-CZ" noProof="0"/>
            </a:pPr>
            <a:r>
              <a:rPr lang="cs-CZ" altLang="cs-CZ" noProof="0" dirty="0"/>
              <a:t>V otázce na slidu bychom záměrně měnili čas na učení. Ten by tedy byl nezávislou proměnnou. Počet správně vybavených slov by nadále představoval závislou proměnnou, protože by zůstal sledovaným výsledkem.</a:t>
            </a:r>
          </a:p>
          <a:p>
            <a:pPr marL="179178" indent="-179178">
              <a:buFont typeface="Arial" panose="020B0604020202020204" pitchFamily="34" charset="0"/>
              <a:buChar char="•"/>
              <a:defRPr lang="cs-CZ" altLang="cs-CZ" noProof="0"/>
            </a:pPr>
            <a:r>
              <a:rPr lang="cs-CZ" altLang="cs-CZ" noProof="0" dirty="0"/>
              <a:t>Šířeji se tedy pojem nezávislá proměnná používá pro proměnnou, kterou považujeme za příčinu změny nebo rozdílu závislé proměnné bez ohledu na výzkumný design.</a:t>
            </a:r>
          </a:p>
          <a:p>
            <a:pPr marL="179178" indent="-179178">
              <a:buFont typeface="Arial" panose="020B0604020202020204" pitchFamily="34" charset="0"/>
              <a:buChar char="•"/>
              <a:defRPr lang="cs-CZ" altLang="cs-CZ" noProof="0"/>
            </a:pPr>
            <a:r>
              <a:rPr lang="cs-CZ" altLang="cs-CZ" noProof="0" dirty="0"/>
              <a:t>Synonyma: prediktor, explanační proměnná.</a:t>
            </a:r>
          </a:p>
          <a:p>
            <a:pPr marL="179178" indent="-179178">
              <a:buFont typeface="Arial" panose="020B0604020202020204" pitchFamily="34" charset="0"/>
              <a:buChar char="•"/>
              <a:defRPr lang="cs-CZ" altLang="cs-CZ" noProof="0"/>
            </a:pPr>
            <a:r>
              <a:rPr lang="cs-CZ" altLang="cs-CZ" noProof="0" dirty="0"/>
              <a:t>Synonyma závislé proměnné: </a:t>
            </a:r>
            <a:r>
              <a:rPr lang="cs-CZ" altLang="cs-CZ" noProof="0" dirty="0" err="1"/>
              <a:t>outcome</a:t>
            </a:r>
            <a:r>
              <a:rPr lang="cs-CZ" altLang="cs-CZ" noProof="0" dirty="0"/>
              <a:t> </a:t>
            </a:r>
            <a:r>
              <a:rPr lang="cs-CZ" altLang="cs-CZ" noProof="0" dirty="0" err="1"/>
              <a:t>variable</a:t>
            </a:r>
            <a:r>
              <a:rPr lang="cs-CZ" altLang="cs-CZ" noProof="0" dirty="0"/>
              <a:t>.</a:t>
            </a:r>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b="0" noProof="0"/>
              <a:t>Náhodný výběr a náhodné přiřazení </a:t>
            </a:r>
            <a:r>
              <a:rPr lang="cs-CZ" altLang="cs-CZ" noProof="0"/>
              <a:t>používají náhodný mechanismus, ale rozhodují o různých věcech. </a:t>
            </a:r>
          </a:p>
          <a:p>
            <a:pPr marL="179178" indent="-179178">
              <a:buFont typeface="Arial" panose="020B0604020202020204" pitchFamily="34" charset="0"/>
              <a:buChar char="•"/>
              <a:defRPr lang="cs-CZ" altLang="cs-CZ" noProof="0"/>
            </a:pPr>
            <a:r>
              <a:rPr lang="cs-CZ" altLang="cs-CZ" b="1" noProof="0"/>
              <a:t>Náhodný výběr </a:t>
            </a:r>
            <a:r>
              <a:rPr lang="cs-CZ" altLang="cs-CZ" noProof="0"/>
              <a:t>určuje, kdo se z vymezené populace dostane do výběru, například koho ze seznamu studentů vylosujeme k oslovení. </a:t>
            </a:r>
          </a:p>
          <a:p>
            <a:pPr marL="179178" indent="-179178">
              <a:buFont typeface="Arial" panose="020B0604020202020204" pitchFamily="34" charset="0"/>
              <a:buChar char="•"/>
              <a:defRPr lang="cs-CZ" altLang="cs-CZ" noProof="0"/>
            </a:pPr>
            <a:r>
              <a:rPr lang="cs-CZ" altLang="cs-CZ" noProof="0"/>
              <a:t>Je jednou z opor pro usuzování na tuto populaci. Ani zde nesmíme zapomenout, že někteří oslovení mohou účast odmítnout.</a:t>
            </a:r>
          </a:p>
          <a:p>
            <a:pPr marL="179178" indent="-179178">
              <a:buFont typeface="Arial" panose="020B0604020202020204" pitchFamily="34" charset="0"/>
              <a:buChar char="•"/>
              <a:defRPr lang="cs-CZ" altLang="cs-CZ" noProof="0"/>
            </a:pPr>
            <a:r>
              <a:rPr lang="cs-CZ" altLang="cs-CZ" b="1" noProof="0"/>
              <a:t>Náhodné přiřazení </a:t>
            </a:r>
            <a:r>
              <a:rPr lang="cs-CZ" altLang="cs-CZ" noProof="0"/>
              <a:t>určuje, do které podmínky zařadíme již získaného účastníka. V experimentu se slovy rozhoduje, kdo se bude učit v tichu a kdo se zvuky. Pomáhá posoudit účinek zásahu tím, že o zařazení nerozhodují vlastnosti či preference účastníků. Skupiny se přesto mohou náhodou lišit.</a:t>
            </a:r>
          </a:p>
          <a:p>
            <a:pPr marL="179178" indent="-179178">
              <a:buFont typeface="Arial" panose="020B0604020202020204" pitchFamily="34" charset="0"/>
              <a:buChar char="•"/>
              <a:defRPr lang="cs-CZ" altLang="cs-CZ" noProof="0"/>
            </a:pPr>
            <a:r>
              <a:rPr lang="cs-CZ" altLang="cs-CZ" b="1" i="1" noProof="0"/>
              <a:t>Co jsme vyřešili a co zůstalo nevyřešené, když dobrovolníky z našeho semináře losem přiřadíme k experimentálním podmínkám?</a:t>
            </a:r>
          </a:p>
          <a:p>
            <a:pPr marL="179178" indent="-179178">
              <a:buFont typeface="Arial" panose="020B0604020202020204" pitchFamily="34" charset="0"/>
              <a:buChar char="•"/>
              <a:defRPr lang="cs-CZ" altLang="cs-CZ" noProof="0"/>
            </a:pPr>
            <a:r>
              <a:rPr lang="cs-CZ" altLang="cs-CZ" noProof="0"/>
              <a:t>Představme si čtyřicet dobrovolníků z vlastního semináře. Losem je rozdělíme na dvě skupiny. </a:t>
            </a:r>
            <a:r>
              <a:rPr lang="cs-CZ" altLang="cs-CZ" b="1" noProof="0"/>
              <a:t>Provedli jsme náhodné přiřazení k podmínkám</a:t>
            </a:r>
            <a:r>
              <a:rPr lang="cs-CZ" altLang="cs-CZ" noProof="0"/>
              <a:t>. Tím jsme ale neprovedli náhodný výběr ze všech studentů fakulty. Nábor se nadále řídil </a:t>
            </a:r>
            <a:r>
              <a:rPr lang="cs-CZ" altLang="cs-CZ" b="1" noProof="0"/>
              <a:t>dostupností</a:t>
            </a:r>
            <a:r>
              <a:rPr lang="cs-CZ" altLang="cs-CZ" noProof="0"/>
              <a:t> a </a:t>
            </a:r>
            <a:r>
              <a:rPr lang="cs-CZ" altLang="cs-CZ" b="1" noProof="0"/>
              <a:t>dobrovolnou účastí</a:t>
            </a:r>
            <a:r>
              <a:rPr lang="cs-CZ" altLang="cs-CZ" noProof="0"/>
              <a:t>.</a:t>
            </a:r>
          </a:p>
          <a:p>
            <a:pPr marL="179178" indent="-179178">
              <a:buFont typeface="Arial" panose="020B0604020202020204" pitchFamily="34" charset="0"/>
              <a:buChar char="•"/>
              <a:defRPr lang="cs-CZ" altLang="cs-CZ" noProof="0"/>
            </a:pPr>
            <a:r>
              <a:rPr lang="cs-CZ" altLang="cs-CZ" noProof="0"/>
              <a:t>Dobře provedené srovnání těchto skupin může přispět k posouzení účinku zvuků v dané situaci. Přenos na celou fakultu, jiné věkové skupiny nebo jiné úlohy však potřebuje další oporu. Naopak ani náhodně získaný soubor by sám nevyřešil experiment, v němž se podmínky liší také obtížností seznamu nebo instrukcemi.</a:t>
            </a:r>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noProof="0"/>
              <a:t>S náhodným výběrem a přiřazením souvisí otázka validity, tedy platnosti závěrů studie.</a:t>
            </a:r>
          </a:p>
          <a:p>
            <a:pPr marL="179178" indent="-179178">
              <a:buFont typeface="Arial" panose="020B0604020202020204" pitchFamily="34" charset="0"/>
              <a:buChar char="•"/>
              <a:defRPr lang="cs-CZ" altLang="cs-CZ" noProof="0"/>
            </a:pPr>
            <a:r>
              <a:rPr lang="cs-CZ" altLang="cs-CZ" b="1" noProof="0"/>
              <a:t>Interní validita </a:t>
            </a:r>
            <a:r>
              <a:rPr lang="cs-CZ" altLang="cs-CZ" noProof="0"/>
              <a:t>se týká opory pro příčinný závěr v dané studii. Ptáme se, zda máme důvod připsat zjištěný rozdíl zkoumanému zásahu, nebo zda připadá v úvahu jiné vysvětlení.</a:t>
            </a:r>
          </a:p>
          <a:p>
            <a:pPr marL="179178" indent="-179178">
              <a:buFont typeface="Arial" panose="020B0604020202020204" pitchFamily="34" charset="0"/>
              <a:buChar char="•"/>
              <a:defRPr lang="cs-CZ" altLang="cs-CZ" noProof="0"/>
            </a:pPr>
            <a:r>
              <a:rPr lang="cs-CZ" altLang="cs-CZ" noProof="0"/>
              <a:t>V experimentu s učením slov by interní validitu ohrozilo například to, že skupina se zvuky dostane také obtížnější seznam. Pokud dosáhne horšího výsledku, nemůžeme dobře oddělit působení zvuků a obtížnosti. Náhodné přiřazení lidí samo takto vytvořený rozdíl podmínek neodstraní.</a:t>
            </a:r>
          </a:p>
          <a:p>
            <a:pPr marL="179178" indent="-179178">
              <a:buFont typeface="Arial" panose="020B0604020202020204" pitchFamily="34" charset="0"/>
              <a:buChar char="•"/>
              <a:defRPr lang="cs-CZ" altLang="cs-CZ" noProof="0"/>
            </a:pPr>
            <a:r>
              <a:rPr lang="cs-CZ" altLang="cs-CZ" b="1" noProof="0"/>
              <a:t>Externí validita </a:t>
            </a:r>
            <a:r>
              <a:rPr lang="cs-CZ" altLang="cs-CZ" noProof="0"/>
              <a:t>se týká opory pro přenos závěru na další lidi, situace, úlohy nebo období. I kdybychom dobře doložili účinek zvuků u vysokoškoláků při krátké laboratorní úloze, potřebujeme další zdůvodnění pro starší lidi učící se doma delší text. Mění se totiž více relevantních okolností. Posuzujeme, proč očekáváme podobný účinek a co by jej mohlo změnit; podle potřeby očekávání ověřujeme další studií.</a:t>
            </a:r>
          </a:p>
          <a:p>
            <a:pPr marL="179178" indent="-179178">
              <a:buFont typeface="Arial" panose="020B0604020202020204" pitchFamily="34" charset="0"/>
              <a:buChar char="•"/>
              <a:defRPr lang="cs-CZ" altLang="cs-CZ" noProof="0"/>
            </a:pPr>
            <a:r>
              <a:rPr lang="cs-CZ" altLang="cs-CZ" noProof="0"/>
              <a:t>Silná interní validita sama nezaručuje širokou </a:t>
            </a:r>
            <a:r>
              <a:rPr lang="cs-CZ" altLang="cs-CZ" noProof="0" err="1"/>
              <a:t>zobecnitelnost</a:t>
            </a:r>
            <a:r>
              <a:rPr lang="cs-CZ" altLang="cs-CZ" noProof="0"/>
              <a:t>. Reprezentativní výběr zase sám neprokazuje příčinnou souvislost. Neplatí ani obecné pravidlo, že zlepšení jedné musí nutně zhoršit druhou. Jde o dvě odlišné otázky, pro které hledáme odpovídající oporu.</a:t>
            </a:r>
          </a:p>
          <a:p>
            <a:pPr marL="179178" indent="-179178">
              <a:buFont typeface="Arial" panose="020B0604020202020204" pitchFamily="34" charset="0"/>
              <a:buChar char="•"/>
              <a:defRPr lang="cs-CZ" altLang="cs-CZ" noProof="0"/>
            </a:pPr>
            <a:r>
              <a:rPr lang="cs-CZ" altLang="cs-CZ" noProof="0"/>
              <a:t>Pro přenos příčinného závěru potřebujeme zdůvodnit oba kroky: že zásah působil v původní studii a že máme důvod očekávat jeho působení také v nových podmínkách.</a:t>
            </a:r>
          </a:p>
          <a:p>
            <a:pPr marL="179178" indent="-179178">
              <a:buFont typeface="Arial" panose="020B0604020202020204" pitchFamily="34" charset="0"/>
              <a:buChar char="•"/>
              <a:defRPr lang="cs-CZ" altLang="cs-CZ" noProof="0"/>
            </a:pPr>
            <a:r>
              <a:rPr lang="cs-CZ" altLang="cs-CZ" b="1" i="1" noProof="0"/>
              <a:t>Proč by dobře doložený účinek rušivých zvuků při zapamatování dvanácti slov nemusel být stejně velký při domácí přípravě na zkoušku?</a:t>
            </a:r>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noProof="0"/>
              <a:t>Psychologické otázky se často týkají paměti, úzkosti, motivace, důvěry nebo osobnostních rysů. </a:t>
            </a:r>
          </a:p>
          <a:p>
            <a:pPr marL="179178" indent="-179178">
              <a:buFont typeface="Arial" panose="020B0604020202020204" pitchFamily="34" charset="0"/>
              <a:buChar char="•"/>
              <a:defRPr lang="cs-CZ" altLang="cs-CZ" noProof="0"/>
            </a:pPr>
            <a:r>
              <a:rPr lang="cs-CZ" altLang="cs-CZ" noProof="0"/>
              <a:t>Takové teoreticky vymezené vlastnosti a procesy označujeme jako </a:t>
            </a:r>
            <a:r>
              <a:rPr lang="cs-CZ" altLang="cs-CZ" b="1" noProof="0"/>
              <a:t>konstrukty</a:t>
            </a:r>
            <a:r>
              <a:rPr lang="cs-CZ" altLang="cs-CZ" noProof="0"/>
              <a:t>. Konstrukt není totožný s jedinou odpovědí ani s číslem v tabulce.</a:t>
            </a:r>
          </a:p>
          <a:p>
            <a:pPr marL="179178" indent="-179178">
              <a:buFont typeface="Arial" panose="020B0604020202020204" pitchFamily="34" charset="0"/>
              <a:buChar char="•"/>
              <a:defRPr lang="cs-CZ" altLang="cs-CZ" noProof="0"/>
            </a:pPr>
            <a:r>
              <a:rPr lang="cs-CZ" altLang="cs-CZ" b="1" noProof="0"/>
              <a:t>Operacionalizace</a:t>
            </a:r>
            <a:r>
              <a:rPr lang="cs-CZ" altLang="cs-CZ" noProof="0"/>
              <a:t> převádí obecné vymezení toho, co chceme zkoumat, do konkrétního pozorovatelného postupu. </a:t>
            </a:r>
          </a:p>
          <a:p>
            <a:pPr marL="179178" indent="-179178">
              <a:buFont typeface="Arial" panose="020B0604020202020204" pitchFamily="34" charset="0"/>
              <a:buChar char="•"/>
              <a:defRPr lang="cs-CZ" altLang="cs-CZ" noProof="0"/>
            </a:pPr>
            <a:r>
              <a:rPr lang="cs-CZ" altLang="cs-CZ" noProof="0"/>
              <a:t>Jeho přesný popis je </a:t>
            </a:r>
            <a:r>
              <a:rPr lang="cs-CZ" altLang="cs-CZ" b="1" noProof="0"/>
              <a:t>operacionální definice</a:t>
            </a:r>
            <a:r>
              <a:rPr lang="cs-CZ" altLang="cs-CZ" noProof="0"/>
              <a:t>. V našem příkladu účastník jednu minutu čte seznam dvanácti běžných českých slov. Potom seznam odstraníme a účastník má jednu minutu na zapsání slov, která si vybaví. Každé správné různé slovo započítáme pouze jednou. Předem také stanovíme, jak posuzovat drobné pravopisné odchylky.</a:t>
            </a:r>
          </a:p>
          <a:p>
            <a:pPr marL="179178" indent="-179178">
              <a:buFont typeface="Arial" panose="020B0604020202020204" pitchFamily="34" charset="0"/>
              <a:buChar char="•"/>
              <a:defRPr lang="cs-CZ" altLang="cs-CZ" noProof="0"/>
            </a:pPr>
            <a:r>
              <a:rPr lang="cs-CZ" altLang="cs-CZ" noProof="0"/>
              <a:t>Tím získáme </a:t>
            </a:r>
            <a:r>
              <a:rPr lang="cs-CZ" altLang="cs-CZ" b="1" noProof="0"/>
              <a:t>ukazatel výkonu</a:t>
            </a:r>
            <a:r>
              <a:rPr lang="cs-CZ" altLang="cs-CZ" noProof="0"/>
              <a:t>: počet správně vybavených slov, který může nabývat celých hodnot od nuly do dvanácti. Tento počet může poskytovat informaci o určité stránce paměti. Automaticky však nepokrývá všechny její stránky ani nepředstavuje čisté měření jediné schopnosti. </a:t>
            </a:r>
          </a:p>
          <a:p>
            <a:pPr marL="179178" indent="-179178">
              <a:buFont typeface="Arial" panose="020B0604020202020204" pitchFamily="34" charset="0"/>
              <a:buChar char="•"/>
              <a:defRPr lang="cs-CZ" altLang="cs-CZ" noProof="0"/>
            </a:pPr>
            <a:r>
              <a:rPr lang="cs-CZ" altLang="cs-CZ" noProof="0"/>
              <a:t>Rozpoznávání dříve viděných slov nebo vlastní hodnocení paměti jsou jiné postupy a mohou přinést jiný obraz.</a:t>
            </a:r>
          </a:p>
          <a:p>
            <a:pPr marL="179178" indent="-179178">
              <a:buFont typeface="Arial" panose="020B0604020202020204" pitchFamily="34" charset="0"/>
              <a:buChar char="•"/>
              <a:defRPr lang="cs-CZ" altLang="cs-CZ" noProof="0"/>
            </a:pPr>
            <a:r>
              <a:rPr lang="cs-CZ" altLang="cs-CZ" noProof="0"/>
              <a:t>Operacionalizace proto není jen výsledné číslo. Zahrnuje způsob, kterým jsme je získali. Potřebujeme vědět, co člověk dělal, za jakých podmínek, kdy a podle jakého pravidla byl výsledek vyhodnocen.</a:t>
            </a:r>
          </a:p>
          <a:p>
            <a:pPr marL="179178" indent="-179178">
              <a:buFont typeface="Arial" panose="020B0604020202020204" pitchFamily="34" charset="0"/>
              <a:buChar char="•"/>
              <a:defRPr lang="cs-CZ" altLang="cs-CZ" noProof="0"/>
            </a:pPr>
            <a:r>
              <a:rPr lang="cs-CZ" altLang="cs-CZ" noProof="0"/>
              <a:t>Stejnou pozornost potřebuje údaj o spánku. Zápis sedm může znamenat sedm hodin, hodnocení kvality spánku nebo čas vstávání. My jím myslíme účastníkem odhadnutou skutečnou dobu spánku předchozí noci, bez času bdění. Přesná definice umožní údaji rozumět, ale sama ještě nezaručí přesný odhad ani vhodnost ukazatele pro každou otázku.</a:t>
            </a:r>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lang="cs-CZ" altLang="cs-CZ" noProof="0"/>
            </a:pPr>
            <a:r>
              <a:rPr lang="cs-CZ" altLang="cs-CZ" b="1" noProof="0"/>
              <a:t>Úroveň měření říká</a:t>
            </a:r>
            <a:r>
              <a:rPr lang="cs-CZ" altLang="cs-CZ" noProof="0"/>
              <a:t>, které vztahy mezi zaznamenanými hodnotami můžeme věcně interpretovat. Nerozhoduje samotný vzhled čísel. Potřebujeme znát význam proměnné a pravidla, podle kterých byly hodnoty přiřazeny.</a:t>
            </a:r>
          </a:p>
          <a:p>
            <a:pPr>
              <a:defRPr lang="cs-CZ" altLang="cs-CZ" noProof="0"/>
            </a:pPr>
            <a:endParaRPr lang="cs-CZ" altLang="cs-CZ" noProof="0"/>
          </a:p>
          <a:p>
            <a:pPr>
              <a:defRPr lang="cs-CZ" altLang="cs-CZ" noProof="0"/>
            </a:pPr>
            <a:r>
              <a:rPr lang="cs-CZ" altLang="cs-CZ" noProof="0"/>
              <a:t>Při </a:t>
            </a:r>
            <a:r>
              <a:rPr lang="cs-CZ" altLang="cs-CZ" b="1" noProof="0"/>
              <a:t>nominální úrovni </a:t>
            </a:r>
            <a:r>
              <a:rPr lang="cs-CZ" altLang="cs-CZ" noProof="0"/>
              <a:t>hodnoty pouze rozlišují kategorie. V experimentu může jít o ticho a rušivé zvuky. Můžeme určit, zda byli dva účastníci ve stejné, nebo odlišné podmínce. Pokud ticho označíme jedničkou a zvuky dvojkou, dvojka neznamená dvojnásobnou intenzitu zásahu. Jsou to pouze kódy. Mohli bychom použít písmena nebo kódy zaměnit, pokud zachováme jejich jednoznačné vysvětlení.</a:t>
            </a:r>
          </a:p>
          <a:p>
            <a:pPr>
              <a:defRPr lang="cs-CZ" altLang="cs-CZ" noProof="0"/>
            </a:pPr>
            <a:endParaRPr lang="cs-CZ" altLang="cs-CZ" noProof="0"/>
          </a:p>
          <a:p>
            <a:pPr>
              <a:defRPr lang="cs-CZ" altLang="cs-CZ" noProof="0"/>
            </a:pPr>
            <a:r>
              <a:rPr lang="cs-CZ" altLang="cs-CZ" noProof="0"/>
              <a:t>Při </a:t>
            </a:r>
            <a:r>
              <a:rPr lang="cs-CZ" altLang="cs-CZ" b="1" noProof="0"/>
              <a:t>ordinální úrovni hodnoty </a:t>
            </a:r>
            <a:r>
              <a:rPr lang="cs-CZ" altLang="cs-CZ" noProof="0"/>
              <a:t>navíc vyjadřují pořadí. U otázky na </a:t>
            </a:r>
            <a:r>
              <a:rPr lang="cs-CZ" altLang="cs-CZ" noProof="0" err="1"/>
              <a:t>odpočatost</a:t>
            </a:r>
            <a:r>
              <a:rPr lang="cs-CZ" altLang="cs-CZ" noProof="0"/>
              <a:t> používáme odpovědi vůbec, trochu, dost a zcela. Pokud je účastníci chápou v zamýšleném pořadí, vyšší odpověď představuje vyšší hodnocení </a:t>
            </a:r>
            <a:r>
              <a:rPr lang="cs-CZ" altLang="cs-CZ" noProof="0" err="1"/>
              <a:t>odpočatosti</a:t>
            </a:r>
            <a:r>
              <a:rPr lang="cs-CZ" altLang="cs-CZ" noProof="0"/>
              <a:t>.</a:t>
            </a:r>
          </a:p>
          <a:p>
            <a:pPr>
              <a:defRPr lang="cs-CZ" altLang="cs-CZ" noProof="0"/>
            </a:pPr>
            <a:endParaRPr lang="cs-CZ" altLang="cs-CZ" noProof="0"/>
          </a:p>
          <a:p>
            <a:pPr>
              <a:defRPr lang="cs-CZ" altLang="cs-CZ" noProof="0"/>
            </a:pPr>
            <a:r>
              <a:rPr lang="cs-CZ" altLang="cs-CZ" noProof="0"/>
              <a:t>Z tohoto pořadí ale samo neplyne, že rozdíl mezi vůbec a trochu je stejně velký jako mezi dost a zcela. Když možnosti očíslujeme od jedné do čtyř, číselné kroky budou stejné. </a:t>
            </a:r>
            <a:r>
              <a:rPr lang="cs-CZ" altLang="cs-CZ" b="1" noProof="0"/>
              <a:t>Nemáme však tím doloženo, že stejně velké jsou také rozdíly v prožitku, které chceme zachytit</a:t>
            </a:r>
            <a:r>
              <a:rPr lang="cs-CZ" altLang="cs-CZ" noProof="0"/>
              <a:t>.</a:t>
            </a:r>
          </a:p>
          <a:p>
            <a:pPr>
              <a:defRPr lang="cs-CZ" altLang="cs-CZ" noProof="0"/>
            </a:pPr>
            <a:endParaRPr lang="cs-CZ" altLang="cs-CZ" noProof="0"/>
          </a:p>
          <a:p>
            <a:pPr>
              <a:defRPr lang="cs-CZ" altLang="cs-CZ" noProof="0"/>
            </a:pPr>
            <a:r>
              <a:rPr lang="cs-CZ" altLang="cs-CZ" noProof="0"/>
              <a:t>Nominální a ordinální úroveň tedy rozlišujeme podle toho, zda máme oporu pouze pro </a:t>
            </a:r>
            <a:r>
              <a:rPr lang="cs-CZ" altLang="cs-CZ" b="1" noProof="0"/>
              <a:t>odlišnost kategorií, nebo také pro jejich pořadí</a:t>
            </a:r>
            <a:r>
              <a:rPr lang="cs-CZ" altLang="cs-CZ" noProof="0"/>
              <a:t>. Pro další tvrzení o velikosti rozdílů bychom potřebovali další zdůvodnění. </a:t>
            </a:r>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b="1" noProof="0"/>
              <a:t>Intervalová úroveň měření </a:t>
            </a:r>
            <a:r>
              <a:rPr lang="cs-CZ" altLang="cs-CZ" noProof="0"/>
              <a:t>umožňuje interpretovat </a:t>
            </a:r>
            <a:r>
              <a:rPr lang="cs-CZ" altLang="cs-CZ" i="1" noProof="0"/>
              <a:t>také rovnost rozdílů</a:t>
            </a:r>
            <a:r>
              <a:rPr lang="cs-CZ" altLang="cs-CZ" noProof="0"/>
              <a:t>. Stejný číselný rozdíl má představovat stejný rozdíl měřené veličiny. </a:t>
            </a:r>
          </a:p>
          <a:p>
            <a:pPr marL="179178" indent="-179178">
              <a:buFont typeface="Arial" panose="020B0604020202020204" pitchFamily="34" charset="0"/>
              <a:buChar char="•"/>
              <a:defRPr lang="cs-CZ" altLang="cs-CZ" noProof="0"/>
            </a:pPr>
            <a:r>
              <a:rPr lang="cs-CZ" altLang="cs-CZ" noProof="0"/>
              <a:t>Nulový bod však není pevně určen její nepřítomností. </a:t>
            </a:r>
          </a:p>
          <a:p>
            <a:pPr marL="179178" indent="-179178">
              <a:buFont typeface="Arial" panose="020B0604020202020204" pitchFamily="34" charset="0"/>
              <a:buChar char="•"/>
              <a:defRPr lang="cs-CZ" altLang="cs-CZ" noProof="0"/>
            </a:pPr>
            <a:r>
              <a:rPr lang="cs-CZ" altLang="cs-CZ" noProof="0"/>
              <a:t>Příkladem je teplota ve stupních Celsia. Zvýšení z deseti na patnáct stupňů je stejně velký teplotní rozdíl jako zvýšení z dvaceti na dvacet pět. </a:t>
            </a:r>
            <a:br>
              <a:rPr lang="cs-CZ" altLang="cs-CZ" noProof="0"/>
            </a:br>
            <a:r>
              <a:rPr lang="cs-CZ" altLang="cs-CZ" noProof="0"/>
              <a:t>Nula na této stupnici je arbitrárně zvolený referenční bod.</a:t>
            </a:r>
          </a:p>
          <a:p>
            <a:pPr marL="179178" indent="-179178">
              <a:buFont typeface="Arial" panose="020B0604020202020204" pitchFamily="34" charset="0"/>
              <a:buChar char="•"/>
              <a:defRPr lang="cs-CZ" altLang="cs-CZ" noProof="0"/>
            </a:pPr>
            <a:r>
              <a:rPr lang="cs-CZ" altLang="cs-CZ" noProof="0"/>
              <a:t>Proto nelze číselný poměr dvaceti a deseti stupňů Celsia vykládat jako dvojnásobnou teplotu. Při převodu na jinou teplotní stupnici by se tento poměr změnil. Smysluplnost rozdílů tedy není totéž jako smysluplnost poměrů.</a:t>
            </a:r>
          </a:p>
          <a:p>
            <a:pPr marL="179178" indent="-179178">
              <a:buFont typeface="Arial" panose="020B0604020202020204" pitchFamily="34" charset="0"/>
              <a:buChar char="•"/>
              <a:defRPr lang="cs-CZ" altLang="cs-CZ" noProof="0"/>
            </a:pPr>
            <a:r>
              <a:rPr lang="cs-CZ" altLang="cs-CZ" b="1" noProof="0"/>
              <a:t>Poměrová úroveň </a:t>
            </a:r>
            <a:r>
              <a:rPr lang="cs-CZ" altLang="cs-CZ" noProof="0"/>
              <a:t>přidává věcně určený nulový bod a možnost interpretovat poměry. Osm hodin spánku je dvojnásobná doba oproti čtyřem hodinám. Když obě doby převedeme na minuty, poměr zůstane stejný. Nula hodin znamená žádný spánek ve vymezeném období.</a:t>
            </a:r>
          </a:p>
          <a:p>
            <a:pPr marL="179178" indent="-179178">
              <a:buFont typeface="Arial" panose="020B0604020202020204" pitchFamily="34" charset="0"/>
              <a:buChar char="•"/>
              <a:defRPr lang="cs-CZ" altLang="cs-CZ" noProof="0"/>
            </a:pPr>
            <a:r>
              <a:rPr lang="cs-CZ" altLang="cs-CZ" noProof="0"/>
              <a:t>Podobně deset správně vybavených slov je dvojnásobný počet oproti pěti. Zde je však zásadní určit, čeho se poměr týká. Dvojnásobný počet slov nedokládá dvojnásobnou obecnou paměťovou schopnost. Ukazatel a konstrukt nemusejí mít stejné měřicí vlastnosti.</a:t>
            </a:r>
          </a:p>
          <a:p>
            <a:pPr marL="179178" indent="-179178">
              <a:buFont typeface="Arial" panose="020B0604020202020204" pitchFamily="34" charset="0"/>
              <a:buChar char="•"/>
              <a:defRPr lang="cs-CZ" altLang="cs-CZ" noProof="0"/>
            </a:pPr>
            <a:r>
              <a:rPr lang="cs-CZ" altLang="cs-CZ" noProof="0"/>
              <a:t>U psychologického dotazníku proto nesmíme intervalovou interpretaci odvodit jen z toho, že má číselné body se shodnými rozestupy. Stejné bodové rozdíly by musely odpovídat stejně velkým rozdílům v zamýšleném rysu. Pro takové tvrzení potřebujeme oporu vztahující se ke konkrétnímu měření.</a:t>
            </a:r>
          </a:p>
          <a:p>
            <a:pPr marL="179178" indent="-179178">
              <a:buFont typeface="Arial" panose="020B0604020202020204" pitchFamily="34" charset="0"/>
              <a:buChar char="•"/>
              <a:defRPr lang="cs-CZ" altLang="cs-CZ" noProof="0"/>
            </a:pPr>
            <a:r>
              <a:rPr lang="cs-CZ" altLang="cs-CZ" b="1" i="1" noProof="0"/>
              <a:t>Jakou otázkou bychom měřili věk na nominální, ordinální, intervalové a poměrové úrovni?</a:t>
            </a:r>
            <a:endParaRPr lang="cs-CZ" altLang="cs-CZ" noProof="0"/>
          </a:p>
          <a:p>
            <a:pPr marL="179178" indent="-179178" defTabSz="955613">
              <a:buFont typeface="Arial" panose="020B0604020202020204" pitchFamily="34" charset="0"/>
              <a:buChar char="•"/>
              <a:defRPr lang="cs-CZ" altLang="cs-CZ" noProof="0"/>
            </a:pPr>
            <a:r>
              <a:rPr lang="cs-CZ" altLang="cs-CZ" b="1" i="1" noProof="0"/>
              <a:t>Proč lze osm hodin spánku označit za dvojnásobek čtyř hodin, zatímco 20 °C nelze obdobně interpretovat jako dvojnásobnou teplotu oproti 10 °C?</a:t>
            </a:r>
            <a:endParaRPr lang="cs-CZ" altLang="cs-CZ" noProof="0"/>
          </a:p>
          <a:p>
            <a:pPr marL="179178" indent="-179178">
              <a:buFont typeface="Arial" panose="020B0604020202020204" pitchFamily="34" charset="0"/>
              <a:buChar char="•"/>
              <a:defRPr lang="cs-CZ" altLang="cs-CZ" noProof="0"/>
            </a:pPr>
            <a:endParaRPr lang="cs-CZ" altLang="cs-CZ" b="1" i="1" noProof="0"/>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b="1" noProof="0"/>
              <a:t>Testový skór </a:t>
            </a:r>
            <a:r>
              <a:rPr lang="cs-CZ" altLang="cs-CZ" noProof="0"/>
              <a:t>je číselný výsledek získaný podle pravidel testu. Může vzniknout například součtem bodů. </a:t>
            </a:r>
            <a:r>
              <a:rPr lang="cs-CZ" altLang="cs-CZ" i="1" noProof="0"/>
              <a:t>Pravidla bodování však sama nedokládají, že body zachycují stejně velké kroky v psychologické vlastnosti</a:t>
            </a:r>
            <a:r>
              <a:rPr lang="cs-CZ" altLang="cs-CZ" noProof="0"/>
              <a:t>. </a:t>
            </a:r>
          </a:p>
          <a:p>
            <a:pPr marL="179178" indent="-179178">
              <a:buFont typeface="Arial" panose="020B0604020202020204" pitchFamily="34" charset="0"/>
              <a:buChar char="•"/>
              <a:defRPr lang="cs-CZ" altLang="cs-CZ" noProof="0"/>
            </a:pPr>
            <a:r>
              <a:rPr lang="cs-CZ" altLang="cs-CZ" noProof="0"/>
              <a:t>Představme si rozdíl mezi výsledky IQ 100 a 105 a rozdíl mezi 105 a 110. Číselně jde v obou případech o pět bodů. </a:t>
            </a:r>
            <a:r>
              <a:rPr lang="cs-CZ" altLang="cs-CZ" i="1" noProof="0"/>
              <a:t>Z tohoto faktu samotného ale neplyne, že oba rozdíly představují stejně velkou změnu či rozdíl v inteligenci.</a:t>
            </a:r>
            <a:r>
              <a:rPr lang="cs-CZ" altLang="cs-CZ" noProof="0"/>
              <a:t> </a:t>
            </a:r>
          </a:p>
          <a:p>
            <a:pPr marL="179178" indent="-179178">
              <a:buFont typeface="Arial" panose="020B0604020202020204" pitchFamily="34" charset="0"/>
              <a:buChar char="•"/>
              <a:defRPr lang="cs-CZ" altLang="cs-CZ" noProof="0"/>
            </a:pPr>
            <a:r>
              <a:rPr lang="cs-CZ" altLang="cs-CZ" noProof="0"/>
              <a:t>Podobně pětibodový rozdíl v dotazníku únavy nemusí ve všech částech stupnice znamenat stejný rozdíl únavy.</a:t>
            </a:r>
          </a:p>
          <a:p>
            <a:pPr marL="179178" indent="-179178">
              <a:buFont typeface="Arial" panose="020B0604020202020204" pitchFamily="34" charset="0"/>
              <a:buChar char="•"/>
              <a:defRPr lang="cs-CZ" altLang="cs-CZ" noProof="0"/>
            </a:pPr>
            <a:r>
              <a:rPr lang="cs-CZ" altLang="cs-CZ" noProof="0"/>
              <a:t>Jednou cestou k posouzení je </a:t>
            </a:r>
            <a:r>
              <a:rPr lang="cs-CZ" altLang="cs-CZ" b="1" noProof="0"/>
              <a:t>vytvořit a ověřovat model měření</a:t>
            </a:r>
            <a:r>
              <a:rPr lang="cs-CZ" altLang="cs-CZ" noProof="0"/>
              <a:t>. Takový model popisuje, jak má úroveň vlastnosti souviset s odpověďmi. Závěry z něj však závisí na přiměřenosti jeho předpokladů. </a:t>
            </a:r>
          </a:p>
          <a:p>
            <a:pPr marL="179178" indent="-179178">
              <a:buFont typeface="Arial" panose="020B0604020202020204" pitchFamily="34" charset="0"/>
              <a:buChar char="•"/>
              <a:defRPr lang="cs-CZ" altLang="cs-CZ" noProof="0"/>
            </a:pPr>
            <a:r>
              <a:rPr lang="cs-CZ" altLang="cs-CZ" noProof="0"/>
              <a:t>Navíc je třeba rozlišovat původní součet bodů a hodnoty odhadnuté pomocí modelu. Případná intervalová interpretace jedněch se automaticky nepřenáší na druhé.</a:t>
            </a:r>
          </a:p>
          <a:p>
            <a:pPr marL="179178" indent="-179178">
              <a:buFont typeface="Arial" panose="020B0604020202020204" pitchFamily="34" charset="0"/>
              <a:buChar char="•"/>
              <a:defRPr lang="cs-CZ" altLang="cs-CZ" noProof="0"/>
            </a:pPr>
            <a:r>
              <a:rPr lang="cs-CZ" altLang="cs-CZ" noProof="0"/>
              <a:t>O </a:t>
            </a:r>
            <a:r>
              <a:rPr lang="cs-CZ" altLang="cs-CZ" b="1" noProof="0" err="1"/>
              <a:t>kvaziintervalovém</a:t>
            </a:r>
            <a:r>
              <a:rPr lang="cs-CZ" altLang="cs-CZ" b="1" noProof="0"/>
              <a:t> měření </a:t>
            </a:r>
            <a:r>
              <a:rPr lang="cs-CZ" altLang="cs-CZ" noProof="0"/>
              <a:t>mluvíme tehdy, když pro určitý účel zacházíme s rozdíly ve skórech jako s přibližně srovnatelnými. Jde o zdůvodňované přiblížení s omezeními, nikoli o pátou základní úroveň měření nebo obecné vyřešení otázky.</a:t>
            </a:r>
          </a:p>
          <a:p>
            <a:pPr marL="179178" indent="-179178">
              <a:buFont typeface="Arial" panose="020B0604020202020204" pitchFamily="34" charset="0"/>
              <a:buChar char="•"/>
              <a:defRPr lang="cs-CZ" altLang="cs-CZ" noProof="0"/>
            </a:pPr>
            <a:r>
              <a:rPr lang="cs-CZ" altLang="cs-CZ" noProof="0"/>
              <a:t>Jde vlastně o tvrzení, že striktně vzato je měření psychologických vlastností ordinální, ale zároveň předpokládáme, že odchylky od </a:t>
            </a:r>
            <a:r>
              <a:rPr lang="cs-CZ" altLang="cs-CZ" noProof="0" err="1"/>
              <a:t>intervalovosti</a:t>
            </a:r>
            <a:r>
              <a:rPr lang="cs-CZ" altLang="cs-CZ" noProof="0"/>
              <a:t> jsou natolik malé, že je můžeme zanedbat: např. že rozdíl mezi výsledky IQ 100 a 105 neodráží úplně stejnou změnu v inteligenci jako rozdíl mezi IQ 105 a 110, ale tato odchylka je tak malá, že můžeme s výsledky zacházet jako s intervalovým měřením.</a:t>
            </a:r>
          </a:p>
          <a:p>
            <a:pPr marL="179178" indent="-179178">
              <a:buFont typeface="Arial" panose="020B0604020202020204" pitchFamily="34" charset="0"/>
              <a:buChar char="•"/>
              <a:defRPr lang="cs-CZ" altLang="cs-CZ" noProof="0"/>
            </a:pPr>
            <a:r>
              <a:rPr lang="cs-CZ" altLang="cs-CZ" noProof="0"/>
              <a:t>Velký počet položek či odpovědních kategorií může umožnit jemnější rozlišení výsledků. Sám ale nedokládá stejné vzdálenosti mezi úrovněmi rysu. Ani tvar rozdělení skórů tento důkaz neposkytuje. Odlišujeme proto tři otázky: jak jemně výsledky rozlišujeme, co znamenají jejich rozdíly a jak citlivý je zvolený výpočet na přijaté přiblížení. Použitelnost určité statistické metody sama neprokazuje intervalovou povahu měření.</a:t>
            </a:r>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noProof="0"/>
              <a:t>Úrovně měření se týkaly toho, které vztahy mezi zaznamenanými hodnotami můžeme věcně interpretovat, respektive co vztahy mezi hodnotami říkají o sledované vlastnosti.</a:t>
            </a:r>
          </a:p>
          <a:p>
            <a:pPr marL="179178" indent="-179178">
              <a:buFont typeface="Arial" panose="020B0604020202020204" pitchFamily="34" charset="0"/>
              <a:buChar char="•"/>
              <a:defRPr lang="cs-CZ" altLang="cs-CZ" noProof="0"/>
            </a:pPr>
            <a:r>
              <a:rPr lang="cs-CZ" altLang="cs-CZ" b="1" noProof="0"/>
              <a:t>Diskrétnost</a:t>
            </a:r>
            <a:r>
              <a:rPr lang="cs-CZ" altLang="cs-CZ" noProof="0"/>
              <a:t> a </a:t>
            </a:r>
            <a:r>
              <a:rPr lang="cs-CZ" altLang="cs-CZ" b="1" noProof="0"/>
              <a:t>spojitost</a:t>
            </a:r>
            <a:r>
              <a:rPr lang="cs-CZ" altLang="cs-CZ" noProof="0"/>
              <a:t> odpovídají na otázku, jakých hodnot může proměnná nabývat. </a:t>
            </a:r>
          </a:p>
          <a:p>
            <a:pPr marL="179178" indent="-179178">
              <a:buFont typeface="Arial" panose="020B0604020202020204" pitchFamily="34" charset="0"/>
              <a:buChar char="•"/>
              <a:defRPr lang="cs-CZ" altLang="cs-CZ" noProof="0"/>
            </a:pPr>
            <a:r>
              <a:rPr lang="cs-CZ" altLang="cs-CZ" b="1" noProof="0"/>
              <a:t>Diskrétní proměnná </a:t>
            </a:r>
            <a:r>
              <a:rPr lang="cs-CZ" altLang="cs-CZ" noProof="0"/>
              <a:t>nabývá oddělených hodnot. Počet správně vybavených slov v naší úloze je celé číslo od nuly do dvanácti. Mezi pěti a šesti správnými slovy není přípustná hodnota pět a půl.</a:t>
            </a:r>
          </a:p>
          <a:p>
            <a:pPr marL="179178" indent="-179178">
              <a:buFont typeface="Arial" panose="020B0604020202020204" pitchFamily="34" charset="0"/>
              <a:buChar char="•"/>
              <a:defRPr lang="cs-CZ" altLang="cs-CZ" noProof="0"/>
            </a:pPr>
            <a:r>
              <a:rPr lang="cs-CZ" altLang="cs-CZ" b="1" noProof="0"/>
              <a:t>Spojitá proměnná </a:t>
            </a:r>
            <a:r>
              <a:rPr lang="cs-CZ" altLang="cs-CZ" noProof="0"/>
              <a:t>může v příslušném intervalu teoreticky nabývat kterékoli hodnoty. Takto chápeme například dobu trvání. </a:t>
            </a:r>
          </a:p>
          <a:p>
            <a:pPr marL="179178" indent="-179178">
              <a:buFont typeface="Arial" panose="020B0604020202020204" pitchFamily="34" charset="0"/>
              <a:buChar char="•"/>
              <a:defRPr lang="cs-CZ" altLang="cs-CZ" noProof="0"/>
            </a:pPr>
            <a:r>
              <a:rPr lang="cs-CZ" altLang="cs-CZ" noProof="0"/>
              <a:t>Měření nebo odhad ji však zaznamená pouze s určitou přesností. Zápis sedm hodin tedy nemusí znamenat, že skutečná doba mohla být jen šest, sedm nebo osm hodin. Může jít o zaokrouhlení spojitého trvání.</a:t>
            </a:r>
          </a:p>
          <a:p>
            <a:pPr marL="179178" indent="-179178" defTabSz="955613">
              <a:buFont typeface="Arial" panose="020B0604020202020204" pitchFamily="34" charset="0"/>
              <a:buChar char="•"/>
              <a:defRPr lang="cs-CZ" altLang="cs-CZ" noProof="0"/>
            </a:pPr>
            <a:r>
              <a:rPr lang="cs-CZ" altLang="cs-CZ" b="1" i="1" noProof="0"/>
              <a:t>Jestliže stopky zapisují reakční dobu pouze v celých milisekundách, znamená to, že mezi dvěma sousedními zaznamenatelnými hodnotami nemůže ležet skutečná reakční doba?</a:t>
            </a:r>
            <a:endParaRPr lang="cs-CZ" altLang="cs-CZ" noProof="0"/>
          </a:p>
          <a:p>
            <a:pPr marL="179178" indent="-179178">
              <a:buFont typeface="Arial" panose="020B0604020202020204" pitchFamily="34" charset="0"/>
              <a:buChar char="•"/>
              <a:defRPr lang="cs-CZ" altLang="cs-CZ" noProof="0"/>
            </a:pPr>
            <a:r>
              <a:rPr lang="cs-CZ" altLang="cs-CZ" noProof="0"/>
              <a:t>Rozhodující není desetinná čárka. Pokud bodování úlohy dovoluje jen nula, půl bodu nebo jeden bod, výsledek je diskrétní, přestože používá desetinnou hodnotu. Kdybychom tedy místo počtu správně vybavených slov vypočetli podíl správně vybavených slov, výsledek by byl nadále diskrétní, i když podíly používají desetinné hodnoty.</a:t>
            </a:r>
            <a:br>
              <a:rPr lang="cs-CZ" altLang="cs-CZ" noProof="0"/>
            </a:br>
            <a:r>
              <a:rPr lang="cs-CZ" altLang="cs-CZ" noProof="0"/>
              <a:t>Naopak reakční doba zapsaná v celých milisekundách může mít spojitý podklad.</a:t>
            </a:r>
          </a:p>
          <a:p>
            <a:pPr marL="179178" indent="-179178">
              <a:buFont typeface="Arial" panose="020B0604020202020204" pitchFamily="34" charset="0"/>
              <a:buChar char="•"/>
              <a:defRPr lang="cs-CZ" altLang="cs-CZ" noProof="0"/>
            </a:pPr>
            <a:r>
              <a:rPr lang="cs-CZ" altLang="cs-CZ" noProof="0"/>
              <a:t>Úroveň měření řeší jinou otázku: co vztahy mezi hodnotami říkají o sledované vlastnosti. Počet vybavených slov je diskrétní a zároveň poměrový. Deset slov je dvakrát více než pět. Doba spánku má spojitý podklad a poměrovou interpretaci také. Poměrovost tedy nevyžaduje spojitost.</a:t>
            </a:r>
          </a:p>
          <a:p>
            <a:pPr marL="179178" indent="-179178">
              <a:buFont typeface="Arial" panose="020B0604020202020204" pitchFamily="34" charset="0"/>
              <a:buChar char="•"/>
              <a:defRPr lang="cs-CZ" altLang="cs-CZ" noProof="0"/>
            </a:pPr>
            <a:r>
              <a:rPr lang="cs-CZ" altLang="cs-CZ" noProof="0"/>
              <a:t>Při popisu proměnné je proto dobré říci, zda mluvíme o sledované veličině, nebo o konkrétním záznamu. Tím se vyhneme omylu, že celočíselný zápis sám dokazuje diskrétnost, nebo že mnoho desetinných míst znamená spojitost. </a:t>
            </a:r>
          </a:p>
          <a:p>
            <a:pPr marL="179178" indent="-179178">
              <a:buFont typeface="Arial" panose="020B0604020202020204" pitchFamily="34" charset="0"/>
              <a:buChar char="•"/>
              <a:defRPr lang="cs-CZ" altLang="cs-CZ" noProof="0"/>
            </a:pPr>
            <a:r>
              <a:rPr lang="cs-CZ" altLang="cs-CZ" noProof="0"/>
              <a:t>Přesnost záznamu a význam rozdílů či poměrů potřebují vlastní zdůvodnění.</a:t>
            </a:r>
          </a:p>
          <a:p>
            <a:pPr marL="179178" indent="-179178">
              <a:buFont typeface="Arial" panose="020B0604020202020204" pitchFamily="34" charset="0"/>
              <a:buChar char="•"/>
              <a:defRPr lang="cs-CZ" altLang="cs-CZ" noProof="0"/>
            </a:pPr>
            <a:endParaRPr lang="cs-CZ" altLang="cs-CZ" noProof="0"/>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noProof="0"/>
              <a:t>Když dva studenti si ve stejné paměťové úloze vybaví různý počet slov – jak si tento rozdíl vysvětlit?</a:t>
            </a:r>
          </a:p>
          <a:p>
            <a:pPr marL="179178" indent="-179178">
              <a:buFont typeface="Arial" panose="020B0604020202020204" pitchFamily="34" charset="0"/>
              <a:buChar char="•"/>
              <a:defRPr lang="cs-CZ" altLang="cs-CZ" noProof="0"/>
            </a:pPr>
            <a:r>
              <a:rPr lang="cs-CZ" altLang="cs-CZ" noProof="0"/>
              <a:t>Rozdíl mezi dvěma výsledky </a:t>
            </a:r>
            <a:r>
              <a:rPr lang="cs-CZ" altLang="cs-CZ" b="1" noProof="0"/>
              <a:t>nemusí být chybou</a:t>
            </a:r>
            <a:r>
              <a:rPr lang="cs-CZ" altLang="cs-CZ" noProof="0"/>
              <a:t>. Dva studenti </a:t>
            </a:r>
            <a:r>
              <a:rPr lang="cs-CZ" altLang="cs-CZ" b="1" noProof="0"/>
              <a:t>mohou skutečně podat odlišný výkon</a:t>
            </a:r>
            <a:r>
              <a:rPr lang="cs-CZ" altLang="cs-CZ" noProof="0"/>
              <a:t>. Také jeden člověk se může měnit v čase, protože se mění jeho stav nebo podmínky. </a:t>
            </a:r>
          </a:p>
          <a:p>
            <a:pPr marL="179178" indent="-179178">
              <a:buFont typeface="Arial" panose="020B0604020202020204" pitchFamily="34" charset="0"/>
              <a:buChar char="•"/>
              <a:defRPr lang="cs-CZ" altLang="cs-CZ" noProof="0"/>
            </a:pPr>
            <a:r>
              <a:rPr lang="cs-CZ" altLang="cs-CZ" noProof="0"/>
              <a:t>Nesmíme ale ani zapomínat na to, že se může jednat o chybu.</a:t>
            </a:r>
          </a:p>
          <a:p>
            <a:pPr marL="179178" indent="-179178">
              <a:buFont typeface="Arial" panose="020B0604020202020204" pitchFamily="34" charset="0"/>
              <a:buChar char="•"/>
              <a:defRPr lang="cs-CZ" altLang="cs-CZ" noProof="0"/>
            </a:pPr>
            <a:r>
              <a:rPr lang="cs-CZ" altLang="cs-CZ" noProof="0"/>
              <a:t>Abychom mohli mluvili o chybě, musíme určit, vůči čemu výsledek posuzujeme, protože existují různé druhy chyb.</a:t>
            </a:r>
          </a:p>
          <a:p>
            <a:pPr marL="179178" indent="-179178">
              <a:buFont typeface="Arial" panose="020B0604020202020204" pitchFamily="34" charset="0"/>
              <a:buChar char="•"/>
              <a:defRPr lang="cs-CZ" altLang="cs-CZ" noProof="0"/>
            </a:pPr>
            <a:r>
              <a:rPr lang="cs-CZ" altLang="cs-CZ" b="1" noProof="0"/>
              <a:t>Chyba měření </a:t>
            </a:r>
            <a:r>
              <a:rPr lang="cs-CZ" altLang="cs-CZ" noProof="0"/>
              <a:t>je odchylka získaného údaje od toho, co má daný postup podle svého vymezení zachycovat. Pokud chceme skutečnou dobu spánku, ale účastník uvede celou dobu v posteli včetně bdění, údaj neodpovídá našemu vymezení. U psychologických vlastností bývá určení zcela přesného měření složitější, a nečekanou odpověď proto nemůžeme automaticky označit za chybnou.</a:t>
            </a:r>
          </a:p>
          <a:p>
            <a:pPr marL="179178" indent="-179178">
              <a:buFont typeface="Arial" panose="020B0604020202020204" pitchFamily="34" charset="0"/>
              <a:buChar char="•"/>
              <a:defRPr lang="cs-CZ" altLang="cs-CZ" noProof="0"/>
            </a:pPr>
            <a:r>
              <a:rPr lang="cs-CZ" altLang="cs-CZ" b="1" noProof="0"/>
              <a:t>Chyba záznamu </a:t>
            </a:r>
            <a:r>
              <a:rPr lang="cs-CZ" altLang="cs-CZ" noProof="0"/>
              <a:t>je jiný problém. Pokud čitelných osm hodin přepíšeme jako osmdesát, můžeme přepis opravit podle původního formuláře. Tím však neopravíme nepřesnou vzpomínku účastníka ani nezískáme odpověď od člověka, který nepřišel.</a:t>
            </a:r>
          </a:p>
          <a:p>
            <a:pPr marL="179178" indent="-179178">
              <a:buFont typeface="Arial" panose="020B0604020202020204" pitchFamily="34" charset="0"/>
              <a:buChar char="•"/>
              <a:defRPr lang="cs-CZ" altLang="cs-CZ" noProof="0"/>
            </a:pPr>
            <a:r>
              <a:rPr lang="cs-CZ" altLang="cs-CZ" b="1" noProof="0"/>
              <a:t>Výběrová chyba či variabilita </a:t>
            </a:r>
            <a:r>
              <a:rPr lang="cs-CZ" altLang="cs-CZ" noProof="0"/>
              <a:t>znamená, že různé vhodně provedené náhodné výběry z téže populace mohou poskytovat různé výsledky. Toto kolísání může nastat i při bezchybném měření.</a:t>
            </a:r>
          </a:p>
          <a:p>
            <a:pPr marL="179178" indent="-179178">
              <a:buFont typeface="Arial" panose="020B0604020202020204" pitchFamily="34" charset="0"/>
              <a:buChar char="•"/>
              <a:defRPr lang="cs-CZ" altLang="cs-CZ" noProof="0"/>
            </a:pPr>
            <a:r>
              <a:rPr lang="cs-CZ" altLang="cs-CZ" b="1" noProof="0"/>
              <a:t>Výběrové zkreslení </a:t>
            </a:r>
            <a:r>
              <a:rPr lang="cs-CZ" altLang="cs-CZ" noProof="0"/>
              <a:t>naproti tomu vzniká, když způsob získávání lidí soustavně zvýhodňuje určité složení souboru a tím posouvá závěr. Pokud například dopolední nábor vynechává pracující studenty, přidávání dalších dopoledních účastníků nemusí problém odstranit.</a:t>
            </a:r>
          </a:p>
          <a:p>
            <a:pPr marL="179178" indent="-179178">
              <a:buFont typeface="Arial" panose="020B0604020202020204" pitchFamily="34" charset="0"/>
              <a:buChar char="•"/>
              <a:defRPr lang="cs-CZ" altLang="cs-CZ" noProof="0"/>
            </a:pPr>
            <a:r>
              <a:rPr lang="cs-CZ" altLang="cs-CZ" noProof="0"/>
              <a:t>Systematické zkreslení se může týkat také měření, například soustavného započítávání bdění do spánku. Nejistota je širší pojem: označuje omezení toho, co víme. Není synonymem chyby ani jediným číslem. K posouzení výsledku proto potřebujeme znát měření, nábor, pravidla záznamu i důvody provedených oprav.</a:t>
            </a:r>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noProof="0"/>
              <a:t>Dosud jsme mluvili o tom, co chceme zkoumat, koho oslovíme a jak budeme jednotlivé vlastnosti měřit. Představme si teď, že jsme údaje skutečně získali. Jak je uspořádáme, abychom poznali, který údaj patří ke kterému člověku a co znamená</a:t>
            </a:r>
          </a:p>
          <a:p>
            <a:pPr marL="179178" indent="-179178">
              <a:buFont typeface="Arial" panose="020B0604020202020204" pitchFamily="34" charset="0"/>
              <a:buChar char="•"/>
              <a:defRPr lang="cs-CZ" altLang="cs-CZ" noProof="0"/>
            </a:pPr>
            <a:r>
              <a:rPr lang="cs-CZ" altLang="cs-CZ" b="1" noProof="0"/>
              <a:t>Datová matice </a:t>
            </a:r>
            <a:r>
              <a:rPr lang="cs-CZ" altLang="cs-CZ" noProof="0"/>
              <a:t>uspořádává údaje do řádků a sloupců. V naší tabulce je jeden řádek jedním studentem při jedné návštěvě, jeden sloupec jednou proměnnou a jedna buňka její hodnotou pro daný případ. Záhlaví se nepočítá jako další případ, ale obsahuje názvy proměnných.</a:t>
            </a:r>
          </a:p>
          <a:p>
            <a:pPr marL="179178" indent="-179178">
              <a:buFont typeface="Arial" panose="020B0604020202020204" pitchFamily="34" charset="0"/>
              <a:buChar char="•"/>
              <a:defRPr lang="cs-CZ" altLang="cs-CZ" noProof="0"/>
            </a:pPr>
            <a:r>
              <a:rPr lang="cs-CZ" altLang="cs-CZ" noProof="0"/>
              <a:t>První řádek říká, že P01 uvedl šest hodin spánku, vybavil pět slov, přišel dopoledne a </a:t>
            </a:r>
            <a:r>
              <a:rPr lang="cs-CZ" altLang="cs-CZ" noProof="0" err="1"/>
              <a:t>odpočatost</a:t>
            </a:r>
            <a:r>
              <a:rPr lang="cs-CZ" altLang="cs-CZ" noProof="0"/>
              <a:t> ohodnotil dvojkou. Samotná tabulka však nevysvětluje všechno. Proto potřebujeme přehled proměnných a jejich kódování, anglicky </a:t>
            </a:r>
            <a:r>
              <a:rPr lang="cs-CZ" altLang="cs-CZ" b="1" noProof="0" err="1"/>
              <a:t>codebook</a:t>
            </a:r>
            <a:r>
              <a:rPr lang="cs-CZ" altLang="cs-CZ" noProof="0"/>
              <a:t>.</a:t>
            </a:r>
          </a:p>
          <a:p>
            <a:pPr marL="179178" indent="-179178">
              <a:buFont typeface="Arial" panose="020B0604020202020204" pitchFamily="34" charset="0"/>
              <a:buChar char="•"/>
              <a:defRPr lang="cs-CZ" altLang="cs-CZ" noProof="0"/>
            </a:pPr>
            <a:r>
              <a:rPr lang="cs-CZ" altLang="cs-CZ" noProof="0"/>
              <a:t>V přehledu vymezíme, že sloupec </a:t>
            </a:r>
            <a:r>
              <a:rPr lang="cs-CZ" altLang="cs-CZ" b="1" noProof="0" err="1"/>
              <a:t>spanek_h</a:t>
            </a:r>
            <a:r>
              <a:rPr lang="cs-CZ" altLang="cs-CZ" noProof="0"/>
              <a:t> obsahuje odhad skutečné doby spánku předchozí noci v hodinách, bez bdění, s přípustným rozsahem nula až dvacet čtyři. Sloupec </a:t>
            </a:r>
            <a:r>
              <a:rPr lang="cs-CZ" altLang="cs-CZ" b="1" noProof="0"/>
              <a:t>slova</a:t>
            </a:r>
            <a:r>
              <a:rPr lang="cs-CZ" altLang="cs-CZ" noProof="0"/>
              <a:t> obsahuje počet různých správně vybavených slov z dvanácti. Dopoledne znamená začátek měření před dvanáctou hodinou, odpoledne od dvanácté. </a:t>
            </a:r>
            <a:r>
              <a:rPr lang="cs-CZ" altLang="cs-CZ" b="1" noProof="0" err="1"/>
              <a:t>Odpočatost</a:t>
            </a:r>
            <a:r>
              <a:rPr lang="cs-CZ" altLang="cs-CZ" noProof="0"/>
              <a:t> je odpověď před úlohou na otázku, jak odpočatě se člověk právě cítí: 1 = vůbec, 2 = trochu, 3 = dost a 4 = zcela.</a:t>
            </a:r>
          </a:p>
          <a:p>
            <a:pPr marL="179178" indent="-179178">
              <a:buFont typeface="Arial" panose="020B0604020202020204" pitchFamily="34" charset="0"/>
              <a:buChar char="•"/>
              <a:defRPr lang="cs-CZ" altLang="cs-CZ" noProof="0"/>
            </a:pPr>
            <a:r>
              <a:rPr lang="cs-CZ" altLang="cs-CZ" b="1" noProof="0"/>
              <a:t>Identifikátor je stálé označení</a:t>
            </a:r>
            <a:r>
              <a:rPr lang="cs-CZ" altLang="cs-CZ" noProof="0"/>
              <a:t>, nikoli pořadí řádku. Když tabulku seřadíme, P01 zůstává P01. Pokud by lidé přicházeli opakovaně, potřebovali bychom také rozlišení návštěv. Několik řádků téhož člověka nesmí být vydáváno za několik různých účastníků.</a:t>
            </a:r>
          </a:p>
          <a:p>
            <a:pPr marL="179178" indent="-179178">
              <a:buFont typeface="Arial" panose="020B0604020202020204" pitchFamily="34" charset="0"/>
              <a:buChar char="•"/>
              <a:defRPr lang="cs-CZ" altLang="cs-CZ" noProof="0"/>
            </a:pPr>
            <a:r>
              <a:rPr lang="cs-CZ" altLang="cs-CZ" b="1" noProof="0"/>
              <a:t>U P05 chybí odhad doby spánku</a:t>
            </a:r>
            <a:r>
              <a:rPr lang="cs-CZ" altLang="cs-CZ" noProof="0"/>
              <a:t>. U P06 je naopak znám skutečný nulový výsledek: úlohu dokončil, ale nevybavil žádné slovo. Tuto odlišnost musíme zachovat. Všech šest řádků jsou smyšlené výukové údaje. Slouží k porozumění struktuře záznamů; z této malé tabulky nyní nevyvozujeme vztah mezi spánkem a výkonem.</a:t>
            </a:r>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178" indent="-179178">
              <a:buFont typeface="Arial" panose="020B0604020202020204" pitchFamily="34" charset="0"/>
              <a:buChar char="•"/>
              <a:defRPr lang="cs-CZ" altLang="cs-CZ" noProof="0"/>
            </a:pPr>
            <a:r>
              <a:rPr lang="cs-CZ" altLang="cs-CZ" b="1" noProof="0"/>
              <a:t>Chybějící údaj </a:t>
            </a:r>
            <a:r>
              <a:rPr lang="cs-CZ" altLang="cs-CZ" noProof="0"/>
              <a:t>znamená, že hodnotu nemáme k dispozici. Účastník mohl otázku přeskočit, měření nemuselo proběhnout nebo se záznam ztratil. Skutečná nula naproti tomu může být platným výsledkem měření. Pokud člověk dokončil úlohu a nevybavil žádné slovo, zaznamenáme nulu. Pokud úloha vůbec neproběhla pro poruchu počítače, výsledek chybí. Zapsáním nuly bychom vytvořili výkon, který jsme nezměřili.</a:t>
            </a:r>
          </a:p>
          <a:p>
            <a:pPr marL="179178" indent="-179178">
              <a:buFont typeface="Arial" panose="020B0604020202020204" pitchFamily="34" charset="0"/>
              <a:buChar char="•"/>
              <a:defRPr lang="cs-CZ" altLang="cs-CZ" noProof="0"/>
            </a:pPr>
            <a:r>
              <a:rPr lang="cs-CZ" altLang="cs-CZ" noProof="0"/>
              <a:t>Pro přímé výpočty v Excelu ponecháváme podle konvence této kapitoly chybějící číselné údaje v prázdných buňkách. </a:t>
            </a:r>
            <a:r>
              <a:rPr lang="cs-CZ" altLang="cs-CZ" b="1" noProof="0"/>
              <a:t>Důvod chybění</a:t>
            </a:r>
            <a:r>
              <a:rPr lang="cs-CZ" altLang="cs-CZ" noProof="0"/>
              <a:t> můžeme uchovat v samostatném sloupci. Ani tato konvence však sama nezajišťuje správný význam každého výpočtu. Součet zcela prázdných buněk může vrátit nulu, přestože o výkonu nemáme žádné údaje.</a:t>
            </a:r>
          </a:p>
          <a:p>
            <a:pPr marL="179178" indent="-179178">
              <a:buFont typeface="Arial" panose="020B0604020202020204" pitchFamily="34" charset="0"/>
              <a:buChar char="•"/>
              <a:defRPr lang="cs-CZ" altLang="cs-CZ" noProof="0"/>
            </a:pPr>
            <a:r>
              <a:rPr lang="cs-CZ" altLang="cs-CZ" noProof="0"/>
              <a:t>Pro jiný pracovní postup lze použít </a:t>
            </a:r>
            <a:r>
              <a:rPr lang="cs-CZ" altLang="cs-CZ" b="1" noProof="0"/>
              <a:t>zvláštní číselný kód</a:t>
            </a:r>
            <a:r>
              <a:rPr lang="cs-CZ" altLang="cs-CZ" noProof="0"/>
              <a:t>, například -99. Musí ležet mimo přípustné hodnoty konkrétní proměnné a jeho význam musí být zdokumentován. Před analýzou je nutné zajistit, aby jej program skutečně rozpoznal nebo převedl na chybějící údaj. Jinak se bude počítat jako obyčejné číslo. Nejde o univerzální kód vhodný pro všechna data.</a:t>
            </a:r>
          </a:p>
          <a:p>
            <a:pPr marL="179178" indent="-179178">
              <a:buFont typeface="Arial" panose="020B0604020202020204" pitchFamily="34" charset="0"/>
              <a:buChar char="•"/>
              <a:defRPr lang="cs-CZ" altLang="cs-CZ" noProof="0"/>
            </a:pPr>
            <a:r>
              <a:rPr lang="cs-CZ" altLang="cs-CZ" noProof="0"/>
              <a:t>Číselný kód navíc může označovat kategorii, například dvojka odpoledne. Ani tehdy nevyjadřuje množství. Čísla proto interpretujeme podle vysvětlení proměnné, nikoli podle vzhledu buňky.</a:t>
            </a:r>
          </a:p>
          <a:p>
            <a:pPr marL="179178" indent="-179178">
              <a:buFont typeface="Arial" panose="020B0604020202020204" pitchFamily="34" charset="0"/>
              <a:buChar char="•"/>
              <a:defRPr lang="cs-CZ" altLang="cs-CZ" noProof="0"/>
            </a:pPr>
            <a:r>
              <a:rPr lang="cs-CZ" altLang="cs-CZ" noProof="0"/>
              <a:t>Před analýzou kontrolujeme identifikátory, jednotky, přípustné hodnoty a chybění. Do číselné buňky zapisujeme samotnou hodnotu, jednotku uvedeme v přehledu. </a:t>
            </a:r>
          </a:p>
          <a:p>
            <a:pPr marL="179178" indent="-179178">
              <a:buFont typeface="Arial" panose="020B0604020202020204" pitchFamily="34" charset="0"/>
              <a:buChar char="•"/>
              <a:defRPr lang="cs-CZ" altLang="cs-CZ" noProof="0"/>
            </a:pPr>
            <a:r>
              <a:rPr lang="cs-CZ" altLang="cs-CZ" noProof="0"/>
              <a:t>Neobvyklá hodnota je podnětem ke kontrole, nikoli automatickým důvodem k přepsání. Opravu konkrétního údaje opíráme o původní podklad a uchováme její zdůvodnění.</a:t>
            </a:r>
          </a:p>
        </p:txBody>
      </p:sp>
      <p:sp>
        <p:nvSpPr>
          <p:cNvPr id="4" name="Slide Number Placeholder 3"/>
          <p:cNvSpPr>
            <a:spLocks noGrp="1"/>
          </p:cNvSpPr>
          <p:nvPr>
            <p:ph type="sldNum" idx="5"/>
          </p:nvPr>
        </p:nvSpPr>
        <p:spPr/>
        <p:txBody>
          <a:bodyPr/>
          <a:lstStyle/>
          <a:p>
            <a:pPr>
              <a:defRPr lang="cs-CZ" altLang="cs-CZ" noProof="0"/>
            </a:pPr>
            <a:endParaRPr lang="cs-CZ" altLang="cs-CZ" noProof="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altLang="cs-CZ" noProof="0" dirty="0"/>
              <a:t>Možné řešení: Spojitý podklad mají například </a:t>
            </a:r>
            <a:r>
              <a:rPr lang="cs-CZ" altLang="cs-CZ" b="1" noProof="0" dirty="0"/>
              <a:t>reakční doba na podnět</a:t>
            </a:r>
            <a:r>
              <a:rPr lang="cs-CZ" altLang="cs-CZ" noProof="0" dirty="0"/>
              <a:t>, doba trvání spánku nebo doba řešení úlohy. V příslušném intervalu připouštíme i hodnoty mezi dvěma naměřenými hodnotami. Přístroj však výsledky zaznamenává s omezeným rozlišením a člověk může délku spánku odhadovat jen přibližně. Zápis v celých milisekundách nebo hodinách proto sám nedokládá diskrétnost sledovaného trvání.</a:t>
            </a:r>
          </a:p>
          <a:p>
            <a:endParaRPr lang="cs-CZ" altLang="cs-CZ" noProof="0" dirty="0"/>
          </a:p>
          <a:p>
            <a:r>
              <a:rPr lang="cs-CZ" altLang="cs-CZ" noProof="0" dirty="0"/>
              <a:t>Diskrétními proměnnými jsou například </a:t>
            </a:r>
            <a:r>
              <a:rPr lang="cs-CZ" altLang="cs-CZ" b="1" noProof="0" dirty="0"/>
              <a:t>počet správně vybavených slov, počet chyb v úloze </a:t>
            </a:r>
            <a:r>
              <a:rPr lang="cs-CZ" altLang="cs-CZ" noProof="0" dirty="0"/>
              <a:t>nebo </a:t>
            </a:r>
            <a:r>
              <a:rPr lang="cs-CZ" altLang="cs-CZ" b="1" noProof="0" dirty="0"/>
              <a:t>počet návštěv poradny za vymezené období</a:t>
            </a:r>
            <a:r>
              <a:rPr lang="cs-CZ" altLang="cs-CZ" noProof="0" dirty="0"/>
              <a:t>. Počty nabývají oddělených celočíselných hodnot. Při zadání seznamu dvanácti slov můžeme správně vybavit nula až dvanáct různých slov, ale ne pět a půl slova. Diskrétní může být i proměnná s desetinnými hodnotami: při bodování pouze 0, 0,5 a 1 bod zůstávají možnosti oddělené.</a:t>
            </a:r>
          </a:p>
          <a:p>
            <a:endParaRPr lang="cs-CZ" altLang="cs-CZ" noProof="0" dirty="0"/>
          </a:p>
          <a:p>
            <a:r>
              <a:rPr lang="cs-CZ" altLang="cs-CZ" noProof="0" dirty="0"/>
              <a:t>Při diskusi přijímejte jiné věcně zdůvodněné příklady. Podstatné je vymezit proměnnou a její přípustné hodnoty. Nezaměňujeme diskrétnost se zápisem bez desetinné čárky ani spojitost s velkým počtem desetinných míst. Rozdělení na spojité a diskrétní proměnné také neřeší samo o sobě úroveň měření. Počet chyb i doba řešení mohou mít poměrovou interpretaci, přestože první proměnná je diskrétní a druhá má spojitý podklad.</a:t>
            </a:r>
          </a:p>
          <a:p>
            <a:endParaRPr lang="cs-CZ" altLang="cs-CZ" noProof="0" dirty="0"/>
          </a:p>
          <a:p>
            <a:r>
              <a:rPr lang="cs-CZ" altLang="cs-CZ" noProof="0" dirty="0"/>
              <a:t>Zdroj zadání: </a:t>
            </a:r>
            <a:r>
              <a:rPr lang="cs-CZ" altLang="cs-CZ" noProof="0" dirty="0" err="1"/>
              <a:t>Howell</a:t>
            </a:r>
            <a:r>
              <a:rPr lang="cs-CZ" altLang="cs-CZ" noProof="0" dirty="0"/>
              <a:t> (2013), s. 11, úlohy 1.7–1.8. Česká adaptace.</a:t>
            </a:r>
          </a:p>
          <a:p>
            <a:r>
              <a:rPr lang="cs-CZ" altLang="cs-CZ" noProof="0" dirty="0" err="1"/>
              <a:t>Howell</a:t>
            </a:r>
            <a:r>
              <a:rPr lang="cs-CZ" altLang="cs-CZ" noProof="0" dirty="0"/>
              <a:t>, D. C. (2013). </a:t>
            </a:r>
            <a:r>
              <a:rPr lang="cs-CZ" altLang="cs-CZ" noProof="0" dirty="0" err="1"/>
              <a:t>Statistical</a:t>
            </a:r>
            <a:r>
              <a:rPr lang="cs-CZ" altLang="cs-CZ" noProof="0" dirty="0"/>
              <a:t> </a:t>
            </a:r>
            <a:r>
              <a:rPr lang="cs-CZ" altLang="cs-CZ" noProof="0" dirty="0" err="1"/>
              <a:t>methods</a:t>
            </a:r>
            <a:r>
              <a:rPr lang="cs-CZ" altLang="cs-CZ" noProof="0" dirty="0"/>
              <a:t> </a:t>
            </a:r>
            <a:r>
              <a:rPr lang="cs-CZ" altLang="cs-CZ" noProof="0" dirty="0" err="1"/>
              <a:t>for</a:t>
            </a:r>
            <a:r>
              <a:rPr lang="cs-CZ" altLang="cs-CZ" noProof="0" dirty="0"/>
              <a:t> psychology (8. vyd.). </a:t>
            </a:r>
            <a:r>
              <a:rPr lang="cs-CZ" altLang="cs-CZ" noProof="0" dirty="0" err="1"/>
              <a:t>Wadsworth</a:t>
            </a:r>
            <a:r>
              <a:rPr lang="cs-CZ" altLang="cs-CZ" noProof="0" dirty="0"/>
              <a:t>, </a:t>
            </a:r>
            <a:r>
              <a:rPr lang="cs-CZ" altLang="cs-CZ" noProof="0" dirty="0" err="1"/>
              <a:t>Cengage</a:t>
            </a:r>
            <a:r>
              <a:rPr lang="cs-CZ" altLang="cs-CZ" noProof="0" dirty="0"/>
              <a:t> Learning.</a:t>
            </a:r>
          </a:p>
          <a:p>
            <a:r>
              <a:rPr lang="cs-CZ" altLang="cs-CZ" noProof="0" dirty="0"/>
              <a:t>Uvedená řešení jsou možné odpovědi se zdůvodněním; jiné věcně správné návrhy jsou přijatelné.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altLang="cs-CZ" noProof="0" dirty="0"/>
              <a:t>První možný příklad: </a:t>
            </a:r>
            <a:r>
              <a:rPr lang="cs-CZ" altLang="cs-CZ" b="1" noProof="0" dirty="0"/>
              <a:t>Poradenské centrum chce odhadnout průměrný počet správně vyřešených úloh v konkrétním testu studijních dovedností u všech prváků dané univerzity v daném akademickém roce</a:t>
            </a:r>
            <a:r>
              <a:rPr lang="cs-CZ" altLang="cs-CZ" noProof="0" dirty="0"/>
              <a:t>. Cílem je číselně popsat úroveň výsledků vymezené populace. Potřebujeme určit test, pravidla bodování, období a populaci, získat vhodný výběr a uvést nejistotu odhadu. Průměr skóru přitom není automaticky čistým měřením obecné studijní schopnosti.</a:t>
            </a:r>
          </a:p>
          <a:p>
            <a:endParaRPr lang="cs-CZ" altLang="cs-CZ" noProof="0" dirty="0"/>
          </a:p>
          <a:p>
            <a:r>
              <a:rPr lang="cs-CZ" altLang="cs-CZ" noProof="0" dirty="0"/>
              <a:t>Druhý možný příklad</a:t>
            </a:r>
            <a:r>
              <a:rPr lang="cs-CZ" altLang="cs-CZ" b="1" noProof="0" dirty="0"/>
              <a:t>: Zajímá nás, zda je průměrný počet správně vyřešených úloh ve stejném testu vyšší u všech studentů druhého ročníku než u všech prváků této univerzity</a:t>
            </a:r>
            <a:r>
              <a:rPr lang="cs-CZ" altLang="cs-CZ" noProof="0" dirty="0"/>
              <a:t>. Hlavní otázkou je porovnání obou populačních průměrů, nikoli izolovaná hodnota jednoho z nich. Obě skupiny musí absolvovat srovnatelný postup. Případný rozdíl nelze automaticky připsat jednomu roku studia, protože skupiny se mohou lišit také předchozí přípravou nebo tím, kdo ve studiu pokračoval.</a:t>
            </a:r>
          </a:p>
          <a:p>
            <a:endParaRPr lang="cs-CZ" altLang="cs-CZ" noProof="0" dirty="0"/>
          </a:p>
          <a:p>
            <a:r>
              <a:rPr lang="cs-CZ" altLang="cs-CZ" noProof="0" dirty="0"/>
              <a:t>Průměr zde stačí chápat jako součet výsledků dělený jejich počtem. Úloha nevyžaduje výpočet ani statistický test. Formulace, že nás konkrétní hodnota nezajímá, znamená rozdíl hlavního cíle výzkumu. V praxi bývá užitečné znát také velikost rozdílu, jeho nejistotu a praktický význam. Nestačí pouze rozhodnout, který průměr je vyšší.</a:t>
            </a:r>
          </a:p>
          <a:p>
            <a:endParaRPr lang="cs-CZ" altLang="cs-CZ" noProof="0" dirty="0"/>
          </a:p>
          <a:p>
            <a:r>
              <a:rPr lang="cs-CZ" altLang="cs-CZ" noProof="0" dirty="0"/>
              <a:t>Zdroj zadání: </a:t>
            </a:r>
            <a:r>
              <a:rPr lang="cs-CZ" altLang="cs-CZ" noProof="0" dirty="0" err="1"/>
              <a:t>Howell</a:t>
            </a:r>
            <a:r>
              <a:rPr lang="cs-CZ" altLang="cs-CZ" noProof="0" dirty="0"/>
              <a:t> (2013), s. 11, úlohy 1.9–1.10. Česká adaptace.</a:t>
            </a:r>
          </a:p>
          <a:p>
            <a:r>
              <a:rPr lang="cs-CZ" altLang="cs-CZ" noProof="0" dirty="0" err="1"/>
              <a:t>Howell</a:t>
            </a:r>
            <a:r>
              <a:rPr lang="cs-CZ" altLang="cs-CZ" noProof="0" dirty="0"/>
              <a:t>, D. C. (2013). </a:t>
            </a:r>
            <a:r>
              <a:rPr lang="cs-CZ" altLang="cs-CZ" noProof="0" dirty="0" err="1"/>
              <a:t>Statistical</a:t>
            </a:r>
            <a:r>
              <a:rPr lang="cs-CZ" altLang="cs-CZ" noProof="0" dirty="0"/>
              <a:t> </a:t>
            </a:r>
            <a:r>
              <a:rPr lang="cs-CZ" altLang="cs-CZ" noProof="0" dirty="0" err="1"/>
              <a:t>methods</a:t>
            </a:r>
            <a:r>
              <a:rPr lang="cs-CZ" altLang="cs-CZ" noProof="0" dirty="0"/>
              <a:t> </a:t>
            </a:r>
            <a:r>
              <a:rPr lang="cs-CZ" altLang="cs-CZ" noProof="0" dirty="0" err="1"/>
              <a:t>for</a:t>
            </a:r>
            <a:r>
              <a:rPr lang="cs-CZ" altLang="cs-CZ" noProof="0" dirty="0"/>
              <a:t> psychology (8. vyd.). </a:t>
            </a:r>
            <a:r>
              <a:rPr lang="cs-CZ" altLang="cs-CZ" noProof="0" dirty="0" err="1"/>
              <a:t>Wadsworth</a:t>
            </a:r>
            <a:r>
              <a:rPr lang="cs-CZ" altLang="cs-CZ" noProof="0" dirty="0"/>
              <a:t>, </a:t>
            </a:r>
            <a:r>
              <a:rPr lang="cs-CZ" altLang="cs-CZ" noProof="0" dirty="0" err="1"/>
              <a:t>Cengage</a:t>
            </a:r>
            <a:r>
              <a:rPr lang="cs-CZ" altLang="cs-CZ" noProof="0" dirty="0"/>
              <a:t> Learning.</a:t>
            </a:r>
          </a:p>
          <a:p>
            <a:r>
              <a:rPr lang="cs-CZ" altLang="cs-CZ" noProof="0" dirty="0"/>
              <a:t>Uvedená řešení jsou možné odpovědi se zdůvodněním; jiné věcně správné návrhy jsou přijatelné.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altLang="cs-CZ" b="1" noProof="0" dirty="0"/>
              <a:t>Nominální příklad</a:t>
            </a:r>
            <a:r>
              <a:rPr lang="cs-CZ" altLang="cs-CZ" noProof="0" dirty="0"/>
              <a:t>: Zařazení účastníka do podmínky ticho nebo rušivé zvuky. Hodnoty rozlišují kategorie, nemají přirozené pořadí a číselné kódy 1 a 2 nevyjadřují množství.</a:t>
            </a:r>
          </a:p>
          <a:p>
            <a:endParaRPr lang="cs-CZ" altLang="cs-CZ" noProof="0" dirty="0"/>
          </a:p>
          <a:p>
            <a:r>
              <a:rPr lang="cs-CZ" altLang="cs-CZ" b="1" noProof="0" dirty="0"/>
              <a:t>Ordinální příklad</a:t>
            </a:r>
            <a:r>
              <a:rPr lang="cs-CZ" altLang="cs-CZ" noProof="0" dirty="0"/>
              <a:t>: Odpověď na otázku o aktuální </a:t>
            </a:r>
            <a:r>
              <a:rPr lang="cs-CZ" altLang="cs-CZ" noProof="0" dirty="0" err="1"/>
              <a:t>odpočatosti</a:t>
            </a:r>
            <a:r>
              <a:rPr lang="cs-CZ" altLang="cs-CZ" noProof="0" dirty="0"/>
              <a:t> vůbec, trochu, dost nebo zcela. Při zamýšleném porozumění odpovědím máme pořadí, ale samotné očíslování nezaručuje stejně velké rozdíly v prožitku.</a:t>
            </a:r>
          </a:p>
          <a:p>
            <a:endParaRPr lang="cs-CZ" altLang="cs-CZ" noProof="0" dirty="0"/>
          </a:p>
          <a:p>
            <a:r>
              <a:rPr lang="cs-CZ" altLang="cs-CZ" noProof="0" dirty="0"/>
              <a:t>U intervalového příkladu je třeba zvláštní opatrnost. </a:t>
            </a:r>
            <a:r>
              <a:rPr lang="cs-CZ" altLang="cs-CZ" b="1" noProof="0" dirty="0"/>
              <a:t>V psychologii se běžně uvádí IQ skór</a:t>
            </a:r>
            <a:r>
              <a:rPr lang="cs-CZ" altLang="cs-CZ" noProof="0" dirty="0"/>
              <a:t>, s nímž se pro některé analýzy zachází jako s přibližně intervalovým. Přijměte jej pouze s vysvětlením tohoto předpokladu: stejné bodové rozdíly samy nedokládají stejné rozdíly v inteligenci. Podle terminologie výkladu jde o </a:t>
            </a:r>
            <a:r>
              <a:rPr lang="cs-CZ" altLang="cs-CZ" noProof="0" dirty="0" err="1"/>
              <a:t>kvaziintervalovou</a:t>
            </a:r>
            <a:r>
              <a:rPr lang="cs-CZ" altLang="cs-CZ" noProof="0" dirty="0"/>
              <a:t> interpretaci. Nespornější intervalový údaj používaný v psychologickém výzkumu je kalendářní datum návštěvy poradny vyjádřené počtem dnů od zvoleného počátku. Rozdíly vyjadřují dobu mezi návštěvami, ale poměr těchto souřadnic závisí na volbě počátku. Je to údaj z psychologického výzkumu, nikoli přímé měření psychologického rysu.</a:t>
            </a:r>
            <a:br>
              <a:rPr lang="cs-CZ" altLang="cs-CZ" noProof="0" dirty="0"/>
            </a:br>
            <a:endParaRPr lang="cs-CZ" altLang="cs-CZ" noProof="0" dirty="0"/>
          </a:p>
          <a:p>
            <a:r>
              <a:rPr lang="cs-CZ" altLang="cs-CZ" noProof="0" dirty="0"/>
              <a:t>Poměrový příklad: </a:t>
            </a:r>
            <a:r>
              <a:rPr lang="cs-CZ" altLang="cs-CZ" b="1" noProof="0" dirty="0"/>
              <a:t>Počet správně vybavených různých slov nebo reakční doba</a:t>
            </a:r>
            <a:r>
              <a:rPr lang="cs-CZ" altLang="cs-CZ" noProof="0" dirty="0"/>
              <a:t>. Deset slov je dvojnásobný počet oproti pěti, nikoli důkaz dvojnásobné paměťové schopnosti. U doby dává nula význam žádného uplynulého času a poměry se při změně jednotky zachovávají. Hodnotíme vždy význam konkrétního údaje, nikoli jen jeho číselný zápis.</a:t>
            </a:r>
          </a:p>
          <a:p>
            <a:endParaRPr lang="cs-CZ" altLang="cs-CZ" noProof="0" dirty="0"/>
          </a:p>
          <a:p>
            <a:r>
              <a:rPr lang="cs-CZ" altLang="cs-CZ" noProof="0" dirty="0"/>
              <a:t>Zdroj zadání: </a:t>
            </a:r>
            <a:r>
              <a:rPr lang="cs-CZ" altLang="cs-CZ" noProof="0" dirty="0" err="1"/>
              <a:t>Howell</a:t>
            </a:r>
            <a:r>
              <a:rPr lang="cs-CZ" altLang="cs-CZ" noProof="0" dirty="0"/>
              <a:t> (2013), s. 12, úloha 1.14. Adaptace pro psychologické příklady.</a:t>
            </a:r>
          </a:p>
          <a:p>
            <a:r>
              <a:rPr lang="cs-CZ" altLang="cs-CZ" noProof="0" dirty="0" err="1"/>
              <a:t>Howell</a:t>
            </a:r>
            <a:r>
              <a:rPr lang="cs-CZ" altLang="cs-CZ" noProof="0" dirty="0"/>
              <a:t>, D. C. (2013). </a:t>
            </a:r>
            <a:r>
              <a:rPr lang="cs-CZ" altLang="cs-CZ" noProof="0" dirty="0" err="1"/>
              <a:t>Statistical</a:t>
            </a:r>
            <a:r>
              <a:rPr lang="cs-CZ" altLang="cs-CZ" noProof="0" dirty="0"/>
              <a:t> </a:t>
            </a:r>
            <a:r>
              <a:rPr lang="cs-CZ" altLang="cs-CZ" noProof="0" dirty="0" err="1"/>
              <a:t>methods</a:t>
            </a:r>
            <a:r>
              <a:rPr lang="cs-CZ" altLang="cs-CZ" noProof="0" dirty="0"/>
              <a:t> </a:t>
            </a:r>
            <a:r>
              <a:rPr lang="cs-CZ" altLang="cs-CZ" noProof="0" dirty="0" err="1"/>
              <a:t>for</a:t>
            </a:r>
            <a:r>
              <a:rPr lang="cs-CZ" altLang="cs-CZ" noProof="0" dirty="0"/>
              <a:t> psychology (8. vyd.). </a:t>
            </a:r>
            <a:r>
              <a:rPr lang="cs-CZ" altLang="cs-CZ" noProof="0" dirty="0" err="1"/>
              <a:t>Wadsworth</a:t>
            </a:r>
            <a:r>
              <a:rPr lang="cs-CZ" altLang="cs-CZ" noProof="0" dirty="0"/>
              <a:t>, </a:t>
            </a:r>
            <a:r>
              <a:rPr lang="cs-CZ" altLang="cs-CZ" noProof="0" dirty="0" err="1"/>
              <a:t>Cengage</a:t>
            </a:r>
            <a:r>
              <a:rPr lang="cs-CZ" altLang="cs-CZ" noProof="0" dirty="0"/>
              <a:t> Learning.</a:t>
            </a:r>
          </a:p>
          <a:p>
            <a:r>
              <a:rPr lang="cs-CZ" altLang="cs-CZ" noProof="0" dirty="0"/>
              <a:t>Uvedená řešení jsou možné odpovědi se zdůvodněním; jiné věcně správné návrhy jsou přijatelné.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altLang="cs-CZ" noProof="0" dirty="0"/>
              <a:t>Příklady zkoumání vztahů: Můžeme se ptát, zda u studentů souvisí </a:t>
            </a:r>
            <a:r>
              <a:rPr lang="cs-CZ" altLang="cs-CZ" b="1" noProof="0" dirty="0"/>
              <a:t>počet hodin spánku předchozí noci s počtem správně vybavených slov, </a:t>
            </a:r>
            <a:r>
              <a:rPr lang="cs-CZ" altLang="cs-CZ" noProof="0" dirty="0"/>
              <a:t>nebo zda se s </a:t>
            </a:r>
            <a:r>
              <a:rPr lang="cs-CZ" altLang="cs-CZ" b="1" noProof="0" dirty="0"/>
              <a:t>vyšším hodnocením vnímaného stresu pojí delší doba usínání</a:t>
            </a:r>
            <a:r>
              <a:rPr lang="cs-CZ" altLang="cs-CZ" noProof="0" dirty="0"/>
              <a:t>. Vždy potřebujeme určit, kdo údaje poskytl, za jaké období a jak proměnné měříme. Jde o možné výzkumné otázky, nikoli o již zjištěné výsledky.</a:t>
            </a:r>
          </a:p>
          <a:p>
            <a:endParaRPr lang="cs-CZ" altLang="cs-CZ" noProof="0" dirty="0"/>
          </a:p>
          <a:p>
            <a:r>
              <a:rPr lang="cs-CZ" altLang="cs-CZ" noProof="0" dirty="0"/>
              <a:t>Příklady zkoumání rozdílů: </a:t>
            </a:r>
            <a:r>
              <a:rPr lang="cs-CZ" altLang="cs-CZ" b="1" noProof="0" dirty="0"/>
              <a:t>Můžeme porovnat výkon účastníků náhodně rozdělených do ticha a rušivých zvuků</a:t>
            </a:r>
            <a:r>
              <a:rPr lang="cs-CZ" altLang="cs-CZ" noProof="0" dirty="0"/>
              <a:t>. Jinou otázkou je rozdíl v hodnocení stresu mezi studenty, kteří vedle studia pracují, a těmi, kteří nepracují. Druhý příklad používá existující skupiny. Zjištěný rozdíl proto sám nedokládá účinek zaměstnání, protože skupiny se mohou lišit například finanční situací nebo rozsahem studijních povinností.</a:t>
            </a:r>
          </a:p>
          <a:p>
            <a:endParaRPr lang="cs-CZ" altLang="cs-CZ" noProof="0" dirty="0"/>
          </a:p>
          <a:p>
            <a:r>
              <a:rPr lang="cs-CZ" altLang="cs-CZ" b="1" noProof="0" dirty="0"/>
              <a:t>Tyto cíle se nevylučují. Porovnání skupin je také zkoumáním vztahu mezi skupinovou příslušností a měřeným výsledkem</a:t>
            </a:r>
            <a:r>
              <a:rPr lang="cs-CZ" altLang="cs-CZ" noProof="0" dirty="0"/>
              <a:t>. Rozlišujeme zde hlavní formulaci výzkumné otázky. Zároveň nespojujeme vztahy automaticky s pozorováním a rozdíly automaticky s experimentem. Rozdíly mezi skupinami lze sledovat i bez zásahu výzkumníka a záměrně měněná podmínka může mít více než dvě hodnoty.</a:t>
            </a:r>
          </a:p>
          <a:p>
            <a:endParaRPr lang="cs-CZ" altLang="cs-CZ" noProof="0" dirty="0"/>
          </a:p>
          <a:p>
            <a:r>
              <a:rPr lang="cs-CZ" altLang="cs-CZ" noProof="0" dirty="0"/>
              <a:t>Zdroj zadání: </a:t>
            </a:r>
            <a:r>
              <a:rPr lang="cs-CZ" altLang="cs-CZ" noProof="0" dirty="0" err="1"/>
              <a:t>Howell</a:t>
            </a:r>
            <a:r>
              <a:rPr lang="cs-CZ" altLang="cs-CZ" noProof="0" dirty="0"/>
              <a:t> (2013), s. 12, úlohy 1.18–1.19. Česká adaptace.</a:t>
            </a:r>
          </a:p>
          <a:p>
            <a:r>
              <a:rPr lang="cs-CZ" altLang="cs-CZ" noProof="0" dirty="0" err="1"/>
              <a:t>Howell</a:t>
            </a:r>
            <a:r>
              <a:rPr lang="cs-CZ" altLang="cs-CZ" noProof="0" dirty="0"/>
              <a:t>, D. C. (2013). </a:t>
            </a:r>
            <a:r>
              <a:rPr lang="cs-CZ" altLang="cs-CZ" noProof="0" dirty="0" err="1"/>
              <a:t>Statistical</a:t>
            </a:r>
            <a:r>
              <a:rPr lang="cs-CZ" altLang="cs-CZ" noProof="0" dirty="0"/>
              <a:t> </a:t>
            </a:r>
            <a:r>
              <a:rPr lang="cs-CZ" altLang="cs-CZ" noProof="0" dirty="0" err="1"/>
              <a:t>methods</a:t>
            </a:r>
            <a:r>
              <a:rPr lang="cs-CZ" altLang="cs-CZ" noProof="0" dirty="0"/>
              <a:t> </a:t>
            </a:r>
            <a:r>
              <a:rPr lang="cs-CZ" altLang="cs-CZ" noProof="0" dirty="0" err="1"/>
              <a:t>for</a:t>
            </a:r>
            <a:r>
              <a:rPr lang="cs-CZ" altLang="cs-CZ" noProof="0" dirty="0"/>
              <a:t> psychology (8. vyd.). </a:t>
            </a:r>
            <a:r>
              <a:rPr lang="cs-CZ" altLang="cs-CZ" noProof="0" dirty="0" err="1"/>
              <a:t>Wadsworth</a:t>
            </a:r>
            <a:r>
              <a:rPr lang="cs-CZ" altLang="cs-CZ" noProof="0" dirty="0"/>
              <a:t>, </a:t>
            </a:r>
            <a:r>
              <a:rPr lang="cs-CZ" altLang="cs-CZ" noProof="0" dirty="0" err="1"/>
              <a:t>Cengage</a:t>
            </a:r>
            <a:r>
              <a:rPr lang="cs-CZ" altLang="cs-CZ" noProof="0" dirty="0"/>
              <a:t> Learning.</a:t>
            </a:r>
          </a:p>
          <a:p>
            <a:r>
              <a:rPr lang="cs-CZ" altLang="cs-CZ" noProof="0" dirty="0"/>
              <a:t>Uvedená řešení jsou možné odpovědi se zdůvodněním; jiné věcně správné návrhy jsou přijatelné.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altLang="cs-CZ" noProof="0" dirty="0"/>
              <a:t>Příklad vychází z historické novinové zprávy reprodukované v učebnici. </a:t>
            </a:r>
            <a:r>
              <a:rPr lang="cs-CZ" altLang="cs-CZ" noProof="0" dirty="0" err="1"/>
              <a:t>Beth</a:t>
            </a:r>
            <a:r>
              <a:rPr lang="cs-CZ" altLang="cs-CZ" noProof="0" dirty="0"/>
              <a:t> oslovila spolužáky při snaze podpořit zvýšení vlastního kapesného. Zpráva získala širší pozornost a vyvolala otázku, zda rozdíly v příjmech dospělých žen a mužů mohou mít předobraz již v dětství. To je podnět k dalšímu výzkumu, nikoli závěr doložený osmnácti odpověďmi.</a:t>
            </a:r>
          </a:p>
          <a:p>
            <a:endParaRPr lang="cs-CZ" altLang="cs-CZ" noProof="0" dirty="0"/>
          </a:p>
          <a:p>
            <a:r>
              <a:rPr lang="cs-CZ" altLang="cs-CZ" noProof="0" dirty="0"/>
              <a:t>K bodu a: Porovnávanou skupinovou proměnnou je v zadání pohlaví zaznamenané kategoriemi dívka a chlapec. Má nominální úroveň. Pokud použijeme názvy nezávislá a závislá proměnná, pohlaví zde zastává roli nezávislé skupinové proměnné a částka týdenního kapesného roli závislé proměnné. Pohlaví však není manipulováno ani náhodně přiděleno. Přesnější je proto mluvit o skupinové proměnné a sledovaném výsledku. Kapesné se zaznamenává v USD za týden a pro peněžní částku ve stejném období má poměrovou interpretaci. Nevíme, jak přesně děti částku uváděly ani zda šlo o pravidelné kapesné nebo všechny příjmy. Domácí povinnosti jsou další sledovanou proměnnou, ale zadání nepopisuje jejich měření. Bez něj nelze určit, zda jde o počet úkolů, časovou zátěž nebo pořadové hodnocení.</a:t>
            </a:r>
          </a:p>
          <a:p>
            <a:endParaRPr lang="cs-CZ" altLang="cs-CZ" noProof="0" dirty="0"/>
          </a:p>
          <a:p>
            <a:r>
              <a:rPr lang="cs-CZ" altLang="cs-CZ" noProof="0" dirty="0"/>
              <a:t>K bodu b: Jde o příležitostný výběr spolužáků, jehož konečné složení může ovlivnit ochota odpovědět. Známe 11 dívek a 7 chlapců, ne počet všech oslovených ani důvody neúčasti. Nemáme náhodný výběr ze všech dětí. Z uvedených zaokrouhlených průměrů vychází rozdíl 0,55 USD a relativní rozdíl přibližně 20,9 %, tedy uváděných 21 %.</a:t>
            </a:r>
          </a:p>
          <a:p>
            <a:endParaRPr lang="cs-CZ" altLang="cs-CZ" noProof="0" dirty="0"/>
          </a:p>
          <a:p>
            <a:r>
              <a:rPr lang="cs-CZ" altLang="cs-CZ" noProof="0" dirty="0"/>
              <a:t>Zdroj zadání: </a:t>
            </a:r>
            <a:r>
              <a:rPr lang="cs-CZ" altLang="cs-CZ" noProof="0" dirty="0" err="1"/>
              <a:t>Howell</a:t>
            </a:r>
            <a:r>
              <a:rPr lang="cs-CZ" altLang="cs-CZ" noProof="0" dirty="0"/>
              <a:t> (2013), s. 12, úloha 1.22(a–b). Historické údaje, česká adaptace.</a:t>
            </a:r>
          </a:p>
          <a:p>
            <a:r>
              <a:rPr lang="cs-CZ" altLang="cs-CZ" noProof="0" dirty="0" err="1"/>
              <a:t>Howell</a:t>
            </a:r>
            <a:r>
              <a:rPr lang="cs-CZ" altLang="cs-CZ" noProof="0" dirty="0"/>
              <a:t>, D. C. (2013). </a:t>
            </a:r>
            <a:r>
              <a:rPr lang="cs-CZ" altLang="cs-CZ" noProof="0" dirty="0" err="1"/>
              <a:t>Statistical</a:t>
            </a:r>
            <a:r>
              <a:rPr lang="cs-CZ" altLang="cs-CZ" noProof="0" dirty="0"/>
              <a:t> </a:t>
            </a:r>
            <a:r>
              <a:rPr lang="cs-CZ" altLang="cs-CZ" noProof="0" dirty="0" err="1"/>
              <a:t>methods</a:t>
            </a:r>
            <a:r>
              <a:rPr lang="cs-CZ" altLang="cs-CZ" noProof="0" dirty="0"/>
              <a:t> </a:t>
            </a:r>
            <a:r>
              <a:rPr lang="cs-CZ" altLang="cs-CZ" noProof="0" dirty="0" err="1"/>
              <a:t>for</a:t>
            </a:r>
            <a:r>
              <a:rPr lang="cs-CZ" altLang="cs-CZ" noProof="0" dirty="0"/>
              <a:t> psychology (8. vyd.). </a:t>
            </a:r>
            <a:r>
              <a:rPr lang="cs-CZ" altLang="cs-CZ" noProof="0" dirty="0" err="1"/>
              <a:t>Wadsworth</a:t>
            </a:r>
            <a:r>
              <a:rPr lang="cs-CZ" altLang="cs-CZ" noProof="0" dirty="0"/>
              <a:t>, </a:t>
            </a:r>
            <a:r>
              <a:rPr lang="cs-CZ" altLang="cs-CZ" noProof="0" dirty="0" err="1"/>
              <a:t>Cengage</a:t>
            </a:r>
            <a:r>
              <a:rPr lang="cs-CZ" altLang="cs-CZ" noProof="0" dirty="0"/>
              <a:t> Learning.</a:t>
            </a:r>
          </a:p>
          <a:p>
            <a:r>
              <a:rPr lang="cs-CZ" altLang="cs-CZ" noProof="0" dirty="0"/>
              <a:t>Uvedená řešení jsou možné odpovědi se zdůvodněním; jiné věcně správné návrhy jsou přijatelné.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altLang="cs-CZ" noProof="0" dirty="0"/>
              <a:t>K bodu c: Jedna třída nebo škola může sdružovat rodiny z podobného prostředí, s podobnými příjmy, zvyklostmi a představami o kapesném</a:t>
            </a:r>
            <a:r>
              <a:rPr lang="cs-CZ" altLang="cs-CZ" b="1" noProof="0" dirty="0"/>
              <a:t>. V malých skupinách může průměr ovlivnit i několik neobvykle vysokých částek</a:t>
            </a:r>
            <a:r>
              <a:rPr lang="cs-CZ" altLang="cs-CZ" noProof="0" dirty="0"/>
              <a:t>. </a:t>
            </a:r>
            <a:r>
              <a:rPr lang="cs-CZ" altLang="cs-CZ" b="1" noProof="0" dirty="0"/>
              <a:t>Odpovídající se mohou lišit od neodpovídajících</a:t>
            </a:r>
            <a:r>
              <a:rPr lang="cs-CZ" altLang="cs-CZ" noProof="0" dirty="0"/>
              <a:t>. Rozdíl proto může odrážet složení souboru, náhodné kolísání nebo jiné okolnosti vedle případného širšího rozdílu mezi dívkami a chlapci. K posouzení potřebujeme jednotlivé částky a další informace. Samotné rozdílné počty dívek a chlapců nejsou důkazem zkreslení.</a:t>
            </a:r>
          </a:p>
          <a:p>
            <a:endParaRPr lang="cs-CZ" altLang="cs-CZ" noProof="0" dirty="0"/>
          </a:p>
          <a:p>
            <a:r>
              <a:rPr lang="cs-CZ" altLang="cs-CZ" noProof="0" dirty="0"/>
              <a:t>K bodu d: Nejprve vymezíme cílovou populaci, například všechny žáky čtvrtých tříd škol v daném městě v daném roce. Z úplného dostupného seznamu lze náhodně vylosovat žáky k oslovení. Musíme zajistit potřebné souhlasy a zohlednit odmítnutí účasti. Pro větší území lze náhodně vybírat školy, třídy a následně děti, ale pravděpodobnosti vybrání musí odpovídat zvolenému postupu.</a:t>
            </a:r>
          </a:p>
          <a:p>
            <a:endParaRPr lang="cs-CZ" altLang="cs-CZ" noProof="0" dirty="0"/>
          </a:p>
          <a:p>
            <a:r>
              <a:rPr lang="cs-CZ" altLang="cs-CZ" noProof="0" dirty="0"/>
              <a:t>Náhodné přiřazení ke skupinám dívky a chlapci zde provést nelze. Náhodné vybírání dívek a chlapců není náhodným přiřazením pohlaví. Náhodně lze přidělit jinou manipulovatelnou podmínku, ovšem tím změníme výzkumnou otázku. </a:t>
            </a:r>
            <a:r>
              <a:rPr lang="cs-CZ" altLang="cs-CZ" b="1" noProof="0" dirty="0"/>
              <a:t>Například dospělí mohou náhodně dostat jinak shodný modelový popis dítěte označeného jako dívka nebo chlapec a navrhnout kapesné</a:t>
            </a:r>
            <a:r>
              <a:rPr lang="cs-CZ" altLang="cs-CZ" noProof="0" dirty="0"/>
              <a:t>. Takový experiment by zkoumal účinek </a:t>
            </a:r>
            <a:r>
              <a:rPr lang="cs-CZ" altLang="cs-CZ" b="1" noProof="0" dirty="0"/>
              <a:t>označení v hypotetické situaci</a:t>
            </a:r>
            <a:r>
              <a:rPr lang="cs-CZ" altLang="cs-CZ" noProof="0" dirty="0"/>
              <a:t>, nikoli přímo skutečné kapesné oslovených dětí. Původní pozorovací studii proto nelze jednoduše proměnit v experiment s náhodným přiřazením skupinové příslušnosti.</a:t>
            </a:r>
          </a:p>
          <a:p>
            <a:endParaRPr lang="cs-CZ" altLang="cs-CZ" noProof="0" dirty="0"/>
          </a:p>
          <a:p>
            <a:r>
              <a:rPr lang="cs-CZ" altLang="cs-CZ" noProof="0" dirty="0"/>
              <a:t>Zdroj zadání: </a:t>
            </a:r>
            <a:r>
              <a:rPr lang="cs-CZ" altLang="cs-CZ" noProof="0" dirty="0" err="1"/>
              <a:t>Howell</a:t>
            </a:r>
            <a:r>
              <a:rPr lang="cs-CZ" altLang="cs-CZ" noProof="0" dirty="0"/>
              <a:t> (2013), s. 12, úloha 1.22(c–d). Česká adaptace.</a:t>
            </a:r>
          </a:p>
          <a:p>
            <a:r>
              <a:rPr lang="cs-CZ" altLang="cs-CZ" noProof="0" dirty="0" err="1"/>
              <a:t>Howell</a:t>
            </a:r>
            <a:r>
              <a:rPr lang="cs-CZ" altLang="cs-CZ" noProof="0" dirty="0"/>
              <a:t>, D. C. (2013). </a:t>
            </a:r>
            <a:r>
              <a:rPr lang="cs-CZ" altLang="cs-CZ" noProof="0" dirty="0" err="1"/>
              <a:t>Statistical</a:t>
            </a:r>
            <a:r>
              <a:rPr lang="cs-CZ" altLang="cs-CZ" noProof="0" dirty="0"/>
              <a:t> </a:t>
            </a:r>
            <a:r>
              <a:rPr lang="cs-CZ" altLang="cs-CZ" noProof="0" dirty="0" err="1"/>
              <a:t>methods</a:t>
            </a:r>
            <a:r>
              <a:rPr lang="cs-CZ" altLang="cs-CZ" noProof="0" dirty="0"/>
              <a:t> </a:t>
            </a:r>
            <a:r>
              <a:rPr lang="cs-CZ" altLang="cs-CZ" noProof="0" dirty="0" err="1"/>
              <a:t>for</a:t>
            </a:r>
            <a:r>
              <a:rPr lang="cs-CZ" altLang="cs-CZ" noProof="0" dirty="0"/>
              <a:t> psychology (8. vyd.). </a:t>
            </a:r>
            <a:r>
              <a:rPr lang="cs-CZ" altLang="cs-CZ" noProof="0" dirty="0" err="1"/>
              <a:t>Wadsworth</a:t>
            </a:r>
            <a:r>
              <a:rPr lang="cs-CZ" altLang="cs-CZ" noProof="0" dirty="0"/>
              <a:t>, </a:t>
            </a:r>
            <a:r>
              <a:rPr lang="cs-CZ" altLang="cs-CZ" noProof="0" dirty="0" err="1"/>
              <a:t>Cengage</a:t>
            </a:r>
            <a:r>
              <a:rPr lang="cs-CZ" altLang="cs-CZ" noProof="0" dirty="0"/>
              <a:t> Learning.</a:t>
            </a:r>
          </a:p>
          <a:p>
            <a:r>
              <a:rPr lang="cs-CZ" altLang="cs-CZ" noProof="0" dirty="0"/>
              <a:t>Uvedená řešení jsou možné odpovědi se zdůvodněním; jiné věcně správné návrhy jsou přijatelné.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altLang="cs-CZ" noProof="0" dirty="0"/>
              <a:t>K bodu e: Nemožnost náhodně přidělit skupinovou příslušnost neznamená, že je celá studie bezcenná nebo že její popis musí být neplatný. Můžeme správně popsat odpovědi získaných dětí. </a:t>
            </a:r>
            <a:r>
              <a:rPr lang="cs-CZ" altLang="cs-CZ" b="1" noProof="0" dirty="0"/>
              <a:t>Omezená je opora pro příčinné tvrzení, že samotné pohlaví nebo odlišné zacházení kvůli pohlaví způsobilo rozdíl</a:t>
            </a:r>
            <a:r>
              <a:rPr lang="cs-CZ" altLang="cs-CZ" noProof="0" dirty="0"/>
              <a:t>. Pro zobecnění je zvlášť důležitý způsob náboru. Interní a externí validitu neposuzujeme jediným verdiktem a žádnou z nich nezaručuje samotný název studie.</a:t>
            </a:r>
          </a:p>
          <a:p>
            <a:endParaRPr lang="cs-CZ" altLang="cs-CZ" noProof="0" dirty="0"/>
          </a:p>
          <a:p>
            <a:r>
              <a:rPr lang="cs-CZ" altLang="cs-CZ" noProof="0" dirty="0"/>
              <a:t>K bodu f: Možnými vlivy jsou </a:t>
            </a:r>
            <a:r>
              <a:rPr lang="cs-CZ" altLang="cs-CZ" b="1" noProof="0" dirty="0"/>
              <a:t>příjem rodiny, věk dítěte, počet sourozenců, rodinná pravidla, rozsah a náročnost povinností, jiné odměny a to, co si dítě musí z kapesného hradit</a:t>
            </a:r>
            <a:r>
              <a:rPr lang="cs-CZ" altLang="cs-CZ" noProof="0" dirty="0"/>
              <a:t>. Uváděné částky může ovlivnit </a:t>
            </a:r>
            <a:r>
              <a:rPr lang="cs-CZ" altLang="cs-CZ" b="1" noProof="0" dirty="0"/>
              <a:t>paměť</a:t>
            </a:r>
            <a:r>
              <a:rPr lang="cs-CZ" altLang="cs-CZ" noProof="0" dirty="0"/>
              <a:t>, </a:t>
            </a:r>
            <a:r>
              <a:rPr lang="cs-CZ" altLang="cs-CZ" b="1" noProof="0" dirty="0"/>
              <a:t>zaokrouhlování</a:t>
            </a:r>
            <a:r>
              <a:rPr lang="cs-CZ" altLang="cs-CZ" noProof="0" dirty="0"/>
              <a:t> nebo </a:t>
            </a:r>
            <a:r>
              <a:rPr lang="cs-CZ" altLang="cs-CZ" b="1" noProof="0" dirty="0"/>
              <a:t>snaha působit určitým dojmem</a:t>
            </a:r>
            <a:r>
              <a:rPr lang="cs-CZ" altLang="cs-CZ" noProof="0" dirty="0"/>
              <a:t>. Vysoké kapesné při povinnosti platit si dopravu není nutně větším volně použitelným příjmem. Tyto proměnné nemusí působit a jejich seznam není důkazem konkrétního vysvětlení. Některé, například domácí povinnosti, mohou být také součástí širšího rozdílného zacházení. Jejich statistické zohlednění by pak měnilo otázku, na kterou odpovídáme.</a:t>
            </a:r>
          </a:p>
          <a:p>
            <a:endParaRPr lang="cs-CZ" altLang="cs-CZ" noProof="0" dirty="0"/>
          </a:p>
          <a:p>
            <a:r>
              <a:rPr lang="cs-CZ" altLang="cs-CZ" noProof="0" dirty="0"/>
              <a:t>K bodu g: </a:t>
            </a:r>
            <a:r>
              <a:rPr lang="cs-CZ" altLang="cs-CZ" b="1" noProof="0" dirty="0"/>
              <a:t>Popisnou část tvoří počty odpovídajících, jejich skupinové průměry, rozdíl 0,55 USD a přibližně 21% relativní rozdíl vůči průměru dívek</a:t>
            </a:r>
            <a:r>
              <a:rPr lang="cs-CZ" altLang="cs-CZ" noProof="0" dirty="0"/>
              <a:t>. Inferenční otázkou je, </a:t>
            </a:r>
            <a:r>
              <a:rPr lang="cs-CZ" altLang="cs-CZ" b="1" noProof="0" dirty="0"/>
              <a:t>zda obdobný rozdíl očekáváme u širší populace dětí a s jakou nejistotou</a:t>
            </a:r>
            <a:r>
              <a:rPr lang="cs-CZ" altLang="cs-CZ" noProof="0" dirty="0"/>
              <a:t>. Tvrzení o vzniku příjmových rozdílů v dospělosti jde ještě dále a vyžadovalo by další údaje i oporu pro příčinné a časové souvislosti. Dětské kapesné a příjem dospělého navíc nejsou totožné veličiny. Zadání neobsahuje jednotlivé částky, proto z něj nelze vypočítat rozptýlení výsledků nebo nejistotu rozdílu průměrů.</a:t>
            </a:r>
          </a:p>
          <a:p>
            <a:endParaRPr lang="cs-CZ" altLang="cs-CZ" noProof="0" dirty="0"/>
          </a:p>
          <a:p>
            <a:r>
              <a:rPr lang="cs-CZ" altLang="cs-CZ" noProof="0" dirty="0"/>
              <a:t>Zdroj zadání: </a:t>
            </a:r>
            <a:r>
              <a:rPr lang="cs-CZ" altLang="cs-CZ" noProof="0" dirty="0" err="1"/>
              <a:t>Howell</a:t>
            </a:r>
            <a:r>
              <a:rPr lang="cs-CZ" altLang="cs-CZ" noProof="0" dirty="0"/>
              <a:t> (2013), s. 12, úloha 1.22(e–g). Česká adaptace.</a:t>
            </a:r>
          </a:p>
          <a:p>
            <a:r>
              <a:rPr lang="cs-CZ" altLang="cs-CZ" noProof="0" dirty="0" err="1"/>
              <a:t>Howell</a:t>
            </a:r>
            <a:r>
              <a:rPr lang="cs-CZ" altLang="cs-CZ" noProof="0" dirty="0"/>
              <a:t>, D. C. (2013). </a:t>
            </a:r>
            <a:r>
              <a:rPr lang="cs-CZ" altLang="cs-CZ" noProof="0" dirty="0" err="1"/>
              <a:t>Statistical</a:t>
            </a:r>
            <a:r>
              <a:rPr lang="cs-CZ" altLang="cs-CZ" noProof="0" dirty="0"/>
              <a:t> </a:t>
            </a:r>
            <a:r>
              <a:rPr lang="cs-CZ" altLang="cs-CZ" noProof="0" dirty="0" err="1"/>
              <a:t>methods</a:t>
            </a:r>
            <a:r>
              <a:rPr lang="cs-CZ" altLang="cs-CZ" noProof="0" dirty="0"/>
              <a:t> </a:t>
            </a:r>
            <a:r>
              <a:rPr lang="cs-CZ" altLang="cs-CZ" noProof="0" dirty="0" err="1"/>
              <a:t>for</a:t>
            </a:r>
            <a:r>
              <a:rPr lang="cs-CZ" altLang="cs-CZ" noProof="0" dirty="0"/>
              <a:t> psychology (8. vyd.). </a:t>
            </a:r>
            <a:r>
              <a:rPr lang="cs-CZ" altLang="cs-CZ" noProof="0" dirty="0" err="1"/>
              <a:t>Wadsworth</a:t>
            </a:r>
            <a:r>
              <a:rPr lang="cs-CZ" altLang="cs-CZ" noProof="0" dirty="0"/>
              <a:t>, </a:t>
            </a:r>
            <a:r>
              <a:rPr lang="cs-CZ" altLang="cs-CZ" noProof="0" dirty="0" err="1"/>
              <a:t>Cengage</a:t>
            </a:r>
            <a:r>
              <a:rPr lang="cs-CZ" altLang="cs-CZ" noProof="0" dirty="0"/>
              <a:t> Learning.</a:t>
            </a:r>
          </a:p>
          <a:p>
            <a:r>
              <a:rPr lang="cs-CZ" altLang="cs-CZ" noProof="0" dirty="0"/>
              <a:t>Uvedená řešení jsou možné odpovědi se zdůvodněním; jiné věcně správné návrhy jsou přijatelné.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altLang="cs-CZ" noProof="0" dirty="0"/>
              <a:t>Zadání reprodukuje historický soubor, který </a:t>
            </a:r>
            <a:r>
              <a:rPr lang="cs-CZ" altLang="cs-CZ" noProof="0" dirty="0" err="1"/>
              <a:t>Howell</a:t>
            </a:r>
            <a:r>
              <a:rPr lang="cs-CZ" altLang="cs-CZ" noProof="0" dirty="0"/>
              <a:t> uvádí s odkazem na </a:t>
            </a:r>
            <a:r>
              <a:rPr lang="cs-CZ" altLang="cs-CZ" noProof="0" dirty="0" err="1"/>
              <a:t>Landwehr</a:t>
            </a:r>
            <a:r>
              <a:rPr lang="cs-CZ" altLang="cs-CZ" noProof="0" dirty="0"/>
              <a:t> a </a:t>
            </a:r>
            <a:r>
              <a:rPr lang="cs-CZ" altLang="cs-CZ" noProof="0" dirty="0" err="1"/>
              <a:t>Watkins</a:t>
            </a:r>
            <a:r>
              <a:rPr lang="cs-CZ" altLang="cs-CZ" noProof="0" dirty="0"/>
              <a:t> (1987) a publikaci v </a:t>
            </a:r>
            <a:r>
              <a:rPr lang="cs-CZ" altLang="cs-CZ" noProof="0" dirty="0" err="1"/>
              <a:t>Journal</a:t>
            </a:r>
            <a:r>
              <a:rPr lang="cs-CZ" altLang="cs-CZ" noProof="0" dirty="0"/>
              <a:t> </a:t>
            </a:r>
            <a:r>
              <a:rPr lang="cs-CZ" altLang="cs-CZ" noProof="0" dirty="0" err="1"/>
              <a:t>of</a:t>
            </a:r>
            <a:r>
              <a:rPr lang="cs-CZ" altLang="cs-CZ" noProof="0" dirty="0"/>
              <a:t> Public </a:t>
            </a:r>
            <a:r>
              <a:rPr lang="cs-CZ" altLang="cs-CZ" noProof="0" dirty="0" err="1"/>
              <a:t>Health</a:t>
            </a:r>
            <a:r>
              <a:rPr lang="cs-CZ" altLang="cs-CZ" noProof="0" dirty="0"/>
              <a:t>. Tvrzení o pozorovaném vztahu přebíráme jako součást zadání. Nemáme zde původní datovou tabulku, přesné období ani úplnou definici zdravotního ukazatele. Nejde o aktuální srovnání zemí. Případem v této datové matici je země, nikoli jednotlivý člověk.</a:t>
            </a:r>
          </a:p>
          <a:p>
            <a:endParaRPr lang="cs-CZ" altLang="cs-CZ" noProof="0" dirty="0"/>
          </a:p>
          <a:p>
            <a:r>
              <a:rPr lang="cs-CZ" altLang="cs-CZ" noProof="0" dirty="0"/>
              <a:t>K bodu a: Možnými důvody omezení byly dostupnost údajů, </a:t>
            </a:r>
            <a:r>
              <a:rPr lang="cs-CZ" altLang="cs-CZ" b="1" noProof="0" dirty="0"/>
              <a:t>srovnatelnější statistická evidence spotřeby a nemocnosti </a:t>
            </a:r>
            <a:r>
              <a:rPr lang="cs-CZ" altLang="cs-CZ" noProof="0" dirty="0"/>
              <a:t>nebo </a:t>
            </a:r>
            <a:r>
              <a:rPr lang="cs-CZ" altLang="cs-CZ" b="1" noProof="0" dirty="0"/>
              <a:t>snaha omezit některé rozdíly životních podmínek</a:t>
            </a:r>
            <a:r>
              <a:rPr lang="cs-CZ" altLang="cs-CZ" noProof="0" dirty="0"/>
              <a:t>. Jsou to hypotézy o výběru, nikoli ověřené důvody autorů. </a:t>
            </a:r>
            <a:r>
              <a:rPr lang="cs-CZ" altLang="cs-CZ" b="1" noProof="0" dirty="0"/>
              <a:t>Omezení zároveň zužuje rozsah zobecnění a nemusí odstranit rozdíly v kvalitě dat</a:t>
            </a:r>
            <a:r>
              <a:rPr lang="cs-CZ" altLang="cs-CZ" noProof="0" dirty="0"/>
              <a:t>. Známe-li údaje pouze za tento okruh zemí, nemůžeme bez další opory tvrdit, že stejný vztah platí všude.</a:t>
            </a:r>
          </a:p>
          <a:p>
            <a:endParaRPr lang="cs-CZ" altLang="cs-CZ" noProof="0" dirty="0"/>
          </a:p>
          <a:p>
            <a:r>
              <a:rPr lang="cs-CZ" altLang="cs-CZ" noProof="0" dirty="0"/>
              <a:t>K bodu b: </a:t>
            </a:r>
            <a:r>
              <a:rPr lang="cs-CZ" altLang="cs-CZ" b="1" noProof="0" dirty="0"/>
              <a:t>Spotřeba cigaret na dospělého za stejné období má obvykle poměrovou interpretaci</a:t>
            </a:r>
            <a:r>
              <a:rPr lang="cs-CZ" altLang="cs-CZ" noProof="0" dirty="0"/>
              <a:t>. Nula znamená nulovou spotřebu a dvojnásobná hodnota dvojnásobnou spotřebu na dospělého. Tento průměr může zahrnovat i nekuřáky, nejde tedy automaticky o spotřebu jednoho kuřáka. Jestliže zdravotní ukazatel znamená počet nových případů na stanovený počet obyvatel za stejné období, také má </a:t>
            </a:r>
            <a:r>
              <a:rPr lang="cs-CZ" altLang="cs-CZ" b="1" noProof="0" dirty="0"/>
              <a:t>poměrovou interpretaci</a:t>
            </a:r>
            <a:r>
              <a:rPr lang="cs-CZ" altLang="cs-CZ" noProof="0" dirty="0"/>
              <a:t>. Zadání však </a:t>
            </a:r>
            <a:r>
              <a:rPr lang="cs-CZ" altLang="cs-CZ" b="1" noProof="0" dirty="0"/>
              <a:t>neupřesňuje, zda jde o nové případy, výskyt onemocnění v populaci nebo úmrtnost</a:t>
            </a:r>
            <a:r>
              <a:rPr lang="cs-CZ" altLang="cs-CZ" noProof="0" dirty="0"/>
              <a:t>. Správná odpověď proto musí podmínit zařazení přesnou definicí ukazatele a srovnatelnými jmenovateli. Kdyby byl ukazatel pouze pořadím zemí nebo nejasným indexem, závěr by byl jiný.</a:t>
            </a:r>
          </a:p>
          <a:p>
            <a:endParaRPr lang="cs-CZ" altLang="cs-CZ" noProof="0" dirty="0"/>
          </a:p>
          <a:p>
            <a:r>
              <a:rPr lang="cs-CZ" altLang="cs-CZ" noProof="0" dirty="0"/>
              <a:t>Zdroj zadání: </a:t>
            </a:r>
            <a:r>
              <a:rPr lang="cs-CZ" altLang="cs-CZ" noProof="0" dirty="0" err="1"/>
              <a:t>Howell</a:t>
            </a:r>
            <a:r>
              <a:rPr lang="cs-CZ" altLang="cs-CZ" noProof="0" dirty="0"/>
              <a:t> (2013), s. 12–13, úloha 1.23(a–b), s odkazem na </a:t>
            </a:r>
            <a:r>
              <a:rPr lang="cs-CZ" altLang="cs-CZ" noProof="0" dirty="0" err="1"/>
              <a:t>Landwehr</a:t>
            </a:r>
            <a:r>
              <a:rPr lang="cs-CZ" altLang="cs-CZ" noProof="0" dirty="0"/>
              <a:t> a </a:t>
            </a:r>
            <a:r>
              <a:rPr lang="cs-CZ" altLang="cs-CZ" noProof="0" dirty="0" err="1"/>
              <a:t>Watkins</a:t>
            </a:r>
            <a:r>
              <a:rPr lang="cs-CZ" altLang="cs-CZ" noProof="0" dirty="0"/>
              <a:t> (1987).</a:t>
            </a:r>
          </a:p>
          <a:p>
            <a:r>
              <a:rPr lang="cs-CZ" altLang="cs-CZ" noProof="0" dirty="0" err="1"/>
              <a:t>Howell</a:t>
            </a:r>
            <a:r>
              <a:rPr lang="cs-CZ" altLang="cs-CZ" noProof="0" dirty="0"/>
              <a:t>, D. C. (2013). </a:t>
            </a:r>
            <a:r>
              <a:rPr lang="cs-CZ" altLang="cs-CZ" noProof="0" dirty="0" err="1"/>
              <a:t>Statistical</a:t>
            </a:r>
            <a:r>
              <a:rPr lang="cs-CZ" altLang="cs-CZ" noProof="0" dirty="0"/>
              <a:t> </a:t>
            </a:r>
            <a:r>
              <a:rPr lang="cs-CZ" altLang="cs-CZ" noProof="0" dirty="0" err="1"/>
              <a:t>methods</a:t>
            </a:r>
            <a:r>
              <a:rPr lang="cs-CZ" altLang="cs-CZ" noProof="0" dirty="0"/>
              <a:t> </a:t>
            </a:r>
            <a:r>
              <a:rPr lang="cs-CZ" altLang="cs-CZ" noProof="0" dirty="0" err="1"/>
              <a:t>for</a:t>
            </a:r>
            <a:r>
              <a:rPr lang="cs-CZ" altLang="cs-CZ" noProof="0" dirty="0"/>
              <a:t> psychology (8. vyd.). </a:t>
            </a:r>
            <a:r>
              <a:rPr lang="cs-CZ" altLang="cs-CZ" noProof="0" dirty="0" err="1"/>
              <a:t>Wadsworth</a:t>
            </a:r>
            <a:r>
              <a:rPr lang="cs-CZ" altLang="cs-CZ" noProof="0" dirty="0"/>
              <a:t>, </a:t>
            </a:r>
            <a:r>
              <a:rPr lang="cs-CZ" altLang="cs-CZ" noProof="0" dirty="0" err="1"/>
              <a:t>Cengage</a:t>
            </a:r>
            <a:r>
              <a:rPr lang="cs-CZ" altLang="cs-CZ" noProof="0" dirty="0"/>
              <a:t> Learning.</a:t>
            </a:r>
          </a:p>
          <a:p>
            <a:r>
              <a:rPr lang="cs-CZ" altLang="cs-CZ" noProof="0" dirty="0"/>
              <a:t>Uvedená řešení jsou možné odpovědi se zdůvodněním; jiné věcně správné návrhy jsou přijatelné.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altLang="cs-CZ" noProof="0" dirty="0"/>
              <a:t>K bodu c: Porovnání zemí ukazuje </a:t>
            </a:r>
            <a:r>
              <a:rPr lang="cs-CZ" altLang="cs-CZ" b="1" noProof="0" dirty="0"/>
              <a:t>souvislost dvou souhrnných ukazatelů</a:t>
            </a:r>
            <a:r>
              <a:rPr lang="cs-CZ" altLang="cs-CZ" noProof="0" dirty="0"/>
              <a:t>. Je slučitelné s </a:t>
            </a:r>
            <a:r>
              <a:rPr lang="cs-CZ" altLang="cs-CZ" b="1" noProof="0" dirty="0"/>
              <a:t>hypotézou škodlivého účinku kouření a může motivovat podrobnější výzkum, ale samo neodděluje příčinné působení od jiných vysvětlení</a:t>
            </a:r>
            <a:r>
              <a:rPr lang="cs-CZ" altLang="cs-CZ" noProof="0" dirty="0"/>
              <a:t>. Nevíme například, zda lidé s onemocněním v jednotlivých zemích byli právě ti, kteří kouřili, ani jak dlouho kouřili před vznikem nemoci. Ze souvislosti souhrnných údajů proto nelze automaticky odvodit stejnou souvislost nebo velikost účinku u jednotlivců. Takový neoprávněný přenos se označuje jako ekologický klam. Pro tuto úlohu je podstatná jeho myšlenka, nikoli zapamatování názvu.</a:t>
            </a:r>
          </a:p>
          <a:p>
            <a:endParaRPr lang="cs-CZ" altLang="cs-CZ" noProof="0" dirty="0"/>
          </a:p>
          <a:p>
            <a:r>
              <a:rPr lang="cs-CZ" altLang="cs-CZ" noProof="0" dirty="0"/>
              <a:t>Data mají omezení také v časovém uspořádání: současná spotřeba nemusí dobře vyjadřovat předchozí dlouhodobou expozici. K otázce účinku by přispělo sledování individuálních kuřáckých historií a pozdějších zdravotních výsledků se zohledněním dalších vlivů. Rozbor tohoto jediného zadání není hodnocením veškerých důkazů o zdravotních účincích kouření.</a:t>
            </a:r>
          </a:p>
          <a:p>
            <a:endParaRPr lang="cs-CZ" altLang="cs-CZ" noProof="0" dirty="0"/>
          </a:p>
          <a:p>
            <a:r>
              <a:rPr lang="cs-CZ" altLang="cs-CZ" noProof="0" dirty="0"/>
              <a:t>K bodu d: Zvážit lze </a:t>
            </a:r>
            <a:r>
              <a:rPr lang="cs-CZ" altLang="cs-CZ" b="1" noProof="0" dirty="0"/>
              <a:t>věkovou strukturu, zastoupení žen a mužů, stravování, pohybovou aktivitu, socioekonomické podmínky, dostupnost zdravotní péče a rozdíly v diagnostice a evidenci</a:t>
            </a:r>
            <a:r>
              <a:rPr lang="cs-CZ" altLang="cs-CZ" noProof="0" dirty="0"/>
              <a:t>. Důležitá je také předchozí spotřeba, délka kouření a způsob výpočtu ukazatelů. Jde o možné relevantní proměnné, jejichž roli musíme věcně zdůvodnit. Pouhé zahrnutí co největšího počtu proměnných do výpočtu nezaručuje správný kauzální závěr. Některé mohou být následkem expozice a jejich nevhodné zohlednění by změnilo interpretaci.</a:t>
            </a:r>
          </a:p>
          <a:p>
            <a:endParaRPr lang="cs-CZ" altLang="cs-CZ" noProof="0" dirty="0"/>
          </a:p>
          <a:p>
            <a:r>
              <a:rPr lang="cs-CZ" altLang="cs-CZ" noProof="0" dirty="0"/>
              <a:t>Zdroj zadání: </a:t>
            </a:r>
            <a:r>
              <a:rPr lang="cs-CZ" altLang="cs-CZ" noProof="0" dirty="0" err="1"/>
              <a:t>Howell</a:t>
            </a:r>
            <a:r>
              <a:rPr lang="cs-CZ" altLang="cs-CZ" noProof="0" dirty="0"/>
              <a:t> (2013), s. 12–13, úloha 1.23(c–d). Česká adaptace.</a:t>
            </a:r>
          </a:p>
          <a:p>
            <a:r>
              <a:rPr lang="cs-CZ" altLang="cs-CZ" noProof="0" dirty="0" err="1"/>
              <a:t>Howell</a:t>
            </a:r>
            <a:r>
              <a:rPr lang="cs-CZ" altLang="cs-CZ" noProof="0" dirty="0"/>
              <a:t>, D. C. (2013). </a:t>
            </a:r>
            <a:r>
              <a:rPr lang="cs-CZ" altLang="cs-CZ" noProof="0" dirty="0" err="1"/>
              <a:t>Statistical</a:t>
            </a:r>
            <a:r>
              <a:rPr lang="cs-CZ" altLang="cs-CZ" noProof="0" dirty="0"/>
              <a:t> </a:t>
            </a:r>
            <a:r>
              <a:rPr lang="cs-CZ" altLang="cs-CZ" noProof="0" dirty="0" err="1"/>
              <a:t>methods</a:t>
            </a:r>
            <a:r>
              <a:rPr lang="cs-CZ" altLang="cs-CZ" noProof="0" dirty="0"/>
              <a:t> </a:t>
            </a:r>
            <a:r>
              <a:rPr lang="cs-CZ" altLang="cs-CZ" noProof="0" dirty="0" err="1"/>
              <a:t>for</a:t>
            </a:r>
            <a:r>
              <a:rPr lang="cs-CZ" altLang="cs-CZ" noProof="0" dirty="0"/>
              <a:t> psychology (8. vyd.). </a:t>
            </a:r>
            <a:r>
              <a:rPr lang="cs-CZ" altLang="cs-CZ" noProof="0" dirty="0" err="1"/>
              <a:t>Wadsworth</a:t>
            </a:r>
            <a:r>
              <a:rPr lang="cs-CZ" altLang="cs-CZ" noProof="0" dirty="0"/>
              <a:t>, </a:t>
            </a:r>
            <a:r>
              <a:rPr lang="cs-CZ" altLang="cs-CZ" noProof="0" dirty="0" err="1"/>
              <a:t>Cengage</a:t>
            </a:r>
            <a:r>
              <a:rPr lang="cs-CZ" altLang="cs-CZ" noProof="0" dirty="0"/>
              <a:t> Learning.</a:t>
            </a:r>
          </a:p>
          <a:p>
            <a:r>
              <a:rPr lang="cs-CZ" altLang="cs-CZ" noProof="0" dirty="0"/>
              <a:t>Uvedená řešení jsou možné odpovědi se zdůvodněním; jiné věcně správné návrhy jsou přijatelné.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altLang="cs-CZ" noProof="0" dirty="0"/>
              <a:t>Možným řešením je </a:t>
            </a:r>
            <a:r>
              <a:rPr lang="cs-CZ" altLang="cs-CZ" b="1" noProof="0" dirty="0"/>
              <a:t>dlouhodobá pozorovací studie</a:t>
            </a:r>
            <a:r>
              <a:rPr lang="cs-CZ" altLang="cs-CZ" noProof="0" dirty="0"/>
              <a:t>. Nejprve vymezíme populaci žen, místo a věkové skupiny. Získáme soubor s vhodným zastoupením cílové populace a při vstupu zaznamenáme kuřáckou historii i výchozí zdravotní stav. V dalších letech opakovaně sledujeme, kdo začne kouřit, kdo přestane, jaká je intenzita a délka kouření a jaké zdravotní výsledky později nastanou. Pro dlouhodobé výsledky potřebujeme odpovídající dobu sledování.</a:t>
            </a:r>
          </a:p>
          <a:p>
            <a:endParaRPr lang="cs-CZ" altLang="cs-CZ" noProof="0" dirty="0"/>
          </a:p>
          <a:p>
            <a:r>
              <a:rPr lang="cs-CZ" altLang="cs-CZ" b="1" noProof="0" dirty="0"/>
              <a:t>Porovnávat lze zdravotní výsledky žen s různými průběhy kouření, přičemž je třeba posoudit věk, socioekonomické podmínky, další expozice a další příčiny, které mohou ovlivňovat kouření i zdraví</a:t>
            </a:r>
            <a:r>
              <a:rPr lang="cs-CZ" altLang="cs-CZ" noProof="0" dirty="0"/>
              <a:t>. Zohledníme změny chování v čase, například ukončení kouření kvůli zdravotním potížím. Důležité je také sledovat neúčast a ztráty během sledování, protože odcházející ženy se mohou systematicky lišit od těch, které zůstávají.</a:t>
            </a:r>
          </a:p>
          <a:p>
            <a:endParaRPr lang="cs-CZ" altLang="cs-CZ" noProof="0" dirty="0"/>
          </a:p>
          <a:p>
            <a:r>
              <a:rPr lang="cs-CZ" altLang="cs-CZ" noProof="0" dirty="0"/>
              <a:t>Účastnice bychom z výzkumných důvodů nepřidělovali k zahájení kouření. Náhodně lze zkoumat například nabídku preventivního programu nebo podpory odvykání, ale to odpovídá otázce účinku dané podpory, nikoli přímo náhodně přiděleného kouření. Samotné srovnání celkového zdraví žen a mužů rovněž neizoluje účinek kouření.</a:t>
            </a:r>
          </a:p>
          <a:p>
            <a:endParaRPr lang="cs-CZ" altLang="cs-CZ" noProof="0" dirty="0"/>
          </a:p>
          <a:p>
            <a:r>
              <a:rPr lang="cs-CZ" altLang="cs-CZ" noProof="0" dirty="0"/>
              <a:t>Uvedených 7 % a 61 % označuje podíl kouřících v historickém zadání, nikoli počet nových kuřáků za určité období. Podíl aktuálně kouřících odlišujeme od četnosti zahajování kouření a také od výskytu nových onemocnění. Zadání tím zpřesňujeme, aniž bychom jeho historické údaje vydávali za současnou situaci. Studie by musela mít informovaný souhlas, ochranu údajů a odpovídající etické posouzení.</a:t>
            </a:r>
          </a:p>
          <a:p>
            <a:endParaRPr lang="cs-CZ" altLang="cs-CZ" noProof="0" dirty="0"/>
          </a:p>
          <a:p>
            <a:r>
              <a:rPr lang="cs-CZ" altLang="cs-CZ" noProof="0" dirty="0"/>
              <a:t>Zdroj zadání: </a:t>
            </a:r>
            <a:r>
              <a:rPr lang="cs-CZ" altLang="cs-CZ" noProof="0" dirty="0" err="1"/>
              <a:t>Howell</a:t>
            </a:r>
            <a:r>
              <a:rPr lang="cs-CZ" altLang="cs-CZ" noProof="0" dirty="0"/>
              <a:t> (2013), s. 13, úloha 1.23(e). Historický scénář, česká adaptace.</a:t>
            </a:r>
          </a:p>
          <a:p>
            <a:r>
              <a:rPr lang="cs-CZ" altLang="cs-CZ" noProof="0" dirty="0" err="1"/>
              <a:t>Howell</a:t>
            </a:r>
            <a:r>
              <a:rPr lang="cs-CZ" altLang="cs-CZ" noProof="0" dirty="0"/>
              <a:t>, D. C. (2013). </a:t>
            </a:r>
            <a:r>
              <a:rPr lang="cs-CZ" altLang="cs-CZ" noProof="0" dirty="0" err="1"/>
              <a:t>Statistical</a:t>
            </a:r>
            <a:r>
              <a:rPr lang="cs-CZ" altLang="cs-CZ" noProof="0" dirty="0"/>
              <a:t> </a:t>
            </a:r>
            <a:r>
              <a:rPr lang="cs-CZ" altLang="cs-CZ" noProof="0" dirty="0" err="1"/>
              <a:t>methods</a:t>
            </a:r>
            <a:r>
              <a:rPr lang="cs-CZ" altLang="cs-CZ" noProof="0" dirty="0"/>
              <a:t> </a:t>
            </a:r>
            <a:r>
              <a:rPr lang="cs-CZ" altLang="cs-CZ" noProof="0" dirty="0" err="1"/>
              <a:t>for</a:t>
            </a:r>
            <a:r>
              <a:rPr lang="cs-CZ" altLang="cs-CZ" noProof="0" dirty="0"/>
              <a:t> psychology (8. vyd.). </a:t>
            </a:r>
            <a:r>
              <a:rPr lang="cs-CZ" altLang="cs-CZ" noProof="0" dirty="0" err="1"/>
              <a:t>Wadsworth</a:t>
            </a:r>
            <a:r>
              <a:rPr lang="cs-CZ" altLang="cs-CZ" noProof="0" dirty="0"/>
              <a:t>, </a:t>
            </a:r>
            <a:r>
              <a:rPr lang="cs-CZ" altLang="cs-CZ" noProof="0" dirty="0" err="1"/>
              <a:t>Cengage</a:t>
            </a:r>
            <a:r>
              <a:rPr lang="cs-CZ" altLang="cs-CZ" noProof="0" dirty="0"/>
              <a:t> Learning.</a:t>
            </a:r>
          </a:p>
          <a:p>
            <a:r>
              <a:rPr lang="cs-CZ" altLang="cs-CZ" noProof="0" dirty="0"/>
              <a:t>Uvedená řešení jsou možné odpovědi se zdůvodněním; jiné věcně správné návrhy jsou přijatelné.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lang="cs-CZ" altLang="cs-CZ" sz="4400" noProof="0">
          <a:solidFill>
            <a:schemeClr val="tx1"/>
          </a:solidFill>
          <a:latin typeface="+mj-lt"/>
          <a:ea typeface="+mj-lt"/>
          <a:cs typeface="+mj-lt"/>
        </a:defRPr>
      </a:lvl1pPr>
    </p:titleStyle>
    <p:bodyStyle>
      <a:lvl1pPr marL="228600" indent="-228600" algn="l">
        <a:lnSpc>
          <a:spcPct val="90000"/>
        </a:lnSpc>
        <a:spcBef>
          <a:spcPts val="1000"/>
        </a:spcBef>
        <a:buChar char="•"/>
        <a:defRPr lang="cs-CZ" altLang="cs-CZ" sz="2800" noProof="0">
          <a:solidFill>
            <a:schemeClr val="tx1"/>
          </a:solidFill>
          <a:latin typeface="+mn-lt"/>
          <a:ea typeface="+mn-lt"/>
          <a:cs typeface="+mn-lt"/>
        </a:defRPr>
      </a:lvl1pPr>
      <a:lvl2pPr marL="685800" indent="-228600" algn="l">
        <a:lnSpc>
          <a:spcPct val="90000"/>
        </a:lnSpc>
        <a:spcBef>
          <a:spcPts val="500"/>
        </a:spcBef>
        <a:buChar char="•"/>
        <a:defRPr lang="cs-CZ" altLang="cs-CZ" sz="2400" noProof="0">
          <a:solidFill>
            <a:schemeClr val="tx1"/>
          </a:solidFill>
          <a:latin typeface="+mn-lt"/>
          <a:ea typeface="+mn-lt"/>
          <a:cs typeface="+mn-lt"/>
        </a:defRPr>
      </a:lvl2pPr>
      <a:lvl3pPr marL="1143000" indent="-228600" algn="l">
        <a:lnSpc>
          <a:spcPct val="90000"/>
        </a:lnSpc>
        <a:spcBef>
          <a:spcPts val="500"/>
        </a:spcBef>
        <a:buChar char="•"/>
        <a:defRPr lang="cs-CZ" altLang="cs-CZ" sz="2000" noProof="0">
          <a:solidFill>
            <a:schemeClr val="tx1"/>
          </a:solidFill>
          <a:latin typeface="+mn-lt"/>
          <a:ea typeface="+mn-lt"/>
          <a:cs typeface="+mn-lt"/>
        </a:defRPr>
      </a:lvl3pPr>
      <a:lvl4pPr marL="1600200" indent="-228600" algn="l">
        <a:lnSpc>
          <a:spcPct val="90000"/>
        </a:lnSpc>
        <a:spcBef>
          <a:spcPts val="500"/>
        </a:spcBef>
        <a:buChar char="•"/>
        <a:defRPr lang="cs-CZ" altLang="cs-CZ" sz="1800" noProof="0">
          <a:solidFill>
            <a:schemeClr val="tx1"/>
          </a:solidFill>
          <a:latin typeface="+mn-lt"/>
          <a:ea typeface="+mn-lt"/>
          <a:cs typeface="+mn-lt"/>
        </a:defRPr>
      </a:lvl4pPr>
      <a:lvl5pPr marL="2057400" indent="-228600" algn="l">
        <a:lnSpc>
          <a:spcPct val="90000"/>
        </a:lnSpc>
        <a:spcBef>
          <a:spcPts val="500"/>
        </a:spcBef>
        <a:buChar char="•"/>
        <a:defRPr lang="cs-CZ" altLang="cs-CZ" sz="1800" noProof="0">
          <a:solidFill>
            <a:schemeClr val="tx1"/>
          </a:solidFill>
          <a:latin typeface="+mn-lt"/>
          <a:ea typeface="+mn-lt"/>
          <a:cs typeface="+mn-lt"/>
        </a:defRPr>
      </a:lvl5pPr>
      <a:lvl6pPr marL="2514600" indent="-228600" algn="l">
        <a:lnSpc>
          <a:spcPct val="90000"/>
        </a:lnSpc>
        <a:spcBef>
          <a:spcPts val="500"/>
        </a:spcBef>
        <a:buChar char="•"/>
        <a:defRPr lang="cs-CZ" altLang="cs-CZ" sz="1800" noProof="0">
          <a:solidFill>
            <a:schemeClr val="tx1"/>
          </a:solidFill>
          <a:latin typeface="+mn-lt"/>
          <a:ea typeface="+mn-lt"/>
          <a:cs typeface="+mn-lt"/>
        </a:defRPr>
      </a:lvl6pPr>
      <a:lvl7pPr marL="2971800" indent="-228600" algn="l">
        <a:lnSpc>
          <a:spcPct val="90000"/>
        </a:lnSpc>
        <a:spcBef>
          <a:spcPts val="500"/>
        </a:spcBef>
        <a:buChar char="•"/>
        <a:defRPr lang="cs-CZ" altLang="cs-CZ" sz="1800" noProof="0">
          <a:solidFill>
            <a:schemeClr val="tx1"/>
          </a:solidFill>
          <a:latin typeface="+mn-lt"/>
          <a:ea typeface="+mn-lt"/>
          <a:cs typeface="+mn-lt"/>
        </a:defRPr>
      </a:lvl7pPr>
      <a:lvl8pPr marL="3429000" indent="-228600" algn="l">
        <a:lnSpc>
          <a:spcPct val="90000"/>
        </a:lnSpc>
        <a:spcBef>
          <a:spcPts val="500"/>
        </a:spcBef>
        <a:buChar char="•"/>
        <a:defRPr lang="cs-CZ" altLang="cs-CZ" sz="1800" noProof="0">
          <a:solidFill>
            <a:schemeClr val="tx1"/>
          </a:solidFill>
          <a:latin typeface="+mn-lt"/>
          <a:ea typeface="+mn-lt"/>
          <a:cs typeface="+mn-lt"/>
        </a:defRPr>
      </a:lvl8pPr>
      <a:lvl9pPr marL="3886200" indent="-228600" algn="l">
        <a:lnSpc>
          <a:spcPct val="90000"/>
        </a:lnSpc>
        <a:spcBef>
          <a:spcPts val="500"/>
        </a:spcBef>
        <a:buChar char="•"/>
        <a:defRPr lang="cs-CZ" altLang="cs-CZ" sz="1800" noProof="0">
          <a:solidFill>
            <a:schemeClr val="tx1"/>
          </a:solidFill>
          <a:latin typeface="+mn-lt"/>
          <a:ea typeface="+mn-lt"/>
          <a:cs typeface="+mn-lt"/>
        </a:defRPr>
      </a:lvl9pPr>
    </p:bodyStyle>
    <p:otherStyle>
      <a:lvl1pPr marL="0" algn="l">
        <a:buNone/>
        <a:defRPr lang="cs-CZ" altLang="cs-CZ" sz="1800" noProof="0">
          <a:solidFill>
            <a:schemeClr val="tx1"/>
          </a:solidFill>
          <a:latin typeface="+mn-lt"/>
          <a:ea typeface="+mn-lt"/>
          <a:cs typeface="+mn-lt"/>
        </a:defRPr>
      </a:lvl1pPr>
      <a:lvl2pPr marL="457200" algn="l">
        <a:buNone/>
        <a:defRPr lang="cs-CZ" altLang="cs-CZ" sz="1800" noProof="0">
          <a:solidFill>
            <a:schemeClr val="tx1"/>
          </a:solidFill>
          <a:latin typeface="+mn-lt"/>
          <a:ea typeface="+mn-lt"/>
          <a:cs typeface="+mn-lt"/>
        </a:defRPr>
      </a:lvl2pPr>
      <a:lvl3pPr marL="914400" algn="l">
        <a:buNone/>
        <a:defRPr lang="cs-CZ" altLang="cs-CZ" sz="1800" noProof="0">
          <a:solidFill>
            <a:schemeClr val="tx1"/>
          </a:solidFill>
          <a:latin typeface="+mn-lt"/>
          <a:ea typeface="+mn-lt"/>
          <a:cs typeface="+mn-lt"/>
        </a:defRPr>
      </a:lvl3pPr>
      <a:lvl4pPr marL="1371600" algn="l">
        <a:buNone/>
        <a:defRPr lang="cs-CZ" altLang="cs-CZ" sz="1800" noProof="0">
          <a:solidFill>
            <a:schemeClr val="tx1"/>
          </a:solidFill>
          <a:latin typeface="+mn-lt"/>
          <a:ea typeface="+mn-lt"/>
          <a:cs typeface="+mn-lt"/>
        </a:defRPr>
      </a:lvl4pPr>
      <a:lvl5pPr marL="1828800" algn="l">
        <a:buNone/>
        <a:defRPr lang="cs-CZ" altLang="cs-CZ" sz="1800" noProof="0">
          <a:solidFill>
            <a:schemeClr val="tx1"/>
          </a:solidFill>
          <a:latin typeface="+mn-lt"/>
          <a:ea typeface="+mn-lt"/>
          <a:cs typeface="+mn-lt"/>
        </a:defRPr>
      </a:lvl5pPr>
      <a:lvl6pPr marL="2286000" algn="l">
        <a:buNone/>
        <a:defRPr lang="cs-CZ" altLang="cs-CZ" sz="1800" noProof="0">
          <a:solidFill>
            <a:schemeClr val="tx1"/>
          </a:solidFill>
          <a:latin typeface="+mn-lt"/>
          <a:ea typeface="+mn-lt"/>
          <a:cs typeface="+mn-lt"/>
        </a:defRPr>
      </a:lvl6pPr>
      <a:lvl7pPr marL="2743200" algn="l">
        <a:buNone/>
        <a:defRPr lang="cs-CZ" altLang="cs-CZ" sz="1800" noProof="0">
          <a:solidFill>
            <a:schemeClr val="tx1"/>
          </a:solidFill>
          <a:latin typeface="+mn-lt"/>
          <a:ea typeface="+mn-lt"/>
          <a:cs typeface="+mn-lt"/>
        </a:defRPr>
      </a:lvl7pPr>
      <a:lvl8pPr marL="3200400" algn="l">
        <a:buNone/>
        <a:defRPr lang="cs-CZ" altLang="cs-CZ" sz="1800" noProof="0">
          <a:solidFill>
            <a:schemeClr val="tx1"/>
          </a:solidFill>
          <a:latin typeface="+mn-lt"/>
          <a:ea typeface="+mn-lt"/>
          <a:cs typeface="+mn-lt"/>
        </a:defRPr>
      </a:lvl8pPr>
      <a:lvl9pPr marL="3657600" algn="l">
        <a:buNone/>
        <a:defRPr lang="cs-CZ" altLang="cs-CZ" sz="1800" noProof="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A3B"/>
        </a:solidFill>
        <a:effectLst/>
      </p:bgPr>
    </p:bg>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A80D37E7-A667-4A27-9F76-53B0E2C98E75}"/>
              </a:ext>
            </a:extLst>
          </p:cNvPr>
          <p:cNvSpPr>
            <a:spLocks noGrp="1"/>
          </p:cNvSpPr>
          <p:nvPr/>
        </p:nvSpPr>
        <p:spPr>
          <a:xfrm>
            <a:off x="838200" y="2238375"/>
            <a:ext cx="13335000" cy="2190750"/>
          </a:xfrm>
          <a:prstGeom prst="rect">
            <a:avLst/>
          </a:prstGeom>
          <a:noFill/>
          <a:ln w="0">
            <a:noFill/>
          </a:ln>
        </p:spPr>
        <p:txBody>
          <a:bodyPr wrap="square" lIns="0" tIns="0" rIns="0" bIns="0" anchor="t">
            <a:noAutofit/>
          </a:bodyPr>
          <a:lstStyle/>
          <a:p>
            <a:pPr>
              <a:defRPr lang="cs-CZ" altLang="cs-CZ" sz="5700" b="1" noProof="0">
                <a:solidFill>
                  <a:srgbClr val="FFFFFF"/>
                </a:solidFill>
                <a:latin typeface="Arial"/>
                <a:ea typeface="Arial"/>
                <a:cs typeface="Arial"/>
              </a:defRPr>
            </a:pPr>
            <a:r>
              <a:rPr lang="cs-CZ" altLang="cs-CZ" sz="5700" b="1" noProof="0">
                <a:solidFill>
                  <a:srgbClr val="FFFFFF"/>
                </a:solidFill>
                <a:latin typeface="Arial"/>
                <a:ea typeface="Arial"/>
                <a:cs typeface="Arial"/>
              </a:rPr>
              <a:t>Od psychologické</a:t>
            </a:r>
            <a:endParaRPr lang="cs-CZ" altLang="cs-CZ" noProof="0"/>
          </a:p>
          <a:p>
            <a:pPr>
              <a:defRPr lang="cs-CZ" altLang="cs-CZ" sz="5700" b="1" noProof="0">
                <a:solidFill>
                  <a:srgbClr val="FFFFFF"/>
                </a:solidFill>
                <a:latin typeface="Arial"/>
                <a:ea typeface="Arial"/>
                <a:cs typeface="Arial"/>
              </a:defRPr>
            </a:pPr>
            <a:r>
              <a:rPr lang="cs-CZ" altLang="cs-CZ" sz="5700" b="1" noProof="0">
                <a:solidFill>
                  <a:srgbClr val="FFFFFF"/>
                </a:solidFill>
                <a:latin typeface="Arial"/>
                <a:ea typeface="Arial"/>
                <a:cs typeface="Arial"/>
              </a:rPr>
              <a:t>otázky k datům</a:t>
            </a:r>
            <a:endParaRPr lang="cs-CZ" altLang="cs-CZ" noProof="0"/>
          </a:p>
        </p:txBody>
      </p:sp>
      <p:sp>
        <p:nvSpPr>
          <p:cNvPr id="2" name="text-1">
            <a:extLst>
              <a:ext uri="{FF2B5EF4-FFF2-40B4-BE49-F238E27FC236}">
                <a16:creationId xmlns:a16="http://schemas.microsoft.com/office/drawing/2014/main" id="{EC8A4755-8EDA-4313-966C-13F73171DCD4}"/>
              </a:ext>
            </a:extLst>
          </p:cNvPr>
          <p:cNvSpPr>
            <a:spLocks noGrp="1"/>
          </p:cNvSpPr>
          <p:nvPr/>
        </p:nvSpPr>
        <p:spPr>
          <a:xfrm>
            <a:off x="838200" y="4857750"/>
            <a:ext cx="13335000" cy="619125"/>
          </a:xfrm>
          <a:prstGeom prst="rect">
            <a:avLst/>
          </a:prstGeom>
          <a:noFill/>
          <a:ln w="0">
            <a:noFill/>
          </a:ln>
        </p:spPr>
        <p:txBody>
          <a:bodyPr wrap="square" lIns="0" tIns="0" rIns="0" bIns="0" anchor="t">
            <a:noAutofit/>
          </a:bodyPr>
          <a:lstStyle/>
          <a:p>
            <a:pPr>
              <a:defRPr lang="cs-CZ" altLang="cs-CZ" sz="2700" b="0" noProof="0">
                <a:solidFill>
                  <a:srgbClr val="C9DFE6"/>
                </a:solidFill>
                <a:latin typeface="Arial"/>
                <a:ea typeface="Arial"/>
                <a:cs typeface="Arial"/>
              </a:defRPr>
            </a:pPr>
            <a:r>
              <a:rPr lang="cs-CZ" altLang="cs-CZ" sz="2700" b="0" noProof="0">
                <a:solidFill>
                  <a:srgbClr val="C9DFE6"/>
                </a:solidFill>
                <a:latin typeface="Arial"/>
                <a:ea typeface="Arial"/>
                <a:cs typeface="Arial"/>
              </a:rPr>
              <a:t>Základy statistiky pro psychology 1</a:t>
            </a:r>
            <a:endParaRPr lang="cs-CZ" altLang="cs-CZ" noProof="0"/>
          </a:p>
        </p:txBody>
      </p:sp>
      <p:sp>
        <p:nvSpPr>
          <p:cNvPr id="3" name="text-2">
            <a:extLst>
              <a:ext uri="{FF2B5EF4-FFF2-40B4-BE49-F238E27FC236}">
                <a16:creationId xmlns:a16="http://schemas.microsoft.com/office/drawing/2014/main" id="{1E1772DD-8038-43EB-848B-FB74CAB24F38}"/>
              </a:ext>
            </a:extLst>
          </p:cNvPr>
          <p:cNvSpPr>
            <a:spLocks noGrp="1"/>
          </p:cNvSpPr>
          <p:nvPr/>
        </p:nvSpPr>
        <p:spPr>
          <a:xfrm>
            <a:off x="838200" y="5734050"/>
            <a:ext cx="13335000" cy="476250"/>
          </a:xfrm>
          <a:prstGeom prst="rect">
            <a:avLst/>
          </a:prstGeom>
          <a:noFill/>
          <a:ln w="0">
            <a:noFill/>
          </a:ln>
        </p:spPr>
        <p:txBody>
          <a:bodyPr wrap="square" lIns="0" tIns="0" rIns="0" bIns="0" anchor="t">
            <a:noAutofit/>
          </a:bodyPr>
          <a:lstStyle/>
          <a:p>
            <a:pPr>
              <a:defRPr lang="cs-CZ" altLang="cs-CZ" sz="2250" b="0" noProof="0">
                <a:solidFill>
                  <a:srgbClr val="C9DFE6"/>
                </a:solidFill>
                <a:latin typeface="Arial"/>
                <a:ea typeface="Arial"/>
                <a:cs typeface="Arial"/>
              </a:defRPr>
            </a:pPr>
            <a:r>
              <a:rPr lang="cs-CZ" altLang="cs-CZ" sz="2250" b="0" noProof="0">
                <a:solidFill>
                  <a:srgbClr val="C9DFE6"/>
                </a:solidFill>
                <a:latin typeface="Arial"/>
                <a:ea typeface="Arial"/>
                <a:cs typeface="Arial"/>
              </a:rPr>
              <a:t>Kapitola 1</a:t>
            </a:r>
            <a:endParaRPr lang="cs-CZ" altLang="cs-CZ" noProof="0"/>
          </a:p>
        </p:txBody>
      </p:sp>
    </p:spTree>
    <p:extLst>
      <p:ext uri="{BB962C8B-B14F-4D97-AF65-F5344CB8AC3E}">
        <p14:creationId xmlns:p14="http://schemas.microsoft.com/office/powerpoint/2010/main" val="761340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E2679C03-E988-445D-8957-9C867CA65384}"/>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Psychologická otázka a statistika</a:t>
            </a:r>
            <a:endParaRPr lang="cs-CZ" altLang="cs-CZ" noProof="0"/>
          </a:p>
        </p:txBody>
      </p:sp>
      <p:sp>
        <p:nvSpPr>
          <p:cNvPr id="2" name="text-1">
            <a:extLst>
              <a:ext uri="{FF2B5EF4-FFF2-40B4-BE49-F238E27FC236}">
                <a16:creationId xmlns:a16="http://schemas.microsoft.com/office/drawing/2014/main" id="{5E04BB98-52D5-4CC0-A41D-3B797C9B07BC}"/>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02</a:t>
            </a:r>
            <a:endParaRPr lang="cs-CZ" altLang="cs-CZ" noProof="0"/>
          </a:p>
        </p:txBody>
      </p:sp>
      <p:sp>
        <p:nvSpPr>
          <p:cNvPr id="3" name="text-2">
            <a:extLst>
              <a:ext uri="{FF2B5EF4-FFF2-40B4-BE49-F238E27FC236}">
                <a16:creationId xmlns:a16="http://schemas.microsoft.com/office/drawing/2014/main" id="{45FA57F6-8C0B-4AE5-B462-17098EDA718A}"/>
              </a:ext>
            </a:extLst>
          </p:cNvPr>
          <p:cNvSpPr>
            <a:spLocks noGrp="1"/>
          </p:cNvSpPr>
          <p:nvPr/>
        </p:nvSpPr>
        <p:spPr>
          <a:xfrm>
            <a:off x="838200" y="1981200"/>
            <a:ext cx="13563600" cy="762000"/>
          </a:xfrm>
          <a:prstGeom prst="rect">
            <a:avLst/>
          </a:prstGeom>
          <a:noFill/>
          <a:ln w="0">
            <a:noFill/>
          </a:ln>
        </p:spPr>
        <p:txBody>
          <a:bodyPr wrap="square" lIns="0" tIns="0" rIns="0" bIns="0" anchor="t">
            <a:noAutofit/>
          </a:bodyPr>
          <a:lstStyle/>
          <a:p>
            <a:pPr>
              <a:defRPr lang="cs-CZ" altLang="cs-CZ" sz="3225" b="1" noProof="0">
                <a:solidFill>
                  <a:srgbClr val="176A83"/>
                </a:solidFill>
                <a:latin typeface="Arial"/>
                <a:ea typeface="Arial"/>
                <a:cs typeface="Arial"/>
              </a:defRPr>
            </a:pPr>
            <a:r>
              <a:rPr lang="cs-CZ" altLang="cs-CZ" sz="3225" b="1" noProof="0">
                <a:solidFill>
                  <a:srgbClr val="176A83"/>
                </a:solidFill>
                <a:latin typeface="Arial"/>
                <a:ea typeface="Arial"/>
                <a:cs typeface="Arial"/>
              </a:rPr>
              <a:t>„Po krátkém spánku si nic nepamatuji.“</a:t>
            </a:r>
            <a:endParaRPr lang="cs-CZ" altLang="cs-CZ" noProof="0"/>
          </a:p>
        </p:txBody>
      </p:sp>
      <p:sp>
        <p:nvSpPr>
          <p:cNvPr id="4" name="text-3">
            <a:extLst>
              <a:ext uri="{FF2B5EF4-FFF2-40B4-BE49-F238E27FC236}">
                <a16:creationId xmlns:a16="http://schemas.microsoft.com/office/drawing/2014/main" id="{07895E5F-1E94-4D20-AE62-22DF9279A7D0}"/>
              </a:ext>
            </a:extLst>
          </p:cNvPr>
          <p:cNvSpPr>
            <a:spLocks noGrp="1"/>
          </p:cNvSpPr>
          <p:nvPr/>
        </p:nvSpPr>
        <p:spPr>
          <a:xfrm>
            <a:off x="838200" y="3028950"/>
            <a:ext cx="13563600" cy="952500"/>
          </a:xfrm>
          <a:prstGeom prst="rect">
            <a:avLst/>
          </a:prstGeom>
          <a:noFill/>
          <a:ln w="0">
            <a:noFill/>
          </a:ln>
        </p:spPr>
        <p:txBody>
          <a:bodyPr wrap="square" lIns="0" tIns="0" rIns="0" bIns="0" anchor="t">
            <a:noAutofit/>
          </a:bodyPr>
          <a:lstStyle/>
          <a:p>
            <a:pPr>
              <a:defRPr lang="cs-CZ" altLang="cs-CZ" sz="2625" b="0" noProof="0">
                <a:solidFill>
                  <a:srgbClr val="142A3B"/>
                </a:solidFill>
                <a:latin typeface="Arial"/>
                <a:ea typeface="Arial"/>
                <a:cs typeface="Arial"/>
              </a:defRPr>
            </a:pPr>
            <a:r>
              <a:rPr lang="cs-CZ" altLang="cs-CZ" sz="2625" b="0" noProof="0">
                <a:solidFill>
                  <a:srgbClr val="142A3B"/>
                </a:solidFill>
                <a:latin typeface="Arial"/>
                <a:ea typeface="Arial"/>
                <a:cs typeface="Arial"/>
              </a:rPr>
              <a:t>Co znamená krátký spánek? Kterou stránku paměti posuzujeme a jak?</a:t>
            </a:r>
            <a:endParaRPr lang="cs-CZ" altLang="cs-CZ" noProof="0"/>
          </a:p>
        </p:txBody>
      </p:sp>
      <p:sp>
        <p:nvSpPr>
          <p:cNvPr id="5" name="text-4">
            <a:extLst>
              <a:ext uri="{FF2B5EF4-FFF2-40B4-BE49-F238E27FC236}">
                <a16:creationId xmlns:a16="http://schemas.microsoft.com/office/drawing/2014/main" id="{5B1AB3AF-8082-4DD2-82D3-90E4A2E429C5}"/>
              </a:ext>
            </a:extLst>
          </p:cNvPr>
          <p:cNvSpPr>
            <a:spLocks noGrp="1"/>
          </p:cNvSpPr>
          <p:nvPr/>
        </p:nvSpPr>
        <p:spPr>
          <a:xfrm>
            <a:off x="838200" y="4429125"/>
            <a:ext cx="13563600" cy="1428750"/>
          </a:xfrm>
          <a:prstGeom prst="rect">
            <a:avLst/>
          </a:prstGeom>
          <a:noFill/>
          <a:ln w="0">
            <a:noFill/>
          </a:ln>
        </p:spPr>
        <p:txBody>
          <a:bodyPr wrap="square" lIns="0" tIns="0" rIns="0" bIns="0" anchor="t">
            <a:noAutofit/>
          </a:bodyPr>
          <a:lstStyle/>
          <a:p>
            <a:pPr>
              <a:defRPr lang="cs-CZ" altLang="cs-CZ" sz="3150" b="1" noProof="0">
                <a:solidFill>
                  <a:srgbClr val="142A3B"/>
                </a:solidFill>
                <a:latin typeface="Arial"/>
                <a:ea typeface="Arial"/>
                <a:cs typeface="Arial"/>
              </a:defRPr>
            </a:pPr>
            <a:r>
              <a:rPr lang="cs-CZ" altLang="cs-CZ" sz="3150" b="1" noProof="0">
                <a:solidFill>
                  <a:srgbClr val="142A3B"/>
                </a:solidFill>
                <a:latin typeface="Arial"/>
                <a:ea typeface="Arial"/>
                <a:cs typeface="Arial"/>
              </a:rPr>
              <a:t>Souvisí uvedená doba spánku předchozí noci s počtem vybavených slov ze seznamu 12 slov?</a:t>
            </a:r>
            <a:endParaRPr lang="cs-CZ" altLang="cs-CZ" noProof="0"/>
          </a:p>
        </p:txBody>
      </p:sp>
      <p:sp>
        <p:nvSpPr>
          <p:cNvPr id="6" name="text-5">
            <a:extLst>
              <a:ext uri="{FF2B5EF4-FFF2-40B4-BE49-F238E27FC236}">
                <a16:creationId xmlns:a16="http://schemas.microsoft.com/office/drawing/2014/main" id="{1DC67F69-FE3C-4373-B8F3-FCDF2818F51B}"/>
              </a:ext>
            </a:extLst>
          </p:cNvPr>
          <p:cNvSpPr>
            <a:spLocks noGrp="1"/>
          </p:cNvSpPr>
          <p:nvPr/>
        </p:nvSpPr>
        <p:spPr>
          <a:xfrm>
            <a:off x="838200" y="6619875"/>
            <a:ext cx="13563600" cy="1047750"/>
          </a:xfrm>
          <a:prstGeom prst="rect">
            <a:avLst/>
          </a:prstGeom>
          <a:noFill/>
          <a:ln w="0">
            <a:noFill/>
          </a:ln>
        </p:spPr>
        <p:txBody>
          <a:bodyPr wrap="square" lIns="0" tIns="0" rIns="0" bIns="0" anchor="t">
            <a:noAutofit/>
          </a:bodyPr>
          <a:lstStyle/>
          <a:p>
            <a:pPr>
              <a:defRPr lang="cs-CZ" altLang="cs-CZ" sz="2550" b="1" noProof="0">
                <a:solidFill>
                  <a:srgbClr val="176A83"/>
                </a:solidFill>
                <a:latin typeface="Arial"/>
                <a:ea typeface="Arial"/>
                <a:cs typeface="Arial"/>
              </a:defRPr>
            </a:pPr>
            <a:r>
              <a:rPr lang="cs-CZ" altLang="cs-CZ" sz="2550" b="1" noProof="0">
                <a:solidFill>
                  <a:srgbClr val="176A83"/>
                </a:solidFill>
                <a:latin typeface="Arial"/>
                <a:ea typeface="Arial"/>
                <a:cs typeface="Arial"/>
              </a:rPr>
              <a:t>Statistika propojuje otázku, data a závěr s nejistotou.</a:t>
            </a:r>
            <a:endParaRPr lang="cs-CZ" altLang="cs-CZ" noProof="0"/>
          </a:p>
        </p:txBody>
      </p:sp>
    </p:spTree>
    <p:extLst>
      <p:ext uri="{BB962C8B-B14F-4D97-AF65-F5344CB8AC3E}">
        <p14:creationId xmlns:p14="http://schemas.microsoft.com/office/powerpoint/2010/main" val="471662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54DA9D19-90BA-47EC-A55D-272DC450F56D}"/>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Případ, proměnná a hodnota</a:t>
            </a:r>
            <a:endParaRPr lang="cs-CZ" altLang="cs-CZ" noProof="0"/>
          </a:p>
        </p:txBody>
      </p:sp>
      <p:sp>
        <p:nvSpPr>
          <p:cNvPr id="2" name="text-1">
            <a:extLst>
              <a:ext uri="{FF2B5EF4-FFF2-40B4-BE49-F238E27FC236}">
                <a16:creationId xmlns:a16="http://schemas.microsoft.com/office/drawing/2014/main" id="{5520EDF1-F72A-42AA-9C5A-916BB7CD90A0}"/>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03</a:t>
            </a:r>
            <a:endParaRPr lang="cs-CZ" altLang="cs-CZ" noProof="0"/>
          </a:p>
        </p:txBody>
      </p:sp>
      <p:graphicFrame>
        <p:nvGraphicFramePr>
          <p:cNvPr id="11" name="Tabulka 10"/>
          <p:cNvGraphicFramePr/>
          <p:nvPr>
            <p:extLst>
              <p:ext uri="{D42A27DB-BD31-4B8C-83A1-F6EECF244321}">
                <p14:modId xmlns:p14="http://schemas.microsoft.com/office/powerpoint/2010/main" val="3591504269"/>
              </p:ext>
            </p:extLst>
          </p:nvPr>
        </p:nvGraphicFramePr>
        <p:xfrm>
          <a:off x="838200" y="2238375"/>
          <a:ext cx="13563600" cy="2095500"/>
        </p:xfrm>
        <a:graphic>
          <a:graphicData uri="http://schemas.openxmlformats.org/drawingml/2006/table">
            <a:tbl>
              <a:tblPr/>
              <a:tblGrid>
                <a:gridCol w="438150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gridCol w="3181350">
                  <a:extLst>
                    <a:ext uri="{9D8B030D-6E8A-4147-A177-3AD203B41FA5}">
                      <a16:colId xmlns:a16="http://schemas.microsoft.com/office/drawing/2014/main" val="20003"/>
                    </a:ext>
                  </a:extLst>
                </a:gridCol>
              </a:tblGrid>
              <a:tr h="1047750">
                <a:tc>
                  <a:txBody>
                    <a:bodyPr/>
                    <a:lstStyle/>
                    <a:p>
                      <a:pPr algn="l">
                        <a:defRPr lang="cs-CZ" altLang="cs-CZ" noProof="0"/>
                      </a:pPr>
                      <a:r>
                        <a:rPr lang="cs-CZ" altLang="cs-CZ" sz="2475" b="1" noProof="0">
                          <a:solidFill>
                            <a:srgbClr val="FFFFFF"/>
                          </a:solidFill>
                          <a:latin typeface="Arial"/>
                          <a:ea typeface="Arial"/>
                          <a:cs typeface="Arial"/>
                        </a:rPr>
                        <a:t>Případ</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475" b="1" noProof="0">
                          <a:solidFill>
                            <a:srgbClr val="FFFFFF"/>
                          </a:solidFill>
                          <a:latin typeface="Arial"/>
                          <a:ea typeface="Arial"/>
                          <a:cs typeface="Arial"/>
                        </a:rPr>
                        <a:t>Spánek (h)</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475" b="1" noProof="0">
                          <a:solidFill>
                            <a:srgbClr val="FFFFFF"/>
                          </a:solidFill>
                          <a:latin typeface="Arial"/>
                          <a:ea typeface="Arial"/>
                          <a:cs typeface="Arial"/>
                        </a:rPr>
                        <a:t>Vybavená slova</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475" b="1" noProof="0">
                          <a:solidFill>
                            <a:srgbClr val="FFFFFF"/>
                          </a:solidFill>
                          <a:latin typeface="Arial"/>
                          <a:ea typeface="Arial"/>
                          <a:cs typeface="Arial"/>
                        </a:rPr>
                        <a:t>Část dne</a:t>
                      </a:r>
                      <a:endParaRPr lang="cs-CZ" altLang="cs-CZ" noProof="0"/>
                    </a:p>
                  </a:txBody>
                  <a:tcPr marL="171450" marR="171450" marT="142875" marB="114300" anchor="ctr">
                    <a:solidFill>
                      <a:srgbClr val="142A3B"/>
                    </a:solidFill>
                  </a:tcPr>
                </a:tc>
                <a:extLst>
                  <a:ext uri="{0D108BD9-81ED-4DB2-BD59-A6C34878D82A}">
                    <a16:rowId xmlns:a16="http://schemas.microsoft.com/office/drawing/2014/main" val="10000"/>
                  </a:ext>
                </a:extLst>
              </a:tr>
              <a:tr h="1047750">
                <a:tc>
                  <a:txBody>
                    <a:bodyPr/>
                    <a:lstStyle/>
                    <a:p>
                      <a:pPr algn="l">
                        <a:defRPr lang="cs-CZ" altLang="cs-CZ" noProof="0"/>
                      </a:pPr>
                      <a:r>
                        <a:rPr lang="cs-CZ" altLang="cs-CZ" sz="2475" b="0" noProof="0">
                          <a:solidFill>
                            <a:srgbClr val="142A3B"/>
                          </a:solidFill>
                          <a:latin typeface="Arial"/>
                          <a:ea typeface="Arial"/>
                          <a:cs typeface="Arial"/>
                        </a:rPr>
                        <a:t>P01 při návštěvě</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475" b="0" noProof="0">
                          <a:solidFill>
                            <a:srgbClr val="142A3B"/>
                          </a:solidFill>
                          <a:latin typeface="Arial"/>
                          <a:ea typeface="Arial"/>
                          <a:cs typeface="Arial"/>
                        </a:rPr>
                        <a:t>6</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475" b="0" noProof="0">
                          <a:solidFill>
                            <a:srgbClr val="142A3B"/>
                          </a:solidFill>
                          <a:latin typeface="Arial"/>
                          <a:ea typeface="Arial"/>
                          <a:cs typeface="Arial"/>
                        </a:rPr>
                        <a:t>5</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475" b="0" noProof="0">
                          <a:solidFill>
                            <a:srgbClr val="142A3B"/>
                          </a:solidFill>
                          <a:latin typeface="Arial"/>
                          <a:ea typeface="Arial"/>
                          <a:cs typeface="Arial"/>
                        </a:rPr>
                        <a:t>dopoledne</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1"/>
                  </a:ext>
                </a:extLst>
              </a:tr>
            </a:tbl>
          </a:graphicData>
        </a:graphic>
      </p:graphicFrame>
      <p:sp>
        <p:nvSpPr>
          <p:cNvPr id="4" name="text-2">
            <a:extLst>
              <a:ext uri="{FF2B5EF4-FFF2-40B4-BE49-F238E27FC236}">
                <a16:creationId xmlns:a16="http://schemas.microsoft.com/office/drawing/2014/main" id="{B5BED0C2-99E5-4E49-A01E-8F8DC48F79E1}"/>
              </a:ext>
            </a:extLst>
          </p:cNvPr>
          <p:cNvSpPr>
            <a:spLocks noGrp="1"/>
          </p:cNvSpPr>
          <p:nvPr/>
        </p:nvSpPr>
        <p:spPr>
          <a:xfrm>
            <a:off x="838200" y="4781550"/>
            <a:ext cx="6191250" cy="647700"/>
          </a:xfrm>
          <a:prstGeom prst="rect">
            <a:avLst/>
          </a:prstGeom>
          <a:noFill/>
          <a:ln w="0">
            <a:noFill/>
          </a:ln>
        </p:spPr>
        <p:txBody>
          <a:bodyPr wrap="square" lIns="0" tIns="0" rIns="0" bIns="0" anchor="t">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Proměnná</a:t>
            </a:r>
            <a:endParaRPr lang="cs-CZ" altLang="cs-CZ" noProof="0"/>
          </a:p>
        </p:txBody>
      </p:sp>
      <p:sp>
        <p:nvSpPr>
          <p:cNvPr id="5" name="text-3">
            <a:extLst>
              <a:ext uri="{FF2B5EF4-FFF2-40B4-BE49-F238E27FC236}">
                <a16:creationId xmlns:a16="http://schemas.microsoft.com/office/drawing/2014/main" id="{0E4E3EFE-FE81-4D81-B29E-088C19B78418}"/>
              </a:ext>
            </a:extLst>
          </p:cNvPr>
          <p:cNvSpPr>
            <a:spLocks noGrp="1"/>
          </p:cNvSpPr>
          <p:nvPr/>
        </p:nvSpPr>
        <p:spPr>
          <a:xfrm>
            <a:off x="838200" y="5581650"/>
            <a:ext cx="6191250" cy="1143000"/>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Počet správně vybavených slov.</a:t>
            </a:r>
            <a:endParaRPr lang="cs-CZ" altLang="cs-CZ" noProof="0"/>
          </a:p>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Možné hodnoty: 0 až 12.</a:t>
            </a:r>
            <a:endParaRPr lang="cs-CZ" altLang="cs-CZ" noProof="0"/>
          </a:p>
        </p:txBody>
      </p:sp>
      <p:sp>
        <p:nvSpPr>
          <p:cNvPr id="6" name="text-4">
            <a:extLst>
              <a:ext uri="{FF2B5EF4-FFF2-40B4-BE49-F238E27FC236}">
                <a16:creationId xmlns:a16="http://schemas.microsoft.com/office/drawing/2014/main" id="{B5A3601F-7E69-498F-B03F-E07637460DD6}"/>
              </a:ext>
            </a:extLst>
          </p:cNvPr>
          <p:cNvSpPr>
            <a:spLocks noGrp="1"/>
          </p:cNvSpPr>
          <p:nvPr/>
        </p:nvSpPr>
        <p:spPr>
          <a:xfrm>
            <a:off x="8020050" y="4781550"/>
            <a:ext cx="6381750" cy="647700"/>
          </a:xfrm>
          <a:prstGeom prst="rect">
            <a:avLst/>
          </a:prstGeom>
          <a:noFill/>
          <a:ln w="0">
            <a:noFill/>
          </a:ln>
        </p:spPr>
        <p:txBody>
          <a:bodyPr wrap="square" lIns="0" tIns="0" rIns="0" bIns="0" anchor="t">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Hodnota</a:t>
            </a:r>
            <a:endParaRPr lang="cs-CZ" altLang="cs-CZ" noProof="0"/>
          </a:p>
        </p:txBody>
      </p:sp>
      <p:sp>
        <p:nvSpPr>
          <p:cNvPr id="7" name="text-5">
            <a:extLst>
              <a:ext uri="{FF2B5EF4-FFF2-40B4-BE49-F238E27FC236}">
                <a16:creationId xmlns:a16="http://schemas.microsoft.com/office/drawing/2014/main" id="{2929919E-48E5-4C49-89A4-A14ECA900289}"/>
              </a:ext>
            </a:extLst>
          </p:cNvPr>
          <p:cNvSpPr>
            <a:spLocks noGrp="1"/>
          </p:cNvSpPr>
          <p:nvPr/>
        </p:nvSpPr>
        <p:spPr>
          <a:xfrm>
            <a:off x="8020050" y="5581650"/>
            <a:ext cx="6381750" cy="1143000"/>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U P01 jsme zaznamenali 5 slov.</a:t>
            </a:r>
            <a:endParaRPr lang="cs-CZ" altLang="cs-CZ" noProof="0"/>
          </a:p>
        </p:txBody>
      </p:sp>
      <p:sp>
        <p:nvSpPr>
          <p:cNvPr id="8" name="text-6">
            <a:extLst>
              <a:ext uri="{FF2B5EF4-FFF2-40B4-BE49-F238E27FC236}">
                <a16:creationId xmlns:a16="http://schemas.microsoft.com/office/drawing/2014/main" id="{8836A468-5123-4F17-A965-A9EB2170D040}"/>
              </a:ext>
            </a:extLst>
          </p:cNvPr>
          <p:cNvSpPr>
            <a:spLocks noGrp="1"/>
          </p:cNvSpPr>
          <p:nvPr/>
        </p:nvSpPr>
        <p:spPr>
          <a:xfrm>
            <a:off x="838200" y="6810375"/>
            <a:ext cx="13563600" cy="1047750"/>
          </a:xfrm>
          <a:prstGeom prst="rect">
            <a:avLst/>
          </a:prstGeom>
          <a:noFill/>
          <a:ln w="0">
            <a:noFill/>
          </a:ln>
        </p:spPr>
        <p:txBody>
          <a:bodyPr wrap="square" lIns="0" tIns="0" rIns="0" bIns="0" anchor="t">
            <a:noAutofit/>
          </a:bodyPr>
          <a:lstStyle/>
          <a:p>
            <a:pPr>
              <a:defRPr lang="cs-CZ" altLang="cs-CZ" sz="2400" b="1" noProof="0">
                <a:solidFill>
                  <a:srgbClr val="176A83"/>
                </a:solidFill>
                <a:latin typeface="Arial"/>
                <a:ea typeface="Arial"/>
                <a:cs typeface="Arial"/>
              </a:defRPr>
            </a:pPr>
            <a:r>
              <a:rPr lang="cs-CZ" altLang="cs-CZ" sz="2400" b="1" noProof="0">
                <a:solidFill>
                  <a:srgbClr val="176A83"/>
                </a:solidFill>
                <a:latin typeface="Arial"/>
                <a:ea typeface="Arial"/>
                <a:cs typeface="Arial"/>
              </a:rPr>
              <a:t>Ročník je konstantou jen v souboru, v němž je stále stejný.</a:t>
            </a:r>
            <a:endParaRPr lang="cs-CZ" altLang="cs-CZ" noProof="0"/>
          </a:p>
        </p:txBody>
      </p:sp>
    </p:spTree>
    <p:extLst>
      <p:ext uri="{BB962C8B-B14F-4D97-AF65-F5344CB8AC3E}">
        <p14:creationId xmlns:p14="http://schemas.microsoft.com/office/powerpoint/2010/main" val="1040203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E2F82565-E794-4C16-80F0-2C24B3074025}"/>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Populace a výběr</a:t>
            </a:r>
            <a:endParaRPr lang="cs-CZ" altLang="cs-CZ" noProof="0"/>
          </a:p>
        </p:txBody>
      </p:sp>
      <p:sp>
        <p:nvSpPr>
          <p:cNvPr id="2" name="text-1">
            <a:extLst>
              <a:ext uri="{FF2B5EF4-FFF2-40B4-BE49-F238E27FC236}">
                <a16:creationId xmlns:a16="http://schemas.microsoft.com/office/drawing/2014/main" id="{5E7692E6-AD70-433F-8DAC-79E690BE6B7A}"/>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04</a:t>
            </a:r>
            <a:endParaRPr lang="cs-CZ" altLang="cs-CZ" noProof="0"/>
          </a:p>
        </p:txBody>
      </p:sp>
      <p:sp>
        <p:nvSpPr>
          <p:cNvPr id="3" name="text-2">
            <a:extLst>
              <a:ext uri="{FF2B5EF4-FFF2-40B4-BE49-F238E27FC236}">
                <a16:creationId xmlns:a16="http://schemas.microsoft.com/office/drawing/2014/main" id="{5915DC0B-16DF-40F2-A6B9-0A7192D9DB81}"/>
              </a:ext>
            </a:extLst>
          </p:cNvPr>
          <p:cNvSpPr>
            <a:spLocks noGrp="1"/>
          </p:cNvSpPr>
          <p:nvPr/>
        </p:nvSpPr>
        <p:spPr>
          <a:xfrm>
            <a:off x="838200" y="2095500"/>
            <a:ext cx="6191250" cy="647700"/>
          </a:xfrm>
          <a:prstGeom prst="rect">
            <a:avLst/>
          </a:prstGeom>
          <a:noFill/>
          <a:ln w="0">
            <a:noFill/>
          </a:ln>
        </p:spPr>
        <p:txBody>
          <a:bodyPr wrap="square" lIns="0" tIns="0" rIns="0" bIns="0" anchor="t">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Populace (</a:t>
            </a:r>
            <a:r>
              <a:rPr lang="cs-CZ" altLang="cs-CZ" sz="2850" b="1" noProof="0" err="1">
                <a:solidFill>
                  <a:srgbClr val="176A83"/>
                </a:solidFill>
                <a:latin typeface="Arial"/>
                <a:ea typeface="Arial"/>
                <a:cs typeface="Arial"/>
              </a:rPr>
              <a:t>population</a:t>
            </a:r>
            <a:r>
              <a:rPr lang="cs-CZ" altLang="cs-CZ" sz="2850" b="1" noProof="0">
                <a:solidFill>
                  <a:srgbClr val="176A83"/>
                </a:solidFill>
                <a:latin typeface="Arial"/>
                <a:ea typeface="Arial"/>
                <a:cs typeface="Arial"/>
              </a:rPr>
              <a:t>)</a:t>
            </a:r>
            <a:endParaRPr lang="cs-CZ" altLang="cs-CZ" noProof="0"/>
          </a:p>
        </p:txBody>
      </p:sp>
      <p:sp>
        <p:nvSpPr>
          <p:cNvPr id="4" name="text-3">
            <a:extLst>
              <a:ext uri="{FF2B5EF4-FFF2-40B4-BE49-F238E27FC236}">
                <a16:creationId xmlns:a16="http://schemas.microsoft.com/office/drawing/2014/main" id="{38A090F4-47EB-4A80-A95C-ED0FC2FC0967}"/>
              </a:ext>
            </a:extLst>
          </p:cNvPr>
          <p:cNvSpPr>
            <a:spLocks noGrp="1"/>
          </p:cNvSpPr>
          <p:nvPr/>
        </p:nvSpPr>
        <p:spPr>
          <a:xfrm>
            <a:off x="838200" y="2895600"/>
            <a:ext cx="6191250" cy="1905000"/>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Všichni bakalářští studenti jedné fakulty v daném akademickém roce.</a:t>
            </a:r>
            <a:endParaRPr lang="cs-CZ" altLang="cs-CZ" noProof="0"/>
          </a:p>
        </p:txBody>
      </p:sp>
      <p:sp>
        <p:nvSpPr>
          <p:cNvPr id="5" name="text-4">
            <a:extLst>
              <a:ext uri="{FF2B5EF4-FFF2-40B4-BE49-F238E27FC236}">
                <a16:creationId xmlns:a16="http://schemas.microsoft.com/office/drawing/2014/main" id="{AA59E80B-26F3-47D0-B0C4-E698A8BCC38E}"/>
              </a:ext>
            </a:extLst>
          </p:cNvPr>
          <p:cNvSpPr>
            <a:spLocks noGrp="1"/>
          </p:cNvSpPr>
          <p:nvPr/>
        </p:nvSpPr>
        <p:spPr>
          <a:xfrm>
            <a:off x="8020050" y="2095500"/>
            <a:ext cx="6381750" cy="647700"/>
          </a:xfrm>
          <a:prstGeom prst="rect">
            <a:avLst/>
          </a:prstGeom>
          <a:noFill/>
          <a:ln w="0">
            <a:noFill/>
          </a:ln>
        </p:spPr>
        <p:txBody>
          <a:bodyPr wrap="square" lIns="0" tIns="0" rIns="0" bIns="0" anchor="t">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Výběr (sample)</a:t>
            </a:r>
            <a:endParaRPr lang="cs-CZ" altLang="cs-CZ" noProof="0"/>
          </a:p>
        </p:txBody>
      </p:sp>
      <p:sp>
        <p:nvSpPr>
          <p:cNvPr id="6" name="text-5">
            <a:extLst>
              <a:ext uri="{FF2B5EF4-FFF2-40B4-BE49-F238E27FC236}">
                <a16:creationId xmlns:a16="http://schemas.microsoft.com/office/drawing/2014/main" id="{9C7E3648-72B5-49FE-B1A2-6CD7186942DF}"/>
              </a:ext>
            </a:extLst>
          </p:cNvPr>
          <p:cNvSpPr>
            <a:spLocks noGrp="1"/>
          </p:cNvSpPr>
          <p:nvPr/>
        </p:nvSpPr>
        <p:spPr>
          <a:xfrm>
            <a:off x="8020050" y="2895600"/>
            <a:ext cx="6381750" cy="1905000"/>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Účastníci z této populace, od nichž jsme získali údaje.</a:t>
            </a:r>
            <a:endParaRPr lang="cs-CZ" altLang="cs-CZ" noProof="0"/>
          </a:p>
        </p:txBody>
      </p:sp>
      <p:sp>
        <p:nvSpPr>
          <p:cNvPr id="7" name="text-6">
            <a:extLst>
              <a:ext uri="{FF2B5EF4-FFF2-40B4-BE49-F238E27FC236}">
                <a16:creationId xmlns:a16="http://schemas.microsoft.com/office/drawing/2014/main" id="{A3F7110B-73FF-4179-9E13-70DDAAB59B18}"/>
              </a:ext>
            </a:extLst>
          </p:cNvPr>
          <p:cNvSpPr>
            <a:spLocks noGrp="1"/>
          </p:cNvSpPr>
          <p:nvPr/>
        </p:nvSpPr>
        <p:spPr>
          <a:xfrm>
            <a:off x="838200" y="5000625"/>
            <a:ext cx="13563600" cy="685800"/>
          </a:xfrm>
          <a:prstGeom prst="rect">
            <a:avLst/>
          </a:prstGeom>
          <a:noFill/>
          <a:ln w="0">
            <a:noFill/>
          </a:ln>
        </p:spPr>
        <p:txBody>
          <a:bodyPr wrap="square" lIns="0" tIns="0" rIns="0" bIns="0" anchor="t">
            <a:noAutofit/>
          </a:bodyPr>
          <a:lstStyle/>
          <a:p>
            <a:pPr>
              <a:defRPr lang="cs-CZ" altLang="cs-CZ" sz="2700" b="1" noProof="0">
                <a:solidFill>
                  <a:srgbClr val="142A3B"/>
                </a:solidFill>
                <a:latin typeface="Arial"/>
                <a:ea typeface="Arial"/>
                <a:cs typeface="Arial"/>
              </a:defRPr>
            </a:pPr>
            <a:r>
              <a:rPr lang="cs-CZ" altLang="cs-CZ" sz="2700" b="1" noProof="0">
                <a:solidFill>
                  <a:srgbClr val="142A3B"/>
                </a:solidFill>
                <a:latin typeface="Arial"/>
                <a:ea typeface="Arial"/>
                <a:cs typeface="Arial"/>
              </a:rPr>
              <a:t>Máme data od všech studentů jednoho ročníku.</a:t>
            </a:r>
            <a:endParaRPr lang="cs-CZ" altLang="cs-CZ" noProof="0"/>
          </a:p>
        </p:txBody>
      </p:sp>
      <p:sp>
        <p:nvSpPr>
          <p:cNvPr id="8" name="text-7">
            <a:extLst>
              <a:ext uri="{FF2B5EF4-FFF2-40B4-BE49-F238E27FC236}">
                <a16:creationId xmlns:a16="http://schemas.microsoft.com/office/drawing/2014/main" id="{197A171D-4EB0-4915-83C9-C81D938EE905}"/>
              </a:ext>
            </a:extLst>
          </p:cNvPr>
          <p:cNvSpPr>
            <a:spLocks noGrp="1"/>
          </p:cNvSpPr>
          <p:nvPr/>
        </p:nvSpPr>
        <p:spPr>
          <a:xfrm>
            <a:off x="838200" y="5953125"/>
            <a:ext cx="13563600" cy="128587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Pro otázku na tento ročník: celá populace.</a:t>
            </a:r>
            <a:endParaRPr lang="cs-CZ" altLang="cs-CZ" noProof="0"/>
          </a:p>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Pro otázku na všechny studenty psychologie v Česku: výběr.</a:t>
            </a:r>
            <a:endParaRPr lang="cs-CZ" altLang="cs-CZ" noProof="0"/>
          </a:p>
        </p:txBody>
      </p:sp>
    </p:spTree>
    <p:extLst>
      <p:ext uri="{BB962C8B-B14F-4D97-AF65-F5344CB8AC3E}">
        <p14:creationId xmlns:p14="http://schemas.microsoft.com/office/powerpoint/2010/main" val="929465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3EC6A912-E876-4062-8C14-56186BEEB72F}"/>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Popis, zobecnění a příčina</a:t>
            </a:r>
            <a:endParaRPr lang="cs-CZ" altLang="cs-CZ" noProof="0"/>
          </a:p>
        </p:txBody>
      </p:sp>
      <p:sp>
        <p:nvSpPr>
          <p:cNvPr id="2" name="text-1">
            <a:extLst>
              <a:ext uri="{FF2B5EF4-FFF2-40B4-BE49-F238E27FC236}">
                <a16:creationId xmlns:a16="http://schemas.microsoft.com/office/drawing/2014/main" id="{82E4CD0F-B291-4C3B-9391-F9474D45A62E}"/>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05</a:t>
            </a:r>
            <a:endParaRPr lang="cs-CZ" altLang="cs-CZ" noProof="0"/>
          </a:p>
        </p:txBody>
      </p:sp>
      <p:graphicFrame>
        <p:nvGraphicFramePr>
          <p:cNvPr id="7" name="Tabulka 6"/>
          <p:cNvGraphicFramePr/>
          <p:nvPr>
            <p:extLst>
              <p:ext uri="{D42A27DB-BD31-4B8C-83A1-F6EECF244321}">
                <p14:modId xmlns:p14="http://schemas.microsoft.com/office/powerpoint/2010/main" val="3978449496"/>
              </p:ext>
            </p:extLst>
          </p:nvPr>
        </p:nvGraphicFramePr>
        <p:xfrm>
          <a:off x="838200" y="2047875"/>
          <a:ext cx="13563600" cy="4286252"/>
        </p:xfrm>
        <a:graphic>
          <a:graphicData uri="http://schemas.openxmlformats.org/drawingml/2006/table">
            <a:tbl>
              <a:tblPr/>
              <a:tblGrid>
                <a:gridCol w="3095625">
                  <a:extLst>
                    <a:ext uri="{9D8B030D-6E8A-4147-A177-3AD203B41FA5}">
                      <a16:colId xmlns:a16="http://schemas.microsoft.com/office/drawing/2014/main" val="20000"/>
                    </a:ext>
                  </a:extLst>
                </a:gridCol>
                <a:gridCol w="6381750">
                  <a:extLst>
                    <a:ext uri="{9D8B030D-6E8A-4147-A177-3AD203B41FA5}">
                      <a16:colId xmlns:a16="http://schemas.microsoft.com/office/drawing/2014/main" val="20001"/>
                    </a:ext>
                  </a:extLst>
                </a:gridCol>
                <a:gridCol w="4086225">
                  <a:extLst>
                    <a:ext uri="{9D8B030D-6E8A-4147-A177-3AD203B41FA5}">
                      <a16:colId xmlns:a16="http://schemas.microsoft.com/office/drawing/2014/main" val="20002"/>
                    </a:ext>
                  </a:extLst>
                </a:gridCol>
              </a:tblGrid>
              <a:tr h="1071563">
                <a:tc>
                  <a:txBody>
                    <a:bodyPr/>
                    <a:lstStyle/>
                    <a:p>
                      <a:pPr algn="l">
                        <a:defRPr lang="cs-CZ" altLang="cs-CZ" noProof="0"/>
                      </a:pPr>
                      <a:r>
                        <a:rPr lang="cs-CZ" altLang="cs-CZ" sz="2175" b="1" noProof="0">
                          <a:solidFill>
                            <a:srgbClr val="FFFFFF"/>
                          </a:solidFill>
                          <a:latin typeface="Arial"/>
                          <a:ea typeface="Arial"/>
                          <a:cs typeface="Arial"/>
                        </a:rPr>
                        <a:t>Druh závěru</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175" b="1" noProof="0">
                          <a:solidFill>
                            <a:srgbClr val="FFFFFF"/>
                          </a:solidFill>
                          <a:latin typeface="Arial"/>
                          <a:ea typeface="Arial"/>
                          <a:cs typeface="Arial"/>
                        </a:rPr>
                        <a:t>Příklad výroku</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175" b="1" noProof="0">
                          <a:solidFill>
                            <a:srgbClr val="FFFFFF"/>
                          </a:solidFill>
                          <a:latin typeface="Arial"/>
                          <a:ea typeface="Arial"/>
                          <a:cs typeface="Arial"/>
                        </a:rPr>
                        <a:t>Potřebná opora</a:t>
                      </a:r>
                      <a:endParaRPr lang="cs-CZ" altLang="cs-CZ" noProof="0"/>
                    </a:p>
                  </a:txBody>
                  <a:tcPr marL="171450" marR="171450" marT="142875" marB="114300" anchor="ctr">
                    <a:solidFill>
                      <a:srgbClr val="142A3B"/>
                    </a:solidFill>
                  </a:tcPr>
                </a:tc>
                <a:extLst>
                  <a:ext uri="{0D108BD9-81ED-4DB2-BD59-A6C34878D82A}">
                    <a16:rowId xmlns:a16="http://schemas.microsoft.com/office/drawing/2014/main" val="10000"/>
                  </a:ext>
                </a:extLst>
              </a:tr>
              <a:tr h="1071563">
                <a:tc>
                  <a:txBody>
                    <a:bodyPr/>
                    <a:lstStyle/>
                    <a:p>
                      <a:pPr algn="l">
                        <a:defRPr lang="cs-CZ" altLang="cs-CZ" noProof="0"/>
                      </a:pPr>
                      <a:r>
                        <a:rPr lang="cs-CZ" altLang="cs-CZ" sz="2175" b="0" noProof="0">
                          <a:solidFill>
                            <a:srgbClr val="142A3B"/>
                          </a:solidFill>
                          <a:latin typeface="Arial"/>
                          <a:ea typeface="Arial"/>
                          <a:cs typeface="Arial"/>
                        </a:rPr>
                        <a:t>Popisná statistika</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175" b="0" noProof="0">
                          <a:solidFill>
                            <a:srgbClr val="142A3B"/>
                          </a:solidFill>
                          <a:latin typeface="Arial"/>
                          <a:ea typeface="Arial"/>
                          <a:cs typeface="Arial"/>
                        </a:rPr>
                        <a:t>V tomto souboru delší spánek souvisí s lepším výkonem.</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175" b="0" noProof="0">
                          <a:solidFill>
                            <a:srgbClr val="142A3B"/>
                          </a:solidFill>
                          <a:latin typeface="Arial"/>
                          <a:ea typeface="Arial"/>
                          <a:cs typeface="Arial"/>
                        </a:rPr>
                        <a:t>Správný popis získaných dat.</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1"/>
                  </a:ext>
                </a:extLst>
              </a:tr>
              <a:tr h="1071563">
                <a:tc>
                  <a:txBody>
                    <a:bodyPr/>
                    <a:lstStyle/>
                    <a:p>
                      <a:pPr algn="l">
                        <a:defRPr lang="cs-CZ" altLang="cs-CZ" noProof="0"/>
                      </a:pPr>
                      <a:r>
                        <a:rPr lang="cs-CZ" altLang="cs-CZ" sz="2175" b="0" noProof="0">
                          <a:solidFill>
                            <a:srgbClr val="142A3B"/>
                          </a:solidFill>
                          <a:latin typeface="Arial"/>
                          <a:ea typeface="Arial"/>
                          <a:cs typeface="Arial"/>
                        </a:rPr>
                        <a:t>Inferenční statistika</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175" b="0" noProof="0">
                          <a:solidFill>
                            <a:srgbClr val="142A3B"/>
                          </a:solidFill>
                          <a:latin typeface="Arial"/>
                          <a:ea typeface="Arial"/>
                          <a:cs typeface="Arial"/>
                        </a:rPr>
                        <a:t>Podobný vztah očekáváme u všech studentů fakulty.</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175" b="0" noProof="0">
                          <a:solidFill>
                            <a:srgbClr val="142A3B"/>
                          </a:solidFill>
                          <a:latin typeface="Arial"/>
                          <a:ea typeface="Arial"/>
                          <a:cs typeface="Arial"/>
                        </a:rPr>
                        <a:t>Zdůvodnění zobecnění a jeho nejistoty.</a:t>
                      </a:r>
                      <a:endParaRPr lang="cs-CZ" altLang="cs-CZ" noProof="0"/>
                    </a:p>
                  </a:txBody>
                  <a:tcPr marL="171450" marR="171450" marT="142875" marB="114300" anchor="ctr">
                    <a:solidFill>
                      <a:srgbClr val="EDF2F3"/>
                    </a:solidFill>
                  </a:tcPr>
                </a:tc>
                <a:extLst>
                  <a:ext uri="{0D108BD9-81ED-4DB2-BD59-A6C34878D82A}">
                    <a16:rowId xmlns:a16="http://schemas.microsoft.com/office/drawing/2014/main" val="10002"/>
                  </a:ext>
                </a:extLst>
              </a:tr>
              <a:tr h="1071563">
                <a:tc>
                  <a:txBody>
                    <a:bodyPr/>
                    <a:lstStyle/>
                    <a:p>
                      <a:pPr algn="l">
                        <a:defRPr lang="cs-CZ" altLang="cs-CZ" noProof="0"/>
                      </a:pPr>
                      <a:r>
                        <a:rPr lang="cs-CZ" altLang="cs-CZ" sz="2175" b="0" noProof="0">
                          <a:solidFill>
                            <a:srgbClr val="142A3B"/>
                          </a:solidFill>
                          <a:latin typeface="Arial"/>
                          <a:ea typeface="Arial"/>
                          <a:cs typeface="Arial"/>
                        </a:rPr>
                        <a:t>Kauzální závěr</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175" b="0" noProof="0">
                          <a:solidFill>
                            <a:srgbClr val="142A3B"/>
                          </a:solidFill>
                          <a:latin typeface="Arial"/>
                          <a:ea typeface="Arial"/>
                          <a:cs typeface="Arial"/>
                        </a:rPr>
                        <a:t>Prodloužení spánku zlepší výkon.</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175" b="0" noProof="0">
                          <a:solidFill>
                            <a:srgbClr val="142A3B"/>
                          </a:solidFill>
                          <a:latin typeface="Arial"/>
                          <a:ea typeface="Arial"/>
                          <a:cs typeface="Arial"/>
                        </a:rPr>
                        <a:t>Zdůvodnění příčiny a posouzení jiných vysvětlení.</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3"/>
                  </a:ext>
                </a:extLst>
              </a:tr>
            </a:tbl>
          </a:graphicData>
        </a:graphic>
      </p:graphicFrame>
      <p:sp>
        <p:nvSpPr>
          <p:cNvPr id="4" name="text-2">
            <a:extLst>
              <a:ext uri="{FF2B5EF4-FFF2-40B4-BE49-F238E27FC236}">
                <a16:creationId xmlns:a16="http://schemas.microsoft.com/office/drawing/2014/main" id="{2898AF39-DF28-4475-AC0B-BA4895B2577F}"/>
              </a:ext>
            </a:extLst>
          </p:cNvPr>
          <p:cNvSpPr>
            <a:spLocks noGrp="1"/>
          </p:cNvSpPr>
          <p:nvPr/>
        </p:nvSpPr>
        <p:spPr>
          <a:xfrm>
            <a:off x="838200" y="6810375"/>
            <a:ext cx="13563600" cy="1047750"/>
          </a:xfrm>
          <a:prstGeom prst="rect">
            <a:avLst/>
          </a:prstGeom>
          <a:noFill/>
          <a:ln w="0">
            <a:noFill/>
          </a:ln>
        </p:spPr>
        <p:txBody>
          <a:bodyPr wrap="square" lIns="0" tIns="0" rIns="0" bIns="0" anchor="t">
            <a:noAutofit/>
          </a:bodyPr>
          <a:lstStyle/>
          <a:p>
            <a:pPr>
              <a:defRPr lang="cs-CZ" altLang="cs-CZ" sz="2325" b="1" noProof="0">
                <a:solidFill>
                  <a:srgbClr val="176A83"/>
                </a:solidFill>
                <a:latin typeface="Arial"/>
                <a:ea typeface="Arial"/>
                <a:cs typeface="Arial"/>
              </a:defRPr>
            </a:pPr>
            <a:r>
              <a:rPr lang="cs-CZ" altLang="cs-CZ" sz="2325" b="1" noProof="0">
                <a:solidFill>
                  <a:srgbClr val="176A83"/>
                </a:solidFill>
                <a:latin typeface="Arial"/>
                <a:ea typeface="Arial"/>
                <a:cs typeface="Arial"/>
              </a:rPr>
              <a:t>Správný popis souvislosti sám nezdůvodňuje další dva závěry.</a:t>
            </a:r>
            <a:endParaRPr lang="cs-CZ" altLang="cs-CZ" noProof="0"/>
          </a:p>
        </p:txBody>
      </p:sp>
    </p:spTree>
    <p:extLst>
      <p:ext uri="{BB962C8B-B14F-4D97-AF65-F5344CB8AC3E}">
        <p14:creationId xmlns:p14="http://schemas.microsoft.com/office/powerpoint/2010/main" val="1599110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CD3B5355-6200-4327-819E-C424C595FDCD}"/>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Jak získáme účastníky</a:t>
            </a:r>
            <a:endParaRPr lang="cs-CZ" altLang="cs-CZ" noProof="0"/>
          </a:p>
        </p:txBody>
      </p:sp>
      <p:sp>
        <p:nvSpPr>
          <p:cNvPr id="2" name="text-1">
            <a:extLst>
              <a:ext uri="{FF2B5EF4-FFF2-40B4-BE49-F238E27FC236}">
                <a16:creationId xmlns:a16="http://schemas.microsoft.com/office/drawing/2014/main" id="{E3A82ECB-5B50-48B2-911C-D454B76B58E7}"/>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06</a:t>
            </a:r>
            <a:endParaRPr lang="cs-CZ" altLang="cs-CZ" noProof="0"/>
          </a:p>
        </p:txBody>
      </p:sp>
      <p:sp>
        <p:nvSpPr>
          <p:cNvPr id="3" name="text-2">
            <a:extLst>
              <a:ext uri="{FF2B5EF4-FFF2-40B4-BE49-F238E27FC236}">
                <a16:creationId xmlns:a16="http://schemas.microsoft.com/office/drawing/2014/main" id="{6E8F7334-9748-4BED-936A-8558476B4F1C}"/>
              </a:ext>
            </a:extLst>
          </p:cNvPr>
          <p:cNvSpPr>
            <a:spLocks noGrp="1"/>
          </p:cNvSpPr>
          <p:nvPr/>
        </p:nvSpPr>
        <p:spPr>
          <a:xfrm>
            <a:off x="838200" y="2171700"/>
            <a:ext cx="6191250" cy="647700"/>
          </a:xfrm>
          <a:prstGeom prst="rect">
            <a:avLst/>
          </a:prstGeom>
          <a:noFill/>
          <a:ln w="0">
            <a:noFill/>
          </a:ln>
        </p:spPr>
        <p:txBody>
          <a:bodyPr wrap="square" lIns="0" tIns="0" rIns="0" bIns="0" anchor="t">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Náhodný výběr</a:t>
            </a:r>
            <a:endParaRPr lang="cs-CZ" altLang="cs-CZ" noProof="0"/>
          </a:p>
        </p:txBody>
      </p:sp>
      <p:sp>
        <p:nvSpPr>
          <p:cNvPr id="4" name="text-3">
            <a:extLst>
              <a:ext uri="{FF2B5EF4-FFF2-40B4-BE49-F238E27FC236}">
                <a16:creationId xmlns:a16="http://schemas.microsoft.com/office/drawing/2014/main" id="{8761BCAD-D44D-4724-9B48-DC5413E9FE82}"/>
              </a:ext>
            </a:extLst>
          </p:cNvPr>
          <p:cNvSpPr>
            <a:spLocks noGrp="1"/>
          </p:cNvSpPr>
          <p:nvPr/>
        </p:nvSpPr>
        <p:spPr>
          <a:xfrm>
            <a:off x="838200" y="2971800"/>
            <a:ext cx="6191250" cy="309562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Náhodný mechanismus.</a:t>
            </a:r>
            <a:endParaRPr lang="cs-CZ" altLang="cs-CZ" noProof="0"/>
          </a:p>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Známá a nenulová šance vybrání pro každého v populaci.</a:t>
            </a:r>
            <a:endParaRPr lang="cs-CZ" altLang="cs-CZ" noProof="0"/>
          </a:p>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Například losování ze seznamu.</a:t>
            </a:r>
            <a:endParaRPr lang="cs-CZ" altLang="cs-CZ" noProof="0"/>
          </a:p>
        </p:txBody>
      </p:sp>
      <p:sp>
        <p:nvSpPr>
          <p:cNvPr id="5" name="text-4">
            <a:extLst>
              <a:ext uri="{FF2B5EF4-FFF2-40B4-BE49-F238E27FC236}">
                <a16:creationId xmlns:a16="http://schemas.microsoft.com/office/drawing/2014/main" id="{D950712C-253B-4BBC-BD4D-78BFFFA256CC}"/>
              </a:ext>
            </a:extLst>
          </p:cNvPr>
          <p:cNvSpPr>
            <a:spLocks noGrp="1"/>
          </p:cNvSpPr>
          <p:nvPr/>
        </p:nvSpPr>
        <p:spPr>
          <a:xfrm>
            <a:off x="8020050" y="2171700"/>
            <a:ext cx="6381750" cy="647700"/>
          </a:xfrm>
          <a:prstGeom prst="rect">
            <a:avLst/>
          </a:prstGeom>
          <a:noFill/>
          <a:ln w="0">
            <a:noFill/>
          </a:ln>
        </p:spPr>
        <p:txBody>
          <a:bodyPr wrap="square" lIns="0" tIns="0" rIns="0" bIns="0" anchor="t">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Příležitostný výběr</a:t>
            </a:r>
            <a:endParaRPr lang="cs-CZ" altLang="cs-CZ" noProof="0"/>
          </a:p>
        </p:txBody>
      </p:sp>
      <p:sp>
        <p:nvSpPr>
          <p:cNvPr id="6" name="text-5">
            <a:extLst>
              <a:ext uri="{FF2B5EF4-FFF2-40B4-BE49-F238E27FC236}">
                <a16:creationId xmlns:a16="http://schemas.microsoft.com/office/drawing/2014/main" id="{0C076E87-4D22-450C-8375-00B95201288A}"/>
              </a:ext>
            </a:extLst>
          </p:cNvPr>
          <p:cNvSpPr>
            <a:spLocks noGrp="1"/>
          </p:cNvSpPr>
          <p:nvPr/>
        </p:nvSpPr>
        <p:spPr>
          <a:xfrm>
            <a:off x="8020050" y="2971800"/>
            <a:ext cx="6381750" cy="309562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Získáváme dostupné lidi.</a:t>
            </a:r>
            <a:endParaRPr lang="cs-CZ" altLang="cs-CZ" noProof="0"/>
          </a:p>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Například studenty vlastního semináře.</a:t>
            </a:r>
            <a:endParaRPr lang="cs-CZ" altLang="cs-CZ" noProof="0"/>
          </a:p>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Složení dále mění dobrovolná účast.</a:t>
            </a:r>
            <a:endParaRPr lang="cs-CZ" altLang="cs-CZ" noProof="0"/>
          </a:p>
        </p:txBody>
      </p:sp>
      <p:sp>
        <p:nvSpPr>
          <p:cNvPr id="7" name="text-6">
            <a:extLst>
              <a:ext uri="{FF2B5EF4-FFF2-40B4-BE49-F238E27FC236}">
                <a16:creationId xmlns:a16="http://schemas.microsoft.com/office/drawing/2014/main" id="{210D3DD1-788A-4482-9823-AE8FFEF3CC57}"/>
              </a:ext>
            </a:extLst>
          </p:cNvPr>
          <p:cNvSpPr>
            <a:spLocks noGrp="1"/>
          </p:cNvSpPr>
          <p:nvPr/>
        </p:nvSpPr>
        <p:spPr>
          <a:xfrm>
            <a:off x="838200" y="6334125"/>
            <a:ext cx="13563600" cy="1047750"/>
          </a:xfrm>
          <a:prstGeom prst="rect">
            <a:avLst/>
          </a:prstGeom>
          <a:noFill/>
          <a:ln w="0">
            <a:noFill/>
          </a:ln>
        </p:spPr>
        <p:txBody>
          <a:bodyPr wrap="square" lIns="0" tIns="0" rIns="0" bIns="0" anchor="t">
            <a:noAutofit/>
          </a:bodyPr>
          <a:lstStyle/>
          <a:p>
            <a:pPr>
              <a:defRPr lang="cs-CZ" altLang="cs-CZ" sz="2625" b="1" noProof="0">
                <a:solidFill>
                  <a:srgbClr val="176A83"/>
                </a:solidFill>
                <a:latin typeface="Arial"/>
                <a:ea typeface="Arial"/>
                <a:cs typeface="Arial"/>
              </a:defRPr>
            </a:pPr>
            <a:r>
              <a:rPr lang="cs-CZ" altLang="cs-CZ" sz="2625" b="1" noProof="0">
                <a:solidFill>
                  <a:srgbClr val="176A83"/>
                </a:solidFill>
                <a:latin typeface="Arial"/>
                <a:ea typeface="Arial"/>
                <a:cs typeface="Arial"/>
              </a:rPr>
              <a:t>Více účastníků samo neodstraní výběrové zkreslení.</a:t>
            </a:r>
            <a:endParaRPr lang="cs-CZ" altLang="cs-CZ" noProof="0"/>
          </a:p>
        </p:txBody>
      </p:sp>
      <p:sp>
        <p:nvSpPr>
          <p:cNvPr id="8" name="text-7">
            <a:extLst>
              <a:ext uri="{FF2B5EF4-FFF2-40B4-BE49-F238E27FC236}">
                <a16:creationId xmlns:a16="http://schemas.microsoft.com/office/drawing/2014/main" id="{404CCEC1-9499-4A64-91C0-B98331B57970}"/>
              </a:ext>
            </a:extLst>
          </p:cNvPr>
          <p:cNvSpPr>
            <a:spLocks noGrp="1"/>
          </p:cNvSpPr>
          <p:nvPr/>
        </p:nvSpPr>
        <p:spPr>
          <a:xfrm>
            <a:off x="838200" y="7143750"/>
            <a:ext cx="13563600" cy="523875"/>
          </a:xfrm>
          <a:prstGeom prst="rect">
            <a:avLst/>
          </a:prstGeom>
          <a:noFill/>
          <a:ln w="0">
            <a:noFill/>
          </a:ln>
        </p:spPr>
        <p:txBody>
          <a:bodyPr wrap="square" lIns="0" tIns="0" rIns="0" bIns="0" anchor="t">
            <a:noAutofit/>
          </a:bodyPr>
          <a:lstStyle/>
          <a:p>
            <a:pPr>
              <a:defRPr lang="cs-CZ" altLang="cs-CZ" sz="2250" b="0" noProof="0">
                <a:solidFill>
                  <a:srgbClr val="576574"/>
                </a:solidFill>
                <a:latin typeface="Arial"/>
                <a:ea typeface="Arial"/>
                <a:cs typeface="Arial"/>
              </a:defRPr>
            </a:pPr>
            <a:r>
              <a:rPr lang="cs-CZ" altLang="cs-CZ" sz="2250" b="0" noProof="0">
                <a:solidFill>
                  <a:srgbClr val="576574"/>
                </a:solidFill>
                <a:latin typeface="Arial"/>
                <a:ea typeface="Arial"/>
                <a:cs typeface="Arial"/>
              </a:rPr>
              <a:t>Losování také neodstraní problém rozdílné ochoty odpovědět.</a:t>
            </a:r>
            <a:endParaRPr lang="cs-CZ" altLang="cs-CZ" noProof="0"/>
          </a:p>
        </p:txBody>
      </p:sp>
    </p:spTree>
    <p:extLst>
      <p:ext uri="{BB962C8B-B14F-4D97-AF65-F5344CB8AC3E}">
        <p14:creationId xmlns:p14="http://schemas.microsoft.com/office/powerpoint/2010/main" val="2079242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1B7E4460-6C23-42C6-BBB5-8B969984EFA6}"/>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Souvislost a příčina</a:t>
            </a:r>
            <a:endParaRPr lang="cs-CZ" altLang="cs-CZ" noProof="0"/>
          </a:p>
        </p:txBody>
      </p:sp>
      <p:sp>
        <p:nvSpPr>
          <p:cNvPr id="2" name="text-1">
            <a:extLst>
              <a:ext uri="{FF2B5EF4-FFF2-40B4-BE49-F238E27FC236}">
                <a16:creationId xmlns:a16="http://schemas.microsoft.com/office/drawing/2014/main" id="{C8F5D106-28FD-42E9-B4BA-77117F5A67A4}"/>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07</a:t>
            </a:r>
            <a:endParaRPr lang="cs-CZ" altLang="cs-CZ" noProof="0"/>
          </a:p>
        </p:txBody>
      </p:sp>
      <p:sp>
        <p:nvSpPr>
          <p:cNvPr id="3" name="text-2">
            <a:extLst>
              <a:ext uri="{FF2B5EF4-FFF2-40B4-BE49-F238E27FC236}">
                <a16:creationId xmlns:a16="http://schemas.microsoft.com/office/drawing/2014/main" id="{6B0FFF8E-2B63-439B-BA57-642C71E0A5CD}"/>
              </a:ext>
            </a:extLst>
          </p:cNvPr>
          <p:cNvSpPr>
            <a:spLocks noGrp="1"/>
          </p:cNvSpPr>
          <p:nvPr/>
        </p:nvSpPr>
        <p:spPr>
          <a:xfrm>
            <a:off x="838200" y="2143125"/>
            <a:ext cx="13563600" cy="1095375"/>
          </a:xfrm>
          <a:prstGeom prst="rect">
            <a:avLst/>
          </a:prstGeom>
          <a:noFill/>
          <a:ln w="0">
            <a:noFill/>
          </a:ln>
        </p:spPr>
        <p:txBody>
          <a:bodyPr wrap="square" lIns="0" tIns="0" rIns="0" bIns="0" anchor="t">
            <a:noAutofit/>
          </a:bodyPr>
          <a:lstStyle/>
          <a:p>
            <a:pPr>
              <a:defRPr lang="cs-CZ" altLang="cs-CZ" sz="3225" b="1" noProof="0">
                <a:solidFill>
                  <a:srgbClr val="176A83"/>
                </a:solidFill>
                <a:latin typeface="Arial"/>
                <a:ea typeface="Arial"/>
                <a:cs typeface="Arial"/>
              </a:defRPr>
            </a:pPr>
            <a:r>
              <a:rPr lang="cs-CZ" altLang="cs-CZ" sz="3225" b="1" noProof="0">
                <a:solidFill>
                  <a:srgbClr val="176A83"/>
                </a:solidFill>
                <a:latin typeface="Arial"/>
                <a:ea typeface="Arial"/>
                <a:cs typeface="Arial"/>
              </a:rPr>
              <a:t>Delší spánek a lepší výkon mohou v datech souviset.</a:t>
            </a:r>
            <a:endParaRPr lang="cs-CZ" altLang="cs-CZ" noProof="0"/>
          </a:p>
        </p:txBody>
      </p:sp>
      <p:sp>
        <p:nvSpPr>
          <p:cNvPr id="4" name="text-3">
            <a:extLst>
              <a:ext uri="{FF2B5EF4-FFF2-40B4-BE49-F238E27FC236}">
                <a16:creationId xmlns:a16="http://schemas.microsoft.com/office/drawing/2014/main" id="{2A3D3341-2DEC-4165-BA92-8611B601BACB}"/>
              </a:ext>
            </a:extLst>
          </p:cNvPr>
          <p:cNvSpPr>
            <a:spLocks noGrp="1"/>
          </p:cNvSpPr>
          <p:nvPr/>
        </p:nvSpPr>
        <p:spPr>
          <a:xfrm>
            <a:off x="838200" y="3667125"/>
            <a:ext cx="13563600" cy="952500"/>
          </a:xfrm>
          <a:prstGeom prst="rect">
            <a:avLst/>
          </a:prstGeom>
          <a:noFill/>
          <a:ln w="0">
            <a:noFill/>
          </a:ln>
        </p:spPr>
        <p:txBody>
          <a:bodyPr wrap="square" lIns="0" tIns="0" rIns="0" bIns="0" anchor="t">
            <a:noAutofit/>
          </a:bodyPr>
          <a:lstStyle/>
          <a:p>
            <a:pPr>
              <a:defRPr lang="cs-CZ" altLang="cs-CZ" sz="2700" b="0" noProof="0">
                <a:solidFill>
                  <a:srgbClr val="142A3B"/>
                </a:solidFill>
                <a:latin typeface="Arial"/>
                <a:ea typeface="Arial"/>
                <a:cs typeface="Arial"/>
              </a:defRPr>
            </a:pPr>
            <a:r>
              <a:rPr lang="cs-CZ" altLang="cs-CZ" sz="2700" b="0" noProof="0">
                <a:solidFill>
                  <a:srgbClr val="142A3B"/>
                </a:solidFill>
                <a:latin typeface="Arial"/>
                <a:ea typeface="Arial"/>
                <a:cs typeface="Arial"/>
              </a:rPr>
              <a:t>Při pozorování obvyklého spánku neměníme dobu spánku záměrně.</a:t>
            </a:r>
            <a:endParaRPr lang="cs-CZ" altLang="cs-CZ" noProof="0"/>
          </a:p>
        </p:txBody>
      </p:sp>
      <p:sp>
        <p:nvSpPr>
          <p:cNvPr id="5" name="text-4">
            <a:extLst>
              <a:ext uri="{FF2B5EF4-FFF2-40B4-BE49-F238E27FC236}">
                <a16:creationId xmlns:a16="http://schemas.microsoft.com/office/drawing/2014/main" id="{819B77FF-323E-4DDC-98A6-53AE835203FC}"/>
              </a:ext>
            </a:extLst>
          </p:cNvPr>
          <p:cNvSpPr>
            <a:spLocks noGrp="1"/>
          </p:cNvSpPr>
          <p:nvPr/>
        </p:nvSpPr>
        <p:spPr>
          <a:xfrm>
            <a:off x="838200" y="4953000"/>
            <a:ext cx="13563600" cy="1143000"/>
          </a:xfrm>
          <a:prstGeom prst="rect">
            <a:avLst/>
          </a:prstGeom>
          <a:noFill/>
          <a:ln w="0">
            <a:noFill/>
          </a:ln>
        </p:spPr>
        <p:txBody>
          <a:bodyPr wrap="square" lIns="0" tIns="0" rIns="0" bIns="0" anchor="t">
            <a:noAutofit/>
          </a:bodyPr>
          <a:lstStyle/>
          <a:p>
            <a:pPr>
              <a:defRPr lang="cs-CZ" altLang="cs-CZ" sz="2700" b="0" noProof="0">
                <a:solidFill>
                  <a:srgbClr val="142A3B"/>
                </a:solidFill>
                <a:latin typeface="Arial"/>
                <a:ea typeface="Arial"/>
                <a:cs typeface="Arial"/>
              </a:defRPr>
            </a:pPr>
            <a:r>
              <a:rPr lang="cs-CZ" altLang="cs-CZ" sz="2700" b="0" noProof="0">
                <a:solidFill>
                  <a:srgbClr val="142A3B"/>
                </a:solidFill>
                <a:latin typeface="Arial"/>
                <a:ea typeface="Arial"/>
                <a:cs typeface="Arial"/>
              </a:rPr>
              <a:t>Možné jiné vysvětlení: studijní zátěž souvisí se spánkem i výkonem.</a:t>
            </a:r>
            <a:endParaRPr lang="cs-CZ" altLang="cs-CZ" noProof="0"/>
          </a:p>
        </p:txBody>
      </p:sp>
      <p:sp>
        <p:nvSpPr>
          <p:cNvPr id="6" name="text-5">
            <a:extLst>
              <a:ext uri="{FF2B5EF4-FFF2-40B4-BE49-F238E27FC236}">
                <a16:creationId xmlns:a16="http://schemas.microsoft.com/office/drawing/2014/main" id="{D6B01EF0-7795-45D2-A9F2-798B27C952DA}"/>
              </a:ext>
            </a:extLst>
          </p:cNvPr>
          <p:cNvSpPr>
            <a:spLocks noGrp="1"/>
          </p:cNvSpPr>
          <p:nvPr/>
        </p:nvSpPr>
        <p:spPr>
          <a:xfrm>
            <a:off x="838200" y="6791325"/>
            <a:ext cx="13563600" cy="1047750"/>
          </a:xfrm>
          <a:prstGeom prst="rect">
            <a:avLst/>
          </a:prstGeom>
          <a:noFill/>
          <a:ln w="0">
            <a:noFill/>
          </a:ln>
        </p:spPr>
        <p:txBody>
          <a:bodyPr wrap="square" lIns="0" tIns="0" rIns="0" bIns="0" anchor="t">
            <a:noAutofit/>
          </a:bodyPr>
          <a:lstStyle/>
          <a:p>
            <a:pPr>
              <a:defRPr lang="cs-CZ" altLang="cs-CZ" sz="2550" b="1" noProof="0">
                <a:solidFill>
                  <a:srgbClr val="176A83"/>
                </a:solidFill>
                <a:latin typeface="Arial"/>
                <a:ea typeface="Arial"/>
                <a:cs typeface="Arial"/>
              </a:defRPr>
            </a:pPr>
            <a:r>
              <a:rPr lang="cs-CZ" altLang="cs-CZ" sz="2550" b="1" noProof="0">
                <a:solidFill>
                  <a:srgbClr val="176A83"/>
                </a:solidFill>
                <a:latin typeface="Arial"/>
                <a:ea typeface="Arial"/>
                <a:cs typeface="Arial"/>
              </a:rPr>
              <a:t>Souvislost sama neříká, co by způsobil zásah do spánku.</a:t>
            </a:r>
            <a:endParaRPr lang="cs-CZ" altLang="cs-CZ" noProof="0"/>
          </a:p>
        </p:txBody>
      </p:sp>
    </p:spTree>
    <p:extLst>
      <p:ext uri="{BB962C8B-B14F-4D97-AF65-F5344CB8AC3E}">
        <p14:creationId xmlns:p14="http://schemas.microsoft.com/office/powerpoint/2010/main" val="1057520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4DFBB361-CE6B-472E-923F-BC3E16F64303}"/>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Experiment: ticho a rušivé zvuky</a:t>
            </a:r>
            <a:endParaRPr lang="cs-CZ" altLang="cs-CZ" noProof="0"/>
          </a:p>
        </p:txBody>
      </p:sp>
      <p:sp>
        <p:nvSpPr>
          <p:cNvPr id="2" name="text-1">
            <a:extLst>
              <a:ext uri="{FF2B5EF4-FFF2-40B4-BE49-F238E27FC236}">
                <a16:creationId xmlns:a16="http://schemas.microsoft.com/office/drawing/2014/main" id="{B51CD998-BC35-4B20-94A5-2F2A8ADB735A}"/>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noProof="0"/>
              <a:t>08</a:t>
            </a:r>
          </a:p>
        </p:txBody>
      </p:sp>
      <p:graphicFrame>
        <p:nvGraphicFramePr>
          <p:cNvPr id="8" name="Tabulka 7"/>
          <p:cNvGraphicFramePr/>
          <p:nvPr>
            <p:extLst>
              <p:ext uri="{D42A27DB-BD31-4B8C-83A1-F6EECF244321}">
                <p14:modId xmlns:p14="http://schemas.microsoft.com/office/powerpoint/2010/main" val="204925446"/>
              </p:ext>
            </p:extLst>
          </p:nvPr>
        </p:nvGraphicFramePr>
        <p:xfrm>
          <a:off x="838200" y="2333625"/>
          <a:ext cx="13563600" cy="2047876"/>
        </p:xfrm>
        <a:graphic>
          <a:graphicData uri="http://schemas.openxmlformats.org/drawingml/2006/table">
            <a:tbl>
              <a:tblPr/>
              <a:tblGrid>
                <a:gridCol w="6191250">
                  <a:extLst>
                    <a:ext uri="{9D8B030D-6E8A-4147-A177-3AD203B41FA5}">
                      <a16:colId xmlns:a16="http://schemas.microsoft.com/office/drawing/2014/main" val="20000"/>
                    </a:ext>
                  </a:extLst>
                </a:gridCol>
                <a:gridCol w="7372350">
                  <a:extLst>
                    <a:ext uri="{9D8B030D-6E8A-4147-A177-3AD203B41FA5}">
                      <a16:colId xmlns:a16="http://schemas.microsoft.com/office/drawing/2014/main" val="20001"/>
                    </a:ext>
                  </a:extLst>
                </a:gridCol>
              </a:tblGrid>
              <a:tr h="1023938">
                <a:tc>
                  <a:txBody>
                    <a:bodyPr/>
                    <a:lstStyle/>
                    <a:p>
                      <a:pPr algn="l">
                        <a:defRPr lang="cs-CZ" altLang="cs-CZ" noProof="0"/>
                      </a:pPr>
                      <a:r>
                        <a:rPr lang="cs-CZ" altLang="cs-CZ" sz="2700" b="1" noProof="0">
                          <a:solidFill>
                            <a:srgbClr val="FFFFFF"/>
                          </a:solidFill>
                          <a:latin typeface="Arial"/>
                          <a:ea typeface="Arial"/>
                          <a:cs typeface="Arial"/>
                        </a:rPr>
                        <a:t>Záměrně měníme</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700" b="1" noProof="0">
                          <a:solidFill>
                            <a:srgbClr val="FFFFFF"/>
                          </a:solidFill>
                          <a:latin typeface="Arial"/>
                          <a:ea typeface="Arial"/>
                          <a:cs typeface="Arial"/>
                        </a:rPr>
                        <a:t>Zachováváme stejné</a:t>
                      </a:r>
                      <a:endParaRPr lang="cs-CZ" altLang="cs-CZ" noProof="0"/>
                    </a:p>
                  </a:txBody>
                  <a:tcPr marL="171450" marR="171450" marT="142875" marB="114300" anchor="ctr">
                    <a:solidFill>
                      <a:srgbClr val="142A3B"/>
                    </a:solidFill>
                  </a:tcPr>
                </a:tc>
                <a:extLst>
                  <a:ext uri="{0D108BD9-81ED-4DB2-BD59-A6C34878D82A}">
                    <a16:rowId xmlns:a16="http://schemas.microsoft.com/office/drawing/2014/main" val="10000"/>
                  </a:ext>
                </a:extLst>
              </a:tr>
              <a:tr h="1023938">
                <a:tc>
                  <a:txBody>
                    <a:bodyPr/>
                    <a:lstStyle/>
                    <a:p>
                      <a:pPr algn="l">
                        <a:defRPr lang="cs-CZ" altLang="cs-CZ" noProof="0"/>
                      </a:pPr>
                      <a:r>
                        <a:rPr lang="cs-CZ" altLang="cs-CZ" sz="2700" b="0" noProof="0">
                          <a:solidFill>
                            <a:srgbClr val="142A3B"/>
                          </a:solidFill>
                          <a:latin typeface="Arial"/>
                          <a:ea typeface="Arial"/>
                          <a:cs typeface="Arial"/>
                        </a:rPr>
                        <a:t>Ticho / zvuková nahrávka</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700" b="0" noProof="0">
                          <a:solidFill>
                            <a:srgbClr val="142A3B"/>
                          </a:solidFill>
                          <a:latin typeface="Arial"/>
                          <a:ea typeface="Arial"/>
                          <a:cs typeface="Arial"/>
                        </a:rPr>
                        <a:t>Seznam slov, instrukce a čas.</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1"/>
                  </a:ext>
                </a:extLst>
              </a:tr>
            </a:tbl>
          </a:graphicData>
        </a:graphic>
      </p:graphicFrame>
      <p:sp>
        <p:nvSpPr>
          <p:cNvPr id="4" name="text-2">
            <a:extLst>
              <a:ext uri="{FF2B5EF4-FFF2-40B4-BE49-F238E27FC236}">
                <a16:creationId xmlns:a16="http://schemas.microsoft.com/office/drawing/2014/main" id="{6CBCA686-6548-425F-BAFF-D9FD6A5D0678}"/>
              </a:ext>
            </a:extLst>
          </p:cNvPr>
          <p:cNvSpPr>
            <a:spLocks noGrp="1"/>
          </p:cNvSpPr>
          <p:nvPr/>
        </p:nvSpPr>
        <p:spPr>
          <a:xfrm>
            <a:off x="838200" y="5076825"/>
            <a:ext cx="13563600" cy="857250"/>
          </a:xfrm>
          <a:prstGeom prst="rect">
            <a:avLst/>
          </a:prstGeom>
          <a:noFill/>
          <a:ln w="0">
            <a:noFill/>
          </a:ln>
        </p:spPr>
        <p:txBody>
          <a:bodyPr wrap="square" lIns="0" tIns="0" rIns="0" bIns="0" anchor="t">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Účastníky k podmínkám přiřadíme náhodně.</a:t>
            </a:r>
            <a:endParaRPr lang="cs-CZ" altLang="cs-CZ" noProof="0"/>
          </a:p>
        </p:txBody>
      </p:sp>
      <p:sp>
        <p:nvSpPr>
          <p:cNvPr id="5" name="text-3">
            <a:extLst>
              <a:ext uri="{FF2B5EF4-FFF2-40B4-BE49-F238E27FC236}">
                <a16:creationId xmlns:a16="http://schemas.microsoft.com/office/drawing/2014/main" id="{4BDAC242-447D-4CA9-87B0-5FC169E427B7}"/>
              </a:ext>
            </a:extLst>
          </p:cNvPr>
          <p:cNvSpPr>
            <a:spLocks noGrp="1"/>
          </p:cNvSpPr>
          <p:nvPr/>
        </p:nvSpPr>
        <p:spPr>
          <a:xfrm>
            <a:off x="838200" y="6543675"/>
            <a:ext cx="13563600" cy="1047750"/>
          </a:xfrm>
          <a:prstGeom prst="rect">
            <a:avLst/>
          </a:prstGeom>
          <a:noFill/>
          <a:ln w="0">
            <a:noFill/>
          </a:ln>
        </p:spPr>
        <p:txBody>
          <a:bodyPr wrap="square" lIns="0" tIns="0" rIns="0" bIns="0" anchor="t">
            <a:noAutofit/>
          </a:bodyPr>
          <a:lstStyle/>
          <a:p>
            <a:pPr>
              <a:defRPr lang="cs-CZ" altLang="cs-CZ" sz="2550" b="1" noProof="0">
                <a:solidFill>
                  <a:srgbClr val="176A83"/>
                </a:solidFill>
                <a:latin typeface="Arial"/>
                <a:ea typeface="Arial"/>
                <a:cs typeface="Arial"/>
              </a:defRPr>
            </a:pPr>
            <a:r>
              <a:rPr lang="cs-CZ" altLang="cs-CZ" sz="2550" b="1" noProof="0">
                <a:solidFill>
                  <a:srgbClr val="176A83"/>
                </a:solidFill>
                <a:latin typeface="Arial"/>
                <a:ea typeface="Arial"/>
                <a:cs typeface="Arial"/>
              </a:rPr>
              <a:t>Stejné schopnosti skupin nejsou zaručeny.</a:t>
            </a:r>
            <a:endParaRPr lang="cs-CZ" altLang="cs-CZ" noProof="0"/>
          </a:p>
          <a:p>
            <a:pPr>
              <a:defRPr lang="cs-CZ" altLang="cs-CZ" sz="2550" b="1" noProof="0">
                <a:solidFill>
                  <a:srgbClr val="176A83"/>
                </a:solidFill>
                <a:latin typeface="Arial"/>
                <a:ea typeface="Arial"/>
                <a:cs typeface="Arial"/>
              </a:defRPr>
            </a:pPr>
            <a:r>
              <a:rPr lang="cs-CZ" altLang="cs-CZ" sz="2550" b="1" noProof="0">
                <a:solidFill>
                  <a:srgbClr val="176A83"/>
                </a:solidFill>
                <a:latin typeface="Arial"/>
                <a:ea typeface="Arial"/>
                <a:cs typeface="Arial"/>
              </a:rPr>
              <a:t>Při vyhodnocení potřebujeme zohlednit nejistotu.</a:t>
            </a:r>
            <a:endParaRPr lang="cs-CZ" altLang="cs-CZ" noProof="0"/>
          </a:p>
        </p:txBody>
      </p:sp>
    </p:spTree>
    <p:extLst>
      <p:ext uri="{BB962C8B-B14F-4D97-AF65-F5344CB8AC3E}">
        <p14:creationId xmlns:p14="http://schemas.microsoft.com/office/powerpoint/2010/main" val="1799748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AA43547B-861C-4CA1-BB11-5E41AB251073}"/>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Nezávislá a závislá proměnná</a:t>
            </a:r>
            <a:endParaRPr lang="cs-CZ" altLang="cs-CZ" noProof="0"/>
          </a:p>
        </p:txBody>
      </p:sp>
      <p:sp>
        <p:nvSpPr>
          <p:cNvPr id="2" name="Obdélník 1">
            <a:extLst>
              <a:ext uri="{FF2B5EF4-FFF2-40B4-BE49-F238E27FC236}">
                <a16:creationId xmlns:a16="http://schemas.microsoft.com/office/drawing/2014/main" id="{19401F70-7E74-4194-8EA4-7445647E73A1}"/>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09</a:t>
            </a:r>
            <a:endParaRPr lang="cs-CZ" altLang="cs-CZ" noProof="0"/>
          </a:p>
        </p:txBody>
      </p:sp>
      <p:graphicFrame>
        <p:nvGraphicFramePr>
          <p:cNvPr id="8" name="Tabulka 7"/>
          <p:cNvGraphicFramePr/>
          <p:nvPr/>
        </p:nvGraphicFramePr>
        <p:xfrm>
          <a:off x="838200" y="2190750"/>
          <a:ext cx="13563600" cy="3381375"/>
        </p:xfrm>
        <a:graphic>
          <a:graphicData uri="http://schemas.openxmlformats.org/drawingml/2006/table">
            <a:tbl>
              <a:tblPr/>
              <a:tblGrid>
                <a:gridCol w="4191000">
                  <a:extLst>
                    <a:ext uri="{9D8B030D-6E8A-4147-A177-3AD203B41FA5}">
                      <a16:colId xmlns:a16="http://schemas.microsoft.com/office/drawing/2014/main" val="20000"/>
                    </a:ext>
                  </a:extLst>
                </a:gridCol>
                <a:gridCol w="4857750">
                  <a:extLst>
                    <a:ext uri="{9D8B030D-6E8A-4147-A177-3AD203B41FA5}">
                      <a16:colId xmlns:a16="http://schemas.microsoft.com/office/drawing/2014/main" val="20001"/>
                    </a:ext>
                  </a:extLst>
                </a:gridCol>
                <a:gridCol w="4514850">
                  <a:extLst>
                    <a:ext uri="{9D8B030D-6E8A-4147-A177-3AD203B41FA5}">
                      <a16:colId xmlns:a16="http://schemas.microsoft.com/office/drawing/2014/main" val="20002"/>
                    </a:ext>
                  </a:extLst>
                </a:gridCol>
              </a:tblGrid>
              <a:tr h="809625">
                <a:tc>
                  <a:txBody>
                    <a:bodyPr/>
                    <a:lstStyle/>
                    <a:p>
                      <a:pPr algn="l">
                        <a:defRPr lang="cs-CZ" altLang="cs-CZ" noProof="0"/>
                      </a:pPr>
                      <a:r>
                        <a:rPr lang="cs-CZ" altLang="cs-CZ" sz="2250" b="1" noProof="0">
                          <a:solidFill>
                            <a:srgbClr val="FFFFFF"/>
                          </a:solidFill>
                          <a:latin typeface="Arial"/>
                          <a:ea typeface="Arial"/>
                          <a:cs typeface="Arial"/>
                        </a:rPr>
                        <a:t>Role v experimentu</a:t>
                      </a:r>
                      <a:endParaRPr lang="cs-CZ" altLang="cs-CZ" noProof="0"/>
                    </a:p>
                  </a:txBody>
                  <a:tcPr anchor="ctr">
                    <a:solidFill>
                      <a:srgbClr val="142A3B"/>
                    </a:solidFill>
                  </a:tcPr>
                </a:tc>
                <a:tc>
                  <a:txBody>
                    <a:bodyPr/>
                    <a:lstStyle/>
                    <a:p>
                      <a:pPr algn="l">
                        <a:defRPr lang="cs-CZ" altLang="cs-CZ" noProof="0"/>
                      </a:pPr>
                      <a:r>
                        <a:rPr lang="cs-CZ" altLang="cs-CZ" sz="2250" b="1" noProof="0">
                          <a:solidFill>
                            <a:srgbClr val="FFFFFF"/>
                          </a:solidFill>
                          <a:latin typeface="Arial"/>
                          <a:ea typeface="Arial"/>
                          <a:cs typeface="Arial"/>
                        </a:rPr>
                        <a:t>Význam</a:t>
                      </a:r>
                      <a:endParaRPr lang="cs-CZ" altLang="cs-CZ" noProof="0"/>
                    </a:p>
                  </a:txBody>
                  <a:tcPr anchor="ctr">
                    <a:solidFill>
                      <a:srgbClr val="142A3B"/>
                    </a:solidFill>
                  </a:tcPr>
                </a:tc>
                <a:tc>
                  <a:txBody>
                    <a:bodyPr/>
                    <a:lstStyle/>
                    <a:p>
                      <a:pPr algn="l">
                        <a:defRPr lang="cs-CZ" altLang="cs-CZ" noProof="0"/>
                      </a:pPr>
                      <a:r>
                        <a:rPr lang="cs-CZ" altLang="cs-CZ" sz="2250" b="1" noProof="0">
                          <a:solidFill>
                            <a:srgbClr val="FFFFFF"/>
                          </a:solidFill>
                          <a:latin typeface="Arial"/>
                          <a:ea typeface="Arial"/>
                          <a:cs typeface="Arial"/>
                        </a:rPr>
                        <a:t>Náš příklad</a:t>
                      </a:r>
                      <a:endParaRPr lang="cs-CZ" altLang="cs-CZ" noProof="0"/>
                    </a:p>
                  </a:txBody>
                  <a:tcPr anchor="ctr">
                    <a:solidFill>
                      <a:srgbClr val="142A3B"/>
                    </a:solidFill>
                  </a:tcPr>
                </a:tc>
                <a:extLst>
                  <a:ext uri="{0D108BD9-81ED-4DB2-BD59-A6C34878D82A}">
                    <a16:rowId xmlns:a16="http://schemas.microsoft.com/office/drawing/2014/main" val="10000"/>
                  </a:ext>
                </a:extLst>
              </a:tr>
              <a:tr h="1285875">
                <a:tc>
                  <a:txBody>
                    <a:bodyPr/>
                    <a:lstStyle/>
                    <a:p>
                      <a:pPr algn="l">
                        <a:defRPr lang="cs-CZ" altLang="cs-CZ" noProof="0"/>
                      </a:pPr>
                      <a:r>
                        <a:rPr lang="cs-CZ" altLang="cs-CZ" sz="2250" b="0" noProof="0">
                          <a:solidFill>
                            <a:srgbClr val="142A3B"/>
                          </a:solidFill>
                          <a:latin typeface="Arial"/>
                          <a:ea typeface="Arial"/>
                          <a:cs typeface="Arial"/>
                        </a:rPr>
                        <a:t>Nezávislá proměnná</a:t>
                      </a:r>
                      <a:endParaRPr lang="cs-CZ" altLang="cs-CZ" noProof="0"/>
                    </a:p>
                    <a:p>
                      <a:pPr algn="l">
                        <a:defRPr lang="cs-CZ" altLang="cs-CZ" noProof="0"/>
                      </a:pPr>
                      <a:r>
                        <a:rPr lang="cs-CZ" altLang="cs-CZ" sz="2250" b="0" noProof="0">
                          <a:solidFill>
                            <a:srgbClr val="142A3B"/>
                          </a:solidFill>
                          <a:latin typeface="Arial"/>
                          <a:ea typeface="Arial"/>
                          <a:cs typeface="Arial"/>
                        </a:rPr>
                        <a:t>(independent variable)</a:t>
                      </a:r>
                      <a:endParaRPr lang="cs-CZ" altLang="cs-CZ" noProof="0"/>
                    </a:p>
                  </a:txBody>
                  <a:tcPr anchor="ctr">
                    <a:solidFill>
                      <a:srgbClr val="FFFFFF"/>
                    </a:solidFill>
                  </a:tcPr>
                </a:tc>
                <a:tc>
                  <a:txBody>
                    <a:bodyPr/>
                    <a:lstStyle/>
                    <a:p>
                      <a:pPr algn="l">
                        <a:defRPr lang="cs-CZ" altLang="cs-CZ" noProof="0"/>
                      </a:pPr>
                      <a:r>
                        <a:rPr lang="cs-CZ" altLang="cs-CZ" sz="2250" b="0" noProof="0">
                          <a:solidFill>
                            <a:srgbClr val="142A3B"/>
                          </a:solidFill>
                          <a:latin typeface="Arial"/>
                          <a:ea typeface="Arial"/>
                          <a:cs typeface="Arial"/>
                        </a:rPr>
                        <a:t>Podmínka, kterou výzkumník záměrně mění.</a:t>
                      </a:r>
                      <a:endParaRPr lang="cs-CZ" altLang="cs-CZ" noProof="0"/>
                    </a:p>
                  </a:txBody>
                  <a:tcPr anchor="ctr">
                    <a:solidFill>
                      <a:srgbClr val="FFFFFF"/>
                    </a:solidFill>
                  </a:tcPr>
                </a:tc>
                <a:tc>
                  <a:txBody>
                    <a:bodyPr/>
                    <a:lstStyle/>
                    <a:p>
                      <a:pPr algn="l">
                        <a:defRPr lang="cs-CZ" altLang="cs-CZ" noProof="0"/>
                      </a:pPr>
                      <a:r>
                        <a:rPr lang="cs-CZ" altLang="cs-CZ" sz="2250" b="0" noProof="0">
                          <a:solidFill>
                            <a:srgbClr val="142A3B"/>
                          </a:solidFill>
                          <a:latin typeface="Arial"/>
                          <a:ea typeface="Arial"/>
                          <a:cs typeface="Arial"/>
                        </a:rPr>
                        <a:t>Zvukové prostředí:</a:t>
                      </a:r>
                      <a:endParaRPr lang="cs-CZ" altLang="cs-CZ" noProof="0"/>
                    </a:p>
                    <a:p>
                      <a:pPr algn="l">
                        <a:defRPr lang="cs-CZ" altLang="cs-CZ" noProof="0"/>
                      </a:pPr>
                      <a:r>
                        <a:rPr lang="cs-CZ" altLang="cs-CZ" sz="2250" b="0" noProof="0">
                          <a:solidFill>
                            <a:srgbClr val="142A3B"/>
                          </a:solidFill>
                          <a:latin typeface="Arial"/>
                          <a:ea typeface="Arial"/>
                          <a:cs typeface="Arial"/>
                        </a:rPr>
                        <a:t>ticho / rušivé zvuky.</a:t>
                      </a:r>
                      <a:endParaRPr lang="cs-CZ" altLang="cs-CZ" noProof="0"/>
                    </a:p>
                  </a:txBody>
                  <a:tcPr anchor="ctr">
                    <a:solidFill>
                      <a:srgbClr val="FFFFFF"/>
                    </a:solidFill>
                  </a:tcPr>
                </a:tc>
                <a:extLst>
                  <a:ext uri="{0D108BD9-81ED-4DB2-BD59-A6C34878D82A}">
                    <a16:rowId xmlns:a16="http://schemas.microsoft.com/office/drawing/2014/main" val="10001"/>
                  </a:ext>
                </a:extLst>
              </a:tr>
              <a:tr h="1285875">
                <a:tc>
                  <a:txBody>
                    <a:bodyPr/>
                    <a:lstStyle/>
                    <a:p>
                      <a:pPr algn="l">
                        <a:defRPr lang="cs-CZ" altLang="cs-CZ" noProof="0"/>
                      </a:pPr>
                      <a:r>
                        <a:rPr lang="cs-CZ" altLang="cs-CZ" sz="2250" b="0" noProof="0">
                          <a:solidFill>
                            <a:srgbClr val="142A3B"/>
                          </a:solidFill>
                          <a:latin typeface="Arial"/>
                          <a:ea typeface="Arial"/>
                          <a:cs typeface="Arial"/>
                        </a:rPr>
                        <a:t>Závislá proměnná</a:t>
                      </a:r>
                      <a:endParaRPr lang="cs-CZ" altLang="cs-CZ" noProof="0"/>
                    </a:p>
                    <a:p>
                      <a:pPr algn="l">
                        <a:defRPr lang="cs-CZ" altLang="cs-CZ" noProof="0"/>
                      </a:pPr>
                      <a:r>
                        <a:rPr lang="cs-CZ" altLang="cs-CZ" sz="2250" b="0" noProof="0">
                          <a:solidFill>
                            <a:srgbClr val="142A3B"/>
                          </a:solidFill>
                          <a:latin typeface="Arial"/>
                          <a:ea typeface="Arial"/>
                          <a:cs typeface="Arial"/>
                        </a:rPr>
                        <a:t>(dependent variable)</a:t>
                      </a:r>
                      <a:endParaRPr lang="cs-CZ" altLang="cs-CZ" noProof="0"/>
                    </a:p>
                  </a:txBody>
                  <a:tcPr anchor="ctr">
                    <a:solidFill>
                      <a:srgbClr val="EDF2F3"/>
                    </a:solidFill>
                  </a:tcPr>
                </a:tc>
                <a:tc>
                  <a:txBody>
                    <a:bodyPr/>
                    <a:lstStyle/>
                    <a:p>
                      <a:pPr algn="l">
                        <a:defRPr lang="cs-CZ" altLang="cs-CZ" noProof="0"/>
                      </a:pPr>
                      <a:r>
                        <a:rPr lang="cs-CZ" altLang="cs-CZ" sz="2250" b="0" noProof="0">
                          <a:solidFill>
                            <a:srgbClr val="142A3B"/>
                          </a:solidFill>
                          <a:latin typeface="Arial"/>
                          <a:ea typeface="Arial"/>
                          <a:cs typeface="Arial"/>
                        </a:rPr>
                        <a:t>Měřený výsledek, na němž sledujeme případný účinek změny.</a:t>
                      </a:r>
                      <a:endParaRPr lang="cs-CZ" altLang="cs-CZ" noProof="0"/>
                    </a:p>
                  </a:txBody>
                  <a:tcPr anchor="ctr">
                    <a:solidFill>
                      <a:srgbClr val="EDF2F3"/>
                    </a:solidFill>
                  </a:tcPr>
                </a:tc>
                <a:tc>
                  <a:txBody>
                    <a:bodyPr/>
                    <a:lstStyle/>
                    <a:p>
                      <a:pPr algn="l">
                        <a:defRPr lang="cs-CZ" altLang="cs-CZ" noProof="0"/>
                      </a:pPr>
                      <a:r>
                        <a:rPr lang="cs-CZ" altLang="cs-CZ" sz="2250" b="0" noProof="0">
                          <a:solidFill>
                            <a:srgbClr val="142A3B"/>
                          </a:solidFill>
                          <a:latin typeface="Arial"/>
                          <a:ea typeface="Arial"/>
                          <a:cs typeface="Arial"/>
                        </a:rPr>
                        <a:t>Počet správně vybavených slov.</a:t>
                      </a:r>
                      <a:endParaRPr lang="cs-CZ" altLang="cs-CZ" noProof="0"/>
                    </a:p>
                  </a:txBody>
                  <a:tcPr anchor="ctr">
                    <a:solidFill>
                      <a:srgbClr val="EDF2F3"/>
                    </a:solidFill>
                  </a:tcPr>
                </a:tc>
                <a:extLst>
                  <a:ext uri="{0D108BD9-81ED-4DB2-BD59-A6C34878D82A}">
                    <a16:rowId xmlns:a16="http://schemas.microsoft.com/office/drawing/2014/main" val="10002"/>
                  </a:ext>
                </a:extLst>
              </a:tr>
            </a:tbl>
          </a:graphicData>
        </a:graphic>
      </p:graphicFrame>
      <p:sp>
        <p:nvSpPr>
          <p:cNvPr id="4" name="Obdélník 3">
            <a:extLst>
              <a:ext uri="{FF2B5EF4-FFF2-40B4-BE49-F238E27FC236}">
                <a16:creationId xmlns:a16="http://schemas.microsoft.com/office/drawing/2014/main" id="{E66240C9-DC80-4162-BD3A-43BF4E781834}"/>
              </a:ext>
            </a:extLst>
          </p:cNvPr>
          <p:cNvSpPr>
            <a:spLocks noGrp="1"/>
          </p:cNvSpPr>
          <p:nvPr/>
        </p:nvSpPr>
        <p:spPr>
          <a:xfrm>
            <a:off x="838200" y="6000750"/>
            <a:ext cx="13563600" cy="857250"/>
          </a:xfrm>
          <a:prstGeom prst="rect">
            <a:avLst/>
          </a:prstGeom>
          <a:noFill/>
          <a:ln w="0">
            <a:noFill/>
          </a:ln>
        </p:spPr>
        <p:txBody>
          <a:bodyPr wrap="square" lIns="0" tIns="0" rIns="0" bIns="0" anchor="t">
            <a:noAutofit/>
          </a:bodyPr>
          <a:lstStyle/>
          <a:p>
            <a:pPr>
              <a:defRPr lang="cs-CZ" altLang="cs-CZ" sz="2475" b="1" noProof="0">
                <a:solidFill>
                  <a:srgbClr val="176A83"/>
                </a:solidFill>
                <a:latin typeface="Arial"/>
                <a:ea typeface="Arial"/>
                <a:cs typeface="Arial"/>
              </a:defRPr>
            </a:pPr>
            <a:r>
              <a:rPr lang="cs-CZ" altLang="cs-CZ" sz="2475" b="1" noProof="0">
                <a:solidFill>
                  <a:srgbClr val="176A83"/>
                </a:solidFill>
                <a:latin typeface="Arial"/>
                <a:ea typeface="Arial"/>
                <a:cs typeface="Arial"/>
              </a:rPr>
              <a:t>Označení vyjadřuje roli proměnné ve studii.</a:t>
            </a:r>
            <a:endParaRPr lang="cs-CZ" altLang="cs-CZ" noProof="0"/>
          </a:p>
          <a:p>
            <a:pPr>
              <a:defRPr lang="cs-CZ" altLang="cs-CZ" sz="2475" b="1" noProof="0">
                <a:solidFill>
                  <a:srgbClr val="176A83"/>
                </a:solidFill>
                <a:latin typeface="Arial"/>
                <a:ea typeface="Arial"/>
                <a:cs typeface="Arial"/>
              </a:defRPr>
            </a:pPr>
            <a:r>
              <a:rPr lang="cs-CZ" altLang="cs-CZ" sz="2475" b="1" noProof="0">
                <a:solidFill>
                  <a:srgbClr val="176A83"/>
                </a:solidFill>
                <a:latin typeface="Arial"/>
                <a:ea typeface="Arial"/>
                <a:cs typeface="Arial"/>
              </a:rPr>
              <a:t>Samo neprokazuje příčinný vztah.</a:t>
            </a:r>
            <a:endParaRPr lang="cs-CZ" altLang="cs-CZ" noProof="0"/>
          </a:p>
        </p:txBody>
      </p:sp>
      <p:sp>
        <p:nvSpPr>
          <p:cNvPr id="5" name="Obdélník 4">
            <a:extLst>
              <a:ext uri="{FF2B5EF4-FFF2-40B4-BE49-F238E27FC236}">
                <a16:creationId xmlns:a16="http://schemas.microsoft.com/office/drawing/2014/main" id="{319E958B-B699-4A77-9AB3-D04B63B2E594}"/>
              </a:ext>
            </a:extLst>
          </p:cNvPr>
          <p:cNvSpPr>
            <a:spLocks noGrp="1"/>
          </p:cNvSpPr>
          <p:nvPr/>
        </p:nvSpPr>
        <p:spPr>
          <a:xfrm>
            <a:off x="838200" y="7162800"/>
            <a:ext cx="13563600" cy="781050"/>
          </a:xfrm>
          <a:prstGeom prst="rect">
            <a:avLst/>
          </a:prstGeom>
          <a:noFill/>
          <a:ln w="0">
            <a:noFill/>
          </a:ln>
        </p:spPr>
        <p:txBody>
          <a:bodyPr wrap="square" lIns="0" tIns="0" rIns="0" bIns="0" anchor="t">
            <a:noAutofit/>
          </a:bodyPr>
          <a:lstStyle/>
          <a:p>
            <a:pPr>
              <a:defRPr lang="cs-CZ" altLang="cs-CZ" sz="2175" b="0" noProof="0">
                <a:solidFill>
                  <a:srgbClr val="142A3B"/>
                </a:solidFill>
                <a:latin typeface="Arial"/>
                <a:ea typeface="Arial"/>
                <a:cs typeface="Arial"/>
              </a:defRPr>
            </a:pPr>
            <a:r>
              <a:rPr lang="cs-CZ" altLang="cs-CZ" sz="2175" b="0" noProof="0">
                <a:solidFill>
                  <a:srgbClr val="142A3B"/>
                </a:solidFill>
                <a:latin typeface="Arial"/>
                <a:ea typeface="Arial"/>
                <a:cs typeface="Arial"/>
              </a:rPr>
              <a:t>K zamyšlení: Měníme čas na učení a měříme počet vybavených slov.</a:t>
            </a:r>
            <a:endParaRPr lang="cs-CZ" altLang="cs-CZ" noProof="0"/>
          </a:p>
          <a:p>
            <a:pPr>
              <a:defRPr lang="cs-CZ" altLang="cs-CZ" sz="2175" b="0" noProof="0">
                <a:solidFill>
                  <a:srgbClr val="142A3B"/>
                </a:solidFill>
                <a:latin typeface="Arial"/>
                <a:ea typeface="Arial"/>
                <a:cs typeface="Arial"/>
              </a:defRPr>
            </a:pPr>
            <a:r>
              <a:rPr lang="cs-CZ" altLang="cs-CZ" sz="2175" b="0" noProof="0">
                <a:solidFill>
                  <a:srgbClr val="142A3B"/>
                </a:solidFill>
                <a:latin typeface="Arial"/>
                <a:ea typeface="Arial"/>
                <a:cs typeface="Arial"/>
              </a:rPr>
              <a:t>Co je nezávislou a co závislou proměnnou?</a:t>
            </a:r>
            <a:endParaRPr lang="cs-CZ" altLang="cs-CZ" noProof="0"/>
          </a:p>
        </p:txBody>
      </p:sp>
    </p:spTree>
    <p:extLst>
      <p:ext uri="{BB962C8B-B14F-4D97-AF65-F5344CB8AC3E}">
        <p14:creationId xmlns:p14="http://schemas.microsoft.com/office/powerpoint/2010/main" val="1018387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299849DB-1F4B-40D0-B7B0-7B322B62256F}"/>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Náhodný výběr a náhodné přiřazení</a:t>
            </a:r>
            <a:endParaRPr lang="cs-CZ" altLang="cs-CZ" noProof="0"/>
          </a:p>
        </p:txBody>
      </p:sp>
      <p:sp>
        <p:nvSpPr>
          <p:cNvPr id="2" name="text-1">
            <a:extLst>
              <a:ext uri="{FF2B5EF4-FFF2-40B4-BE49-F238E27FC236}">
                <a16:creationId xmlns:a16="http://schemas.microsoft.com/office/drawing/2014/main" id="{A0EBDC9A-595E-4227-9691-B3E3A96EDEA5}"/>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10</a:t>
            </a:r>
            <a:endParaRPr lang="cs-CZ" altLang="cs-CZ" noProof="0"/>
          </a:p>
        </p:txBody>
      </p:sp>
      <p:sp>
        <p:nvSpPr>
          <p:cNvPr id="3" name="text-2">
            <a:extLst>
              <a:ext uri="{FF2B5EF4-FFF2-40B4-BE49-F238E27FC236}">
                <a16:creationId xmlns:a16="http://schemas.microsoft.com/office/drawing/2014/main" id="{15C36C27-EB0E-4D8E-AEB3-A3290D358A9A}"/>
              </a:ext>
            </a:extLst>
          </p:cNvPr>
          <p:cNvSpPr>
            <a:spLocks noGrp="1"/>
          </p:cNvSpPr>
          <p:nvPr/>
        </p:nvSpPr>
        <p:spPr>
          <a:xfrm>
            <a:off x="838200" y="1952625"/>
            <a:ext cx="13563600" cy="952500"/>
          </a:xfrm>
          <a:prstGeom prst="rect">
            <a:avLst/>
          </a:prstGeom>
          <a:noFill/>
          <a:ln w="0">
            <a:noFill/>
          </a:ln>
        </p:spPr>
        <p:txBody>
          <a:bodyPr wrap="square" lIns="0" tIns="0" rIns="0" bIns="0" anchor="t">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O čem rozhoduje náhodný mechanismus?</a:t>
            </a:r>
            <a:endParaRPr lang="cs-CZ" altLang="cs-CZ" noProof="0"/>
          </a:p>
        </p:txBody>
      </p:sp>
      <p:graphicFrame>
        <p:nvGraphicFramePr>
          <p:cNvPr id="10" name="Tabulka 9"/>
          <p:cNvGraphicFramePr/>
          <p:nvPr>
            <p:extLst>
              <p:ext uri="{D42A27DB-BD31-4B8C-83A1-F6EECF244321}">
                <p14:modId xmlns:p14="http://schemas.microsoft.com/office/powerpoint/2010/main" val="1450198990"/>
              </p:ext>
            </p:extLst>
          </p:nvPr>
        </p:nvGraphicFramePr>
        <p:xfrm>
          <a:off x="838200" y="3381375"/>
          <a:ext cx="13563600" cy="2857500"/>
        </p:xfrm>
        <a:graphic>
          <a:graphicData uri="http://schemas.openxmlformats.org/drawingml/2006/table">
            <a:tbl>
              <a:tblPr/>
              <a:tblGrid>
                <a:gridCol w="3381375">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gridCol w="5038725">
                  <a:extLst>
                    <a:ext uri="{9D8B030D-6E8A-4147-A177-3AD203B41FA5}">
                      <a16:colId xmlns:a16="http://schemas.microsoft.com/office/drawing/2014/main" val="20002"/>
                    </a:ext>
                  </a:extLst>
                </a:gridCol>
              </a:tblGrid>
              <a:tr h="952500">
                <a:tc>
                  <a:txBody>
                    <a:bodyPr/>
                    <a:lstStyle/>
                    <a:p>
                      <a:pPr algn="l">
                        <a:defRPr lang="cs-CZ" altLang="cs-CZ" noProof="0"/>
                      </a:pPr>
                      <a:r>
                        <a:rPr lang="cs-CZ" altLang="cs-CZ" sz="2250" b="1" noProof="0">
                          <a:solidFill>
                            <a:srgbClr val="FFFFFF"/>
                          </a:solidFill>
                          <a:latin typeface="Arial"/>
                          <a:ea typeface="Arial"/>
                          <a:cs typeface="Arial"/>
                        </a:rPr>
                        <a:t>Postup</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250" b="1" noProof="0">
                          <a:solidFill>
                            <a:srgbClr val="FFFFFF"/>
                          </a:solidFill>
                          <a:latin typeface="Arial"/>
                          <a:ea typeface="Arial"/>
                          <a:cs typeface="Arial"/>
                        </a:rPr>
                        <a:t>O čem rozhoduje</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250" b="1" noProof="0">
                          <a:solidFill>
                            <a:srgbClr val="FFFFFF"/>
                          </a:solidFill>
                          <a:latin typeface="Arial"/>
                          <a:ea typeface="Arial"/>
                          <a:cs typeface="Arial"/>
                        </a:rPr>
                        <a:t>Hlavní otázka</a:t>
                      </a:r>
                      <a:endParaRPr lang="cs-CZ" altLang="cs-CZ" noProof="0"/>
                    </a:p>
                  </a:txBody>
                  <a:tcPr marL="171450" marR="171450" marT="142875" marB="114300" anchor="ctr">
                    <a:solidFill>
                      <a:srgbClr val="142A3B"/>
                    </a:solidFill>
                  </a:tcPr>
                </a:tc>
                <a:extLst>
                  <a:ext uri="{0D108BD9-81ED-4DB2-BD59-A6C34878D82A}">
                    <a16:rowId xmlns:a16="http://schemas.microsoft.com/office/drawing/2014/main" val="10000"/>
                  </a:ext>
                </a:extLst>
              </a:tr>
              <a:tr h="952500">
                <a:tc>
                  <a:txBody>
                    <a:bodyPr/>
                    <a:lstStyle/>
                    <a:p>
                      <a:pPr algn="l">
                        <a:defRPr lang="cs-CZ" altLang="cs-CZ" noProof="0"/>
                      </a:pPr>
                      <a:r>
                        <a:rPr lang="cs-CZ" altLang="cs-CZ" sz="2250" b="0" noProof="0">
                          <a:solidFill>
                            <a:srgbClr val="142A3B"/>
                          </a:solidFill>
                          <a:latin typeface="Arial"/>
                          <a:ea typeface="Arial"/>
                          <a:cs typeface="Arial"/>
                        </a:rPr>
                        <a:t>Náhodný výběr</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250" b="0" noProof="0">
                          <a:solidFill>
                            <a:srgbClr val="142A3B"/>
                          </a:solidFill>
                          <a:latin typeface="Arial"/>
                          <a:ea typeface="Arial"/>
                          <a:cs typeface="Arial"/>
                        </a:rPr>
                        <a:t>Kdo se dostane do studie.</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250" b="0" noProof="0">
                          <a:solidFill>
                            <a:srgbClr val="142A3B"/>
                          </a:solidFill>
                          <a:latin typeface="Arial"/>
                          <a:ea typeface="Arial"/>
                          <a:cs typeface="Arial"/>
                        </a:rPr>
                        <a:t>Na koho závěr vztáhneme?</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1"/>
                  </a:ext>
                </a:extLst>
              </a:tr>
              <a:tr h="952500">
                <a:tc>
                  <a:txBody>
                    <a:bodyPr/>
                    <a:lstStyle/>
                    <a:p>
                      <a:pPr algn="l">
                        <a:defRPr lang="cs-CZ" altLang="cs-CZ" noProof="0"/>
                      </a:pPr>
                      <a:r>
                        <a:rPr lang="cs-CZ" altLang="cs-CZ" sz="2250" b="0" noProof="0">
                          <a:solidFill>
                            <a:srgbClr val="142A3B"/>
                          </a:solidFill>
                          <a:latin typeface="Arial"/>
                          <a:ea typeface="Arial"/>
                          <a:cs typeface="Arial"/>
                        </a:rPr>
                        <a:t>Náhodné přiřazení</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250" b="0" noProof="0">
                          <a:solidFill>
                            <a:srgbClr val="142A3B"/>
                          </a:solidFill>
                          <a:latin typeface="Arial"/>
                          <a:ea typeface="Arial"/>
                          <a:cs typeface="Arial"/>
                        </a:rPr>
                        <a:t>Do které podmínky zařadíme účastníka.</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250" b="0" noProof="0">
                          <a:solidFill>
                            <a:srgbClr val="142A3B"/>
                          </a:solidFill>
                          <a:latin typeface="Arial"/>
                          <a:ea typeface="Arial"/>
                          <a:cs typeface="Arial"/>
                        </a:rPr>
                        <a:t>Můžeme rozdíl připsat zásahu?</a:t>
                      </a:r>
                      <a:endParaRPr lang="cs-CZ" altLang="cs-CZ" noProof="0"/>
                    </a:p>
                  </a:txBody>
                  <a:tcPr marL="171450" marR="171450" marT="142875" marB="114300" anchor="ctr">
                    <a:solidFill>
                      <a:srgbClr val="EDF2F3"/>
                    </a:solidFill>
                  </a:tcPr>
                </a:tc>
                <a:extLst>
                  <a:ext uri="{0D108BD9-81ED-4DB2-BD59-A6C34878D82A}">
                    <a16:rowId xmlns:a16="http://schemas.microsoft.com/office/drawing/2014/main" val="10002"/>
                  </a:ext>
                </a:extLst>
              </a:tr>
            </a:tbl>
          </a:graphicData>
        </a:graphic>
      </p:graphicFrame>
      <p:sp>
        <p:nvSpPr>
          <p:cNvPr id="5" name="text-3">
            <a:extLst>
              <a:ext uri="{FF2B5EF4-FFF2-40B4-BE49-F238E27FC236}">
                <a16:creationId xmlns:a16="http://schemas.microsoft.com/office/drawing/2014/main" id="{56D58376-782D-443D-B434-9E80152C86F2}"/>
              </a:ext>
            </a:extLst>
          </p:cNvPr>
          <p:cNvSpPr>
            <a:spLocks noGrp="1"/>
          </p:cNvSpPr>
          <p:nvPr/>
        </p:nvSpPr>
        <p:spPr>
          <a:xfrm>
            <a:off x="838200" y="6562725"/>
            <a:ext cx="13563600" cy="762000"/>
          </a:xfrm>
          <a:prstGeom prst="rect">
            <a:avLst/>
          </a:prstGeom>
          <a:noFill/>
          <a:ln w="0">
            <a:noFill/>
          </a:ln>
        </p:spPr>
        <p:txBody>
          <a:bodyPr wrap="square" lIns="0" tIns="0" rIns="0" bIns="0" anchor="t">
            <a:noAutofit/>
          </a:bodyPr>
          <a:lstStyle/>
          <a:p>
            <a:pPr>
              <a:defRPr lang="cs-CZ" altLang="cs-CZ" sz="2250" b="1" noProof="0">
                <a:solidFill>
                  <a:srgbClr val="176A83"/>
                </a:solidFill>
                <a:latin typeface="Arial"/>
                <a:ea typeface="Arial"/>
                <a:cs typeface="Arial"/>
              </a:defRPr>
            </a:pPr>
            <a:r>
              <a:rPr lang="cs-CZ" altLang="cs-CZ" sz="2250" b="1" noProof="0">
                <a:solidFill>
                  <a:srgbClr val="176A83"/>
                </a:solidFill>
                <a:latin typeface="Arial"/>
                <a:ea typeface="Arial"/>
                <a:cs typeface="Arial"/>
              </a:rPr>
              <a:t>Losování mezi dobrovolníky nezmění způsob jejich náboru.</a:t>
            </a:r>
            <a:endParaRPr lang="cs-CZ" altLang="cs-CZ" noProof="0"/>
          </a:p>
        </p:txBody>
      </p:sp>
      <p:sp>
        <p:nvSpPr>
          <p:cNvPr id="6" name="text-4">
            <a:extLst>
              <a:ext uri="{FF2B5EF4-FFF2-40B4-BE49-F238E27FC236}">
                <a16:creationId xmlns:a16="http://schemas.microsoft.com/office/drawing/2014/main" id="{79809889-30F8-4268-9145-E17B0D77B7CC}"/>
              </a:ext>
            </a:extLst>
          </p:cNvPr>
          <p:cNvSpPr>
            <a:spLocks noGrp="1"/>
          </p:cNvSpPr>
          <p:nvPr/>
        </p:nvSpPr>
        <p:spPr>
          <a:xfrm>
            <a:off x="838200" y="7439025"/>
            <a:ext cx="13563600" cy="457200"/>
          </a:xfrm>
          <a:prstGeom prst="rect">
            <a:avLst/>
          </a:prstGeom>
          <a:noFill/>
          <a:ln w="0">
            <a:noFill/>
          </a:ln>
        </p:spPr>
        <p:txBody>
          <a:bodyPr wrap="square" lIns="0" tIns="0" rIns="0" bIns="0" anchor="t">
            <a:noAutofit/>
          </a:bodyPr>
          <a:lstStyle/>
          <a:p>
            <a:pPr>
              <a:defRPr lang="cs-CZ" altLang="cs-CZ" sz="2100" b="0" noProof="0">
                <a:solidFill>
                  <a:srgbClr val="576574"/>
                </a:solidFill>
                <a:latin typeface="Arial"/>
                <a:ea typeface="Arial"/>
                <a:cs typeface="Arial"/>
              </a:defRPr>
            </a:pPr>
            <a:r>
              <a:rPr lang="cs-CZ" altLang="cs-CZ" sz="2100" b="0" noProof="0">
                <a:solidFill>
                  <a:srgbClr val="576574"/>
                </a:solidFill>
                <a:latin typeface="Arial"/>
                <a:ea typeface="Arial"/>
                <a:cs typeface="Arial"/>
              </a:rPr>
              <a:t>Nábor a přiřazení k podmínkám posuzujeme odděleně.</a:t>
            </a:r>
            <a:endParaRPr lang="cs-CZ" altLang="cs-CZ" noProof="0"/>
          </a:p>
        </p:txBody>
      </p:sp>
    </p:spTree>
    <p:extLst>
      <p:ext uri="{BB962C8B-B14F-4D97-AF65-F5344CB8AC3E}">
        <p14:creationId xmlns:p14="http://schemas.microsoft.com/office/powerpoint/2010/main" val="1693000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ADECA0E5-C6FF-4FB8-B716-955D42DC7838}"/>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Interní a externí validita</a:t>
            </a:r>
            <a:endParaRPr lang="cs-CZ" altLang="cs-CZ" noProof="0"/>
          </a:p>
        </p:txBody>
      </p:sp>
      <p:sp>
        <p:nvSpPr>
          <p:cNvPr id="2" name="text-1">
            <a:extLst>
              <a:ext uri="{FF2B5EF4-FFF2-40B4-BE49-F238E27FC236}">
                <a16:creationId xmlns:a16="http://schemas.microsoft.com/office/drawing/2014/main" id="{6C74F8A3-30A4-4E3C-B89C-0F310F501BD1}"/>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noProof="0"/>
              <a:t>11</a:t>
            </a:r>
          </a:p>
        </p:txBody>
      </p:sp>
      <p:sp>
        <p:nvSpPr>
          <p:cNvPr id="3" name="text-2">
            <a:extLst>
              <a:ext uri="{FF2B5EF4-FFF2-40B4-BE49-F238E27FC236}">
                <a16:creationId xmlns:a16="http://schemas.microsoft.com/office/drawing/2014/main" id="{9FCB4943-3492-42F4-BB9D-0724DB622D71}"/>
              </a:ext>
            </a:extLst>
          </p:cNvPr>
          <p:cNvSpPr>
            <a:spLocks noGrp="1"/>
          </p:cNvSpPr>
          <p:nvPr/>
        </p:nvSpPr>
        <p:spPr>
          <a:xfrm>
            <a:off x="838200" y="2333625"/>
            <a:ext cx="6191250" cy="647700"/>
          </a:xfrm>
          <a:prstGeom prst="rect">
            <a:avLst/>
          </a:prstGeom>
          <a:noFill/>
          <a:ln w="0">
            <a:noFill/>
          </a:ln>
        </p:spPr>
        <p:txBody>
          <a:bodyPr wrap="square" lIns="0" tIns="0" rIns="0" bIns="0" anchor="t">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Interní validita</a:t>
            </a:r>
            <a:endParaRPr lang="cs-CZ" altLang="cs-CZ" noProof="0"/>
          </a:p>
        </p:txBody>
      </p:sp>
      <p:sp>
        <p:nvSpPr>
          <p:cNvPr id="4" name="text-3">
            <a:extLst>
              <a:ext uri="{FF2B5EF4-FFF2-40B4-BE49-F238E27FC236}">
                <a16:creationId xmlns:a16="http://schemas.microsoft.com/office/drawing/2014/main" id="{0AA1CCAE-DC08-494C-86BD-E3739DECE2F8}"/>
              </a:ext>
            </a:extLst>
          </p:cNvPr>
          <p:cNvSpPr>
            <a:spLocks noGrp="1"/>
          </p:cNvSpPr>
          <p:nvPr/>
        </p:nvSpPr>
        <p:spPr>
          <a:xfrm>
            <a:off x="838200" y="3133725"/>
            <a:ext cx="6191250" cy="319087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Máme oporu pro příčinu?</a:t>
            </a:r>
            <a:endParaRPr lang="cs-CZ" altLang="cs-CZ" noProof="0"/>
          </a:p>
          <a:p>
            <a:pPr>
              <a:defRPr lang="cs-CZ" altLang="cs-CZ" noProof="0"/>
            </a:pPr>
            <a:endParaRPr lang="cs-CZ" altLang="cs-CZ" sz="2550" b="0" noProof="0">
              <a:solidFill>
                <a:srgbClr val="142A3B"/>
              </a:solidFill>
              <a:latin typeface="Arial"/>
              <a:ea typeface="Arial"/>
              <a:cs typeface="Arial"/>
            </a:endParaRPr>
          </a:p>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Příklad problému: skupina se zvuky dostala také těžší slova.</a:t>
            </a:r>
            <a:endParaRPr lang="cs-CZ" altLang="cs-CZ" noProof="0"/>
          </a:p>
        </p:txBody>
      </p:sp>
      <p:sp>
        <p:nvSpPr>
          <p:cNvPr id="5" name="text-4">
            <a:extLst>
              <a:ext uri="{FF2B5EF4-FFF2-40B4-BE49-F238E27FC236}">
                <a16:creationId xmlns:a16="http://schemas.microsoft.com/office/drawing/2014/main" id="{F1604916-6049-4935-A9E6-1EDB4DC592AD}"/>
              </a:ext>
            </a:extLst>
          </p:cNvPr>
          <p:cNvSpPr>
            <a:spLocks noGrp="1"/>
          </p:cNvSpPr>
          <p:nvPr/>
        </p:nvSpPr>
        <p:spPr>
          <a:xfrm>
            <a:off x="8020050" y="2333625"/>
            <a:ext cx="6381750" cy="647700"/>
          </a:xfrm>
          <a:prstGeom prst="rect">
            <a:avLst/>
          </a:prstGeom>
          <a:noFill/>
          <a:ln w="0">
            <a:noFill/>
          </a:ln>
        </p:spPr>
        <p:txBody>
          <a:bodyPr wrap="square" lIns="0" tIns="0" rIns="0" bIns="0" anchor="t">
            <a:noAutofit/>
          </a:bodyPr>
          <a:lstStyle/>
          <a:p>
            <a:pPr>
              <a:defRPr lang="cs-CZ" altLang="cs-CZ" sz="2850" b="1" noProof="0">
                <a:solidFill>
                  <a:srgbClr val="176A83"/>
                </a:solidFill>
                <a:latin typeface="Arial"/>
                <a:ea typeface="Arial"/>
                <a:cs typeface="Arial"/>
              </a:defRPr>
            </a:pPr>
            <a:r>
              <a:rPr lang="cs-CZ" altLang="cs-CZ" sz="2850" b="1" noProof="0">
                <a:solidFill>
                  <a:srgbClr val="176A83"/>
                </a:solidFill>
                <a:latin typeface="Arial"/>
                <a:ea typeface="Arial"/>
                <a:cs typeface="Arial"/>
              </a:rPr>
              <a:t>Externí validita</a:t>
            </a:r>
            <a:endParaRPr lang="cs-CZ" altLang="cs-CZ" noProof="0"/>
          </a:p>
        </p:txBody>
      </p:sp>
      <p:sp>
        <p:nvSpPr>
          <p:cNvPr id="6" name="text-5">
            <a:extLst>
              <a:ext uri="{FF2B5EF4-FFF2-40B4-BE49-F238E27FC236}">
                <a16:creationId xmlns:a16="http://schemas.microsoft.com/office/drawing/2014/main" id="{D29C346D-0E5B-40BE-BE15-C43792A7D2D3}"/>
              </a:ext>
            </a:extLst>
          </p:cNvPr>
          <p:cNvSpPr>
            <a:spLocks noGrp="1"/>
          </p:cNvSpPr>
          <p:nvPr/>
        </p:nvSpPr>
        <p:spPr>
          <a:xfrm>
            <a:off x="8020050" y="3133725"/>
            <a:ext cx="6381750" cy="319087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Máme oporu pro přenos?</a:t>
            </a:r>
            <a:endParaRPr lang="cs-CZ" altLang="cs-CZ" noProof="0"/>
          </a:p>
          <a:p>
            <a:pPr>
              <a:defRPr lang="cs-CZ" altLang="cs-CZ" noProof="0"/>
            </a:pPr>
            <a:endParaRPr lang="cs-CZ" altLang="cs-CZ" sz="2550" b="0" noProof="0">
              <a:solidFill>
                <a:srgbClr val="142A3B"/>
              </a:solidFill>
              <a:latin typeface="Arial"/>
              <a:ea typeface="Arial"/>
              <a:cs typeface="Arial"/>
            </a:endParaRPr>
          </a:p>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Platí závěr také pro starší lidi při učení doma?</a:t>
            </a:r>
            <a:endParaRPr lang="cs-CZ" altLang="cs-CZ" noProof="0"/>
          </a:p>
        </p:txBody>
      </p:sp>
      <p:sp>
        <p:nvSpPr>
          <p:cNvPr id="7" name="text-6">
            <a:extLst>
              <a:ext uri="{FF2B5EF4-FFF2-40B4-BE49-F238E27FC236}">
                <a16:creationId xmlns:a16="http://schemas.microsoft.com/office/drawing/2014/main" id="{39EDA687-ADEE-4E40-9089-6542AF28FABF}"/>
              </a:ext>
            </a:extLst>
          </p:cNvPr>
          <p:cNvSpPr>
            <a:spLocks noGrp="1"/>
          </p:cNvSpPr>
          <p:nvPr/>
        </p:nvSpPr>
        <p:spPr>
          <a:xfrm>
            <a:off x="838200" y="6867525"/>
            <a:ext cx="13563600" cy="1047750"/>
          </a:xfrm>
          <a:prstGeom prst="rect">
            <a:avLst/>
          </a:prstGeom>
          <a:noFill/>
          <a:ln w="0">
            <a:noFill/>
          </a:ln>
        </p:spPr>
        <p:txBody>
          <a:bodyPr wrap="square" lIns="0" tIns="0" rIns="0" bIns="0" anchor="t">
            <a:noAutofit/>
          </a:bodyPr>
          <a:lstStyle/>
          <a:p>
            <a:pPr>
              <a:defRPr lang="cs-CZ" altLang="cs-CZ" sz="2400" b="1" noProof="0">
                <a:solidFill>
                  <a:srgbClr val="176A83"/>
                </a:solidFill>
                <a:latin typeface="Arial"/>
                <a:ea typeface="Arial"/>
                <a:cs typeface="Arial"/>
              </a:defRPr>
            </a:pPr>
            <a:r>
              <a:rPr lang="cs-CZ" altLang="cs-CZ" sz="2400" b="1" noProof="0">
                <a:solidFill>
                  <a:srgbClr val="176A83"/>
                </a:solidFill>
                <a:latin typeface="Arial"/>
                <a:ea typeface="Arial"/>
                <a:cs typeface="Arial"/>
              </a:rPr>
              <a:t>Pro přenos příčinného závěru potřebujeme oporu pro oba kroky.</a:t>
            </a:r>
            <a:endParaRPr lang="cs-CZ" altLang="cs-CZ" noProof="0"/>
          </a:p>
        </p:txBody>
      </p:sp>
    </p:spTree>
    <p:extLst>
      <p:ext uri="{BB962C8B-B14F-4D97-AF65-F5344CB8AC3E}">
        <p14:creationId xmlns:p14="http://schemas.microsoft.com/office/powerpoint/2010/main" val="1934288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BA833EAF-F744-4832-B351-451DE08F0D6A}"/>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Konstrukt a operacionalizace</a:t>
            </a:r>
            <a:endParaRPr lang="cs-CZ" altLang="cs-CZ" noProof="0"/>
          </a:p>
        </p:txBody>
      </p:sp>
      <p:sp>
        <p:nvSpPr>
          <p:cNvPr id="2" name="text-1">
            <a:extLst>
              <a:ext uri="{FF2B5EF4-FFF2-40B4-BE49-F238E27FC236}">
                <a16:creationId xmlns:a16="http://schemas.microsoft.com/office/drawing/2014/main" id="{03979034-A3EF-4D7E-93DF-3043F00E051F}"/>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12</a:t>
            </a:r>
            <a:endParaRPr lang="cs-CZ" altLang="cs-CZ" noProof="0"/>
          </a:p>
        </p:txBody>
      </p:sp>
      <p:graphicFrame>
        <p:nvGraphicFramePr>
          <p:cNvPr id="7" name="Tabulka 6"/>
          <p:cNvGraphicFramePr/>
          <p:nvPr>
            <p:extLst>
              <p:ext uri="{D42A27DB-BD31-4B8C-83A1-F6EECF244321}">
                <p14:modId xmlns:p14="http://schemas.microsoft.com/office/powerpoint/2010/main" val="2680284860"/>
              </p:ext>
            </p:extLst>
          </p:nvPr>
        </p:nvGraphicFramePr>
        <p:xfrm>
          <a:off x="838200" y="2095500"/>
          <a:ext cx="13563600" cy="4623435"/>
        </p:xfrm>
        <a:graphic>
          <a:graphicData uri="http://schemas.openxmlformats.org/drawingml/2006/table">
            <a:tbl>
              <a:tblPr/>
              <a:tblGrid>
                <a:gridCol w="4333875">
                  <a:extLst>
                    <a:ext uri="{9D8B030D-6E8A-4147-A177-3AD203B41FA5}">
                      <a16:colId xmlns:a16="http://schemas.microsoft.com/office/drawing/2014/main" val="20000"/>
                    </a:ext>
                  </a:extLst>
                </a:gridCol>
                <a:gridCol w="9229725">
                  <a:extLst>
                    <a:ext uri="{9D8B030D-6E8A-4147-A177-3AD203B41FA5}">
                      <a16:colId xmlns:a16="http://schemas.microsoft.com/office/drawing/2014/main" val="20001"/>
                    </a:ext>
                  </a:extLst>
                </a:gridCol>
              </a:tblGrid>
              <a:tr h="914400">
                <a:tc>
                  <a:txBody>
                    <a:bodyPr/>
                    <a:lstStyle/>
                    <a:p>
                      <a:pPr algn="l">
                        <a:defRPr lang="cs-CZ" altLang="cs-CZ" noProof="0"/>
                      </a:pPr>
                      <a:r>
                        <a:rPr lang="cs-CZ" altLang="cs-CZ" sz="2325" b="1" noProof="0">
                          <a:solidFill>
                            <a:srgbClr val="FFFFFF"/>
                          </a:solidFill>
                          <a:latin typeface="Arial"/>
                          <a:ea typeface="Arial"/>
                          <a:cs typeface="Arial"/>
                        </a:rPr>
                        <a:t>Pojem</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325" b="1" noProof="0">
                          <a:solidFill>
                            <a:srgbClr val="FFFFFF"/>
                          </a:solidFill>
                          <a:latin typeface="Arial"/>
                          <a:ea typeface="Arial"/>
                          <a:cs typeface="Arial"/>
                        </a:rPr>
                        <a:t>V modelové úloze</a:t>
                      </a:r>
                      <a:endParaRPr lang="cs-CZ" altLang="cs-CZ" noProof="0"/>
                    </a:p>
                  </a:txBody>
                  <a:tcPr marL="171450" marR="171450" marT="142875" marB="114300" anchor="ctr">
                    <a:solidFill>
                      <a:srgbClr val="142A3B"/>
                    </a:solidFill>
                  </a:tcPr>
                </a:tc>
                <a:extLst>
                  <a:ext uri="{0D108BD9-81ED-4DB2-BD59-A6C34878D82A}">
                    <a16:rowId xmlns:a16="http://schemas.microsoft.com/office/drawing/2014/main" val="10000"/>
                  </a:ext>
                </a:extLst>
              </a:tr>
              <a:tr h="914400">
                <a:tc>
                  <a:txBody>
                    <a:bodyPr/>
                    <a:lstStyle/>
                    <a:p>
                      <a:pPr algn="l">
                        <a:defRPr lang="cs-CZ" altLang="cs-CZ" noProof="0"/>
                      </a:pPr>
                      <a:r>
                        <a:rPr lang="cs-CZ" altLang="cs-CZ" sz="2325" b="0" noProof="0">
                          <a:solidFill>
                            <a:srgbClr val="142A3B"/>
                          </a:solidFill>
                          <a:latin typeface="Arial"/>
                          <a:ea typeface="Arial"/>
                          <a:cs typeface="Arial"/>
                        </a:rPr>
                        <a:t>Konstrukt (</a:t>
                      </a:r>
                      <a:r>
                        <a:rPr lang="cs-CZ" altLang="cs-CZ" sz="2325" b="0" noProof="0" err="1">
                          <a:solidFill>
                            <a:srgbClr val="142A3B"/>
                          </a:solidFill>
                          <a:latin typeface="Arial"/>
                          <a:ea typeface="Arial"/>
                          <a:cs typeface="Arial"/>
                        </a:rPr>
                        <a:t>construct</a:t>
                      </a:r>
                      <a:r>
                        <a:rPr lang="cs-CZ" altLang="cs-CZ" sz="2325" b="0" noProof="0">
                          <a:solidFill>
                            <a:srgbClr val="142A3B"/>
                          </a:solidFill>
                          <a:latin typeface="Arial"/>
                          <a:ea typeface="Arial"/>
                          <a:cs typeface="Arial"/>
                        </a:rPr>
                        <a:t>)</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Určitá stránka paměti.</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1"/>
                  </a:ext>
                </a:extLst>
              </a:tr>
              <a:tr h="914400">
                <a:tc>
                  <a:txBody>
                    <a:bodyPr/>
                    <a:lstStyle/>
                    <a:p>
                      <a:pPr algn="l">
                        <a:defRPr lang="cs-CZ" altLang="cs-CZ" noProof="0"/>
                      </a:pPr>
                      <a:r>
                        <a:rPr lang="cs-CZ" altLang="cs-CZ" sz="2325" b="0" noProof="0">
                          <a:solidFill>
                            <a:srgbClr val="142A3B"/>
                          </a:solidFill>
                          <a:latin typeface="Arial"/>
                          <a:ea typeface="Arial"/>
                          <a:cs typeface="Arial"/>
                        </a:rPr>
                        <a:t>Operacionalizace</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Čtení 12 slov a bezprostřední vybavování.</a:t>
                      </a:r>
                      <a:endParaRPr lang="cs-CZ" altLang="cs-CZ" noProof="0"/>
                    </a:p>
                  </a:txBody>
                  <a:tcPr marL="171450" marR="171450" marT="142875" marB="114300" anchor="ctr">
                    <a:solidFill>
                      <a:srgbClr val="EDF2F3"/>
                    </a:solidFill>
                  </a:tcPr>
                </a:tc>
                <a:extLst>
                  <a:ext uri="{0D108BD9-81ED-4DB2-BD59-A6C34878D82A}">
                    <a16:rowId xmlns:a16="http://schemas.microsoft.com/office/drawing/2014/main" val="10002"/>
                  </a:ext>
                </a:extLst>
              </a:tr>
              <a:tr h="914400">
                <a:tc>
                  <a:txBody>
                    <a:bodyPr/>
                    <a:lstStyle/>
                    <a:p>
                      <a:pPr algn="l">
                        <a:defRPr lang="cs-CZ" altLang="cs-CZ" noProof="0"/>
                      </a:pPr>
                      <a:r>
                        <a:rPr lang="cs-CZ" altLang="cs-CZ" sz="2325" b="0" noProof="0">
                          <a:solidFill>
                            <a:srgbClr val="142A3B"/>
                          </a:solidFill>
                          <a:latin typeface="Arial"/>
                          <a:ea typeface="Arial"/>
                          <a:cs typeface="Arial"/>
                        </a:rPr>
                        <a:t>Operacionální definice</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1 minuta čtení, 1 minuta vybavování; za každé správně vybavené slovo 1 bod (neopakuje-li se).</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3"/>
                  </a:ext>
                </a:extLst>
              </a:tr>
              <a:tr h="914400">
                <a:tc>
                  <a:txBody>
                    <a:bodyPr/>
                    <a:lstStyle/>
                    <a:p>
                      <a:pPr algn="l">
                        <a:defRPr lang="cs-CZ" altLang="cs-CZ" noProof="0"/>
                      </a:pPr>
                      <a:r>
                        <a:rPr lang="cs-CZ" altLang="cs-CZ" sz="2325" b="0" noProof="0">
                          <a:solidFill>
                            <a:srgbClr val="142A3B"/>
                          </a:solidFill>
                          <a:latin typeface="Arial"/>
                          <a:ea typeface="Arial"/>
                          <a:cs typeface="Arial"/>
                        </a:rPr>
                        <a:t>Ukazatel (</a:t>
                      </a:r>
                      <a:r>
                        <a:rPr lang="cs-CZ" altLang="cs-CZ" sz="2325" b="0" noProof="0" err="1">
                          <a:solidFill>
                            <a:srgbClr val="142A3B"/>
                          </a:solidFill>
                          <a:latin typeface="Arial"/>
                          <a:ea typeface="Arial"/>
                          <a:cs typeface="Arial"/>
                        </a:rPr>
                        <a:t>indicator</a:t>
                      </a:r>
                      <a:r>
                        <a:rPr lang="cs-CZ" altLang="cs-CZ" sz="2325" b="0" noProof="0">
                          <a:solidFill>
                            <a:srgbClr val="142A3B"/>
                          </a:solidFill>
                          <a:latin typeface="Arial"/>
                          <a:ea typeface="Arial"/>
                          <a:cs typeface="Arial"/>
                        </a:rPr>
                        <a:t>)</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Počet správně vybavených různých slov: 0 až 12.</a:t>
                      </a:r>
                      <a:endParaRPr lang="cs-CZ" altLang="cs-CZ" noProof="0"/>
                    </a:p>
                  </a:txBody>
                  <a:tcPr marL="171450" marR="171450" marT="142875" marB="114300" anchor="ctr">
                    <a:solidFill>
                      <a:srgbClr val="EDF2F3"/>
                    </a:solidFill>
                  </a:tcPr>
                </a:tc>
                <a:extLst>
                  <a:ext uri="{0D108BD9-81ED-4DB2-BD59-A6C34878D82A}">
                    <a16:rowId xmlns:a16="http://schemas.microsoft.com/office/drawing/2014/main" val="10004"/>
                  </a:ext>
                </a:extLst>
              </a:tr>
            </a:tbl>
          </a:graphicData>
        </a:graphic>
      </p:graphicFrame>
      <p:sp>
        <p:nvSpPr>
          <p:cNvPr id="4" name="text-2">
            <a:extLst>
              <a:ext uri="{FF2B5EF4-FFF2-40B4-BE49-F238E27FC236}">
                <a16:creationId xmlns:a16="http://schemas.microsoft.com/office/drawing/2014/main" id="{28FCB1C2-B3D2-4103-B6E8-FEAB184B992C}"/>
              </a:ext>
            </a:extLst>
          </p:cNvPr>
          <p:cNvSpPr>
            <a:spLocks noGrp="1"/>
          </p:cNvSpPr>
          <p:nvPr/>
        </p:nvSpPr>
        <p:spPr>
          <a:xfrm>
            <a:off x="838200" y="7067550"/>
            <a:ext cx="13563600" cy="1047750"/>
          </a:xfrm>
          <a:prstGeom prst="rect">
            <a:avLst/>
          </a:prstGeom>
          <a:noFill/>
          <a:ln w="0">
            <a:noFill/>
          </a:ln>
        </p:spPr>
        <p:txBody>
          <a:bodyPr wrap="square" lIns="0" tIns="0" rIns="0" bIns="0" anchor="t">
            <a:noAutofit/>
          </a:bodyPr>
          <a:lstStyle/>
          <a:p>
            <a:pPr>
              <a:defRPr lang="cs-CZ" altLang="cs-CZ" sz="2475" b="1" noProof="0">
                <a:solidFill>
                  <a:srgbClr val="176A83"/>
                </a:solidFill>
                <a:latin typeface="Arial"/>
                <a:ea typeface="Arial"/>
                <a:cs typeface="Arial"/>
              </a:defRPr>
            </a:pPr>
            <a:r>
              <a:rPr lang="cs-CZ" altLang="cs-CZ" sz="2475" b="1" noProof="0">
                <a:solidFill>
                  <a:srgbClr val="176A83"/>
                </a:solidFill>
                <a:latin typeface="Arial"/>
                <a:ea typeface="Arial"/>
                <a:cs typeface="Arial"/>
              </a:rPr>
              <a:t>Výsledek v jedné úloze nepokrývá automaticky celou paměť.</a:t>
            </a:r>
            <a:endParaRPr lang="cs-CZ" altLang="cs-CZ" noProof="0"/>
          </a:p>
        </p:txBody>
      </p:sp>
    </p:spTree>
    <p:extLst>
      <p:ext uri="{BB962C8B-B14F-4D97-AF65-F5344CB8AC3E}">
        <p14:creationId xmlns:p14="http://schemas.microsoft.com/office/powerpoint/2010/main" val="107673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398F7906-DC72-4C63-AC38-03B328755C52}"/>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Nominální a ordinální měření</a:t>
            </a:r>
            <a:endParaRPr lang="cs-CZ" altLang="cs-CZ" noProof="0"/>
          </a:p>
        </p:txBody>
      </p:sp>
      <p:sp>
        <p:nvSpPr>
          <p:cNvPr id="2" name="text-1">
            <a:extLst>
              <a:ext uri="{FF2B5EF4-FFF2-40B4-BE49-F238E27FC236}">
                <a16:creationId xmlns:a16="http://schemas.microsoft.com/office/drawing/2014/main" id="{A65B8C5F-947C-4D07-922B-61B67F1FD561}"/>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13</a:t>
            </a:r>
            <a:endParaRPr lang="cs-CZ" altLang="cs-CZ" noProof="0"/>
          </a:p>
        </p:txBody>
      </p:sp>
      <p:graphicFrame>
        <p:nvGraphicFramePr>
          <p:cNvPr id="7" name="Tabulka 6"/>
          <p:cNvGraphicFramePr/>
          <p:nvPr>
            <p:extLst>
              <p:ext uri="{D42A27DB-BD31-4B8C-83A1-F6EECF244321}">
                <p14:modId xmlns:p14="http://schemas.microsoft.com/office/powerpoint/2010/main" val="2955095183"/>
              </p:ext>
            </p:extLst>
          </p:nvPr>
        </p:nvGraphicFramePr>
        <p:xfrm>
          <a:off x="838200" y="2286000"/>
          <a:ext cx="13563600" cy="3611245"/>
        </p:xfrm>
        <a:graphic>
          <a:graphicData uri="http://schemas.openxmlformats.org/drawingml/2006/table">
            <a:tbl>
              <a:tblPr/>
              <a:tblGrid>
                <a:gridCol w="3238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1111250">
                <a:tc>
                  <a:txBody>
                    <a:bodyPr/>
                    <a:lstStyle/>
                    <a:p>
                      <a:pPr algn="l">
                        <a:defRPr lang="cs-CZ" altLang="cs-CZ" noProof="0"/>
                      </a:pPr>
                      <a:r>
                        <a:rPr lang="cs-CZ" altLang="cs-CZ" sz="2475" b="1" noProof="0">
                          <a:solidFill>
                            <a:srgbClr val="FFFFFF"/>
                          </a:solidFill>
                          <a:latin typeface="Arial"/>
                          <a:ea typeface="Arial"/>
                          <a:cs typeface="Arial"/>
                        </a:rPr>
                        <a:t>Úroveň</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475" b="1" noProof="0">
                          <a:solidFill>
                            <a:srgbClr val="FFFFFF"/>
                          </a:solidFill>
                          <a:latin typeface="Arial"/>
                          <a:ea typeface="Arial"/>
                          <a:cs typeface="Arial"/>
                        </a:rPr>
                        <a:t>Příklad</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475" b="1" noProof="0">
                          <a:solidFill>
                            <a:srgbClr val="FFFFFF"/>
                          </a:solidFill>
                          <a:latin typeface="Arial"/>
                          <a:ea typeface="Arial"/>
                          <a:cs typeface="Arial"/>
                        </a:rPr>
                        <a:t>Co hodnoty opravňují tvrdit</a:t>
                      </a:r>
                      <a:endParaRPr lang="cs-CZ" altLang="cs-CZ" noProof="0"/>
                    </a:p>
                  </a:txBody>
                  <a:tcPr marL="171450" marR="171450" marT="142875" marB="114300" anchor="ctr">
                    <a:solidFill>
                      <a:srgbClr val="142A3B"/>
                    </a:solidFill>
                  </a:tcPr>
                </a:tc>
                <a:extLst>
                  <a:ext uri="{0D108BD9-81ED-4DB2-BD59-A6C34878D82A}">
                    <a16:rowId xmlns:a16="http://schemas.microsoft.com/office/drawing/2014/main" val="10000"/>
                  </a:ext>
                </a:extLst>
              </a:tr>
              <a:tr h="1111250">
                <a:tc>
                  <a:txBody>
                    <a:bodyPr/>
                    <a:lstStyle/>
                    <a:p>
                      <a:pPr algn="l">
                        <a:defRPr lang="cs-CZ" altLang="cs-CZ" noProof="0"/>
                      </a:pPr>
                      <a:r>
                        <a:rPr lang="cs-CZ" altLang="cs-CZ" sz="2475" b="0" noProof="0">
                          <a:solidFill>
                            <a:srgbClr val="142A3B"/>
                          </a:solidFill>
                          <a:latin typeface="Arial"/>
                          <a:ea typeface="Arial"/>
                          <a:cs typeface="Arial"/>
                        </a:rPr>
                        <a:t>Nominální</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475" b="0" noProof="0">
                          <a:solidFill>
                            <a:srgbClr val="142A3B"/>
                          </a:solidFill>
                          <a:latin typeface="Arial"/>
                          <a:ea typeface="Arial"/>
                          <a:cs typeface="Arial"/>
                        </a:rPr>
                        <a:t>Ticho / zvuky</a:t>
                      </a:r>
                      <a:endParaRPr lang="cs-CZ" altLang="cs-CZ" noProof="0"/>
                    </a:p>
                    <a:p>
                      <a:pPr algn="l">
                        <a:defRPr lang="cs-CZ" altLang="cs-CZ" noProof="0"/>
                      </a:pPr>
                      <a:r>
                        <a:rPr lang="cs-CZ" altLang="cs-CZ" sz="2475" b="0" noProof="0">
                          <a:solidFill>
                            <a:srgbClr val="142A3B"/>
                          </a:solidFill>
                          <a:latin typeface="Arial"/>
                          <a:ea typeface="Arial"/>
                          <a:cs typeface="Arial"/>
                        </a:rPr>
                        <a:t>(kódy 1 / 2)</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475" b="0" noProof="0">
                          <a:solidFill>
                            <a:srgbClr val="142A3B"/>
                          </a:solidFill>
                          <a:latin typeface="Arial"/>
                          <a:ea typeface="Arial"/>
                          <a:cs typeface="Arial"/>
                        </a:rPr>
                        <a:t>Stejná nebo odlišná kategorie.</a:t>
                      </a:r>
                      <a:endParaRPr lang="cs-CZ" altLang="cs-CZ" noProof="0"/>
                    </a:p>
                    <a:p>
                      <a:pPr algn="l">
                        <a:defRPr lang="cs-CZ" altLang="cs-CZ" noProof="0"/>
                      </a:pPr>
                      <a:r>
                        <a:rPr lang="cs-CZ" altLang="cs-CZ" sz="2475" b="0" noProof="0">
                          <a:solidFill>
                            <a:srgbClr val="142A3B"/>
                          </a:solidFill>
                          <a:latin typeface="Arial"/>
                          <a:ea typeface="Arial"/>
                          <a:cs typeface="Arial"/>
                        </a:rPr>
                        <a:t>Kódy nevyjadřují množství.</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1"/>
                  </a:ext>
                </a:extLst>
              </a:tr>
              <a:tr h="1111250">
                <a:tc>
                  <a:txBody>
                    <a:bodyPr/>
                    <a:lstStyle/>
                    <a:p>
                      <a:pPr algn="l">
                        <a:defRPr lang="cs-CZ" altLang="cs-CZ" noProof="0"/>
                      </a:pPr>
                      <a:r>
                        <a:rPr lang="cs-CZ" altLang="cs-CZ" sz="2475" b="0" noProof="0">
                          <a:solidFill>
                            <a:srgbClr val="142A3B"/>
                          </a:solidFill>
                          <a:latin typeface="Arial"/>
                          <a:ea typeface="Arial"/>
                          <a:cs typeface="Arial"/>
                        </a:rPr>
                        <a:t>Ordinální </a:t>
                      </a:r>
                      <a:br>
                        <a:rPr lang="cs-CZ" altLang="cs-CZ" sz="2475" b="0" noProof="0">
                          <a:solidFill>
                            <a:srgbClr val="142A3B"/>
                          </a:solidFill>
                          <a:latin typeface="Arial"/>
                          <a:ea typeface="Arial"/>
                          <a:cs typeface="Arial"/>
                        </a:rPr>
                      </a:br>
                      <a:r>
                        <a:rPr lang="cs-CZ" altLang="cs-CZ" sz="2475" b="0" noProof="0">
                          <a:solidFill>
                            <a:srgbClr val="142A3B"/>
                          </a:solidFill>
                          <a:latin typeface="Arial"/>
                          <a:ea typeface="Arial"/>
                          <a:cs typeface="Arial"/>
                        </a:rPr>
                        <a:t>(pořadová)</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475" b="0" noProof="0" err="1">
                          <a:solidFill>
                            <a:srgbClr val="142A3B"/>
                          </a:solidFill>
                          <a:latin typeface="Arial"/>
                          <a:ea typeface="Arial"/>
                          <a:cs typeface="Arial"/>
                        </a:rPr>
                        <a:t>Odpočatost</a:t>
                      </a:r>
                      <a:r>
                        <a:rPr lang="cs-CZ" altLang="cs-CZ" sz="2475" b="0" noProof="0">
                          <a:solidFill>
                            <a:srgbClr val="142A3B"/>
                          </a:solidFill>
                          <a:latin typeface="Arial"/>
                          <a:ea typeface="Arial"/>
                          <a:cs typeface="Arial"/>
                        </a:rPr>
                        <a:t>:</a:t>
                      </a:r>
                      <a:endParaRPr lang="cs-CZ" altLang="cs-CZ" noProof="0"/>
                    </a:p>
                    <a:p>
                      <a:pPr algn="l">
                        <a:defRPr lang="cs-CZ" altLang="cs-CZ" noProof="0"/>
                      </a:pPr>
                      <a:r>
                        <a:rPr lang="cs-CZ" altLang="cs-CZ" sz="2475" b="0" noProof="0">
                          <a:solidFill>
                            <a:srgbClr val="142A3B"/>
                          </a:solidFill>
                          <a:latin typeface="Arial"/>
                          <a:ea typeface="Arial"/>
                          <a:cs typeface="Arial"/>
                        </a:rPr>
                        <a:t>vůbec → trochu → dost → zcela</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475" b="0" noProof="0">
                          <a:solidFill>
                            <a:srgbClr val="142A3B"/>
                          </a:solidFill>
                          <a:latin typeface="Arial"/>
                          <a:ea typeface="Arial"/>
                          <a:cs typeface="Arial"/>
                        </a:rPr>
                        <a:t>Vyšší hodnocení </a:t>
                      </a:r>
                      <a:r>
                        <a:rPr lang="cs-CZ" altLang="cs-CZ" sz="2475" b="0" noProof="0" err="1">
                          <a:solidFill>
                            <a:srgbClr val="142A3B"/>
                          </a:solidFill>
                          <a:latin typeface="Arial"/>
                          <a:ea typeface="Arial"/>
                          <a:cs typeface="Arial"/>
                        </a:rPr>
                        <a:t>odpočatosti</a:t>
                      </a:r>
                      <a:r>
                        <a:rPr lang="cs-CZ" altLang="cs-CZ" sz="2475" b="0" noProof="0">
                          <a:solidFill>
                            <a:srgbClr val="142A3B"/>
                          </a:solidFill>
                          <a:latin typeface="Arial"/>
                          <a:ea typeface="Arial"/>
                          <a:cs typeface="Arial"/>
                        </a:rPr>
                        <a:t>.</a:t>
                      </a:r>
                      <a:endParaRPr lang="cs-CZ" altLang="cs-CZ" noProof="0"/>
                    </a:p>
                    <a:p>
                      <a:pPr algn="l">
                        <a:defRPr lang="cs-CZ" altLang="cs-CZ" noProof="0"/>
                      </a:pPr>
                      <a:r>
                        <a:rPr lang="cs-CZ" altLang="cs-CZ" sz="2475" b="0" noProof="0">
                          <a:solidFill>
                            <a:srgbClr val="142A3B"/>
                          </a:solidFill>
                          <a:latin typeface="Arial"/>
                          <a:ea typeface="Arial"/>
                          <a:cs typeface="Arial"/>
                        </a:rPr>
                        <a:t>Rovnost rozdílů zatím nevíme.</a:t>
                      </a:r>
                      <a:endParaRPr lang="cs-CZ" altLang="cs-CZ" noProof="0"/>
                    </a:p>
                  </a:txBody>
                  <a:tcPr marL="171450" marR="171450" marT="142875" marB="114300" anchor="ctr">
                    <a:solidFill>
                      <a:srgbClr val="EDF2F3"/>
                    </a:solidFill>
                  </a:tcPr>
                </a:tc>
                <a:extLst>
                  <a:ext uri="{0D108BD9-81ED-4DB2-BD59-A6C34878D82A}">
                    <a16:rowId xmlns:a16="http://schemas.microsoft.com/office/drawing/2014/main" val="10002"/>
                  </a:ext>
                </a:extLst>
              </a:tr>
            </a:tbl>
          </a:graphicData>
        </a:graphic>
      </p:graphicFrame>
      <p:sp>
        <p:nvSpPr>
          <p:cNvPr id="4" name="text-2">
            <a:extLst>
              <a:ext uri="{FF2B5EF4-FFF2-40B4-BE49-F238E27FC236}">
                <a16:creationId xmlns:a16="http://schemas.microsoft.com/office/drawing/2014/main" id="{1D828B74-CF2A-4648-9EAB-71664552CA20}"/>
              </a:ext>
            </a:extLst>
          </p:cNvPr>
          <p:cNvSpPr>
            <a:spLocks noGrp="1"/>
          </p:cNvSpPr>
          <p:nvPr/>
        </p:nvSpPr>
        <p:spPr>
          <a:xfrm>
            <a:off x="838200" y="6477000"/>
            <a:ext cx="13563600" cy="1047750"/>
          </a:xfrm>
          <a:prstGeom prst="rect">
            <a:avLst/>
          </a:prstGeom>
          <a:noFill/>
          <a:ln w="0">
            <a:noFill/>
          </a:ln>
        </p:spPr>
        <p:txBody>
          <a:bodyPr wrap="square" lIns="0" tIns="0" rIns="0" bIns="0" anchor="t">
            <a:noAutofit/>
          </a:bodyPr>
          <a:lstStyle/>
          <a:p>
            <a:pPr>
              <a:defRPr lang="cs-CZ" altLang="cs-CZ" sz="2625" b="1" noProof="0">
                <a:solidFill>
                  <a:srgbClr val="176A83"/>
                </a:solidFill>
                <a:latin typeface="Arial"/>
                <a:ea typeface="Arial"/>
                <a:cs typeface="Arial"/>
              </a:defRPr>
            </a:pPr>
            <a:r>
              <a:rPr lang="cs-CZ" altLang="cs-CZ" sz="2625" b="1" noProof="0">
                <a:solidFill>
                  <a:srgbClr val="176A83"/>
                </a:solidFill>
                <a:latin typeface="Arial"/>
                <a:ea typeface="Arial"/>
                <a:cs typeface="Arial"/>
              </a:rPr>
              <a:t>Číselné kódy samy nedokládají velikost rozdílů v prožitku.</a:t>
            </a:r>
            <a:endParaRPr lang="cs-CZ" altLang="cs-CZ" noProof="0"/>
          </a:p>
        </p:txBody>
      </p:sp>
    </p:spTree>
    <p:extLst>
      <p:ext uri="{BB962C8B-B14F-4D97-AF65-F5344CB8AC3E}">
        <p14:creationId xmlns:p14="http://schemas.microsoft.com/office/powerpoint/2010/main" val="1555331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173D4522-0A6F-42E6-BEA5-10E87DB1FF2C}"/>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Intervalové a poměrové měření</a:t>
            </a:r>
            <a:endParaRPr lang="cs-CZ" altLang="cs-CZ" noProof="0"/>
          </a:p>
        </p:txBody>
      </p:sp>
      <p:sp>
        <p:nvSpPr>
          <p:cNvPr id="2" name="text-1">
            <a:extLst>
              <a:ext uri="{FF2B5EF4-FFF2-40B4-BE49-F238E27FC236}">
                <a16:creationId xmlns:a16="http://schemas.microsoft.com/office/drawing/2014/main" id="{F98327F5-8B1B-49E0-9BCF-406039D32E86}"/>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14</a:t>
            </a:r>
            <a:endParaRPr lang="cs-CZ" altLang="cs-CZ" noProof="0"/>
          </a:p>
        </p:txBody>
      </p:sp>
      <p:graphicFrame>
        <p:nvGraphicFramePr>
          <p:cNvPr id="7" name="Tabulka 6"/>
          <p:cNvGraphicFramePr/>
          <p:nvPr>
            <p:extLst>
              <p:ext uri="{D42A27DB-BD31-4B8C-83A1-F6EECF244321}">
                <p14:modId xmlns:p14="http://schemas.microsoft.com/office/powerpoint/2010/main" val="4163731353"/>
              </p:ext>
            </p:extLst>
          </p:nvPr>
        </p:nvGraphicFramePr>
        <p:xfrm>
          <a:off x="838200" y="2286000"/>
          <a:ext cx="13563600" cy="3637915"/>
        </p:xfrm>
        <a:graphic>
          <a:graphicData uri="http://schemas.openxmlformats.org/drawingml/2006/table">
            <a:tbl>
              <a:tblPr/>
              <a:tblGrid>
                <a:gridCol w="30480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6800850">
                  <a:extLst>
                    <a:ext uri="{9D8B030D-6E8A-4147-A177-3AD203B41FA5}">
                      <a16:colId xmlns:a16="http://schemas.microsoft.com/office/drawing/2014/main" val="20002"/>
                    </a:ext>
                  </a:extLst>
                </a:gridCol>
              </a:tblGrid>
              <a:tr h="1158875">
                <a:tc>
                  <a:txBody>
                    <a:bodyPr/>
                    <a:lstStyle/>
                    <a:p>
                      <a:pPr algn="l">
                        <a:defRPr lang="cs-CZ" altLang="cs-CZ" noProof="0"/>
                      </a:pPr>
                      <a:r>
                        <a:rPr lang="cs-CZ" altLang="cs-CZ" sz="2325" b="1" noProof="0">
                          <a:solidFill>
                            <a:srgbClr val="FFFFFF"/>
                          </a:solidFill>
                          <a:latin typeface="Arial"/>
                          <a:ea typeface="Arial"/>
                          <a:cs typeface="Arial"/>
                        </a:rPr>
                        <a:t>Úroveň</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325" b="1" noProof="0">
                          <a:solidFill>
                            <a:srgbClr val="FFFFFF"/>
                          </a:solidFill>
                          <a:latin typeface="Arial"/>
                          <a:ea typeface="Arial"/>
                          <a:cs typeface="Arial"/>
                        </a:rPr>
                        <a:t>Příklad</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325" b="1" noProof="0">
                          <a:solidFill>
                            <a:srgbClr val="FFFFFF"/>
                          </a:solidFill>
                          <a:latin typeface="Arial"/>
                          <a:ea typeface="Arial"/>
                          <a:cs typeface="Arial"/>
                        </a:rPr>
                        <a:t>Rozdíly a poměry</a:t>
                      </a:r>
                      <a:endParaRPr lang="cs-CZ" altLang="cs-CZ" noProof="0"/>
                    </a:p>
                  </a:txBody>
                  <a:tcPr marL="171450" marR="171450" marT="142875" marB="114300" anchor="ctr">
                    <a:solidFill>
                      <a:srgbClr val="142A3B"/>
                    </a:solidFill>
                  </a:tcPr>
                </a:tc>
                <a:extLst>
                  <a:ext uri="{0D108BD9-81ED-4DB2-BD59-A6C34878D82A}">
                    <a16:rowId xmlns:a16="http://schemas.microsoft.com/office/drawing/2014/main" val="10000"/>
                  </a:ext>
                </a:extLst>
              </a:tr>
              <a:tr h="1158875">
                <a:tc>
                  <a:txBody>
                    <a:bodyPr/>
                    <a:lstStyle/>
                    <a:p>
                      <a:pPr algn="l">
                        <a:defRPr lang="cs-CZ" altLang="cs-CZ" noProof="0"/>
                      </a:pPr>
                      <a:r>
                        <a:rPr lang="cs-CZ" altLang="cs-CZ" sz="2325" b="0" noProof="0">
                          <a:solidFill>
                            <a:srgbClr val="142A3B"/>
                          </a:solidFill>
                          <a:latin typeface="Arial"/>
                          <a:ea typeface="Arial"/>
                          <a:cs typeface="Arial"/>
                        </a:rPr>
                        <a:t>Intervalová</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Teplota ve °C</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10 → 15 a 20 → 25: stejný rozdíl.</a:t>
                      </a:r>
                      <a:endParaRPr lang="cs-CZ" altLang="cs-CZ" noProof="0"/>
                    </a:p>
                    <a:p>
                      <a:pPr algn="l">
                        <a:defRPr lang="cs-CZ" altLang="cs-CZ" noProof="0"/>
                      </a:pPr>
                      <a:r>
                        <a:rPr lang="cs-CZ" altLang="cs-CZ" sz="2325" b="0" noProof="0">
                          <a:solidFill>
                            <a:srgbClr val="142A3B"/>
                          </a:solidFill>
                          <a:latin typeface="Arial"/>
                          <a:ea typeface="Arial"/>
                          <a:cs typeface="Arial"/>
                        </a:rPr>
                        <a:t>20 °C neznamená dvakrát tolik teploty jako 10 °C.</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1"/>
                  </a:ext>
                </a:extLst>
              </a:tr>
              <a:tr h="1158875">
                <a:tc>
                  <a:txBody>
                    <a:bodyPr/>
                    <a:lstStyle/>
                    <a:p>
                      <a:pPr algn="l">
                        <a:defRPr lang="cs-CZ" altLang="cs-CZ" noProof="0"/>
                      </a:pPr>
                      <a:r>
                        <a:rPr lang="cs-CZ" altLang="cs-CZ" sz="2325" b="0" noProof="0">
                          <a:solidFill>
                            <a:srgbClr val="142A3B"/>
                          </a:solidFill>
                          <a:latin typeface="Arial"/>
                          <a:ea typeface="Arial"/>
                          <a:cs typeface="Arial"/>
                        </a:rPr>
                        <a:t>Poměrová</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Doba spánku v hodinách</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8 hodin je dvojnásobná doba oproti 4.</a:t>
                      </a:r>
                      <a:endParaRPr lang="cs-CZ" altLang="cs-CZ" noProof="0"/>
                    </a:p>
                    <a:p>
                      <a:pPr algn="l">
                        <a:defRPr lang="cs-CZ" altLang="cs-CZ" noProof="0"/>
                      </a:pPr>
                      <a:r>
                        <a:rPr lang="cs-CZ" altLang="cs-CZ" sz="2325" b="0" noProof="0">
                          <a:solidFill>
                            <a:srgbClr val="142A3B"/>
                          </a:solidFill>
                          <a:latin typeface="Arial"/>
                          <a:ea typeface="Arial"/>
                          <a:cs typeface="Arial"/>
                        </a:rPr>
                        <a:t>0 hodin znamená žádný spánek v daném období.</a:t>
                      </a:r>
                      <a:endParaRPr lang="cs-CZ" altLang="cs-CZ" noProof="0"/>
                    </a:p>
                  </a:txBody>
                  <a:tcPr marL="171450" marR="171450" marT="142875" marB="114300" anchor="ctr">
                    <a:solidFill>
                      <a:srgbClr val="EDF2F3"/>
                    </a:solidFill>
                  </a:tcPr>
                </a:tc>
                <a:extLst>
                  <a:ext uri="{0D108BD9-81ED-4DB2-BD59-A6C34878D82A}">
                    <a16:rowId xmlns:a16="http://schemas.microsoft.com/office/drawing/2014/main" val="10002"/>
                  </a:ext>
                </a:extLst>
              </a:tr>
            </a:tbl>
          </a:graphicData>
        </a:graphic>
      </p:graphicFrame>
      <p:sp>
        <p:nvSpPr>
          <p:cNvPr id="4" name="text-2">
            <a:extLst>
              <a:ext uri="{FF2B5EF4-FFF2-40B4-BE49-F238E27FC236}">
                <a16:creationId xmlns:a16="http://schemas.microsoft.com/office/drawing/2014/main" id="{9B2E1078-D6ED-4907-BF13-91960044C9BD}"/>
              </a:ext>
            </a:extLst>
          </p:cNvPr>
          <p:cNvSpPr>
            <a:spLocks noGrp="1"/>
          </p:cNvSpPr>
          <p:nvPr/>
        </p:nvSpPr>
        <p:spPr>
          <a:xfrm>
            <a:off x="838200" y="6315075"/>
            <a:ext cx="13563600" cy="1047750"/>
          </a:xfrm>
          <a:prstGeom prst="rect">
            <a:avLst/>
          </a:prstGeom>
          <a:noFill/>
          <a:ln w="0">
            <a:noFill/>
          </a:ln>
        </p:spPr>
        <p:txBody>
          <a:bodyPr wrap="square" lIns="0" tIns="0" rIns="0" bIns="0" anchor="t">
            <a:noAutofit/>
          </a:bodyPr>
          <a:lstStyle/>
          <a:p>
            <a:pPr>
              <a:defRPr lang="cs-CZ" altLang="cs-CZ" sz="2475" b="1" noProof="0">
                <a:solidFill>
                  <a:srgbClr val="176A83"/>
                </a:solidFill>
                <a:latin typeface="Arial"/>
                <a:ea typeface="Arial"/>
                <a:cs typeface="Arial"/>
              </a:defRPr>
            </a:pPr>
            <a:r>
              <a:rPr lang="cs-CZ" altLang="cs-CZ" sz="2475" b="1" noProof="0">
                <a:solidFill>
                  <a:srgbClr val="176A83"/>
                </a:solidFill>
                <a:latin typeface="Arial"/>
                <a:ea typeface="Arial"/>
                <a:cs typeface="Arial"/>
              </a:rPr>
              <a:t>10 vybavených slov je dvakrát více než 5 slov.</a:t>
            </a:r>
            <a:endParaRPr lang="cs-CZ" altLang="cs-CZ" noProof="0"/>
          </a:p>
          <a:p>
            <a:pPr>
              <a:defRPr lang="cs-CZ" altLang="cs-CZ" sz="2475" b="1" noProof="0">
                <a:solidFill>
                  <a:srgbClr val="176A83"/>
                </a:solidFill>
                <a:latin typeface="Arial"/>
                <a:ea typeface="Arial"/>
                <a:cs typeface="Arial"/>
              </a:defRPr>
            </a:pPr>
            <a:r>
              <a:rPr lang="cs-CZ" altLang="cs-CZ" sz="2475" b="1" noProof="0">
                <a:solidFill>
                  <a:srgbClr val="176A83"/>
                </a:solidFill>
                <a:latin typeface="Arial"/>
                <a:ea typeface="Arial"/>
                <a:cs typeface="Arial"/>
              </a:rPr>
              <a:t>Dvojnásobnou paměťovou schopnost tím nedokládáme.</a:t>
            </a:r>
            <a:endParaRPr lang="cs-CZ" altLang="cs-CZ" noProof="0"/>
          </a:p>
        </p:txBody>
      </p:sp>
    </p:spTree>
    <p:extLst>
      <p:ext uri="{BB962C8B-B14F-4D97-AF65-F5344CB8AC3E}">
        <p14:creationId xmlns:p14="http://schemas.microsoft.com/office/powerpoint/2010/main" val="867234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5D013A0E-6039-4178-82C0-C7269E898494}"/>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Psychologické skóry a význam rozdílů</a:t>
            </a:r>
            <a:endParaRPr lang="cs-CZ" altLang="cs-CZ" noProof="0"/>
          </a:p>
        </p:txBody>
      </p:sp>
      <p:sp>
        <p:nvSpPr>
          <p:cNvPr id="2" name="text-1">
            <a:extLst>
              <a:ext uri="{FF2B5EF4-FFF2-40B4-BE49-F238E27FC236}">
                <a16:creationId xmlns:a16="http://schemas.microsoft.com/office/drawing/2014/main" id="{5B63A782-3F01-4CE9-BD88-108824711CDC}"/>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15</a:t>
            </a:r>
            <a:endParaRPr lang="cs-CZ" altLang="cs-CZ" noProof="0"/>
          </a:p>
        </p:txBody>
      </p:sp>
      <p:sp>
        <p:nvSpPr>
          <p:cNvPr id="3" name="text-2">
            <a:extLst>
              <a:ext uri="{FF2B5EF4-FFF2-40B4-BE49-F238E27FC236}">
                <a16:creationId xmlns:a16="http://schemas.microsoft.com/office/drawing/2014/main" id="{4EBA896A-11B7-4DB3-9073-5530FF29C2B4}"/>
              </a:ext>
            </a:extLst>
          </p:cNvPr>
          <p:cNvSpPr>
            <a:spLocks noGrp="1"/>
          </p:cNvSpPr>
          <p:nvPr/>
        </p:nvSpPr>
        <p:spPr>
          <a:xfrm>
            <a:off x="838200" y="2190750"/>
            <a:ext cx="13563600" cy="1476375"/>
          </a:xfrm>
          <a:prstGeom prst="rect">
            <a:avLst/>
          </a:prstGeom>
          <a:noFill/>
          <a:ln w="0">
            <a:noFill/>
          </a:ln>
        </p:spPr>
        <p:txBody>
          <a:bodyPr wrap="square" lIns="0" tIns="0" rIns="0" bIns="0" anchor="t">
            <a:noAutofit/>
          </a:bodyPr>
          <a:lstStyle/>
          <a:p>
            <a:pPr>
              <a:defRPr lang="cs-CZ" altLang="cs-CZ" sz="3300" b="1" noProof="0">
                <a:solidFill>
                  <a:srgbClr val="176A83"/>
                </a:solidFill>
                <a:latin typeface="Arial"/>
                <a:ea typeface="Arial"/>
                <a:cs typeface="Arial"/>
              </a:defRPr>
            </a:pPr>
            <a:r>
              <a:rPr lang="cs-CZ" altLang="cs-CZ" sz="3300" b="1" noProof="0">
                <a:solidFill>
                  <a:srgbClr val="176A83"/>
                </a:solidFill>
                <a:latin typeface="Arial"/>
                <a:ea typeface="Arial"/>
                <a:cs typeface="Arial"/>
              </a:rPr>
              <a:t>Stejný rozdíl v bodech nemusí znamenat stejný rozdíl v psychologické vlastnosti.</a:t>
            </a:r>
            <a:endParaRPr lang="cs-CZ" altLang="cs-CZ" noProof="0"/>
          </a:p>
        </p:txBody>
      </p:sp>
      <p:sp>
        <p:nvSpPr>
          <p:cNvPr id="4" name="text-3">
            <a:extLst>
              <a:ext uri="{FF2B5EF4-FFF2-40B4-BE49-F238E27FC236}">
                <a16:creationId xmlns:a16="http://schemas.microsoft.com/office/drawing/2014/main" id="{295F148F-60F7-48F7-BBDF-CF75375C021F}"/>
              </a:ext>
            </a:extLst>
          </p:cNvPr>
          <p:cNvSpPr>
            <a:spLocks noGrp="1"/>
          </p:cNvSpPr>
          <p:nvPr/>
        </p:nvSpPr>
        <p:spPr>
          <a:xfrm>
            <a:off x="838200" y="4095750"/>
            <a:ext cx="13563600" cy="1047750"/>
          </a:xfrm>
          <a:prstGeom prst="rect">
            <a:avLst/>
          </a:prstGeom>
          <a:noFill/>
          <a:ln w="0">
            <a:noFill/>
          </a:ln>
        </p:spPr>
        <p:txBody>
          <a:bodyPr wrap="square" lIns="0" tIns="0" rIns="0" bIns="0" anchor="t">
            <a:noAutofit/>
          </a:bodyPr>
          <a:lstStyle/>
          <a:p>
            <a:pPr>
              <a:defRPr lang="cs-CZ" altLang="cs-CZ" sz="2700" b="0" noProof="0">
                <a:solidFill>
                  <a:srgbClr val="142A3B"/>
                </a:solidFill>
                <a:latin typeface="Arial"/>
                <a:ea typeface="Arial"/>
                <a:cs typeface="Arial"/>
              </a:defRPr>
            </a:pPr>
            <a:r>
              <a:rPr lang="cs-CZ" altLang="cs-CZ" sz="2700" b="0" noProof="0">
                <a:solidFill>
                  <a:srgbClr val="142A3B"/>
                </a:solidFill>
                <a:latin typeface="Arial"/>
                <a:ea typeface="Arial"/>
                <a:cs typeface="Arial"/>
              </a:rPr>
              <a:t>Počet položek ani jemnost stupnice samy rovnost rozdílů nedokládají.</a:t>
            </a:r>
            <a:endParaRPr lang="cs-CZ" altLang="cs-CZ" noProof="0"/>
          </a:p>
        </p:txBody>
      </p:sp>
      <p:sp>
        <p:nvSpPr>
          <p:cNvPr id="5" name="text-4">
            <a:extLst>
              <a:ext uri="{FF2B5EF4-FFF2-40B4-BE49-F238E27FC236}">
                <a16:creationId xmlns:a16="http://schemas.microsoft.com/office/drawing/2014/main" id="{49348DED-54B0-44A6-A93C-9D379B074779}"/>
              </a:ext>
            </a:extLst>
          </p:cNvPr>
          <p:cNvSpPr>
            <a:spLocks noGrp="1"/>
          </p:cNvSpPr>
          <p:nvPr/>
        </p:nvSpPr>
        <p:spPr>
          <a:xfrm>
            <a:off x="838200" y="5600700"/>
            <a:ext cx="13563600" cy="1238250"/>
          </a:xfrm>
          <a:prstGeom prst="rect">
            <a:avLst/>
          </a:prstGeom>
          <a:noFill/>
          <a:ln w="0">
            <a:noFill/>
          </a:ln>
        </p:spPr>
        <p:txBody>
          <a:bodyPr wrap="square" lIns="0" tIns="0" rIns="0" bIns="0" anchor="t">
            <a:noAutofit/>
          </a:bodyPr>
          <a:lstStyle/>
          <a:p>
            <a:pPr>
              <a:defRPr lang="cs-CZ" altLang="cs-CZ" sz="2700" b="0" noProof="0">
                <a:solidFill>
                  <a:srgbClr val="142A3B"/>
                </a:solidFill>
                <a:latin typeface="Arial"/>
                <a:ea typeface="Arial"/>
                <a:cs typeface="Arial"/>
              </a:defRPr>
            </a:pPr>
            <a:r>
              <a:rPr lang="cs-CZ" altLang="cs-CZ" sz="2700" b="0" noProof="0" err="1">
                <a:solidFill>
                  <a:srgbClr val="142A3B"/>
                </a:solidFill>
                <a:latin typeface="Arial"/>
                <a:ea typeface="Arial"/>
                <a:cs typeface="Arial"/>
              </a:rPr>
              <a:t>Kvaziintervalové</a:t>
            </a:r>
            <a:r>
              <a:rPr lang="cs-CZ" altLang="cs-CZ" sz="2700" b="0" noProof="0">
                <a:solidFill>
                  <a:srgbClr val="142A3B"/>
                </a:solidFill>
                <a:latin typeface="Arial"/>
                <a:ea typeface="Arial"/>
                <a:cs typeface="Arial"/>
              </a:rPr>
              <a:t> měření: pro určitý účel zacházíme s rozdíly jako s přibližně srovnatelnými.</a:t>
            </a:r>
            <a:endParaRPr lang="cs-CZ" altLang="cs-CZ" noProof="0"/>
          </a:p>
        </p:txBody>
      </p:sp>
      <p:sp>
        <p:nvSpPr>
          <p:cNvPr id="6" name="text-5">
            <a:extLst>
              <a:ext uri="{FF2B5EF4-FFF2-40B4-BE49-F238E27FC236}">
                <a16:creationId xmlns:a16="http://schemas.microsoft.com/office/drawing/2014/main" id="{B0BD118B-4AEE-41CE-90E5-35166BDB9959}"/>
              </a:ext>
            </a:extLst>
          </p:cNvPr>
          <p:cNvSpPr>
            <a:spLocks noGrp="1"/>
          </p:cNvSpPr>
          <p:nvPr/>
        </p:nvSpPr>
        <p:spPr>
          <a:xfrm>
            <a:off x="838200" y="7134225"/>
            <a:ext cx="13563600" cy="590550"/>
          </a:xfrm>
          <a:prstGeom prst="rect">
            <a:avLst/>
          </a:prstGeom>
          <a:noFill/>
          <a:ln w="0">
            <a:noFill/>
          </a:ln>
        </p:spPr>
        <p:txBody>
          <a:bodyPr wrap="square" lIns="0" tIns="0" rIns="0" bIns="0" anchor="t">
            <a:noAutofit/>
          </a:bodyPr>
          <a:lstStyle/>
          <a:p>
            <a:pPr>
              <a:defRPr lang="cs-CZ" altLang="cs-CZ" sz="2475" b="1" noProof="0">
                <a:solidFill>
                  <a:srgbClr val="176A83"/>
                </a:solidFill>
                <a:latin typeface="Arial"/>
                <a:ea typeface="Arial"/>
                <a:cs typeface="Arial"/>
              </a:defRPr>
            </a:pPr>
            <a:r>
              <a:rPr lang="cs-CZ" altLang="cs-CZ" sz="2475" b="1" noProof="0">
                <a:solidFill>
                  <a:srgbClr val="176A83"/>
                </a:solidFill>
                <a:latin typeface="Arial"/>
                <a:ea typeface="Arial"/>
                <a:cs typeface="Arial"/>
              </a:rPr>
              <a:t>Jde o zdůvodňovaný předpoklad s omezeními.</a:t>
            </a:r>
            <a:endParaRPr lang="cs-CZ" altLang="cs-CZ" noProof="0"/>
          </a:p>
        </p:txBody>
      </p:sp>
    </p:spTree>
    <p:extLst>
      <p:ext uri="{BB962C8B-B14F-4D97-AF65-F5344CB8AC3E}">
        <p14:creationId xmlns:p14="http://schemas.microsoft.com/office/powerpoint/2010/main" val="121931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55D73D37-54E7-4C68-B634-E42BA58A3700}"/>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Diskrétnost, spojitost a přesnost</a:t>
            </a:r>
            <a:endParaRPr lang="cs-CZ" altLang="cs-CZ" noProof="0"/>
          </a:p>
        </p:txBody>
      </p:sp>
      <p:sp>
        <p:nvSpPr>
          <p:cNvPr id="2" name="text-1">
            <a:extLst>
              <a:ext uri="{FF2B5EF4-FFF2-40B4-BE49-F238E27FC236}">
                <a16:creationId xmlns:a16="http://schemas.microsoft.com/office/drawing/2014/main" id="{D6DBB7EA-7BCC-4B33-9A84-77AA294C5B9C}"/>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16</a:t>
            </a:r>
            <a:endParaRPr lang="cs-CZ" altLang="cs-CZ" noProof="0"/>
          </a:p>
        </p:txBody>
      </p:sp>
      <p:graphicFrame>
        <p:nvGraphicFramePr>
          <p:cNvPr id="8" name="Tabulka 7"/>
          <p:cNvGraphicFramePr/>
          <p:nvPr>
            <p:extLst>
              <p:ext uri="{D42A27DB-BD31-4B8C-83A1-F6EECF244321}">
                <p14:modId xmlns:p14="http://schemas.microsoft.com/office/powerpoint/2010/main" val="3576627725"/>
              </p:ext>
            </p:extLst>
          </p:nvPr>
        </p:nvGraphicFramePr>
        <p:xfrm>
          <a:off x="838200" y="2238375"/>
          <a:ext cx="13563600" cy="3476625"/>
        </p:xfrm>
        <a:graphic>
          <a:graphicData uri="http://schemas.openxmlformats.org/drawingml/2006/table">
            <a:tbl>
              <a:tblPr/>
              <a:tblGrid>
                <a:gridCol w="3095625">
                  <a:extLst>
                    <a:ext uri="{9D8B030D-6E8A-4147-A177-3AD203B41FA5}">
                      <a16:colId xmlns:a16="http://schemas.microsoft.com/office/drawing/2014/main" val="20000"/>
                    </a:ext>
                  </a:extLst>
                </a:gridCol>
                <a:gridCol w="4524375">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1158875">
                <a:tc>
                  <a:txBody>
                    <a:bodyPr/>
                    <a:lstStyle/>
                    <a:p>
                      <a:pPr algn="l">
                        <a:defRPr lang="cs-CZ" altLang="cs-CZ" noProof="0"/>
                      </a:pPr>
                      <a:r>
                        <a:rPr lang="cs-CZ" altLang="cs-CZ" sz="2325" b="1" noProof="0">
                          <a:solidFill>
                            <a:srgbClr val="FFFFFF"/>
                          </a:solidFill>
                          <a:latin typeface="Arial"/>
                          <a:ea typeface="Arial"/>
                          <a:cs typeface="Arial"/>
                        </a:rPr>
                        <a:t>Hledisko</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325" b="1" noProof="0">
                          <a:solidFill>
                            <a:srgbClr val="FFFFFF"/>
                          </a:solidFill>
                          <a:latin typeface="Arial"/>
                          <a:ea typeface="Arial"/>
                          <a:cs typeface="Arial"/>
                        </a:rPr>
                        <a:t>Počet vybavených slov</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325" b="1" noProof="0">
                          <a:solidFill>
                            <a:srgbClr val="FFFFFF"/>
                          </a:solidFill>
                          <a:latin typeface="Arial"/>
                          <a:ea typeface="Arial"/>
                          <a:cs typeface="Arial"/>
                        </a:rPr>
                        <a:t>Doba spánku</a:t>
                      </a:r>
                      <a:endParaRPr lang="cs-CZ" altLang="cs-CZ" noProof="0"/>
                    </a:p>
                  </a:txBody>
                  <a:tcPr marL="171450" marR="171450" marT="142875" marB="114300" anchor="ctr">
                    <a:solidFill>
                      <a:srgbClr val="142A3B"/>
                    </a:solidFill>
                  </a:tcPr>
                </a:tc>
                <a:extLst>
                  <a:ext uri="{0D108BD9-81ED-4DB2-BD59-A6C34878D82A}">
                    <a16:rowId xmlns:a16="http://schemas.microsoft.com/office/drawing/2014/main" val="10000"/>
                  </a:ext>
                </a:extLst>
              </a:tr>
              <a:tr h="1158875">
                <a:tc>
                  <a:txBody>
                    <a:bodyPr/>
                    <a:lstStyle/>
                    <a:p>
                      <a:pPr algn="l">
                        <a:defRPr lang="cs-CZ" altLang="cs-CZ" noProof="0"/>
                      </a:pPr>
                      <a:r>
                        <a:rPr lang="cs-CZ" altLang="cs-CZ" sz="2325" b="0" noProof="0">
                          <a:solidFill>
                            <a:srgbClr val="142A3B"/>
                          </a:solidFill>
                          <a:latin typeface="Arial"/>
                          <a:ea typeface="Arial"/>
                          <a:cs typeface="Arial"/>
                        </a:rPr>
                        <a:t>Možné hodnoty</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Diskrétní: celá čísla 0 až 12.</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Spojitý podklad: trvání může nabývat hodnot mezi celými hodinami.</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1"/>
                  </a:ext>
                </a:extLst>
              </a:tr>
              <a:tr h="1158875">
                <a:tc>
                  <a:txBody>
                    <a:bodyPr/>
                    <a:lstStyle/>
                    <a:p>
                      <a:pPr algn="l">
                        <a:defRPr lang="cs-CZ" altLang="cs-CZ" noProof="0"/>
                      </a:pPr>
                      <a:r>
                        <a:rPr lang="cs-CZ" altLang="cs-CZ" sz="2325" b="0" noProof="0">
                          <a:solidFill>
                            <a:srgbClr val="142A3B"/>
                          </a:solidFill>
                          <a:latin typeface="Arial"/>
                          <a:ea typeface="Arial"/>
                          <a:cs typeface="Arial"/>
                        </a:rPr>
                        <a:t>Význam poměru</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10 slov je dvakrát více než 5.</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8 hodin je dvojnásobná doba oproti 4.</a:t>
                      </a:r>
                      <a:endParaRPr lang="cs-CZ" altLang="cs-CZ" noProof="0"/>
                    </a:p>
                  </a:txBody>
                  <a:tcPr marL="171450" marR="171450" marT="142875" marB="114300" anchor="ctr">
                    <a:solidFill>
                      <a:srgbClr val="EDF2F3"/>
                    </a:solidFill>
                  </a:tcPr>
                </a:tc>
                <a:extLst>
                  <a:ext uri="{0D108BD9-81ED-4DB2-BD59-A6C34878D82A}">
                    <a16:rowId xmlns:a16="http://schemas.microsoft.com/office/drawing/2014/main" val="10002"/>
                  </a:ext>
                </a:extLst>
              </a:tr>
            </a:tbl>
          </a:graphicData>
        </a:graphic>
      </p:graphicFrame>
      <p:sp>
        <p:nvSpPr>
          <p:cNvPr id="4" name="text-2">
            <a:extLst>
              <a:ext uri="{FF2B5EF4-FFF2-40B4-BE49-F238E27FC236}">
                <a16:creationId xmlns:a16="http://schemas.microsoft.com/office/drawing/2014/main" id="{3FF00CC9-688D-431C-9889-DA6D40CC2B64}"/>
              </a:ext>
            </a:extLst>
          </p:cNvPr>
          <p:cNvSpPr>
            <a:spLocks noGrp="1"/>
          </p:cNvSpPr>
          <p:nvPr/>
        </p:nvSpPr>
        <p:spPr>
          <a:xfrm>
            <a:off x="838200" y="6391275"/>
            <a:ext cx="13563600" cy="1047750"/>
          </a:xfrm>
          <a:prstGeom prst="rect">
            <a:avLst/>
          </a:prstGeom>
          <a:noFill/>
          <a:ln w="0">
            <a:noFill/>
          </a:ln>
        </p:spPr>
        <p:txBody>
          <a:bodyPr wrap="square" lIns="0" tIns="0" rIns="0" bIns="0" anchor="t">
            <a:noAutofit/>
          </a:bodyPr>
          <a:lstStyle/>
          <a:p>
            <a:pPr>
              <a:defRPr lang="cs-CZ" altLang="cs-CZ" sz="2625" b="1" noProof="0">
                <a:solidFill>
                  <a:srgbClr val="176A83"/>
                </a:solidFill>
                <a:latin typeface="Arial"/>
                <a:ea typeface="Arial"/>
                <a:cs typeface="Arial"/>
              </a:defRPr>
            </a:pPr>
            <a:r>
              <a:rPr lang="cs-CZ" altLang="cs-CZ" sz="2625" b="1" noProof="0">
                <a:solidFill>
                  <a:srgbClr val="176A83"/>
                </a:solidFill>
                <a:latin typeface="Arial"/>
                <a:ea typeface="Arial"/>
                <a:cs typeface="Arial"/>
              </a:rPr>
              <a:t>Zápis „7 hodin“ může být jen zaokrouhlením spojité doby.</a:t>
            </a:r>
            <a:endParaRPr lang="cs-CZ" altLang="cs-CZ" noProof="0"/>
          </a:p>
        </p:txBody>
      </p:sp>
      <p:sp>
        <p:nvSpPr>
          <p:cNvPr id="5" name="text-3">
            <a:extLst>
              <a:ext uri="{FF2B5EF4-FFF2-40B4-BE49-F238E27FC236}">
                <a16:creationId xmlns:a16="http://schemas.microsoft.com/office/drawing/2014/main" id="{D6665F74-354D-4086-A884-8C8F81117ABE}"/>
              </a:ext>
            </a:extLst>
          </p:cNvPr>
          <p:cNvSpPr>
            <a:spLocks noGrp="1"/>
          </p:cNvSpPr>
          <p:nvPr/>
        </p:nvSpPr>
        <p:spPr>
          <a:xfrm>
            <a:off x="838200" y="7248525"/>
            <a:ext cx="13563600" cy="590550"/>
          </a:xfrm>
          <a:prstGeom prst="rect">
            <a:avLst/>
          </a:prstGeom>
          <a:noFill/>
          <a:ln w="0">
            <a:noFill/>
          </a:ln>
        </p:spPr>
        <p:txBody>
          <a:bodyPr wrap="square" lIns="0" tIns="0" rIns="0" bIns="0" anchor="t">
            <a:noAutofit/>
          </a:bodyPr>
          <a:lstStyle/>
          <a:p>
            <a:pPr>
              <a:defRPr lang="cs-CZ" altLang="cs-CZ" sz="2400" b="0" noProof="0">
                <a:solidFill>
                  <a:srgbClr val="576574"/>
                </a:solidFill>
                <a:latin typeface="Arial"/>
                <a:ea typeface="Arial"/>
                <a:cs typeface="Arial"/>
              </a:defRPr>
            </a:pPr>
            <a:r>
              <a:rPr lang="cs-CZ" altLang="cs-CZ" sz="2400" b="0" noProof="0">
                <a:solidFill>
                  <a:srgbClr val="576574"/>
                </a:solidFill>
                <a:latin typeface="Arial"/>
                <a:ea typeface="Arial"/>
                <a:cs typeface="Arial"/>
              </a:rPr>
              <a:t>Úroveň měření a možné hodnoty posuzujeme odděleně.</a:t>
            </a:r>
            <a:endParaRPr lang="cs-CZ" altLang="cs-CZ" noProof="0"/>
          </a:p>
        </p:txBody>
      </p:sp>
    </p:spTree>
    <p:extLst>
      <p:ext uri="{BB962C8B-B14F-4D97-AF65-F5344CB8AC3E}">
        <p14:creationId xmlns:p14="http://schemas.microsoft.com/office/powerpoint/2010/main" val="753173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C19EDD53-1D21-45E4-8974-882CEE05EAF6}"/>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Rozdíly, chyby a nejistota</a:t>
            </a:r>
            <a:endParaRPr lang="cs-CZ" altLang="cs-CZ" noProof="0"/>
          </a:p>
        </p:txBody>
      </p:sp>
      <p:sp>
        <p:nvSpPr>
          <p:cNvPr id="2" name="text-1">
            <a:extLst>
              <a:ext uri="{FF2B5EF4-FFF2-40B4-BE49-F238E27FC236}">
                <a16:creationId xmlns:a16="http://schemas.microsoft.com/office/drawing/2014/main" id="{0D1A96B9-437E-41C7-B62F-14C06BB22E01}"/>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17</a:t>
            </a:r>
            <a:endParaRPr lang="cs-CZ" altLang="cs-CZ" noProof="0"/>
          </a:p>
        </p:txBody>
      </p:sp>
      <p:graphicFrame>
        <p:nvGraphicFramePr>
          <p:cNvPr id="7" name="Tabulka 6"/>
          <p:cNvGraphicFramePr/>
          <p:nvPr>
            <p:extLst>
              <p:ext uri="{D42A27DB-BD31-4B8C-83A1-F6EECF244321}">
                <p14:modId xmlns:p14="http://schemas.microsoft.com/office/powerpoint/2010/main" val="978500536"/>
              </p:ext>
            </p:extLst>
          </p:nvPr>
        </p:nvGraphicFramePr>
        <p:xfrm>
          <a:off x="838200" y="1981200"/>
          <a:ext cx="13563600" cy="4968240"/>
        </p:xfrm>
        <a:graphic>
          <a:graphicData uri="http://schemas.openxmlformats.org/drawingml/2006/table">
            <a:tbl>
              <a:tblPr/>
              <a:tblGrid>
                <a:gridCol w="6858000">
                  <a:extLst>
                    <a:ext uri="{9D8B030D-6E8A-4147-A177-3AD203B41FA5}">
                      <a16:colId xmlns:a16="http://schemas.microsoft.com/office/drawing/2014/main" val="20000"/>
                    </a:ext>
                  </a:extLst>
                </a:gridCol>
                <a:gridCol w="6705600">
                  <a:extLst>
                    <a:ext uri="{9D8B030D-6E8A-4147-A177-3AD203B41FA5}">
                      <a16:colId xmlns:a16="http://schemas.microsoft.com/office/drawing/2014/main" val="20001"/>
                    </a:ext>
                  </a:extLst>
                </a:gridCol>
              </a:tblGrid>
              <a:tr h="809625">
                <a:tc>
                  <a:txBody>
                    <a:bodyPr/>
                    <a:lstStyle/>
                    <a:p>
                      <a:pPr algn="l">
                        <a:defRPr lang="cs-CZ" altLang="cs-CZ" noProof="0"/>
                      </a:pPr>
                      <a:r>
                        <a:rPr lang="cs-CZ" altLang="cs-CZ" sz="2175" b="1" noProof="0">
                          <a:solidFill>
                            <a:srgbClr val="FFFFFF"/>
                          </a:solidFill>
                          <a:latin typeface="Arial"/>
                          <a:ea typeface="Arial"/>
                          <a:cs typeface="Arial"/>
                        </a:rPr>
                        <a:t>Situace</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175" b="1" noProof="0">
                          <a:solidFill>
                            <a:srgbClr val="FFFFFF"/>
                          </a:solidFill>
                          <a:latin typeface="Arial"/>
                          <a:ea typeface="Arial"/>
                          <a:cs typeface="Arial"/>
                        </a:rPr>
                        <a:t>Co potřebujeme rozlišit</a:t>
                      </a:r>
                      <a:endParaRPr lang="cs-CZ" altLang="cs-CZ" noProof="0"/>
                    </a:p>
                  </a:txBody>
                  <a:tcPr marL="171450" marR="171450" marT="142875" marB="114300" anchor="ctr">
                    <a:solidFill>
                      <a:srgbClr val="142A3B"/>
                    </a:solidFill>
                  </a:tcPr>
                </a:tc>
                <a:extLst>
                  <a:ext uri="{0D108BD9-81ED-4DB2-BD59-A6C34878D82A}">
                    <a16:rowId xmlns:a16="http://schemas.microsoft.com/office/drawing/2014/main" val="10000"/>
                  </a:ext>
                </a:extLst>
              </a:tr>
              <a:tr h="809625">
                <a:tc>
                  <a:txBody>
                    <a:bodyPr/>
                    <a:lstStyle/>
                    <a:p>
                      <a:pPr algn="l">
                        <a:defRPr lang="cs-CZ" altLang="cs-CZ" noProof="0"/>
                      </a:pPr>
                      <a:r>
                        <a:rPr lang="cs-CZ" altLang="cs-CZ" sz="2175" b="0" noProof="0">
                          <a:solidFill>
                            <a:srgbClr val="142A3B"/>
                          </a:solidFill>
                          <a:latin typeface="Arial"/>
                          <a:ea typeface="Arial"/>
                          <a:cs typeface="Arial"/>
                        </a:rPr>
                        <a:t>Dva lidé vybaví různý počet slov.</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175" b="0" noProof="0">
                          <a:solidFill>
                            <a:srgbClr val="142A3B"/>
                          </a:solidFill>
                          <a:latin typeface="Arial"/>
                          <a:ea typeface="Arial"/>
                          <a:cs typeface="Arial"/>
                        </a:rPr>
                        <a:t>Může jít o skutečný rozdíl výkonu.</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1"/>
                  </a:ext>
                </a:extLst>
              </a:tr>
              <a:tr h="809625">
                <a:tc>
                  <a:txBody>
                    <a:bodyPr/>
                    <a:lstStyle/>
                    <a:p>
                      <a:pPr algn="l">
                        <a:defRPr lang="cs-CZ" altLang="cs-CZ" noProof="0"/>
                      </a:pPr>
                      <a:r>
                        <a:rPr lang="cs-CZ" altLang="cs-CZ" sz="2175" b="0" noProof="0">
                          <a:solidFill>
                            <a:srgbClr val="142A3B"/>
                          </a:solidFill>
                          <a:latin typeface="Arial"/>
                          <a:ea typeface="Arial"/>
                          <a:cs typeface="Arial"/>
                        </a:rPr>
                        <a:t>Do spánku je zahrnuto bdění v posteli.</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175" b="0" noProof="0">
                          <a:solidFill>
                            <a:srgbClr val="142A3B"/>
                          </a:solidFill>
                          <a:latin typeface="Arial"/>
                          <a:ea typeface="Arial"/>
                          <a:cs typeface="Arial"/>
                        </a:rPr>
                        <a:t>Problém měření; může soustavně nadhodnocovat dobu.</a:t>
                      </a:r>
                      <a:endParaRPr lang="cs-CZ" altLang="cs-CZ" noProof="0"/>
                    </a:p>
                  </a:txBody>
                  <a:tcPr marL="171450" marR="171450" marT="142875" marB="114300" anchor="ctr">
                    <a:solidFill>
                      <a:srgbClr val="EDF2F3"/>
                    </a:solidFill>
                  </a:tcPr>
                </a:tc>
                <a:extLst>
                  <a:ext uri="{0D108BD9-81ED-4DB2-BD59-A6C34878D82A}">
                    <a16:rowId xmlns:a16="http://schemas.microsoft.com/office/drawing/2014/main" val="10002"/>
                  </a:ext>
                </a:extLst>
              </a:tr>
              <a:tr h="809625">
                <a:tc>
                  <a:txBody>
                    <a:bodyPr/>
                    <a:lstStyle/>
                    <a:p>
                      <a:pPr algn="l">
                        <a:defRPr lang="cs-CZ" altLang="cs-CZ" noProof="0"/>
                      </a:pPr>
                      <a:r>
                        <a:rPr lang="cs-CZ" altLang="cs-CZ" sz="2175" b="0" noProof="0">
                          <a:solidFill>
                            <a:srgbClr val="142A3B"/>
                          </a:solidFill>
                          <a:latin typeface="Arial"/>
                          <a:ea typeface="Arial"/>
                          <a:cs typeface="Arial"/>
                        </a:rPr>
                        <a:t>8 hodin přepsáno jako 80.</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175" b="0" noProof="0">
                          <a:solidFill>
                            <a:srgbClr val="142A3B"/>
                          </a:solidFill>
                          <a:latin typeface="Arial"/>
                          <a:ea typeface="Arial"/>
                          <a:cs typeface="Arial"/>
                        </a:rPr>
                        <a:t>Chyba záznamu; oprava podle podkladu.</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3"/>
                  </a:ext>
                </a:extLst>
              </a:tr>
              <a:tr h="809625">
                <a:tc>
                  <a:txBody>
                    <a:bodyPr/>
                    <a:lstStyle/>
                    <a:p>
                      <a:pPr algn="l">
                        <a:defRPr lang="cs-CZ" altLang="cs-CZ" noProof="0"/>
                      </a:pPr>
                      <a:r>
                        <a:rPr lang="cs-CZ" altLang="cs-CZ" sz="2175" b="0" noProof="0">
                          <a:solidFill>
                            <a:srgbClr val="142A3B"/>
                          </a:solidFill>
                          <a:latin typeface="Arial"/>
                          <a:ea typeface="Arial"/>
                          <a:cs typeface="Arial"/>
                        </a:rPr>
                        <a:t>Jiný vhodný náhodný výběr dá jiný výsledek.</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175" b="0" noProof="0">
                          <a:solidFill>
                            <a:srgbClr val="142A3B"/>
                          </a:solidFill>
                          <a:latin typeface="Arial"/>
                          <a:ea typeface="Arial"/>
                          <a:cs typeface="Arial"/>
                        </a:rPr>
                        <a:t>Výběrová variabilita.</a:t>
                      </a:r>
                      <a:endParaRPr lang="cs-CZ" altLang="cs-CZ" noProof="0"/>
                    </a:p>
                  </a:txBody>
                  <a:tcPr marL="171450" marR="171450" marT="142875" marB="114300" anchor="ctr">
                    <a:solidFill>
                      <a:srgbClr val="EDF2F3"/>
                    </a:solidFill>
                  </a:tcPr>
                </a:tc>
                <a:extLst>
                  <a:ext uri="{0D108BD9-81ED-4DB2-BD59-A6C34878D82A}">
                    <a16:rowId xmlns:a16="http://schemas.microsoft.com/office/drawing/2014/main" val="10004"/>
                  </a:ext>
                </a:extLst>
              </a:tr>
              <a:tr h="809625">
                <a:tc>
                  <a:txBody>
                    <a:bodyPr/>
                    <a:lstStyle/>
                    <a:p>
                      <a:pPr algn="l">
                        <a:defRPr lang="cs-CZ" altLang="cs-CZ" noProof="0"/>
                      </a:pPr>
                      <a:r>
                        <a:rPr lang="cs-CZ" altLang="cs-CZ" sz="2175" b="0" noProof="0">
                          <a:solidFill>
                            <a:srgbClr val="142A3B"/>
                          </a:solidFill>
                          <a:latin typeface="Arial"/>
                          <a:ea typeface="Arial"/>
                          <a:cs typeface="Arial"/>
                        </a:rPr>
                        <a:t>Nábor soustavně vynechává pracující studenty.</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175" b="0" noProof="0">
                          <a:solidFill>
                            <a:srgbClr val="142A3B"/>
                          </a:solidFill>
                          <a:latin typeface="Arial"/>
                          <a:ea typeface="Arial"/>
                          <a:cs typeface="Arial"/>
                        </a:rPr>
                        <a:t>Riziko výběrového zkreslení.</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5"/>
                  </a:ext>
                </a:extLst>
              </a:tr>
            </a:tbl>
          </a:graphicData>
        </a:graphic>
      </p:graphicFrame>
      <p:sp>
        <p:nvSpPr>
          <p:cNvPr id="4" name="text-2">
            <a:extLst>
              <a:ext uri="{FF2B5EF4-FFF2-40B4-BE49-F238E27FC236}">
                <a16:creationId xmlns:a16="http://schemas.microsoft.com/office/drawing/2014/main" id="{CE2B7942-F39A-44CC-9FD9-1A5E6989E577}"/>
              </a:ext>
            </a:extLst>
          </p:cNvPr>
          <p:cNvSpPr>
            <a:spLocks noGrp="1"/>
          </p:cNvSpPr>
          <p:nvPr/>
        </p:nvSpPr>
        <p:spPr>
          <a:xfrm>
            <a:off x="838200" y="7153275"/>
            <a:ext cx="13563600" cy="1047750"/>
          </a:xfrm>
          <a:prstGeom prst="rect">
            <a:avLst/>
          </a:prstGeom>
          <a:noFill/>
          <a:ln w="0">
            <a:noFill/>
          </a:ln>
        </p:spPr>
        <p:txBody>
          <a:bodyPr wrap="square" lIns="0" tIns="0" rIns="0" bIns="0" anchor="t">
            <a:noAutofit/>
          </a:bodyPr>
          <a:lstStyle/>
          <a:p>
            <a:pPr>
              <a:defRPr lang="cs-CZ" altLang="cs-CZ" sz="2250" b="1" noProof="0">
                <a:solidFill>
                  <a:srgbClr val="176A83"/>
                </a:solidFill>
                <a:latin typeface="Arial"/>
                <a:ea typeface="Arial"/>
                <a:cs typeface="Arial"/>
              </a:defRPr>
            </a:pPr>
            <a:r>
              <a:rPr lang="cs-CZ" altLang="cs-CZ" sz="2250" b="1" noProof="0">
                <a:solidFill>
                  <a:srgbClr val="176A83"/>
                </a:solidFill>
                <a:latin typeface="Arial"/>
                <a:ea typeface="Arial"/>
                <a:cs typeface="Arial"/>
              </a:rPr>
              <a:t>Nejistota není synonymem chyby a výzkum ji nemusí zcela odstranit.</a:t>
            </a:r>
            <a:endParaRPr lang="cs-CZ" altLang="cs-CZ" noProof="0"/>
          </a:p>
        </p:txBody>
      </p:sp>
    </p:spTree>
    <p:extLst>
      <p:ext uri="{BB962C8B-B14F-4D97-AF65-F5344CB8AC3E}">
        <p14:creationId xmlns:p14="http://schemas.microsoft.com/office/powerpoint/2010/main" val="1538611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42B8872B-862E-4592-A187-75B0851644AE}"/>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Datová matice: modelová data</a:t>
            </a:r>
            <a:endParaRPr lang="cs-CZ" altLang="cs-CZ" noProof="0"/>
          </a:p>
        </p:txBody>
      </p:sp>
      <p:sp>
        <p:nvSpPr>
          <p:cNvPr id="2" name="text-1">
            <a:extLst>
              <a:ext uri="{FF2B5EF4-FFF2-40B4-BE49-F238E27FC236}">
                <a16:creationId xmlns:a16="http://schemas.microsoft.com/office/drawing/2014/main" id="{163D806A-4449-417A-BBBE-4FE901C7F236}"/>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18</a:t>
            </a:r>
            <a:endParaRPr lang="cs-CZ" altLang="cs-CZ" noProof="0"/>
          </a:p>
        </p:txBody>
      </p:sp>
      <p:graphicFrame>
        <p:nvGraphicFramePr>
          <p:cNvPr id="8" name="Tabulka 7"/>
          <p:cNvGraphicFramePr/>
          <p:nvPr>
            <p:extLst>
              <p:ext uri="{D42A27DB-BD31-4B8C-83A1-F6EECF244321}">
                <p14:modId xmlns:p14="http://schemas.microsoft.com/office/powerpoint/2010/main" val="1393312163"/>
              </p:ext>
            </p:extLst>
          </p:nvPr>
        </p:nvGraphicFramePr>
        <p:xfrm>
          <a:off x="838200" y="1952625"/>
          <a:ext cx="13563600" cy="4280535"/>
        </p:xfrm>
        <a:graphic>
          <a:graphicData uri="http://schemas.openxmlformats.org/drawingml/2006/table">
            <a:tbl>
              <a:tblPr/>
              <a:tblGrid>
                <a:gridCol w="1905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4000500">
                  <a:extLst>
                    <a:ext uri="{9D8B030D-6E8A-4147-A177-3AD203B41FA5}">
                      <a16:colId xmlns:a16="http://schemas.microsoft.com/office/drawing/2014/main" val="20003"/>
                    </a:ext>
                  </a:extLst>
                </a:gridCol>
                <a:gridCol w="3086100">
                  <a:extLst>
                    <a:ext uri="{9D8B030D-6E8A-4147-A177-3AD203B41FA5}">
                      <a16:colId xmlns:a16="http://schemas.microsoft.com/office/drawing/2014/main" val="20004"/>
                    </a:ext>
                  </a:extLst>
                </a:gridCol>
              </a:tblGrid>
              <a:tr h="571500">
                <a:tc>
                  <a:txBody>
                    <a:bodyPr/>
                    <a:lstStyle/>
                    <a:p>
                      <a:pPr algn="l">
                        <a:defRPr lang="cs-CZ" altLang="cs-CZ" noProof="0"/>
                      </a:pPr>
                      <a:r>
                        <a:rPr lang="cs-CZ" altLang="cs-CZ" sz="2325" b="1" noProof="0">
                          <a:solidFill>
                            <a:srgbClr val="FFFFFF"/>
                          </a:solidFill>
                          <a:latin typeface="Arial"/>
                          <a:ea typeface="Arial"/>
                          <a:cs typeface="Arial"/>
                        </a:rPr>
                        <a:t>id</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325" b="1" noProof="0" err="1">
                          <a:solidFill>
                            <a:srgbClr val="FFFFFF"/>
                          </a:solidFill>
                          <a:latin typeface="Arial"/>
                          <a:ea typeface="Arial"/>
                          <a:cs typeface="Arial"/>
                        </a:rPr>
                        <a:t>spanek_h</a:t>
                      </a:r>
                      <a:endParaRPr lang="cs-CZ" altLang="cs-CZ" sz="2325" b="1" noProof="0">
                        <a:solidFill>
                          <a:srgbClr val="FFFFFF"/>
                        </a:solidFill>
                        <a:latin typeface="Arial"/>
                        <a:ea typeface="Arial"/>
                        <a:cs typeface="Arial"/>
                      </a:endParaRPr>
                    </a:p>
                  </a:txBody>
                  <a:tcPr marL="171450" marR="171450" marT="142875" marB="114300" anchor="ctr">
                    <a:solidFill>
                      <a:srgbClr val="142A3B"/>
                    </a:solidFill>
                  </a:tcPr>
                </a:tc>
                <a:tc>
                  <a:txBody>
                    <a:bodyPr/>
                    <a:lstStyle/>
                    <a:p>
                      <a:pPr algn="l">
                        <a:defRPr lang="cs-CZ" altLang="cs-CZ" noProof="0"/>
                      </a:pPr>
                      <a:r>
                        <a:rPr lang="cs-CZ" altLang="cs-CZ" sz="2325" b="1" noProof="0">
                          <a:solidFill>
                            <a:srgbClr val="FFFFFF"/>
                          </a:solidFill>
                          <a:latin typeface="Arial"/>
                          <a:ea typeface="Arial"/>
                          <a:cs typeface="Arial"/>
                        </a:rPr>
                        <a:t>slova</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325" b="1" noProof="0" err="1">
                          <a:solidFill>
                            <a:srgbClr val="FFFFFF"/>
                          </a:solidFill>
                          <a:latin typeface="Arial"/>
                          <a:ea typeface="Arial"/>
                          <a:cs typeface="Arial"/>
                        </a:rPr>
                        <a:t>cast_dne</a:t>
                      </a:r>
                      <a:endParaRPr lang="cs-CZ" altLang="cs-CZ" sz="2325" b="1" noProof="0">
                        <a:solidFill>
                          <a:srgbClr val="FFFFFF"/>
                        </a:solidFill>
                        <a:latin typeface="Arial"/>
                        <a:ea typeface="Arial"/>
                        <a:cs typeface="Arial"/>
                      </a:endParaRPr>
                    </a:p>
                  </a:txBody>
                  <a:tcPr marL="171450" marR="171450" marT="142875" marB="114300" anchor="ctr">
                    <a:solidFill>
                      <a:srgbClr val="142A3B"/>
                    </a:solidFill>
                  </a:tcPr>
                </a:tc>
                <a:tc>
                  <a:txBody>
                    <a:bodyPr/>
                    <a:lstStyle/>
                    <a:p>
                      <a:pPr algn="l">
                        <a:defRPr lang="cs-CZ" altLang="cs-CZ" noProof="0"/>
                      </a:pPr>
                      <a:r>
                        <a:rPr lang="cs-CZ" altLang="cs-CZ" sz="2325" b="1" noProof="0" err="1">
                          <a:solidFill>
                            <a:srgbClr val="FFFFFF"/>
                          </a:solidFill>
                          <a:latin typeface="Arial"/>
                          <a:ea typeface="Arial"/>
                          <a:cs typeface="Arial"/>
                        </a:rPr>
                        <a:t>odpocatost</a:t>
                      </a:r>
                      <a:endParaRPr lang="cs-CZ" altLang="cs-CZ" sz="2325" b="1" noProof="0">
                        <a:solidFill>
                          <a:srgbClr val="FFFFFF"/>
                        </a:solidFill>
                        <a:latin typeface="Arial"/>
                        <a:ea typeface="Arial"/>
                        <a:cs typeface="Arial"/>
                      </a:endParaRPr>
                    </a:p>
                  </a:txBody>
                  <a:tcPr marL="171450" marR="171450" marT="142875" marB="114300" anchor="ctr">
                    <a:solidFill>
                      <a:srgbClr val="142A3B"/>
                    </a:solidFill>
                  </a:tcPr>
                </a:tc>
                <a:extLst>
                  <a:ext uri="{0D108BD9-81ED-4DB2-BD59-A6C34878D82A}">
                    <a16:rowId xmlns:a16="http://schemas.microsoft.com/office/drawing/2014/main" val="10000"/>
                  </a:ext>
                </a:extLst>
              </a:tr>
              <a:tr h="571500">
                <a:tc>
                  <a:txBody>
                    <a:bodyPr/>
                    <a:lstStyle/>
                    <a:p>
                      <a:pPr algn="l">
                        <a:defRPr lang="cs-CZ" altLang="cs-CZ" noProof="0"/>
                      </a:pPr>
                      <a:r>
                        <a:rPr lang="cs-CZ" altLang="cs-CZ" sz="2325" b="0" noProof="0">
                          <a:solidFill>
                            <a:srgbClr val="142A3B"/>
                          </a:solidFill>
                          <a:latin typeface="Arial"/>
                          <a:ea typeface="Arial"/>
                          <a:cs typeface="Arial"/>
                        </a:rPr>
                        <a:t>P01</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6</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5</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dopoledne</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2</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1"/>
                  </a:ext>
                </a:extLst>
              </a:tr>
              <a:tr h="571500">
                <a:tc>
                  <a:txBody>
                    <a:bodyPr/>
                    <a:lstStyle/>
                    <a:p>
                      <a:pPr algn="l">
                        <a:defRPr lang="cs-CZ" altLang="cs-CZ" noProof="0"/>
                      </a:pPr>
                      <a:r>
                        <a:rPr lang="cs-CZ" altLang="cs-CZ" sz="2325" b="0" noProof="0">
                          <a:solidFill>
                            <a:srgbClr val="142A3B"/>
                          </a:solidFill>
                          <a:latin typeface="Arial"/>
                          <a:ea typeface="Arial"/>
                          <a:cs typeface="Arial"/>
                        </a:rPr>
                        <a:t>P02</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8</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9</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odpoledne</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4</a:t>
                      </a:r>
                      <a:endParaRPr lang="cs-CZ" altLang="cs-CZ" noProof="0"/>
                    </a:p>
                  </a:txBody>
                  <a:tcPr marL="171450" marR="171450" marT="142875" marB="114300" anchor="ctr">
                    <a:solidFill>
                      <a:srgbClr val="EDF2F3"/>
                    </a:solidFill>
                  </a:tcPr>
                </a:tc>
                <a:extLst>
                  <a:ext uri="{0D108BD9-81ED-4DB2-BD59-A6C34878D82A}">
                    <a16:rowId xmlns:a16="http://schemas.microsoft.com/office/drawing/2014/main" val="10002"/>
                  </a:ext>
                </a:extLst>
              </a:tr>
              <a:tr h="571500">
                <a:tc>
                  <a:txBody>
                    <a:bodyPr/>
                    <a:lstStyle/>
                    <a:p>
                      <a:pPr algn="l">
                        <a:defRPr lang="cs-CZ" altLang="cs-CZ" noProof="0"/>
                      </a:pPr>
                      <a:r>
                        <a:rPr lang="cs-CZ" altLang="cs-CZ" sz="2325" b="0" noProof="0">
                          <a:solidFill>
                            <a:srgbClr val="142A3B"/>
                          </a:solidFill>
                          <a:latin typeface="Arial"/>
                          <a:ea typeface="Arial"/>
                          <a:cs typeface="Arial"/>
                        </a:rPr>
                        <a:t>P03</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7</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8</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dopoledne</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3</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3"/>
                  </a:ext>
                </a:extLst>
              </a:tr>
              <a:tr h="571500">
                <a:tc>
                  <a:txBody>
                    <a:bodyPr/>
                    <a:lstStyle/>
                    <a:p>
                      <a:pPr algn="l">
                        <a:defRPr lang="cs-CZ" altLang="cs-CZ" noProof="0"/>
                      </a:pPr>
                      <a:r>
                        <a:rPr lang="cs-CZ" altLang="cs-CZ" sz="2325" b="0" noProof="0">
                          <a:solidFill>
                            <a:srgbClr val="142A3B"/>
                          </a:solidFill>
                          <a:latin typeface="Arial"/>
                          <a:ea typeface="Arial"/>
                          <a:cs typeface="Arial"/>
                        </a:rPr>
                        <a:t>P04</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5</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6</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odpoledne</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2</a:t>
                      </a:r>
                      <a:endParaRPr lang="cs-CZ" altLang="cs-CZ" noProof="0"/>
                    </a:p>
                  </a:txBody>
                  <a:tcPr marL="171450" marR="171450" marT="142875" marB="114300" anchor="ctr">
                    <a:solidFill>
                      <a:srgbClr val="EDF2F3"/>
                    </a:solidFill>
                  </a:tcPr>
                </a:tc>
                <a:extLst>
                  <a:ext uri="{0D108BD9-81ED-4DB2-BD59-A6C34878D82A}">
                    <a16:rowId xmlns:a16="http://schemas.microsoft.com/office/drawing/2014/main" val="10004"/>
                  </a:ext>
                </a:extLst>
              </a:tr>
              <a:tr h="571500">
                <a:tc>
                  <a:txBody>
                    <a:bodyPr/>
                    <a:lstStyle/>
                    <a:p>
                      <a:pPr algn="l">
                        <a:defRPr lang="cs-CZ" altLang="cs-CZ" noProof="0"/>
                      </a:pPr>
                      <a:r>
                        <a:rPr lang="cs-CZ" altLang="cs-CZ" sz="2325" b="0" noProof="0">
                          <a:solidFill>
                            <a:srgbClr val="142A3B"/>
                          </a:solidFill>
                          <a:latin typeface="Arial"/>
                          <a:ea typeface="Arial"/>
                          <a:cs typeface="Arial"/>
                        </a:rPr>
                        <a:t>P05</a:t>
                      </a:r>
                      <a:endParaRPr lang="cs-CZ" altLang="cs-CZ" noProof="0"/>
                    </a:p>
                  </a:txBody>
                  <a:tcPr marL="171450" marR="171450" marT="142875" marB="114300" anchor="ctr">
                    <a:solidFill>
                      <a:srgbClr val="FFFFFF"/>
                    </a:solidFill>
                  </a:tcPr>
                </a:tc>
                <a:tc>
                  <a:txBody>
                    <a:bodyPr/>
                    <a:lstStyle/>
                    <a:p>
                      <a:pPr>
                        <a:defRPr lang="cs-CZ" altLang="cs-CZ" noProof="0"/>
                      </a:pP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7</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dopoledne</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3</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5"/>
                  </a:ext>
                </a:extLst>
              </a:tr>
              <a:tr h="571500">
                <a:tc>
                  <a:txBody>
                    <a:bodyPr/>
                    <a:lstStyle/>
                    <a:p>
                      <a:pPr algn="l">
                        <a:defRPr lang="cs-CZ" altLang="cs-CZ" noProof="0"/>
                      </a:pPr>
                      <a:r>
                        <a:rPr lang="cs-CZ" altLang="cs-CZ" sz="2325" b="0" noProof="0">
                          <a:solidFill>
                            <a:srgbClr val="142A3B"/>
                          </a:solidFill>
                          <a:latin typeface="Arial"/>
                          <a:ea typeface="Arial"/>
                          <a:cs typeface="Arial"/>
                        </a:rPr>
                        <a:t>P06</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7</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0</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odpoledne</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1</a:t>
                      </a:r>
                      <a:endParaRPr lang="cs-CZ" altLang="cs-CZ" noProof="0"/>
                    </a:p>
                  </a:txBody>
                  <a:tcPr marL="171450" marR="171450" marT="142875" marB="114300" anchor="ctr">
                    <a:solidFill>
                      <a:srgbClr val="EDF2F3"/>
                    </a:solidFill>
                  </a:tcPr>
                </a:tc>
                <a:extLst>
                  <a:ext uri="{0D108BD9-81ED-4DB2-BD59-A6C34878D82A}">
                    <a16:rowId xmlns:a16="http://schemas.microsoft.com/office/drawing/2014/main" val="10006"/>
                  </a:ext>
                </a:extLst>
              </a:tr>
            </a:tbl>
          </a:graphicData>
        </a:graphic>
      </p:graphicFrame>
      <p:sp>
        <p:nvSpPr>
          <p:cNvPr id="4" name="text-2">
            <a:extLst>
              <a:ext uri="{FF2B5EF4-FFF2-40B4-BE49-F238E27FC236}">
                <a16:creationId xmlns:a16="http://schemas.microsoft.com/office/drawing/2014/main" id="{81B37C5C-6E8A-4DF2-9484-16F7CAB9979C}"/>
              </a:ext>
            </a:extLst>
          </p:cNvPr>
          <p:cNvSpPr>
            <a:spLocks noGrp="1"/>
          </p:cNvSpPr>
          <p:nvPr/>
        </p:nvSpPr>
        <p:spPr>
          <a:xfrm>
            <a:off x="838200" y="6315075"/>
            <a:ext cx="13563600" cy="685800"/>
          </a:xfrm>
          <a:prstGeom prst="rect">
            <a:avLst/>
          </a:prstGeom>
          <a:noFill/>
          <a:ln w="0">
            <a:noFill/>
          </a:ln>
        </p:spPr>
        <p:txBody>
          <a:bodyPr wrap="square" lIns="0" tIns="0" rIns="0" bIns="0" anchor="t">
            <a:noAutofit/>
          </a:bodyPr>
          <a:lstStyle/>
          <a:p>
            <a:pPr>
              <a:defRPr lang="cs-CZ" altLang="cs-CZ" sz="2400" b="1" noProof="0">
                <a:solidFill>
                  <a:srgbClr val="176A83"/>
                </a:solidFill>
                <a:latin typeface="Arial"/>
                <a:ea typeface="Arial"/>
                <a:cs typeface="Arial"/>
              </a:defRPr>
            </a:pPr>
            <a:r>
              <a:rPr lang="cs-CZ" altLang="cs-CZ" sz="2400" b="1" noProof="0">
                <a:solidFill>
                  <a:srgbClr val="176A83"/>
                </a:solidFill>
                <a:latin typeface="Arial"/>
                <a:ea typeface="Arial"/>
                <a:cs typeface="Arial"/>
              </a:rPr>
              <a:t>Jeden řádek = jeden případ. Jeden sloupec = jedna proměnná.</a:t>
            </a:r>
            <a:endParaRPr lang="cs-CZ" altLang="cs-CZ" noProof="0"/>
          </a:p>
        </p:txBody>
      </p:sp>
      <p:sp>
        <p:nvSpPr>
          <p:cNvPr id="5" name="text-3">
            <a:extLst>
              <a:ext uri="{FF2B5EF4-FFF2-40B4-BE49-F238E27FC236}">
                <a16:creationId xmlns:a16="http://schemas.microsoft.com/office/drawing/2014/main" id="{D75D06C9-6943-4797-AFBA-1D3CA9CC9480}"/>
              </a:ext>
            </a:extLst>
          </p:cNvPr>
          <p:cNvSpPr>
            <a:spLocks noGrp="1"/>
          </p:cNvSpPr>
          <p:nvPr/>
        </p:nvSpPr>
        <p:spPr>
          <a:xfrm>
            <a:off x="838200" y="7115175"/>
            <a:ext cx="13563600" cy="742950"/>
          </a:xfrm>
          <a:prstGeom prst="rect">
            <a:avLst/>
          </a:prstGeom>
          <a:noFill/>
          <a:ln w="0">
            <a:noFill/>
          </a:ln>
        </p:spPr>
        <p:txBody>
          <a:bodyPr wrap="square" lIns="0" tIns="0" rIns="0" bIns="0" anchor="t">
            <a:noAutofit/>
          </a:bodyPr>
          <a:lstStyle/>
          <a:p>
            <a:pPr>
              <a:defRPr lang="cs-CZ" altLang="cs-CZ" sz="2250" b="0" noProof="0">
                <a:solidFill>
                  <a:srgbClr val="142A3B"/>
                </a:solidFill>
                <a:latin typeface="Arial"/>
                <a:ea typeface="Arial"/>
                <a:cs typeface="Arial"/>
              </a:defRPr>
            </a:pPr>
            <a:r>
              <a:rPr lang="cs-CZ" altLang="cs-CZ" sz="2250" b="0" noProof="0">
                <a:solidFill>
                  <a:srgbClr val="142A3B"/>
                </a:solidFill>
                <a:latin typeface="Arial"/>
                <a:ea typeface="Arial"/>
                <a:cs typeface="Arial"/>
              </a:rPr>
              <a:t>Přehled proměnných (</a:t>
            </a:r>
            <a:r>
              <a:rPr lang="cs-CZ" altLang="cs-CZ" sz="2250" b="0" noProof="0" err="1">
                <a:solidFill>
                  <a:srgbClr val="142A3B"/>
                </a:solidFill>
                <a:latin typeface="Arial"/>
                <a:ea typeface="Arial"/>
                <a:cs typeface="Arial"/>
              </a:rPr>
              <a:t>codebook</a:t>
            </a:r>
            <a:r>
              <a:rPr lang="cs-CZ" altLang="cs-CZ" sz="2250" b="0" noProof="0">
                <a:solidFill>
                  <a:srgbClr val="142A3B"/>
                </a:solidFill>
                <a:latin typeface="Arial"/>
                <a:ea typeface="Arial"/>
                <a:cs typeface="Arial"/>
              </a:rPr>
              <a:t>): význam, jednotky, přípustné hodnoty, kódy a chybění.</a:t>
            </a:r>
            <a:endParaRPr lang="cs-CZ" altLang="cs-CZ" noProof="0"/>
          </a:p>
        </p:txBody>
      </p:sp>
    </p:spTree>
    <p:extLst>
      <p:ext uri="{BB962C8B-B14F-4D97-AF65-F5344CB8AC3E}">
        <p14:creationId xmlns:p14="http://schemas.microsoft.com/office/powerpoint/2010/main" val="1441632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7DEB4076-39CB-47CB-BA90-7EA4BDAF6252}"/>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Chybějící údaj, nula a číselný kód</a:t>
            </a:r>
            <a:endParaRPr lang="cs-CZ" altLang="cs-CZ" noProof="0"/>
          </a:p>
        </p:txBody>
      </p:sp>
      <p:sp>
        <p:nvSpPr>
          <p:cNvPr id="2" name="text-1">
            <a:extLst>
              <a:ext uri="{FF2B5EF4-FFF2-40B4-BE49-F238E27FC236}">
                <a16:creationId xmlns:a16="http://schemas.microsoft.com/office/drawing/2014/main" id="{32FEAB64-C953-403A-8C51-B5B87CA1FCB2}"/>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19</a:t>
            </a:r>
            <a:endParaRPr lang="cs-CZ" altLang="cs-CZ" noProof="0"/>
          </a:p>
        </p:txBody>
      </p:sp>
      <p:graphicFrame>
        <p:nvGraphicFramePr>
          <p:cNvPr id="8" name="Tabulka 7"/>
          <p:cNvGraphicFramePr/>
          <p:nvPr>
            <p:extLst>
              <p:ext uri="{D42A27DB-BD31-4B8C-83A1-F6EECF244321}">
                <p14:modId xmlns:p14="http://schemas.microsoft.com/office/powerpoint/2010/main" val="1153549198"/>
              </p:ext>
            </p:extLst>
          </p:nvPr>
        </p:nvGraphicFramePr>
        <p:xfrm>
          <a:off x="838200" y="2114550"/>
          <a:ext cx="13563600" cy="3476624"/>
        </p:xfrm>
        <a:graphic>
          <a:graphicData uri="http://schemas.openxmlformats.org/drawingml/2006/table">
            <a:tbl>
              <a:tblPr/>
              <a:tblGrid>
                <a:gridCol w="7810500">
                  <a:extLst>
                    <a:ext uri="{9D8B030D-6E8A-4147-A177-3AD203B41FA5}">
                      <a16:colId xmlns:a16="http://schemas.microsoft.com/office/drawing/2014/main" val="20000"/>
                    </a:ext>
                  </a:extLst>
                </a:gridCol>
                <a:gridCol w="5753100">
                  <a:extLst>
                    <a:ext uri="{9D8B030D-6E8A-4147-A177-3AD203B41FA5}">
                      <a16:colId xmlns:a16="http://schemas.microsoft.com/office/drawing/2014/main" val="20001"/>
                    </a:ext>
                  </a:extLst>
                </a:gridCol>
              </a:tblGrid>
              <a:tr h="869156">
                <a:tc>
                  <a:txBody>
                    <a:bodyPr/>
                    <a:lstStyle/>
                    <a:p>
                      <a:pPr algn="l">
                        <a:defRPr lang="cs-CZ" altLang="cs-CZ" noProof="0"/>
                      </a:pPr>
                      <a:r>
                        <a:rPr lang="cs-CZ" altLang="cs-CZ" sz="2325" b="1" noProof="0">
                          <a:solidFill>
                            <a:srgbClr val="FFFFFF"/>
                          </a:solidFill>
                          <a:latin typeface="Arial"/>
                          <a:ea typeface="Arial"/>
                          <a:cs typeface="Arial"/>
                        </a:rPr>
                        <a:t>Událost</a:t>
                      </a:r>
                      <a:endParaRPr lang="cs-CZ" altLang="cs-CZ" noProof="0"/>
                    </a:p>
                  </a:txBody>
                  <a:tcPr marL="171450" marR="171450" marT="142875" marB="114300" anchor="ctr">
                    <a:solidFill>
                      <a:srgbClr val="142A3B"/>
                    </a:solidFill>
                  </a:tcPr>
                </a:tc>
                <a:tc>
                  <a:txBody>
                    <a:bodyPr/>
                    <a:lstStyle/>
                    <a:p>
                      <a:pPr algn="l">
                        <a:defRPr lang="cs-CZ" altLang="cs-CZ" noProof="0"/>
                      </a:pPr>
                      <a:r>
                        <a:rPr lang="cs-CZ" altLang="cs-CZ" sz="2325" b="1" noProof="0">
                          <a:solidFill>
                            <a:srgbClr val="FFFFFF"/>
                          </a:solidFill>
                          <a:latin typeface="Arial"/>
                          <a:ea typeface="Arial"/>
                          <a:cs typeface="Arial"/>
                        </a:rPr>
                        <a:t>Zápis výsledku v našem Excelu</a:t>
                      </a:r>
                      <a:endParaRPr lang="cs-CZ" altLang="cs-CZ" noProof="0"/>
                    </a:p>
                  </a:txBody>
                  <a:tcPr marL="171450" marR="171450" marT="142875" marB="114300" anchor="ctr">
                    <a:solidFill>
                      <a:srgbClr val="142A3B"/>
                    </a:solidFill>
                  </a:tcPr>
                </a:tc>
                <a:extLst>
                  <a:ext uri="{0D108BD9-81ED-4DB2-BD59-A6C34878D82A}">
                    <a16:rowId xmlns:a16="http://schemas.microsoft.com/office/drawing/2014/main" val="10000"/>
                  </a:ext>
                </a:extLst>
              </a:tr>
              <a:tr h="869156">
                <a:tc>
                  <a:txBody>
                    <a:bodyPr/>
                    <a:lstStyle/>
                    <a:p>
                      <a:pPr algn="l">
                        <a:defRPr lang="cs-CZ" altLang="cs-CZ" noProof="0"/>
                      </a:pPr>
                      <a:r>
                        <a:rPr lang="cs-CZ" altLang="cs-CZ" sz="2325" b="0" noProof="0">
                          <a:solidFill>
                            <a:srgbClr val="142A3B"/>
                          </a:solidFill>
                          <a:latin typeface="Arial"/>
                          <a:ea typeface="Arial"/>
                          <a:cs typeface="Arial"/>
                        </a:rPr>
                        <a:t>Účastník splnil úlohu, vybavil 0 slov.</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0: pozorovaný nulový výkon.</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1"/>
                  </a:ext>
                </a:extLst>
              </a:tr>
              <a:tr h="869156">
                <a:tc>
                  <a:txBody>
                    <a:bodyPr/>
                    <a:lstStyle/>
                    <a:p>
                      <a:pPr algn="l">
                        <a:defRPr lang="cs-CZ" altLang="cs-CZ" noProof="0"/>
                      </a:pPr>
                      <a:r>
                        <a:rPr lang="cs-CZ" altLang="cs-CZ" sz="2325" b="0" noProof="0">
                          <a:solidFill>
                            <a:srgbClr val="142A3B"/>
                          </a:solidFill>
                          <a:latin typeface="Arial"/>
                          <a:ea typeface="Arial"/>
                          <a:cs typeface="Arial"/>
                        </a:rPr>
                        <a:t>Úloha neproběhla pro poruchu počítače.</a:t>
                      </a:r>
                      <a:endParaRPr lang="cs-CZ" altLang="cs-CZ" noProof="0"/>
                    </a:p>
                  </a:txBody>
                  <a:tcPr marL="171450" marR="171450" marT="142875" marB="114300" anchor="ctr">
                    <a:solidFill>
                      <a:srgbClr val="EDF2F3"/>
                    </a:solidFill>
                  </a:tcPr>
                </a:tc>
                <a:tc>
                  <a:txBody>
                    <a:bodyPr/>
                    <a:lstStyle/>
                    <a:p>
                      <a:pPr algn="l">
                        <a:defRPr lang="cs-CZ" altLang="cs-CZ" noProof="0"/>
                      </a:pPr>
                      <a:r>
                        <a:rPr lang="cs-CZ" altLang="cs-CZ" sz="2325" b="0" noProof="0">
                          <a:solidFill>
                            <a:srgbClr val="142A3B"/>
                          </a:solidFill>
                          <a:latin typeface="Arial"/>
                          <a:ea typeface="Arial"/>
                          <a:cs typeface="Arial"/>
                        </a:rPr>
                        <a:t>Prázdná buňka + důvod chybění.</a:t>
                      </a:r>
                      <a:endParaRPr lang="cs-CZ" altLang="cs-CZ" noProof="0"/>
                    </a:p>
                  </a:txBody>
                  <a:tcPr marL="171450" marR="171450" marT="142875" marB="114300" anchor="ctr">
                    <a:solidFill>
                      <a:srgbClr val="EDF2F3"/>
                    </a:solidFill>
                  </a:tcPr>
                </a:tc>
                <a:extLst>
                  <a:ext uri="{0D108BD9-81ED-4DB2-BD59-A6C34878D82A}">
                    <a16:rowId xmlns:a16="http://schemas.microsoft.com/office/drawing/2014/main" val="10002"/>
                  </a:ext>
                </a:extLst>
              </a:tr>
              <a:tr h="869156">
                <a:tc>
                  <a:txBody>
                    <a:bodyPr/>
                    <a:lstStyle/>
                    <a:p>
                      <a:pPr algn="l">
                        <a:defRPr lang="cs-CZ" altLang="cs-CZ" noProof="0"/>
                      </a:pPr>
                      <a:r>
                        <a:rPr lang="cs-CZ" altLang="cs-CZ" sz="2325" b="0" noProof="0">
                          <a:solidFill>
                            <a:srgbClr val="142A3B"/>
                          </a:solidFill>
                          <a:latin typeface="Arial"/>
                          <a:ea typeface="Arial"/>
                          <a:cs typeface="Arial"/>
                        </a:rPr>
                        <a:t>Kategorie „odpoledne“ je označena 2.</a:t>
                      </a:r>
                      <a:endParaRPr lang="cs-CZ" altLang="cs-CZ" noProof="0"/>
                    </a:p>
                  </a:txBody>
                  <a:tcPr marL="171450" marR="171450" marT="142875" marB="114300" anchor="ctr">
                    <a:solidFill>
                      <a:srgbClr val="FFFFFF"/>
                    </a:solidFill>
                  </a:tcPr>
                </a:tc>
                <a:tc>
                  <a:txBody>
                    <a:bodyPr/>
                    <a:lstStyle/>
                    <a:p>
                      <a:pPr algn="l">
                        <a:defRPr lang="cs-CZ" altLang="cs-CZ" noProof="0"/>
                      </a:pPr>
                      <a:r>
                        <a:rPr lang="cs-CZ" altLang="cs-CZ" sz="2325" b="0" noProof="0">
                          <a:solidFill>
                            <a:srgbClr val="142A3B"/>
                          </a:solidFill>
                          <a:latin typeface="Arial"/>
                          <a:ea typeface="Arial"/>
                          <a:cs typeface="Arial"/>
                        </a:rPr>
                        <a:t>2 je kód kategorie, nikoli množství.</a:t>
                      </a:r>
                      <a:endParaRPr lang="cs-CZ" altLang="cs-CZ" noProof="0"/>
                    </a:p>
                  </a:txBody>
                  <a:tcPr marL="171450" marR="171450" marT="142875" marB="114300" anchor="ctr">
                    <a:solidFill>
                      <a:srgbClr val="FFFFFF"/>
                    </a:solidFill>
                  </a:tcPr>
                </a:tc>
                <a:extLst>
                  <a:ext uri="{0D108BD9-81ED-4DB2-BD59-A6C34878D82A}">
                    <a16:rowId xmlns:a16="http://schemas.microsoft.com/office/drawing/2014/main" val="10003"/>
                  </a:ext>
                </a:extLst>
              </a:tr>
            </a:tbl>
          </a:graphicData>
        </a:graphic>
      </p:graphicFrame>
      <p:sp>
        <p:nvSpPr>
          <p:cNvPr id="4" name="text-2">
            <a:extLst>
              <a:ext uri="{FF2B5EF4-FFF2-40B4-BE49-F238E27FC236}">
                <a16:creationId xmlns:a16="http://schemas.microsoft.com/office/drawing/2014/main" id="{A16BE2C0-BA61-43ED-95F7-4CD0DB61B562}"/>
              </a:ext>
            </a:extLst>
          </p:cNvPr>
          <p:cNvSpPr>
            <a:spLocks noGrp="1"/>
          </p:cNvSpPr>
          <p:nvPr/>
        </p:nvSpPr>
        <p:spPr>
          <a:xfrm>
            <a:off x="838200" y="6191250"/>
            <a:ext cx="13563600" cy="1047750"/>
          </a:xfrm>
          <a:prstGeom prst="rect">
            <a:avLst/>
          </a:prstGeom>
          <a:noFill/>
          <a:ln w="0">
            <a:noFill/>
          </a:ln>
        </p:spPr>
        <p:txBody>
          <a:bodyPr wrap="square" lIns="0" tIns="0" rIns="0" bIns="0" anchor="t">
            <a:noAutofit/>
          </a:bodyPr>
          <a:lstStyle/>
          <a:p>
            <a:pPr>
              <a:defRPr lang="cs-CZ" altLang="cs-CZ" sz="2550" b="1" noProof="0">
                <a:solidFill>
                  <a:srgbClr val="176A83"/>
                </a:solidFill>
                <a:latin typeface="Arial"/>
                <a:ea typeface="Arial"/>
                <a:cs typeface="Arial"/>
              </a:defRPr>
            </a:pPr>
            <a:r>
              <a:rPr lang="cs-CZ" altLang="cs-CZ" sz="2550" b="1" noProof="0">
                <a:solidFill>
                  <a:srgbClr val="176A83"/>
                </a:solidFill>
                <a:latin typeface="Arial"/>
                <a:ea typeface="Arial"/>
                <a:cs typeface="Arial"/>
              </a:rPr>
              <a:t>Kód −99 musí být před analýzou rozpoznán jako chybění.</a:t>
            </a:r>
            <a:endParaRPr lang="cs-CZ" altLang="cs-CZ" noProof="0"/>
          </a:p>
        </p:txBody>
      </p:sp>
      <p:sp>
        <p:nvSpPr>
          <p:cNvPr id="5" name="text-3">
            <a:extLst>
              <a:ext uri="{FF2B5EF4-FFF2-40B4-BE49-F238E27FC236}">
                <a16:creationId xmlns:a16="http://schemas.microsoft.com/office/drawing/2014/main" id="{1CFD53D5-F709-42D9-9EB1-9863921B6E8F}"/>
              </a:ext>
            </a:extLst>
          </p:cNvPr>
          <p:cNvSpPr>
            <a:spLocks noGrp="1"/>
          </p:cNvSpPr>
          <p:nvPr/>
        </p:nvSpPr>
        <p:spPr>
          <a:xfrm>
            <a:off x="838200" y="7172325"/>
            <a:ext cx="13563600" cy="600075"/>
          </a:xfrm>
          <a:prstGeom prst="rect">
            <a:avLst/>
          </a:prstGeom>
          <a:noFill/>
          <a:ln w="0">
            <a:noFill/>
          </a:ln>
        </p:spPr>
        <p:txBody>
          <a:bodyPr wrap="square" lIns="0" tIns="0" rIns="0" bIns="0" anchor="t">
            <a:noAutofit/>
          </a:bodyPr>
          <a:lstStyle/>
          <a:p>
            <a:pPr>
              <a:defRPr lang="cs-CZ" altLang="cs-CZ" sz="2325" b="0" noProof="0">
                <a:solidFill>
                  <a:srgbClr val="576574"/>
                </a:solidFill>
                <a:latin typeface="Arial"/>
                <a:ea typeface="Arial"/>
                <a:cs typeface="Arial"/>
              </a:defRPr>
            </a:pPr>
            <a:r>
              <a:rPr lang="cs-CZ" altLang="cs-CZ" sz="2325" b="0" noProof="0">
                <a:solidFill>
                  <a:srgbClr val="576574"/>
                </a:solidFill>
                <a:latin typeface="Arial"/>
                <a:ea typeface="Arial"/>
                <a:cs typeface="Arial"/>
              </a:rPr>
              <a:t>Bez nastavení je to obyčejné číslo, které může vstoupit do výpočtu.</a:t>
            </a:r>
            <a:endParaRPr lang="cs-CZ" altLang="cs-CZ" noProof="0"/>
          </a:p>
        </p:txBody>
      </p:sp>
    </p:spTree>
    <p:extLst>
      <p:ext uri="{BB962C8B-B14F-4D97-AF65-F5344CB8AC3E}">
        <p14:creationId xmlns:p14="http://schemas.microsoft.com/office/powerpoint/2010/main" val="1542785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39516BE8-BD27-4605-87CF-B217A6392626}"/>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Úloha 1: Spojité a diskrétní proměnné</a:t>
            </a:r>
          </a:p>
        </p:txBody>
      </p:sp>
      <p:sp>
        <p:nvSpPr>
          <p:cNvPr id="2" name="Obdélník 1">
            <a:extLst>
              <a:ext uri="{FF2B5EF4-FFF2-40B4-BE49-F238E27FC236}">
                <a16:creationId xmlns:a16="http://schemas.microsoft.com/office/drawing/2014/main" id="{40D16F56-1034-48B5-8FA7-CA6B9CF2BBFF}"/>
              </a:ext>
            </a:extLst>
          </p:cNvPr>
          <p:cNvSpPr>
            <a:spLocks noGrp="1"/>
          </p:cNvSpPr>
          <p:nvPr/>
        </p:nvSpPr>
        <p:spPr>
          <a:xfrm>
            <a:off x="838200" y="1952625"/>
            <a:ext cx="13563600" cy="157162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Uvažujte o proměnných, které můžeme sledovat v psychologickém výzkumu.</a:t>
            </a:r>
          </a:p>
        </p:txBody>
      </p:sp>
      <p:sp>
        <p:nvSpPr>
          <p:cNvPr id="3" name="Obdélník 2">
            <a:extLst>
              <a:ext uri="{FF2B5EF4-FFF2-40B4-BE49-F238E27FC236}">
                <a16:creationId xmlns:a16="http://schemas.microsoft.com/office/drawing/2014/main" id="{67D47D6F-884F-4506-BD6B-A6EAF4A010FE}"/>
              </a:ext>
            </a:extLst>
          </p:cNvPr>
          <p:cNvSpPr>
            <a:spLocks noGrp="1"/>
          </p:cNvSpPr>
          <p:nvPr/>
        </p:nvSpPr>
        <p:spPr>
          <a:xfrm>
            <a:off x="838200" y="4000500"/>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Uveďte příklady spojitých proměnných.</a:t>
            </a:r>
          </a:p>
        </p:txBody>
      </p:sp>
      <p:sp>
        <p:nvSpPr>
          <p:cNvPr id="4" name="Obdélník 3">
            <a:extLst>
              <a:ext uri="{FF2B5EF4-FFF2-40B4-BE49-F238E27FC236}">
                <a16:creationId xmlns:a16="http://schemas.microsoft.com/office/drawing/2014/main" id="{90297526-5DBF-4BC0-A22E-37EA89F815B8}"/>
              </a:ext>
            </a:extLst>
          </p:cNvPr>
          <p:cNvSpPr>
            <a:spLocks noGrp="1"/>
          </p:cNvSpPr>
          <p:nvPr/>
        </p:nvSpPr>
        <p:spPr>
          <a:xfrm>
            <a:off x="838200" y="5238750"/>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Uveďte příklady diskrétních proměnných.</a:t>
            </a:r>
          </a:p>
        </p:txBody>
      </p:sp>
      <p:sp>
        <p:nvSpPr>
          <p:cNvPr id="5" name="Obdélník 4">
            <a:extLst>
              <a:ext uri="{FF2B5EF4-FFF2-40B4-BE49-F238E27FC236}">
                <a16:creationId xmlns:a16="http://schemas.microsoft.com/office/drawing/2014/main" id="{235C6103-5B03-42CE-9DA7-D99BB5BEB0BA}"/>
              </a:ext>
            </a:extLst>
          </p:cNvPr>
          <p:cNvSpPr>
            <a:spLocks noGrp="1"/>
          </p:cNvSpPr>
          <p:nvPr/>
        </p:nvSpPr>
        <p:spPr>
          <a:xfrm>
            <a:off x="838200" y="7677150"/>
            <a:ext cx="13563600" cy="304800"/>
          </a:xfrm>
          <a:prstGeom prst="rect">
            <a:avLst/>
          </a:prstGeom>
          <a:noFill/>
          <a:ln w="0">
            <a:noFill/>
          </a:ln>
        </p:spPr>
        <p:txBody>
          <a:bodyPr wrap="square" lIns="0" tIns="0" rIns="0" bIns="0" anchor="t">
            <a:noAutofit/>
          </a:bodyPr>
          <a:lstStyle/>
          <a:p>
            <a:pPr>
              <a:defRPr lang="cs-CZ" altLang="cs-CZ" sz="1500" b="0" noProof="0">
                <a:solidFill>
                  <a:srgbClr val="576574"/>
                </a:solidFill>
                <a:latin typeface="Arial"/>
                <a:ea typeface="Arial"/>
                <a:cs typeface="Arial"/>
              </a:defRPr>
            </a:pPr>
            <a:r>
              <a:rPr lang="cs-CZ" altLang="cs-CZ" sz="1500" b="0" noProof="0">
                <a:solidFill>
                  <a:srgbClr val="576574"/>
                </a:solidFill>
                <a:latin typeface="Arial"/>
                <a:ea typeface="Arial"/>
                <a:cs typeface="Arial"/>
              </a:rPr>
              <a:t>Howell (2013), s. 11, úlohy 1.7–1.8. Česká adaptace.</a:t>
            </a:r>
          </a:p>
        </p:txBody>
      </p:sp>
      <p:sp>
        <p:nvSpPr>
          <p:cNvPr id="6" name="Obdélník 5">
            <a:extLst>
              <a:ext uri="{FF2B5EF4-FFF2-40B4-BE49-F238E27FC236}">
                <a16:creationId xmlns:a16="http://schemas.microsoft.com/office/drawing/2014/main" id="{5DF2263F-C4B4-4326-9316-B258046C2D75}"/>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20</a:t>
            </a:r>
          </a:p>
        </p:txBody>
      </p:sp>
    </p:spTree>
    <p:extLst>
      <p:ext uri="{BB962C8B-B14F-4D97-AF65-F5344CB8AC3E}">
        <p14:creationId xmlns:p14="http://schemas.microsoft.com/office/powerpoint/2010/main" val="812056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D6289027-CCA3-46D5-B7DD-BA4DD68AF6A6}"/>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Úloha 2: Průměr populace a srovnání populací</a:t>
            </a:r>
          </a:p>
        </p:txBody>
      </p:sp>
      <p:sp>
        <p:nvSpPr>
          <p:cNvPr id="2" name="Obdélník 1">
            <a:extLst>
              <a:ext uri="{FF2B5EF4-FFF2-40B4-BE49-F238E27FC236}">
                <a16:creationId xmlns:a16="http://schemas.microsoft.com/office/drawing/2014/main" id="{FA280812-9160-4510-A2B5-0C08FD2293E4}"/>
              </a:ext>
            </a:extLst>
          </p:cNvPr>
          <p:cNvSpPr>
            <a:spLocks noGrp="1"/>
          </p:cNvSpPr>
          <p:nvPr/>
        </p:nvSpPr>
        <p:spPr>
          <a:xfrm>
            <a:off x="838200" y="1952625"/>
            <a:ext cx="13563600" cy="157162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Navrhněte dva příklady psychologického výzkumu s odlišným cílem.</a:t>
            </a:r>
          </a:p>
        </p:txBody>
      </p:sp>
      <p:sp>
        <p:nvSpPr>
          <p:cNvPr id="3" name="Obdélník 2">
            <a:extLst>
              <a:ext uri="{FF2B5EF4-FFF2-40B4-BE49-F238E27FC236}">
                <a16:creationId xmlns:a16="http://schemas.microsoft.com/office/drawing/2014/main" id="{9BA767FB-CFD7-4B74-94EF-86D991896C54}"/>
              </a:ext>
            </a:extLst>
          </p:cNvPr>
          <p:cNvSpPr>
            <a:spLocks noGrp="1"/>
          </p:cNvSpPr>
          <p:nvPr/>
        </p:nvSpPr>
        <p:spPr>
          <a:xfrm>
            <a:off x="838200" y="4000500"/>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V prvním nás zajímá odhad konkrétní hodnoty průměrného skóru v určité populaci.</a:t>
            </a:r>
          </a:p>
        </p:txBody>
      </p:sp>
      <p:sp>
        <p:nvSpPr>
          <p:cNvPr id="4" name="Obdélník 3">
            <a:extLst>
              <a:ext uri="{FF2B5EF4-FFF2-40B4-BE49-F238E27FC236}">
                <a16:creationId xmlns:a16="http://schemas.microsoft.com/office/drawing/2014/main" id="{6F6821C3-5BB3-4868-9554-4F5CD6B23DC9}"/>
              </a:ext>
            </a:extLst>
          </p:cNvPr>
          <p:cNvSpPr>
            <a:spLocks noGrp="1"/>
          </p:cNvSpPr>
          <p:nvPr/>
        </p:nvSpPr>
        <p:spPr>
          <a:xfrm>
            <a:off x="838200" y="5238750"/>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Ve druhém nás zajímá především, zda je průměr jedné populace vyšší než průměr druhé populace.</a:t>
            </a:r>
          </a:p>
        </p:txBody>
      </p:sp>
      <p:sp>
        <p:nvSpPr>
          <p:cNvPr id="5" name="Obdélník 4">
            <a:extLst>
              <a:ext uri="{FF2B5EF4-FFF2-40B4-BE49-F238E27FC236}">
                <a16:creationId xmlns:a16="http://schemas.microsoft.com/office/drawing/2014/main" id="{9CA7D518-2812-43A2-8721-87B84634EC96}"/>
              </a:ext>
            </a:extLst>
          </p:cNvPr>
          <p:cNvSpPr>
            <a:spLocks noGrp="1"/>
          </p:cNvSpPr>
          <p:nvPr/>
        </p:nvSpPr>
        <p:spPr>
          <a:xfrm>
            <a:off x="838200" y="7677150"/>
            <a:ext cx="13563600" cy="304800"/>
          </a:xfrm>
          <a:prstGeom prst="rect">
            <a:avLst/>
          </a:prstGeom>
          <a:noFill/>
          <a:ln w="0">
            <a:noFill/>
          </a:ln>
        </p:spPr>
        <p:txBody>
          <a:bodyPr wrap="square" lIns="0" tIns="0" rIns="0" bIns="0" anchor="t">
            <a:noAutofit/>
          </a:bodyPr>
          <a:lstStyle/>
          <a:p>
            <a:pPr>
              <a:defRPr lang="cs-CZ" altLang="cs-CZ" sz="1500" b="0" noProof="0">
                <a:solidFill>
                  <a:srgbClr val="576574"/>
                </a:solidFill>
                <a:latin typeface="Arial"/>
                <a:ea typeface="Arial"/>
                <a:cs typeface="Arial"/>
              </a:defRPr>
            </a:pPr>
            <a:r>
              <a:rPr lang="cs-CZ" altLang="cs-CZ" sz="1500" b="0" noProof="0">
                <a:solidFill>
                  <a:srgbClr val="576574"/>
                </a:solidFill>
                <a:latin typeface="Arial"/>
                <a:ea typeface="Arial"/>
                <a:cs typeface="Arial"/>
              </a:rPr>
              <a:t>Howell (2013), s. 11, úlohy 1.9–1.10. Česká adaptace.</a:t>
            </a:r>
          </a:p>
        </p:txBody>
      </p:sp>
      <p:sp>
        <p:nvSpPr>
          <p:cNvPr id="6" name="Obdélník 5">
            <a:extLst>
              <a:ext uri="{FF2B5EF4-FFF2-40B4-BE49-F238E27FC236}">
                <a16:creationId xmlns:a16="http://schemas.microsoft.com/office/drawing/2014/main" id="{51F892D3-ED56-4D3F-82D6-C4913E066BF0}"/>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21</a:t>
            </a:r>
          </a:p>
        </p:txBody>
      </p:sp>
    </p:spTree>
    <p:extLst>
      <p:ext uri="{BB962C8B-B14F-4D97-AF65-F5344CB8AC3E}">
        <p14:creationId xmlns:p14="http://schemas.microsoft.com/office/powerpoint/2010/main" val="1125428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9" name="Obdélník 8">
            <a:extLst>
              <a:ext uri="{FF2B5EF4-FFF2-40B4-BE49-F238E27FC236}">
                <a16:creationId xmlns:a16="http://schemas.microsoft.com/office/drawing/2014/main" id="{308143A0-FAD5-4F30-AAC7-CDCBF338FB92}"/>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Úloha 3: Úrovně měření v psychologii</a:t>
            </a:r>
          </a:p>
        </p:txBody>
      </p:sp>
      <p:sp>
        <p:nvSpPr>
          <p:cNvPr id="2" name="Obdélník 1">
            <a:extLst>
              <a:ext uri="{FF2B5EF4-FFF2-40B4-BE49-F238E27FC236}">
                <a16:creationId xmlns:a16="http://schemas.microsoft.com/office/drawing/2014/main" id="{0483B89B-78F6-41A7-BC79-BA9AD9A8C468}"/>
              </a:ext>
            </a:extLst>
          </p:cNvPr>
          <p:cNvSpPr>
            <a:spLocks noGrp="1"/>
          </p:cNvSpPr>
          <p:nvPr/>
        </p:nvSpPr>
        <p:spPr>
          <a:xfrm>
            <a:off x="838200" y="1952625"/>
            <a:ext cx="13563600" cy="157162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Uveďte jeden psychologický příklad pro každou úroveň měření.</a:t>
            </a:r>
          </a:p>
        </p:txBody>
      </p:sp>
      <p:sp>
        <p:nvSpPr>
          <p:cNvPr id="3" name="Obdélník 2">
            <a:extLst>
              <a:ext uri="{FF2B5EF4-FFF2-40B4-BE49-F238E27FC236}">
                <a16:creationId xmlns:a16="http://schemas.microsoft.com/office/drawing/2014/main" id="{00CE7FC4-AF90-4D1F-8FE0-FBC72CDA1BA2}"/>
              </a:ext>
            </a:extLst>
          </p:cNvPr>
          <p:cNvSpPr>
            <a:spLocks noGrp="1"/>
          </p:cNvSpPr>
          <p:nvPr/>
        </p:nvSpPr>
        <p:spPr>
          <a:xfrm>
            <a:off x="838200" y="4000500"/>
            <a:ext cx="13563600" cy="6477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Nominální měření</a:t>
            </a:r>
          </a:p>
        </p:txBody>
      </p:sp>
      <p:sp>
        <p:nvSpPr>
          <p:cNvPr id="4" name="Obdélník 3">
            <a:extLst>
              <a:ext uri="{FF2B5EF4-FFF2-40B4-BE49-F238E27FC236}">
                <a16:creationId xmlns:a16="http://schemas.microsoft.com/office/drawing/2014/main" id="{78506CDD-E70B-49BB-92E5-A9F95059DE6F}"/>
              </a:ext>
            </a:extLst>
          </p:cNvPr>
          <p:cNvSpPr>
            <a:spLocks noGrp="1"/>
          </p:cNvSpPr>
          <p:nvPr/>
        </p:nvSpPr>
        <p:spPr>
          <a:xfrm>
            <a:off x="838200" y="4743450"/>
            <a:ext cx="13563600" cy="6477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Ordinální měření</a:t>
            </a:r>
          </a:p>
        </p:txBody>
      </p:sp>
      <p:sp>
        <p:nvSpPr>
          <p:cNvPr id="5" name="Obdélník 4">
            <a:extLst>
              <a:ext uri="{FF2B5EF4-FFF2-40B4-BE49-F238E27FC236}">
                <a16:creationId xmlns:a16="http://schemas.microsoft.com/office/drawing/2014/main" id="{34E97353-160D-48E2-898E-6A439CC2B675}"/>
              </a:ext>
            </a:extLst>
          </p:cNvPr>
          <p:cNvSpPr>
            <a:spLocks noGrp="1"/>
          </p:cNvSpPr>
          <p:nvPr/>
        </p:nvSpPr>
        <p:spPr>
          <a:xfrm>
            <a:off x="838200" y="5486400"/>
            <a:ext cx="13563600" cy="6477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Intervalové měření</a:t>
            </a:r>
          </a:p>
        </p:txBody>
      </p:sp>
      <p:sp>
        <p:nvSpPr>
          <p:cNvPr id="6" name="Obdélník 5">
            <a:extLst>
              <a:ext uri="{FF2B5EF4-FFF2-40B4-BE49-F238E27FC236}">
                <a16:creationId xmlns:a16="http://schemas.microsoft.com/office/drawing/2014/main" id="{A971D9A2-0257-4489-B92A-C5FFC214E88A}"/>
              </a:ext>
            </a:extLst>
          </p:cNvPr>
          <p:cNvSpPr>
            <a:spLocks noGrp="1"/>
          </p:cNvSpPr>
          <p:nvPr/>
        </p:nvSpPr>
        <p:spPr>
          <a:xfrm>
            <a:off x="838200" y="6229350"/>
            <a:ext cx="13563600" cy="6477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Poměrové měření</a:t>
            </a:r>
          </a:p>
        </p:txBody>
      </p:sp>
      <p:sp>
        <p:nvSpPr>
          <p:cNvPr id="7" name="Obdélník 6">
            <a:extLst>
              <a:ext uri="{FF2B5EF4-FFF2-40B4-BE49-F238E27FC236}">
                <a16:creationId xmlns:a16="http://schemas.microsoft.com/office/drawing/2014/main" id="{C8B33DDA-7E29-4442-9B87-A7CA586FB999}"/>
              </a:ext>
            </a:extLst>
          </p:cNvPr>
          <p:cNvSpPr>
            <a:spLocks noGrp="1"/>
          </p:cNvSpPr>
          <p:nvPr/>
        </p:nvSpPr>
        <p:spPr>
          <a:xfrm>
            <a:off x="838200" y="7677150"/>
            <a:ext cx="13563600" cy="304800"/>
          </a:xfrm>
          <a:prstGeom prst="rect">
            <a:avLst/>
          </a:prstGeom>
          <a:noFill/>
          <a:ln w="0">
            <a:noFill/>
          </a:ln>
        </p:spPr>
        <p:txBody>
          <a:bodyPr wrap="square" lIns="0" tIns="0" rIns="0" bIns="0" anchor="t">
            <a:noAutofit/>
          </a:bodyPr>
          <a:lstStyle/>
          <a:p>
            <a:pPr>
              <a:defRPr lang="cs-CZ" altLang="cs-CZ" sz="1500" b="0" noProof="0">
                <a:solidFill>
                  <a:srgbClr val="576574"/>
                </a:solidFill>
                <a:latin typeface="Arial"/>
                <a:ea typeface="Arial"/>
                <a:cs typeface="Arial"/>
              </a:defRPr>
            </a:pPr>
            <a:r>
              <a:rPr lang="cs-CZ" altLang="cs-CZ" sz="1500" b="0" noProof="0">
                <a:solidFill>
                  <a:srgbClr val="576574"/>
                </a:solidFill>
                <a:latin typeface="Arial"/>
                <a:ea typeface="Arial"/>
                <a:cs typeface="Arial"/>
              </a:rPr>
              <a:t>Howell (2013), s. 12, úloha 1.14. Adaptace pro psychologické příklady.</a:t>
            </a:r>
          </a:p>
        </p:txBody>
      </p:sp>
      <p:sp>
        <p:nvSpPr>
          <p:cNvPr id="8" name="Obdélník 7">
            <a:extLst>
              <a:ext uri="{FF2B5EF4-FFF2-40B4-BE49-F238E27FC236}">
                <a16:creationId xmlns:a16="http://schemas.microsoft.com/office/drawing/2014/main" id="{0B791589-EA6B-453C-9180-9CF33E7AD162}"/>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22</a:t>
            </a:r>
          </a:p>
        </p:txBody>
      </p:sp>
    </p:spTree>
    <p:extLst>
      <p:ext uri="{BB962C8B-B14F-4D97-AF65-F5344CB8AC3E}">
        <p14:creationId xmlns:p14="http://schemas.microsoft.com/office/powerpoint/2010/main" val="18346854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BC92462D-2D2C-4A91-A9BF-CA6F8B17730E}"/>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Úloha 4: Souvislosti a rozdíly mezi skupinami</a:t>
            </a:r>
          </a:p>
        </p:txBody>
      </p:sp>
      <p:sp>
        <p:nvSpPr>
          <p:cNvPr id="2" name="Obdélník 1">
            <a:extLst>
              <a:ext uri="{FF2B5EF4-FFF2-40B4-BE49-F238E27FC236}">
                <a16:creationId xmlns:a16="http://schemas.microsoft.com/office/drawing/2014/main" id="{25F6A4AE-4FDB-4264-B251-08018B2966EE}"/>
              </a:ext>
            </a:extLst>
          </p:cNvPr>
          <p:cNvSpPr>
            <a:spLocks noGrp="1"/>
          </p:cNvSpPr>
          <p:nvPr/>
        </p:nvSpPr>
        <p:spPr>
          <a:xfrm>
            <a:off x="838200" y="1952625"/>
            <a:ext cx="13563600" cy="157162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Navrhněte příklady psychologických studií pro oba cíle.</a:t>
            </a:r>
          </a:p>
        </p:txBody>
      </p:sp>
      <p:sp>
        <p:nvSpPr>
          <p:cNvPr id="3" name="Obdélník 2">
            <a:extLst>
              <a:ext uri="{FF2B5EF4-FFF2-40B4-BE49-F238E27FC236}">
                <a16:creationId xmlns:a16="http://schemas.microsoft.com/office/drawing/2014/main" id="{0A4064EB-2A9D-4EE1-926B-D73EF431266F}"/>
              </a:ext>
            </a:extLst>
          </p:cNvPr>
          <p:cNvSpPr>
            <a:spLocks noGrp="1"/>
          </p:cNvSpPr>
          <p:nvPr/>
        </p:nvSpPr>
        <p:spPr>
          <a:xfrm>
            <a:off x="838200" y="4000500"/>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Studie, v nichž nás zajímají především vztahy mezi proměnnými.</a:t>
            </a:r>
          </a:p>
        </p:txBody>
      </p:sp>
      <p:sp>
        <p:nvSpPr>
          <p:cNvPr id="4" name="Obdélník 3">
            <a:extLst>
              <a:ext uri="{FF2B5EF4-FFF2-40B4-BE49-F238E27FC236}">
                <a16:creationId xmlns:a16="http://schemas.microsoft.com/office/drawing/2014/main" id="{FBC7C0A2-9955-4EE9-90F3-4C179AD20DFC}"/>
              </a:ext>
            </a:extLst>
          </p:cNvPr>
          <p:cNvSpPr>
            <a:spLocks noGrp="1"/>
          </p:cNvSpPr>
          <p:nvPr/>
        </p:nvSpPr>
        <p:spPr>
          <a:xfrm>
            <a:off x="838200" y="5238750"/>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Studie, v nichž nás zajímají především rozdíly mezi skupinami.</a:t>
            </a:r>
          </a:p>
        </p:txBody>
      </p:sp>
      <p:sp>
        <p:nvSpPr>
          <p:cNvPr id="5" name="Obdélník 4">
            <a:extLst>
              <a:ext uri="{FF2B5EF4-FFF2-40B4-BE49-F238E27FC236}">
                <a16:creationId xmlns:a16="http://schemas.microsoft.com/office/drawing/2014/main" id="{7FE10EFC-0FAF-42A5-BE39-A6B0C4E7E70C}"/>
              </a:ext>
            </a:extLst>
          </p:cNvPr>
          <p:cNvSpPr>
            <a:spLocks noGrp="1"/>
          </p:cNvSpPr>
          <p:nvPr/>
        </p:nvSpPr>
        <p:spPr>
          <a:xfrm>
            <a:off x="838200" y="7677150"/>
            <a:ext cx="13563600" cy="304800"/>
          </a:xfrm>
          <a:prstGeom prst="rect">
            <a:avLst/>
          </a:prstGeom>
          <a:noFill/>
          <a:ln w="0">
            <a:noFill/>
          </a:ln>
        </p:spPr>
        <p:txBody>
          <a:bodyPr wrap="square" lIns="0" tIns="0" rIns="0" bIns="0" anchor="t">
            <a:noAutofit/>
          </a:bodyPr>
          <a:lstStyle/>
          <a:p>
            <a:pPr>
              <a:defRPr lang="cs-CZ" altLang="cs-CZ" sz="1500" b="0" noProof="0">
                <a:solidFill>
                  <a:srgbClr val="576574"/>
                </a:solidFill>
                <a:latin typeface="Arial"/>
                <a:ea typeface="Arial"/>
                <a:cs typeface="Arial"/>
              </a:defRPr>
            </a:pPr>
            <a:r>
              <a:rPr lang="cs-CZ" altLang="cs-CZ" sz="1500" b="0" noProof="0">
                <a:solidFill>
                  <a:srgbClr val="576574"/>
                </a:solidFill>
                <a:latin typeface="Arial"/>
                <a:ea typeface="Arial"/>
                <a:cs typeface="Arial"/>
              </a:rPr>
              <a:t>Howell (2013), s. 12, úlohy 1.18–1.19. Česká adaptace.</a:t>
            </a:r>
          </a:p>
        </p:txBody>
      </p:sp>
      <p:sp>
        <p:nvSpPr>
          <p:cNvPr id="6" name="Obdélník 5">
            <a:extLst>
              <a:ext uri="{FF2B5EF4-FFF2-40B4-BE49-F238E27FC236}">
                <a16:creationId xmlns:a16="http://schemas.microsoft.com/office/drawing/2014/main" id="{6E3782D4-2155-4F8B-A09F-594EA2048755}"/>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23</a:t>
            </a:r>
          </a:p>
        </p:txBody>
      </p:sp>
    </p:spTree>
    <p:extLst>
      <p:ext uri="{BB962C8B-B14F-4D97-AF65-F5344CB8AC3E}">
        <p14:creationId xmlns:p14="http://schemas.microsoft.com/office/powerpoint/2010/main" val="1016485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Obdélník 7">
            <a:extLst>
              <a:ext uri="{FF2B5EF4-FFF2-40B4-BE49-F238E27FC236}">
                <a16:creationId xmlns:a16="http://schemas.microsoft.com/office/drawing/2014/main" id="{93DF9BDE-D473-4063-B59A-B0A18747E335}"/>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Úloha 5: Kapesné dívek a chlapců</a:t>
            </a:r>
          </a:p>
        </p:txBody>
      </p:sp>
      <p:sp>
        <p:nvSpPr>
          <p:cNvPr id="2" name="Obdélník 1">
            <a:extLst>
              <a:ext uri="{FF2B5EF4-FFF2-40B4-BE49-F238E27FC236}">
                <a16:creationId xmlns:a16="http://schemas.microsoft.com/office/drawing/2014/main" id="{419E57F9-16B0-47B8-AAC9-2C0F1E0EEFE0}"/>
              </a:ext>
            </a:extLst>
          </p:cNvPr>
          <p:cNvSpPr>
            <a:spLocks noGrp="1"/>
          </p:cNvSpPr>
          <p:nvPr/>
        </p:nvSpPr>
        <p:spPr>
          <a:xfrm>
            <a:off x="838200" y="1952625"/>
            <a:ext cx="13563600" cy="157162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Historický příklad z Chicago Tribune (21. 7. 1995): čtvrťačka Beth Peres se spolužáků ptala na kapesné, aby podpořila žádost o jeho zvýšení. Odpovědělo 11 dívek a 7 chlapců.</a:t>
            </a:r>
          </a:p>
        </p:txBody>
      </p:sp>
      <p:sp>
        <p:nvSpPr>
          <p:cNvPr id="3" name="Obdélník 2">
            <a:extLst>
              <a:ext uri="{FF2B5EF4-FFF2-40B4-BE49-F238E27FC236}">
                <a16:creationId xmlns:a16="http://schemas.microsoft.com/office/drawing/2014/main" id="{46EABA91-2E82-4F1C-89F3-A12206FE24C2}"/>
              </a:ext>
            </a:extLst>
          </p:cNvPr>
          <p:cNvSpPr>
            <a:spLocks noGrp="1"/>
          </p:cNvSpPr>
          <p:nvPr/>
        </p:nvSpPr>
        <p:spPr>
          <a:xfrm>
            <a:off x="838200" y="3714750"/>
            <a:ext cx="13563600" cy="1047750"/>
          </a:xfrm>
          <a:prstGeom prst="rect">
            <a:avLst/>
          </a:prstGeom>
          <a:noFill/>
          <a:ln w="0">
            <a:noFill/>
          </a:ln>
        </p:spPr>
        <p:txBody>
          <a:bodyPr wrap="square" lIns="0" tIns="0" rIns="0" bIns="0" anchor="t">
            <a:noAutofit/>
          </a:bodyPr>
          <a:lstStyle/>
          <a:p>
            <a:pPr>
              <a:defRPr lang="cs-CZ" altLang="cs-CZ" sz="2400" b="1" noProof="0">
                <a:solidFill>
                  <a:srgbClr val="176A83"/>
                </a:solidFill>
                <a:latin typeface="Arial"/>
                <a:ea typeface="Arial"/>
                <a:cs typeface="Arial"/>
              </a:defRPr>
            </a:pPr>
            <a:r>
              <a:rPr lang="cs-CZ" altLang="cs-CZ" sz="2400" b="1" noProof="0">
                <a:solidFill>
                  <a:srgbClr val="176A83"/>
                </a:solidFill>
                <a:latin typeface="Arial"/>
                <a:ea typeface="Arial"/>
                <a:cs typeface="Arial"/>
              </a:rPr>
              <a:t>Průměr za týden: dívky 2,63 USD, chlapci 3,18 USD (asi o 21 % více).</a:t>
            </a:r>
          </a:p>
          <a:p>
            <a:pPr>
              <a:defRPr lang="cs-CZ" altLang="cs-CZ" sz="2400" b="1" noProof="0">
                <a:solidFill>
                  <a:srgbClr val="176A83"/>
                </a:solidFill>
                <a:latin typeface="Arial"/>
                <a:ea typeface="Arial"/>
                <a:cs typeface="Arial"/>
              </a:defRPr>
            </a:pPr>
            <a:r>
              <a:rPr lang="cs-CZ" altLang="cs-CZ" sz="2400" b="1" noProof="0">
                <a:solidFill>
                  <a:srgbClr val="176A83"/>
                </a:solidFill>
                <a:latin typeface="Arial"/>
                <a:ea typeface="Arial"/>
                <a:cs typeface="Arial"/>
              </a:rPr>
              <a:t>Podle zprávy měli chlapci také méně domácích povinností.</a:t>
            </a:r>
          </a:p>
        </p:txBody>
      </p:sp>
      <p:sp>
        <p:nvSpPr>
          <p:cNvPr id="4" name="Obdélník 3">
            <a:extLst>
              <a:ext uri="{FF2B5EF4-FFF2-40B4-BE49-F238E27FC236}">
                <a16:creationId xmlns:a16="http://schemas.microsoft.com/office/drawing/2014/main" id="{6CD407CA-18B8-4A07-8755-3263BCE7DEB1}"/>
              </a:ext>
            </a:extLst>
          </p:cNvPr>
          <p:cNvSpPr>
            <a:spLocks noGrp="1"/>
          </p:cNvSpPr>
          <p:nvPr/>
        </p:nvSpPr>
        <p:spPr>
          <a:xfrm>
            <a:off x="838200" y="5095875"/>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a) Co zde označíme za nezávislou a závislou proměnnou a jak jsou měřeny?</a:t>
            </a:r>
          </a:p>
        </p:txBody>
      </p:sp>
      <p:sp>
        <p:nvSpPr>
          <p:cNvPr id="5" name="Obdélník 4">
            <a:extLst>
              <a:ext uri="{FF2B5EF4-FFF2-40B4-BE49-F238E27FC236}">
                <a16:creationId xmlns:a16="http://schemas.microsoft.com/office/drawing/2014/main" id="{4D38C183-4E84-4F50-B91A-538FE5A3BFAA}"/>
              </a:ext>
            </a:extLst>
          </p:cNvPr>
          <p:cNvSpPr>
            <a:spLocks noGrp="1"/>
          </p:cNvSpPr>
          <p:nvPr/>
        </p:nvSpPr>
        <p:spPr>
          <a:xfrm>
            <a:off x="838200" y="6334125"/>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b) O jaký druh výběru jde?</a:t>
            </a:r>
          </a:p>
        </p:txBody>
      </p:sp>
      <p:sp>
        <p:nvSpPr>
          <p:cNvPr id="6" name="Obdélník 5">
            <a:extLst>
              <a:ext uri="{FF2B5EF4-FFF2-40B4-BE49-F238E27FC236}">
                <a16:creationId xmlns:a16="http://schemas.microsoft.com/office/drawing/2014/main" id="{9A8EA71E-255A-497F-9280-3E87BC39B07F}"/>
              </a:ext>
            </a:extLst>
          </p:cNvPr>
          <p:cNvSpPr>
            <a:spLocks noGrp="1"/>
          </p:cNvSpPr>
          <p:nvPr/>
        </p:nvSpPr>
        <p:spPr>
          <a:xfrm>
            <a:off x="838200" y="7677150"/>
            <a:ext cx="13563600" cy="304800"/>
          </a:xfrm>
          <a:prstGeom prst="rect">
            <a:avLst/>
          </a:prstGeom>
          <a:noFill/>
          <a:ln w="0">
            <a:noFill/>
          </a:ln>
        </p:spPr>
        <p:txBody>
          <a:bodyPr wrap="square" lIns="0" tIns="0" rIns="0" bIns="0" anchor="t">
            <a:noAutofit/>
          </a:bodyPr>
          <a:lstStyle/>
          <a:p>
            <a:pPr>
              <a:defRPr lang="cs-CZ" altLang="cs-CZ" sz="1500" b="0" noProof="0">
                <a:solidFill>
                  <a:srgbClr val="576574"/>
                </a:solidFill>
                <a:latin typeface="Arial"/>
                <a:ea typeface="Arial"/>
                <a:cs typeface="Arial"/>
              </a:defRPr>
            </a:pPr>
            <a:r>
              <a:rPr lang="cs-CZ" altLang="cs-CZ" sz="1500" b="0" noProof="0">
                <a:solidFill>
                  <a:srgbClr val="576574"/>
                </a:solidFill>
                <a:latin typeface="Arial"/>
                <a:ea typeface="Arial"/>
                <a:cs typeface="Arial"/>
              </a:rPr>
              <a:t>Howell (2013), s. 12, úloha 1.22(a–b). Historické údaje, česká adaptace.</a:t>
            </a:r>
          </a:p>
        </p:txBody>
      </p:sp>
      <p:sp>
        <p:nvSpPr>
          <p:cNvPr id="7" name="Obdélník 6">
            <a:extLst>
              <a:ext uri="{FF2B5EF4-FFF2-40B4-BE49-F238E27FC236}">
                <a16:creationId xmlns:a16="http://schemas.microsoft.com/office/drawing/2014/main" id="{62FA8C97-F2AD-4673-A97B-A736C2186728}"/>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24</a:t>
            </a:r>
          </a:p>
        </p:txBody>
      </p:sp>
    </p:spTree>
    <p:extLst>
      <p:ext uri="{BB962C8B-B14F-4D97-AF65-F5344CB8AC3E}">
        <p14:creationId xmlns:p14="http://schemas.microsoft.com/office/powerpoint/2010/main" val="825580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B312CF24-7FB4-484D-9A20-247FEA70B8AF}"/>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Úloha 5: Výběr a náhodné přiřazení</a:t>
            </a:r>
          </a:p>
        </p:txBody>
      </p:sp>
      <p:sp>
        <p:nvSpPr>
          <p:cNvPr id="2" name="Obdélník 1">
            <a:extLst>
              <a:ext uri="{FF2B5EF4-FFF2-40B4-BE49-F238E27FC236}">
                <a16:creationId xmlns:a16="http://schemas.microsoft.com/office/drawing/2014/main" id="{74A4EFC8-74AB-4458-92F3-2B6319766357}"/>
              </a:ext>
            </a:extLst>
          </p:cNvPr>
          <p:cNvSpPr>
            <a:spLocks noGrp="1"/>
          </p:cNvSpPr>
          <p:nvPr/>
        </p:nvSpPr>
        <p:spPr>
          <a:xfrm>
            <a:off x="838200" y="1952625"/>
            <a:ext cx="13563600" cy="157162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Beth získala údaje od 18 spolužáků. Dívky uvedly průměrně 2,63 USD a chlapci 3,18 USD týdně.</a:t>
            </a:r>
          </a:p>
        </p:txBody>
      </p:sp>
      <p:sp>
        <p:nvSpPr>
          <p:cNvPr id="3" name="Obdélník 2">
            <a:extLst>
              <a:ext uri="{FF2B5EF4-FFF2-40B4-BE49-F238E27FC236}">
                <a16:creationId xmlns:a16="http://schemas.microsoft.com/office/drawing/2014/main" id="{F9A7CCDC-7A47-48D7-A0C7-6410D4AF6554}"/>
              </a:ext>
            </a:extLst>
          </p:cNvPr>
          <p:cNvSpPr>
            <a:spLocks noGrp="1"/>
          </p:cNvSpPr>
          <p:nvPr/>
        </p:nvSpPr>
        <p:spPr>
          <a:xfrm>
            <a:off x="838200" y="4000500"/>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c) Jak mohlo složení výběru ovlivnit zjištěné výsledky?</a:t>
            </a:r>
          </a:p>
        </p:txBody>
      </p:sp>
      <p:sp>
        <p:nvSpPr>
          <p:cNvPr id="4" name="Obdélník 3">
            <a:extLst>
              <a:ext uri="{FF2B5EF4-FFF2-40B4-BE49-F238E27FC236}">
                <a16:creationId xmlns:a16="http://schemas.microsoft.com/office/drawing/2014/main" id="{5C69A08B-597F-45E2-97D1-BBC028AA2288}"/>
              </a:ext>
            </a:extLst>
          </p:cNvPr>
          <p:cNvSpPr>
            <a:spLocks noGrp="1"/>
          </p:cNvSpPr>
          <p:nvPr/>
        </p:nvSpPr>
        <p:spPr>
          <a:xfrm>
            <a:off x="838200" y="5238750"/>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d) Jak by Beth mohla uskutečnit náhodný výběr? Jak by v tomto výzkumu připadalo v úvahu náhodné přiřazení k podmínkám?</a:t>
            </a:r>
          </a:p>
        </p:txBody>
      </p:sp>
      <p:sp>
        <p:nvSpPr>
          <p:cNvPr id="5" name="Obdélník 4">
            <a:extLst>
              <a:ext uri="{FF2B5EF4-FFF2-40B4-BE49-F238E27FC236}">
                <a16:creationId xmlns:a16="http://schemas.microsoft.com/office/drawing/2014/main" id="{2D598A60-7A99-4E7E-A78A-DDCA06448FDB}"/>
              </a:ext>
            </a:extLst>
          </p:cNvPr>
          <p:cNvSpPr>
            <a:spLocks noGrp="1"/>
          </p:cNvSpPr>
          <p:nvPr/>
        </p:nvSpPr>
        <p:spPr>
          <a:xfrm>
            <a:off x="838200" y="7677150"/>
            <a:ext cx="13563600" cy="304800"/>
          </a:xfrm>
          <a:prstGeom prst="rect">
            <a:avLst/>
          </a:prstGeom>
          <a:noFill/>
          <a:ln w="0">
            <a:noFill/>
          </a:ln>
        </p:spPr>
        <p:txBody>
          <a:bodyPr wrap="square" lIns="0" tIns="0" rIns="0" bIns="0" anchor="t">
            <a:noAutofit/>
          </a:bodyPr>
          <a:lstStyle/>
          <a:p>
            <a:pPr>
              <a:defRPr lang="cs-CZ" altLang="cs-CZ" sz="1500" b="0" noProof="0">
                <a:solidFill>
                  <a:srgbClr val="576574"/>
                </a:solidFill>
                <a:latin typeface="Arial"/>
                <a:ea typeface="Arial"/>
                <a:cs typeface="Arial"/>
              </a:defRPr>
            </a:pPr>
            <a:r>
              <a:rPr lang="cs-CZ" altLang="cs-CZ" sz="1500" b="0" noProof="0">
                <a:solidFill>
                  <a:srgbClr val="576574"/>
                </a:solidFill>
                <a:latin typeface="Arial"/>
                <a:ea typeface="Arial"/>
                <a:cs typeface="Arial"/>
              </a:rPr>
              <a:t>Howell (2013), s. 12, úloha 1.22(c–d). Česká adaptace.</a:t>
            </a:r>
          </a:p>
        </p:txBody>
      </p:sp>
      <p:sp>
        <p:nvSpPr>
          <p:cNvPr id="6" name="Obdélník 5">
            <a:extLst>
              <a:ext uri="{FF2B5EF4-FFF2-40B4-BE49-F238E27FC236}">
                <a16:creationId xmlns:a16="http://schemas.microsoft.com/office/drawing/2014/main" id="{EF16EC3C-7572-494C-962F-D18BEA2C28D9}"/>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25</a:t>
            </a:r>
          </a:p>
        </p:txBody>
      </p:sp>
    </p:spTree>
    <p:extLst>
      <p:ext uri="{BB962C8B-B14F-4D97-AF65-F5344CB8AC3E}">
        <p14:creationId xmlns:p14="http://schemas.microsoft.com/office/powerpoint/2010/main" val="2080571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Obdélník 7">
            <a:extLst>
              <a:ext uri="{FF2B5EF4-FFF2-40B4-BE49-F238E27FC236}">
                <a16:creationId xmlns:a16="http://schemas.microsoft.com/office/drawing/2014/main" id="{A0973235-5F9E-484E-B2F6-F306D0B76862}"/>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Úloha 5: Platnost a dosah závěrů</a:t>
            </a:r>
          </a:p>
        </p:txBody>
      </p:sp>
      <p:sp>
        <p:nvSpPr>
          <p:cNvPr id="2" name="Obdélník 1">
            <a:extLst>
              <a:ext uri="{FF2B5EF4-FFF2-40B4-BE49-F238E27FC236}">
                <a16:creationId xmlns:a16="http://schemas.microsoft.com/office/drawing/2014/main" id="{E9BCE0D1-35DF-4DA1-B9A4-DDC8D45F8722}"/>
              </a:ext>
            </a:extLst>
          </p:cNvPr>
          <p:cNvSpPr>
            <a:spLocks noGrp="1"/>
          </p:cNvSpPr>
          <p:nvPr/>
        </p:nvSpPr>
        <p:spPr>
          <a:xfrm>
            <a:off x="838200" y="1952625"/>
            <a:ext cx="13563600" cy="157162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Zpráva o kapesném vyvolala otázku, zda rozdíly v příjmech žen a mužů začínají už v dětství.</a:t>
            </a:r>
          </a:p>
        </p:txBody>
      </p:sp>
      <p:sp>
        <p:nvSpPr>
          <p:cNvPr id="3" name="Obdélník 2">
            <a:extLst>
              <a:ext uri="{FF2B5EF4-FFF2-40B4-BE49-F238E27FC236}">
                <a16:creationId xmlns:a16="http://schemas.microsoft.com/office/drawing/2014/main" id="{45EEFFD4-0BC0-4CFC-B04B-FF9043250F57}"/>
              </a:ext>
            </a:extLst>
          </p:cNvPr>
          <p:cNvSpPr>
            <a:spLocks noGrp="1"/>
          </p:cNvSpPr>
          <p:nvPr/>
        </p:nvSpPr>
        <p:spPr>
          <a:xfrm>
            <a:off x="838200" y="4000500"/>
            <a:ext cx="13563600" cy="93345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e) Pokud nelze náhodně přidělit skupinovou příslušnost, co to znamená pro platnost závěrů studie?</a:t>
            </a:r>
          </a:p>
        </p:txBody>
      </p:sp>
      <p:sp>
        <p:nvSpPr>
          <p:cNvPr id="4" name="Obdélník 3">
            <a:extLst>
              <a:ext uri="{FF2B5EF4-FFF2-40B4-BE49-F238E27FC236}">
                <a16:creationId xmlns:a16="http://schemas.microsoft.com/office/drawing/2014/main" id="{E50DD208-8C74-42F0-BF82-CD95C1662337}"/>
              </a:ext>
            </a:extLst>
          </p:cNvPr>
          <p:cNvSpPr>
            <a:spLocks noGrp="1"/>
          </p:cNvSpPr>
          <p:nvPr/>
        </p:nvSpPr>
        <p:spPr>
          <a:xfrm>
            <a:off x="838200" y="5029200"/>
            <a:ext cx="13563600" cy="93345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f) Jaké další proměnné mohou ovlivnit zjištěný rozdíl v kapesném?</a:t>
            </a:r>
          </a:p>
        </p:txBody>
      </p:sp>
      <p:sp>
        <p:nvSpPr>
          <p:cNvPr id="5" name="Obdélník 4">
            <a:extLst>
              <a:ext uri="{FF2B5EF4-FFF2-40B4-BE49-F238E27FC236}">
                <a16:creationId xmlns:a16="http://schemas.microsoft.com/office/drawing/2014/main" id="{557CE0AC-D3BA-4736-AD2F-CA3D7DF85A71}"/>
              </a:ext>
            </a:extLst>
          </p:cNvPr>
          <p:cNvSpPr>
            <a:spLocks noGrp="1"/>
          </p:cNvSpPr>
          <p:nvPr/>
        </p:nvSpPr>
        <p:spPr>
          <a:xfrm>
            <a:off x="838200" y="6057900"/>
            <a:ext cx="13563600" cy="93345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g) Co v tomto příkladu patří k popisné a co k inferenční statistice?</a:t>
            </a:r>
          </a:p>
        </p:txBody>
      </p:sp>
      <p:sp>
        <p:nvSpPr>
          <p:cNvPr id="6" name="Obdélník 5">
            <a:extLst>
              <a:ext uri="{FF2B5EF4-FFF2-40B4-BE49-F238E27FC236}">
                <a16:creationId xmlns:a16="http://schemas.microsoft.com/office/drawing/2014/main" id="{ACC93743-5E12-44FB-AF27-AFC349F4187B}"/>
              </a:ext>
            </a:extLst>
          </p:cNvPr>
          <p:cNvSpPr>
            <a:spLocks noGrp="1"/>
          </p:cNvSpPr>
          <p:nvPr/>
        </p:nvSpPr>
        <p:spPr>
          <a:xfrm>
            <a:off x="838200" y="7677150"/>
            <a:ext cx="13563600" cy="304800"/>
          </a:xfrm>
          <a:prstGeom prst="rect">
            <a:avLst/>
          </a:prstGeom>
          <a:noFill/>
          <a:ln w="0">
            <a:noFill/>
          </a:ln>
        </p:spPr>
        <p:txBody>
          <a:bodyPr wrap="square" lIns="0" tIns="0" rIns="0" bIns="0" anchor="t">
            <a:noAutofit/>
          </a:bodyPr>
          <a:lstStyle/>
          <a:p>
            <a:pPr>
              <a:defRPr lang="cs-CZ" altLang="cs-CZ" sz="1500" b="0" noProof="0">
                <a:solidFill>
                  <a:srgbClr val="576574"/>
                </a:solidFill>
                <a:latin typeface="Arial"/>
                <a:ea typeface="Arial"/>
                <a:cs typeface="Arial"/>
              </a:defRPr>
            </a:pPr>
            <a:r>
              <a:rPr lang="cs-CZ" altLang="cs-CZ" sz="1500" b="0" noProof="0">
                <a:solidFill>
                  <a:srgbClr val="576574"/>
                </a:solidFill>
                <a:latin typeface="Arial"/>
                <a:ea typeface="Arial"/>
                <a:cs typeface="Arial"/>
              </a:rPr>
              <a:t>Howell (2013), s. 12, úloha 1.22(e–g). Česká adaptace.</a:t>
            </a:r>
          </a:p>
        </p:txBody>
      </p:sp>
      <p:sp>
        <p:nvSpPr>
          <p:cNvPr id="7" name="Obdélník 6">
            <a:extLst>
              <a:ext uri="{FF2B5EF4-FFF2-40B4-BE49-F238E27FC236}">
                <a16:creationId xmlns:a16="http://schemas.microsoft.com/office/drawing/2014/main" id="{BEFAC9FF-D269-4038-9091-2F38DA5BB7D8}"/>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26</a:t>
            </a:r>
          </a:p>
        </p:txBody>
      </p:sp>
    </p:spTree>
    <p:extLst>
      <p:ext uri="{BB962C8B-B14F-4D97-AF65-F5344CB8AC3E}">
        <p14:creationId xmlns:p14="http://schemas.microsoft.com/office/powerpoint/2010/main" val="607973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8" name="Obdélník 7">
            <a:extLst>
              <a:ext uri="{FF2B5EF4-FFF2-40B4-BE49-F238E27FC236}">
                <a16:creationId xmlns:a16="http://schemas.microsoft.com/office/drawing/2014/main" id="{EED75410-9A00-4D79-82A0-5347D51F6370}"/>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Úloha 6: Kouření a zdraví v různých zemích</a:t>
            </a:r>
          </a:p>
        </p:txBody>
      </p:sp>
      <p:sp>
        <p:nvSpPr>
          <p:cNvPr id="2" name="Obdélník 1">
            <a:extLst>
              <a:ext uri="{FF2B5EF4-FFF2-40B4-BE49-F238E27FC236}">
                <a16:creationId xmlns:a16="http://schemas.microsoft.com/office/drawing/2014/main" id="{D5A3F735-1E50-4B4A-85AB-60331EB42EFE}"/>
              </a:ext>
            </a:extLst>
          </p:cNvPr>
          <p:cNvSpPr>
            <a:spLocks noGrp="1"/>
          </p:cNvSpPr>
          <p:nvPr/>
        </p:nvSpPr>
        <p:spPr>
          <a:xfrm>
            <a:off x="838200" y="1952625"/>
            <a:ext cx="13563600" cy="157162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Historický soubor zahrnoval 21 převážně západních, ekonomicky rozvinutých zemí. Podle zadání měly země s vyšší spotřebou cigaret také vyšší míru koronárních srdečních onemocnění.</a:t>
            </a:r>
          </a:p>
        </p:txBody>
      </p:sp>
      <p:sp>
        <p:nvSpPr>
          <p:cNvPr id="3" name="Obdélník 2">
            <a:extLst>
              <a:ext uri="{FF2B5EF4-FFF2-40B4-BE49-F238E27FC236}">
                <a16:creationId xmlns:a16="http://schemas.microsoft.com/office/drawing/2014/main" id="{A8AE5E45-8A9E-4795-BA5B-D69A6B33DE83}"/>
              </a:ext>
            </a:extLst>
          </p:cNvPr>
          <p:cNvSpPr>
            <a:spLocks noGrp="1"/>
          </p:cNvSpPr>
          <p:nvPr/>
        </p:nvSpPr>
        <p:spPr>
          <a:xfrm>
            <a:off x="838200" y="3714750"/>
            <a:ext cx="13563600" cy="1047750"/>
          </a:xfrm>
          <a:prstGeom prst="rect">
            <a:avLst/>
          </a:prstGeom>
          <a:noFill/>
          <a:ln w="0">
            <a:noFill/>
          </a:ln>
        </p:spPr>
        <p:txBody>
          <a:bodyPr wrap="square" lIns="0" tIns="0" rIns="0" bIns="0" anchor="t">
            <a:noAutofit/>
          </a:bodyPr>
          <a:lstStyle/>
          <a:p>
            <a:pPr>
              <a:defRPr lang="cs-CZ" altLang="cs-CZ" sz="2400" b="1" noProof="0">
                <a:solidFill>
                  <a:srgbClr val="176A83"/>
                </a:solidFill>
                <a:latin typeface="Arial"/>
                <a:ea typeface="Arial"/>
                <a:cs typeface="Arial"/>
              </a:defRPr>
            </a:pPr>
            <a:r>
              <a:rPr lang="cs-CZ" altLang="cs-CZ" sz="2400" b="1" noProof="0">
                <a:solidFill>
                  <a:srgbClr val="176A83"/>
                </a:solidFill>
                <a:latin typeface="Arial"/>
                <a:ea typeface="Arial"/>
                <a:cs typeface="Arial"/>
              </a:rPr>
              <a:t>Za každou zemi: spotřeba cigaret na dospělého a míra koronárních srdečních onemocnění.</a:t>
            </a:r>
          </a:p>
        </p:txBody>
      </p:sp>
      <p:sp>
        <p:nvSpPr>
          <p:cNvPr id="4" name="Obdélník 3">
            <a:extLst>
              <a:ext uri="{FF2B5EF4-FFF2-40B4-BE49-F238E27FC236}">
                <a16:creationId xmlns:a16="http://schemas.microsoft.com/office/drawing/2014/main" id="{82B860A9-1A07-47F5-9FF0-4D31BD145033}"/>
              </a:ext>
            </a:extLst>
          </p:cNvPr>
          <p:cNvSpPr>
            <a:spLocks noGrp="1"/>
          </p:cNvSpPr>
          <p:nvPr/>
        </p:nvSpPr>
        <p:spPr>
          <a:xfrm>
            <a:off x="838200" y="5095875"/>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a) Proč mohl být výběr omezen převážně na západní a rozvinuté země?</a:t>
            </a:r>
          </a:p>
        </p:txBody>
      </p:sp>
      <p:sp>
        <p:nvSpPr>
          <p:cNvPr id="5" name="Obdélník 4">
            <a:extLst>
              <a:ext uri="{FF2B5EF4-FFF2-40B4-BE49-F238E27FC236}">
                <a16:creationId xmlns:a16="http://schemas.microsoft.com/office/drawing/2014/main" id="{50B2F96A-1141-40BC-BD46-95A5ADD97CB7}"/>
              </a:ext>
            </a:extLst>
          </p:cNvPr>
          <p:cNvSpPr>
            <a:spLocks noGrp="1"/>
          </p:cNvSpPr>
          <p:nvPr/>
        </p:nvSpPr>
        <p:spPr>
          <a:xfrm>
            <a:off x="838200" y="6334125"/>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b) Jak byste obě proměnné zařadili podle úrovně měření?</a:t>
            </a:r>
          </a:p>
        </p:txBody>
      </p:sp>
      <p:sp>
        <p:nvSpPr>
          <p:cNvPr id="6" name="Obdélník 5">
            <a:extLst>
              <a:ext uri="{FF2B5EF4-FFF2-40B4-BE49-F238E27FC236}">
                <a16:creationId xmlns:a16="http://schemas.microsoft.com/office/drawing/2014/main" id="{59703761-B022-4805-8705-4D4584E636F3}"/>
              </a:ext>
            </a:extLst>
          </p:cNvPr>
          <p:cNvSpPr>
            <a:spLocks noGrp="1"/>
          </p:cNvSpPr>
          <p:nvPr/>
        </p:nvSpPr>
        <p:spPr>
          <a:xfrm>
            <a:off x="838200" y="7677150"/>
            <a:ext cx="13563600" cy="304800"/>
          </a:xfrm>
          <a:prstGeom prst="rect">
            <a:avLst/>
          </a:prstGeom>
          <a:noFill/>
          <a:ln w="0">
            <a:noFill/>
          </a:ln>
        </p:spPr>
        <p:txBody>
          <a:bodyPr wrap="square" lIns="0" tIns="0" rIns="0" bIns="0" anchor="t">
            <a:noAutofit/>
          </a:bodyPr>
          <a:lstStyle/>
          <a:p>
            <a:pPr>
              <a:defRPr lang="cs-CZ" altLang="cs-CZ" sz="1500" b="0" noProof="0">
                <a:solidFill>
                  <a:srgbClr val="576574"/>
                </a:solidFill>
                <a:latin typeface="Arial"/>
                <a:ea typeface="Arial"/>
                <a:cs typeface="Arial"/>
              </a:defRPr>
            </a:pPr>
            <a:r>
              <a:rPr lang="cs-CZ" altLang="cs-CZ" sz="1500" b="0" noProof="0">
                <a:solidFill>
                  <a:srgbClr val="576574"/>
                </a:solidFill>
                <a:latin typeface="Arial"/>
                <a:ea typeface="Arial"/>
                <a:cs typeface="Arial"/>
              </a:rPr>
              <a:t>Howell (2013), s. 12–13, úloha 1.23(a–b), s odkazem na Landwehr a Watkins (1987).</a:t>
            </a:r>
          </a:p>
        </p:txBody>
      </p:sp>
      <p:sp>
        <p:nvSpPr>
          <p:cNvPr id="7" name="Obdélník 6">
            <a:extLst>
              <a:ext uri="{FF2B5EF4-FFF2-40B4-BE49-F238E27FC236}">
                <a16:creationId xmlns:a16="http://schemas.microsoft.com/office/drawing/2014/main" id="{A2DBCDD9-0196-426B-AC66-C6A09708CF85}"/>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27</a:t>
            </a:r>
          </a:p>
        </p:txBody>
      </p:sp>
    </p:spTree>
    <p:extLst>
      <p:ext uri="{BB962C8B-B14F-4D97-AF65-F5344CB8AC3E}">
        <p14:creationId xmlns:p14="http://schemas.microsoft.com/office/powerpoint/2010/main" val="110636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3B218BDA-8F4B-49FB-A530-ACAF7EE6753A}"/>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Úloha 6: Co lze vyvodit z porovnání zemí</a:t>
            </a:r>
          </a:p>
        </p:txBody>
      </p:sp>
      <p:sp>
        <p:nvSpPr>
          <p:cNvPr id="2" name="Obdélník 1">
            <a:extLst>
              <a:ext uri="{FF2B5EF4-FFF2-40B4-BE49-F238E27FC236}">
                <a16:creationId xmlns:a16="http://schemas.microsoft.com/office/drawing/2014/main" id="{0D4E4536-ACB2-4222-9CFE-D566B8E71510}"/>
              </a:ext>
            </a:extLst>
          </p:cNvPr>
          <p:cNvSpPr>
            <a:spLocks noGrp="1"/>
          </p:cNvSpPr>
          <p:nvPr/>
        </p:nvSpPr>
        <p:spPr>
          <a:xfrm>
            <a:off x="838200" y="1952625"/>
            <a:ext cx="13563600" cy="157162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V historických údajích za 21 zemí souvisela vyšší spotřeba cigaret na dospělého s vyšší mírou koronárních srdečních onemocnění.</a:t>
            </a:r>
          </a:p>
        </p:txBody>
      </p:sp>
      <p:sp>
        <p:nvSpPr>
          <p:cNvPr id="3" name="Obdélník 2">
            <a:extLst>
              <a:ext uri="{FF2B5EF4-FFF2-40B4-BE49-F238E27FC236}">
                <a16:creationId xmlns:a16="http://schemas.microsoft.com/office/drawing/2014/main" id="{B9BB9BC8-EEE8-41F6-AA20-2BF1590B7F1B}"/>
              </a:ext>
            </a:extLst>
          </p:cNvPr>
          <p:cNvSpPr>
            <a:spLocks noGrp="1"/>
          </p:cNvSpPr>
          <p:nvPr/>
        </p:nvSpPr>
        <p:spPr>
          <a:xfrm>
            <a:off x="838200" y="4000500"/>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c) Jak tato data přispívají k otázce zdravotních účinků kouření a co z nich samotných nemůžeme vyvodit?</a:t>
            </a:r>
          </a:p>
        </p:txBody>
      </p:sp>
      <p:sp>
        <p:nvSpPr>
          <p:cNvPr id="4" name="Obdélník 3">
            <a:extLst>
              <a:ext uri="{FF2B5EF4-FFF2-40B4-BE49-F238E27FC236}">
                <a16:creationId xmlns:a16="http://schemas.microsoft.com/office/drawing/2014/main" id="{6C04E757-14E6-4BB0-8201-B1D350CFF835}"/>
              </a:ext>
            </a:extLst>
          </p:cNvPr>
          <p:cNvSpPr>
            <a:spLocks noGrp="1"/>
          </p:cNvSpPr>
          <p:nvPr/>
        </p:nvSpPr>
        <p:spPr>
          <a:xfrm>
            <a:off x="838200" y="5238750"/>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a:solidFill>
                  <a:srgbClr val="142A3B"/>
                </a:solidFill>
                <a:latin typeface="Arial"/>
                <a:ea typeface="Arial"/>
                <a:cs typeface="Arial"/>
              </a:rPr>
              <a:t>d) Jaké další proměnné bychom měli v takové studii vzít v úvahu?</a:t>
            </a:r>
          </a:p>
        </p:txBody>
      </p:sp>
      <p:sp>
        <p:nvSpPr>
          <p:cNvPr id="5" name="Obdélník 4">
            <a:extLst>
              <a:ext uri="{FF2B5EF4-FFF2-40B4-BE49-F238E27FC236}">
                <a16:creationId xmlns:a16="http://schemas.microsoft.com/office/drawing/2014/main" id="{2CA79CCC-F97C-4820-BAAC-4B8D9F481266}"/>
              </a:ext>
            </a:extLst>
          </p:cNvPr>
          <p:cNvSpPr>
            <a:spLocks noGrp="1"/>
          </p:cNvSpPr>
          <p:nvPr/>
        </p:nvSpPr>
        <p:spPr>
          <a:xfrm>
            <a:off x="838200" y="7677150"/>
            <a:ext cx="13563600" cy="304800"/>
          </a:xfrm>
          <a:prstGeom prst="rect">
            <a:avLst/>
          </a:prstGeom>
          <a:noFill/>
          <a:ln w="0">
            <a:noFill/>
          </a:ln>
        </p:spPr>
        <p:txBody>
          <a:bodyPr wrap="square" lIns="0" tIns="0" rIns="0" bIns="0" anchor="t">
            <a:noAutofit/>
          </a:bodyPr>
          <a:lstStyle/>
          <a:p>
            <a:pPr>
              <a:defRPr lang="cs-CZ" altLang="cs-CZ" sz="1500" b="0" noProof="0">
                <a:solidFill>
                  <a:srgbClr val="576574"/>
                </a:solidFill>
                <a:latin typeface="Arial"/>
                <a:ea typeface="Arial"/>
                <a:cs typeface="Arial"/>
              </a:defRPr>
            </a:pPr>
            <a:r>
              <a:rPr lang="cs-CZ" altLang="cs-CZ" sz="1500" b="0" noProof="0">
                <a:solidFill>
                  <a:srgbClr val="576574"/>
                </a:solidFill>
                <a:latin typeface="Arial"/>
                <a:ea typeface="Arial"/>
                <a:cs typeface="Arial"/>
              </a:rPr>
              <a:t>Howell (2013), s. 12–13, úloha 1.23(c–d). Česká adaptace.</a:t>
            </a:r>
          </a:p>
        </p:txBody>
      </p:sp>
      <p:sp>
        <p:nvSpPr>
          <p:cNvPr id="6" name="Obdélník 5">
            <a:extLst>
              <a:ext uri="{FF2B5EF4-FFF2-40B4-BE49-F238E27FC236}">
                <a16:creationId xmlns:a16="http://schemas.microsoft.com/office/drawing/2014/main" id="{7BFA6F34-5E12-48F4-834D-82892DF8A3CD}"/>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28</a:t>
            </a:r>
          </a:p>
        </p:txBody>
      </p:sp>
    </p:spTree>
    <p:extLst>
      <p:ext uri="{BB962C8B-B14F-4D97-AF65-F5344CB8AC3E}">
        <p14:creationId xmlns:p14="http://schemas.microsoft.com/office/powerpoint/2010/main" val="579896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33935265-9FFA-4655-942E-A425F5FBAE76}"/>
              </a:ext>
            </a:extLst>
          </p:cNvPr>
          <p:cNvSpPr>
            <a:spLocks noGrp="1"/>
          </p:cNvSpPr>
          <p:nvPr/>
        </p:nvSpPr>
        <p:spPr>
          <a:xfrm>
            <a:off x="838200" y="609600"/>
            <a:ext cx="13563600" cy="1104900"/>
          </a:xfrm>
          <a:prstGeom prst="rect">
            <a:avLst/>
          </a:prstGeom>
          <a:noFill/>
          <a:ln w="0">
            <a:noFill/>
          </a:ln>
        </p:spPr>
        <p:txBody>
          <a:bodyPr wrap="square" lIns="0" tIns="0" rIns="0" bIns="0" anchor="t">
            <a:noAutofit/>
          </a:bodyPr>
          <a:lstStyle/>
          <a:p>
            <a:pPr>
              <a:defRPr lang="cs-CZ" altLang="cs-CZ" sz="3600" b="1" noProof="0">
                <a:solidFill>
                  <a:srgbClr val="142A3B"/>
                </a:solidFill>
                <a:latin typeface="Arial"/>
                <a:ea typeface="Arial"/>
                <a:cs typeface="Arial"/>
              </a:defRPr>
            </a:pPr>
            <a:r>
              <a:rPr lang="cs-CZ" altLang="cs-CZ" sz="3600" b="1" noProof="0">
                <a:solidFill>
                  <a:srgbClr val="142A3B"/>
                </a:solidFill>
                <a:latin typeface="Arial"/>
                <a:ea typeface="Arial"/>
                <a:cs typeface="Arial"/>
              </a:rPr>
              <a:t>Úloha 6: Návrh následné studie</a:t>
            </a:r>
          </a:p>
        </p:txBody>
      </p:sp>
      <p:sp>
        <p:nvSpPr>
          <p:cNvPr id="2" name="Obdélník 1">
            <a:extLst>
              <a:ext uri="{FF2B5EF4-FFF2-40B4-BE49-F238E27FC236}">
                <a16:creationId xmlns:a16="http://schemas.microsoft.com/office/drawing/2014/main" id="{3C5A7AD0-F81B-4079-BB9C-A10AF4A7262E}"/>
              </a:ext>
            </a:extLst>
          </p:cNvPr>
          <p:cNvSpPr>
            <a:spLocks noGrp="1"/>
          </p:cNvSpPr>
          <p:nvPr/>
        </p:nvSpPr>
        <p:spPr>
          <a:xfrm>
            <a:off x="838200" y="1952625"/>
            <a:ext cx="13563600" cy="1571625"/>
          </a:xfrm>
          <a:prstGeom prst="rect">
            <a:avLst/>
          </a:prstGeom>
          <a:noFill/>
          <a:ln w="0">
            <a:noFill/>
          </a:ln>
        </p:spPr>
        <p:txBody>
          <a:bodyPr wrap="square" lIns="0" tIns="0" rIns="0" bIns="0" anchor="t">
            <a:noAutofit/>
          </a:bodyPr>
          <a:lstStyle/>
          <a:p>
            <a:pPr>
              <a:defRPr lang="cs-CZ" altLang="cs-CZ" sz="2550" b="0" noProof="0">
                <a:solidFill>
                  <a:srgbClr val="142A3B"/>
                </a:solidFill>
                <a:latin typeface="Arial"/>
                <a:ea typeface="Arial"/>
                <a:cs typeface="Arial"/>
              </a:defRPr>
            </a:pPr>
            <a:r>
              <a:rPr lang="cs-CZ" altLang="cs-CZ" sz="2550" b="0" noProof="0">
                <a:solidFill>
                  <a:srgbClr val="142A3B"/>
                </a:solidFill>
                <a:latin typeface="Arial"/>
                <a:ea typeface="Arial"/>
                <a:cs typeface="Arial"/>
              </a:rPr>
              <a:t>Historické zadání uvádí rozšiřování tabákové reklamy v Asii a kouření u 7 % čínských žen oproti 61 % mužů. Tato procenta nejsou aktuálním odhadem.</a:t>
            </a:r>
          </a:p>
        </p:txBody>
      </p:sp>
      <p:sp>
        <p:nvSpPr>
          <p:cNvPr id="3" name="Obdélník 2">
            <a:extLst>
              <a:ext uri="{FF2B5EF4-FFF2-40B4-BE49-F238E27FC236}">
                <a16:creationId xmlns:a16="http://schemas.microsoft.com/office/drawing/2014/main" id="{ABF3077A-0A82-4915-AB75-951F015C791D}"/>
              </a:ext>
            </a:extLst>
          </p:cNvPr>
          <p:cNvSpPr>
            <a:spLocks noGrp="1"/>
          </p:cNvSpPr>
          <p:nvPr/>
        </p:nvSpPr>
        <p:spPr>
          <a:xfrm>
            <a:off x="838200" y="4000500"/>
            <a:ext cx="13563600" cy="1143000"/>
          </a:xfrm>
          <a:prstGeom prst="rect">
            <a:avLst/>
          </a:prstGeom>
          <a:noFill/>
          <a:ln w="0">
            <a:noFill/>
          </a:ln>
        </p:spPr>
        <p:txBody>
          <a:bodyPr wrap="square" lIns="0" tIns="0" rIns="0" bIns="0" anchor="t">
            <a:noAutofit/>
          </a:bodyPr>
          <a:lstStyle/>
          <a:p>
            <a:pPr>
              <a:defRPr lang="cs-CZ" altLang="cs-CZ" sz="2475" b="0" noProof="0">
                <a:solidFill>
                  <a:srgbClr val="142A3B"/>
                </a:solidFill>
                <a:latin typeface="Arial"/>
                <a:ea typeface="Arial"/>
                <a:cs typeface="Arial"/>
              </a:defRPr>
            </a:pPr>
            <a:r>
              <a:rPr lang="cs-CZ" altLang="cs-CZ" sz="2475" b="0" noProof="0" dirty="0">
                <a:solidFill>
                  <a:srgbClr val="142A3B"/>
                </a:solidFill>
                <a:latin typeface="Arial"/>
                <a:ea typeface="Arial"/>
                <a:cs typeface="Arial"/>
              </a:rPr>
              <a:t>Jak by psycholog zdraví navrhl studii zdravotních důsledků možného rozšíření kouření mezi čínskými ženami?</a:t>
            </a:r>
          </a:p>
        </p:txBody>
      </p:sp>
      <p:sp>
        <p:nvSpPr>
          <p:cNvPr id="4" name="Obdélník 3">
            <a:extLst>
              <a:ext uri="{FF2B5EF4-FFF2-40B4-BE49-F238E27FC236}">
                <a16:creationId xmlns:a16="http://schemas.microsoft.com/office/drawing/2014/main" id="{DA62E587-40C9-4B4A-9216-DFD15EB95BAB}"/>
              </a:ext>
            </a:extLst>
          </p:cNvPr>
          <p:cNvSpPr>
            <a:spLocks noGrp="1"/>
          </p:cNvSpPr>
          <p:nvPr/>
        </p:nvSpPr>
        <p:spPr>
          <a:xfrm>
            <a:off x="838200" y="7677150"/>
            <a:ext cx="13563600" cy="304800"/>
          </a:xfrm>
          <a:prstGeom prst="rect">
            <a:avLst/>
          </a:prstGeom>
          <a:noFill/>
          <a:ln w="0">
            <a:noFill/>
          </a:ln>
        </p:spPr>
        <p:txBody>
          <a:bodyPr wrap="square" lIns="0" tIns="0" rIns="0" bIns="0" anchor="t">
            <a:noAutofit/>
          </a:bodyPr>
          <a:lstStyle/>
          <a:p>
            <a:pPr>
              <a:defRPr lang="cs-CZ" altLang="cs-CZ" sz="1500" b="0" noProof="0">
                <a:solidFill>
                  <a:srgbClr val="576574"/>
                </a:solidFill>
                <a:latin typeface="Arial"/>
                <a:ea typeface="Arial"/>
                <a:cs typeface="Arial"/>
              </a:defRPr>
            </a:pPr>
            <a:r>
              <a:rPr lang="cs-CZ" altLang="cs-CZ" sz="1500" b="0" noProof="0">
                <a:solidFill>
                  <a:srgbClr val="576574"/>
                </a:solidFill>
                <a:latin typeface="Arial"/>
                <a:ea typeface="Arial"/>
                <a:cs typeface="Arial"/>
              </a:rPr>
              <a:t>Howell (2013), s. 13, úloha 1.23(e). Historický scénář, česká adaptace.</a:t>
            </a:r>
          </a:p>
        </p:txBody>
      </p:sp>
      <p:sp>
        <p:nvSpPr>
          <p:cNvPr id="5" name="Obdélník 4">
            <a:extLst>
              <a:ext uri="{FF2B5EF4-FFF2-40B4-BE49-F238E27FC236}">
                <a16:creationId xmlns:a16="http://schemas.microsoft.com/office/drawing/2014/main" id="{57A5DE2D-CEE7-4E96-ACCE-84E29D6BE9FC}"/>
              </a:ext>
            </a:extLst>
          </p:cNvPr>
          <p:cNvSpPr>
            <a:spLocks noGrp="1"/>
          </p:cNvSpPr>
          <p:nvPr/>
        </p:nvSpPr>
        <p:spPr>
          <a:xfrm>
            <a:off x="13716000" y="8020050"/>
            <a:ext cx="685800" cy="304800"/>
          </a:xfrm>
          <a:prstGeom prst="rect">
            <a:avLst/>
          </a:prstGeom>
          <a:noFill/>
          <a:ln w="0">
            <a:noFill/>
          </a:ln>
        </p:spPr>
        <p:txBody>
          <a:bodyPr wrap="square" lIns="0" tIns="0" rIns="0" bIns="0" anchor="t">
            <a:noAutofit/>
          </a:bodyPr>
          <a:lstStyle/>
          <a:p>
            <a:pPr>
              <a:defRPr lang="cs-CZ" altLang="cs-CZ" sz="1575" b="0" noProof="0">
                <a:solidFill>
                  <a:srgbClr val="576574"/>
                </a:solidFill>
                <a:latin typeface="Arial"/>
                <a:ea typeface="Arial"/>
                <a:cs typeface="Arial"/>
              </a:defRPr>
            </a:pPr>
            <a:r>
              <a:rPr lang="cs-CZ" altLang="cs-CZ" sz="1575" b="0" noProof="0">
                <a:solidFill>
                  <a:srgbClr val="576574"/>
                </a:solidFill>
                <a:latin typeface="Arial"/>
                <a:ea typeface="Arial"/>
                <a:cs typeface="Arial"/>
              </a:rPr>
              <a:t>29</a:t>
            </a:r>
          </a:p>
        </p:txBody>
      </p:sp>
    </p:spTree>
    <p:extLst>
      <p:ext uri="{BB962C8B-B14F-4D97-AF65-F5344CB8AC3E}">
        <p14:creationId xmlns:p14="http://schemas.microsoft.com/office/powerpoint/2010/main" val="141066185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TotalTime>
  <Words>10350</Words>
  <Application>Microsoft Office PowerPoint</Application>
  <DocSecurity>0</DocSecurity>
  <PresentationFormat>Vlastní</PresentationFormat>
  <Paragraphs>610</Paragraphs>
  <Slides>29</Slides>
  <Notes>29</Notes>
  <HiddenSlides>0</HiddenSlides>
  <MMClips>0</MMClips>
  <ScaleCrop>false</ScaleCrop>
  <HeadingPairs>
    <vt:vector size="6" baseType="variant">
      <vt:variant>
        <vt:lpstr>Použitá písma</vt:lpstr>
      </vt:variant>
      <vt:variant>
        <vt:i4>2</vt:i4>
      </vt:variant>
      <vt:variant>
        <vt:lpstr>Motiv</vt:lpstr>
      </vt:variant>
      <vt:variant>
        <vt:i4>1</vt:i4>
      </vt:variant>
      <vt:variant>
        <vt:lpstr>Nadpisy snímků</vt:lpstr>
      </vt:variant>
      <vt:variant>
        <vt:i4>29</vt:i4>
      </vt:variant>
    </vt:vector>
  </HeadingPairs>
  <TitlesOfParts>
    <vt:vector size="32" baseType="lpstr">
      <vt:lpstr>Arial</vt:lpstr>
      <vt:lpstr>Calibri</vt:lpstr>
      <vt:lpstr>ChatGPT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Rečka Karel</cp:lastModifiedBy>
  <cp:revision>51</cp:revision>
  <dcterms:created xsi:type="dcterms:W3CDTF">2026-09-29T22:56:31Z</dcterms:created>
  <dcterms:modified xsi:type="dcterms:W3CDTF">2026-09-30T15:32:35Z</dcterms:modified>
  <dc:language>cs-CZ</dc:language>
</cp:coreProperties>
</file>