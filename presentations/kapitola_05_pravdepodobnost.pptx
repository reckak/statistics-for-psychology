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5240000" cy="8572500"/>
  <p:notesSz cx="6858000" cy="9144000"/>
  <p:defaultTextStyle>
    <a:defPPr>
      <a:defRPr lang="cs-CZ" altLang="cs-CZ" noProof="0"/>
    </a:defPPr>
    <a:lvl1pPr marL="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cs-CZ" altLang="cs-CZ" sz="1800" kern="1200" noProof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699" autoAdjust="0"/>
  </p:normalViewPr>
  <p:slideViewPr>
    <p:cSldViewPr snapToGrid="0">
      <p:cViewPr varScale="1">
        <p:scale>
          <a:sx n="74" d="100"/>
          <a:sy n="74" d="100"/>
        </p:scale>
        <p:origin x="35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lang="cs-CZ" altLang="cs-CZ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cs-CZ" altLang="cs-CZ" sz="1200" kern="1200" noProof="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Psycholožka má před sebou klienta, jehož screeningový dotazník vyšel pozitivně. Jak moc má počítat s tím, že klient poruchou skutečně trpí? Student uhodl v testu s výběrem odpovědí deset otázek z dvaceti. Dalo se to čekat i při pouhém tipování?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 obě otázky odpovídáme číslem, které vyjadřuje nejistotu: </a:t>
            </a:r>
            <a:r>
              <a:rPr lang="cs-CZ" altLang="cs-CZ" sz="1200" b="1" i="0" noProof="0">
                <a:latin typeface="Arial"/>
              </a:rPr>
              <a:t>pravděpodobností</a:t>
            </a:r>
            <a:r>
              <a:rPr lang="cs-CZ" altLang="cs-CZ" sz="1200" b="0" i="0" noProof="0">
                <a:latin typeface="Arial"/>
              </a:rPr>
              <a:t>. Dnes se naučíme, co takové číslo znamená, podle jakých pravidel se s pravděpodobnostmi počítá a jak z několika jednoduchých předpokladů odvodit, jak často nastane určitý počet „zásahů“ v řadě pokusů.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Navazujeme na dvě dřívější myšlenky: na </a:t>
            </a:r>
            <a:r>
              <a:rPr lang="cs-CZ" altLang="cs-CZ" sz="1200" b="1" i="0" noProof="0">
                <a:latin typeface="Arial"/>
              </a:rPr>
              <a:t>relativní četnost</a:t>
            </a:r>
            <a:r>
              <a:rPr lang="cs-CZ" altLang="cs-CZ" sz="1200" b="0" i="0" noProof="0">
                <a:latin typeface="Arial"/>
              </a:rPr>
              <a:t> z kapitoly o četnostech a na </a:t>
            </a:r>
            <a:r>
              <a:rPr lang="cs-CZ" altLang="cs-CZ" sz="1200" b="1" i="0" noProof="0">
                <a:latin typeface="Arial"/>
              </a:rPr>
              <a:t>plochu pod normální křivkou</a:t>
            </a:r>
            <a:r>
              <a:rPr lang="cs-CZ" altLang="cs-CZ" sz="1200" b="0" i="0" noProof="0">
                <a:latin typeface="Arial"/>
              </a:rPr>
              <a:t>, kterou jsme v minulé kapitole četli jako modelový podíl. </a:t>
            </a:r>
            <a:r>
              <a:rPr lang="cs-CZ" altLang="cs-CZ" sz="1200" b="0" i="1" noProof="0">
                <a:latin typeface="Arial"/>
              </a:rPr>
              <a:t>Pravděpodobnost je společný jazyk pro obě: popisuje, co může nastat, ne co už nastalo.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Všechny příklady jsou modelové výukové údaje nebo simulace, pokud není uveden zdroj; čísla screeningového dotazníku nepopisují žádný skutečný test.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Předpověď počasí hlásí na zítřek 70% pravděpodobnost deště. Co přesně to podle vás říká? Zkuste odpověď zformulovat a na konci první části ji porovnejte se třemi pojetími pravděpodobnosti.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https://reckak.github.io/statistics-for-psychology/quarto/kapitola_05.html#sec-kapitola-05.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Přednáška má sedm částí. V první vysvětlíme, co pravděpodobnost vyjadřuje a jak jí lze rozumět. Ve druhé zavedeme jevy a dvě základní pravidla: opačný jev a součtové pravidlo.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část přidá podmínku: jak se pravděpodobnost změní, když už o člověku něco víme, a co znamená, že jsou jevy nezávislé. Ve čtvrté části podmínku obrátíme a na příkladu screeningu odvodíme Bayesovu větu.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část přechází od jevů k číslům: zavede náhodnou proměnnou, rozdělení pravděpodobnosti a binomický model pro počet úspěchů. Šestá ukáže, kdy lze binomické rozdělení nahradit normálním modelem, a převede počet úspěchů na podíl.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Na závěr procvičíme úvahy bez počítače a výpočty v doprovodném excelovém sešitu.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První část odpovídá na otázku, co číslo zvané pravděpodobnost vlastně tvrdí a z čeho je můžeme získat.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Začneme u známého. V kapitole o četnostech odpovědělo na otázku, jak odpočatě se cítí, 14 z 36 účastníků „dost“. </a:t>
            </a:r>
            <a:r>
              <a:rPr lang="cs-CZ" altLang="cs-CZ" sz="1200" b="1" i="0" noProof="0">
                <a:latin typeface="Arial"/>
              </a:rPr>
              <a:t>Relativní četnost</a:t>
            </a:r>
            <a:r>
              <a:rPr lang="cs-CZ" altLang="cs-CZ" sz="1200" b="0" i="0" noProof="0">
                <a:latin typeface="Arial"/>
              </a:rPr>
              <a:t> této odpovědi je 14 / 36 ≈ 0,389. Popisuje soubor, který máme před sebou.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Teď otázku obrátíme do budoucnosti. Všech 36 jmen napíšeme na lístky, zamícháme je a jeden vytáhneme. Dopředu nevíme, čí jméno to bude, ale víme, že 14 z 36 stejně dobře dosažitelných lístků patří lidem s odpovědí „dost“. Tuto míru očekávání zapíšeme stejným číslem a nazveme ji </a:t>
            </a:r>
            <a:r>
              <a:rPr lang="cs-CZ" altLang="cs-CZ" sz="1200" b="1" i="0" noProof="0">
                <a:latin typeface="Arial"/>
              </a:rPr>
              <a:t>pravděpodobností</a:t>
            </a:r>
            <a:r>
              <a:rPr lang="cs-CZ" altLang="cs-CZ" sz="1200" b="0" i="0" noProof="0">
                <a:latin typeface="Arial"/>
              </a:rPr>
              <a:t> (probability).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Pravděpodobnost je číslo od 0 do 1; lze ji uvést i v procentech, 0,389 je 38,9 %. </a:t>
            </a:r>
            <a:r>
              <a:rPr lang="cs-CZ" altLang="cs-CZ" sz="1200" b="0" i="1" noProof="0">
                <a:latin typeface="Arial"/>
              </a:rPr>
              <a:t>Čím blíže jedné, tím více s danou možností počítáme; čím blíže nule, tím méně.</a:t>
            </a:r>
            <a:r>
              <a:rPr lang="cs-CZ" altLang="cs-CZ" sz="1200" b="0" i="0" noProof="0">
                <a:latin typeface="Arial"/>
              </a:rPr>
              <a:t> Stejnou myšlenku jsme použili u normálního modelu: plocha nad intervalem byla pravděpodobností, že výsledek náhodně vybraného člověka do intervalu padne.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Zapisujeme ji </a:t>
            </a:r>
            <a:r>
              <a:rPr lang="cs-CZ" altLang="cs-CZ" sz="1200" b="1" i="0" noProof="0">
                <a:latin typeface="Arial"/>
              </a:rPr>
              <a:t>velkým P</a:t>
            </a:r>
            <a:r>
              <a:rPr lang="cs-CZ" altLang="cs-CZ" sz="1200" b="0" i="0" noProof="0">
                <a:latin typeface="Arial"/>
              </a:rPr>
              <a:t> a do závorky uvedeme, čeho se týká. Malé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 jsme dosud používali pro relativní četnost a úroveň kvantilu. </a:t>
            </a:r>
            <a:r>
              <a:rPr lang="cs-CZ" altLang="cs-CZ" sz="1200" b="0" i="1" noProof="0">
                <a:latin typeface="Arial"/>
              </a:rPr>
              <a:t>Relativní četnost popisuje data, která jsme získali; pravděpodobnost se týká toho, co může nastat.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Kdybychom z lístků jeden vytáhli, podívali se na něj a vrátili ho, a tak to opakovali stokrát, kolikrát přibližně čekáte odpověď „dost“? Přibližně 39krát; přesně to ale vyjít nemusí. Proč, uvidíme za chvíli.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https://reckak.github.io/statistics-for-psychology/quarto/kapitola_05.html#sec-podil-pravdepodobnost.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Odkud se číslo 0,389 vzalo a co tvrdí? Existují </a:t>
            </a:r>
            <a:r>
              <a:rPr lang="cs-CZ" altLang="cs-CZ" sz="1200" b="1" i="0" noProof="0">
                <a:latin typeface="Arial"/>
              </a:rPr>
              <a:t>tři hlavní pojetí</a:t>
            </a:r>
            <a:r>
              <a:rPr lang="cs-CZ" altLang="cs-CZ" sz="1200" b="0" i="0" noProof="0">
                <a:latin typeface="Arial"/>
              </a:rPr>
              <a:t> pravděpodobnosti. Liší se tím, jak číslo zdůvodňují, ne tím, jak s ním počítáme.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Klasické pojetí</a:t>
            </a:r>
            <a:r>
              <a:rPr lang="cs-CZ" altLang="cs-CZ" sz="1200" b="0" i="0" noProof="0">
                <a:latin typeface="Arial"/>
              </a:rPr>
              <a:t> (classical view) vychází z výčtu možností: při konečném počtu </a:t>
            </a:r>
            <a:r>
              <a:rPr lang="cs-CZ" altLang="cs-CZ" sz="1200" b="0" i="1" noProof="0">
                <a:latin typeface="Arial"/>
              </a:rPr>
              <a:t>stejně pravděpodobných</a:t>
            </a:r>
            <a:r>
              <a:rPr lang="cs-CZ" altLang="cs-CZ" sz="1200" b="0" i="0" noProof="0">
                <a:latin typeface="Arial"/>
              </a:rPr>
              <a:t> výsledků je pravděpodobnost podílem příznivých výsledků mezi všemi. Tak jsme postupovali u lístků.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Četnostní pojetí</a:t>
            </a:r>
            <a:r>
              <a:rPr lang="cs-CZ" altLang="cs-CZ" sz="1200" b="0" i="0" noProof="0">
                <a:latin typeface="Arial"/>
              </a:rPr>
              <a:t> (frequentist view) chápe pravděpodobnost jako hodnotu, ke které se relativní četnost ustaluje, když pokus za stejných podmínek opakujeme stále znovu. Každá skutečná, tedy konečná řada je jen přiblížením. U lístků: kdybychom tahali znovu a znovu a lístek vždy vrátili, byla by odpověď „dost“ zastoupena přibližně v 39 % tahů.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Subjektivní pojetí</a:t>
            </a:r>
            <a:r>
              <a:rPr lang="cs-CZ" altLang="cs-CZ" sz="1200" b="0" i="0" noProof="0">
                <a:latin typeface="Arial"/>
              </a:rPr>
              <a:t> (subjective probability) chápe pravděpodobnost jako míru přesvědčení člověka podle informací, které má. Terapeutka říká, že klient dokončí terapii s pravděpodobností 0,7. Tento klient podstoupí terapii jen jednou; číslo shrnuje její zkušenost a informace o něm. Jiný terapeut může dospět k jinému číslu.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 lístků se pojetí shodnou, u klienta ne: klasické nelze použít a četnostní by vyžadovalo rozhodnout, kteří dřívější klienti jsou „stejný pokus“. </a:t>
            </a:r>
            <a:r>
              <a:rPr lang="cs-CZ" altLang="cs-CZ" sz="1200" b="0" i="1" noProof="0">
                <a:latin typeface="Arial"/>
              </a:rPr>
              <a:t>Jakmile však pravděpodobnosti číslem vyjádříme, počítáme s nimi ve všech pojetích stejně.</a:t>
            </a:r>
            <a:r>
              <a:rPr lang="cs-CZ" altLang="cs-CZ" sz="1200" b="0" i="0" noProof="0">
                <a:latin typeface="Arial"/>
              </a:rPr>
              <a:t> V psychologii potkáte všechna tři: klasické při losování a náhodném přiřazení, četnostní při usuzování z výběrů, subjektivní v klinickém úsudku.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Kterému pojetí odpovídá výrok „pravděpodobnost, že náhodně vybraný student uvede zvýšený stres, je 0,35“, opřený o odpovědi 200 studentů? Četnostnímu: číslo vychází z relativní četnosti v datech, ne z výčtu stejně pravděpodobných možností.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https://reckak.github.io/statistics-for-psychology/quarto/kapitola_05.html#sec-pojeti-pravdepodobnosti.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Podle četnostního pojetí se relativní četnost k pravděpodobnosti blíží v nekonečně dlouhé řadě. Jak se chová v řadách, které skutečně provést lze, ukazuje </a:t>
            </a:r>
            <a:r>
              <a:rPr lang="cs-CZ" altLang="cs-CZ" sz="1200" b="1" i="0" noProof="0">
                <a:latin typeface="Arial"/>
              </a:rPr>
              <a:t>počítačová simulace</a:t>
            </a:r>
            <a:r>
              <a:rPr lang="cs-CZ" altLang="cs-CZ" sz="1200" b="0" i="0" noProof="0">
                <a:latin typeface="Arial"/>
              </a:rPr>
              <a:t>. Člověk tipuje odpověď na otázku se čtyřmi možnostmi, takže pravděpodobnost správného tipu je 0,25. Simulovali jsme pět řad po tisíci tipech.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Levý graf ukazuje prvních 50 tipů: relativní četnosti zprvu prudce skáčou, po deseti tipech leží mezi 0,20 a 0,60. Pravý graf ukazuje celou řadu: čáry se stahují k vodorovné přerušované čáře 0,25 a po tisíci tipech končí mezi 0,244 a 0,267. </a:t>
            </a:r>
            <a:r>
              <a:rPr lang="cs-CZ" altLang="cs-CZ" sz="1200" b="0" i="1" noProof="0">
                <a:latin typeface="Arial"/>
              </a:rPr>
              <a:t>Dlouhá řada kolísání zmenšuje, ale nezaručuje, že po každém dalším pokusu budeme blíž, a žádná řada neskončila přesně na 0,25.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Řada, která měla po deseti tipech šest správných (0,60), skončila na 0,267. Nebylo to tím, že by pak přišlo neobvykle málo správných tipů: ve zbylých 990 jich bylo 26,4 %. </a:t>
            </a:r>
            <a:r>
              <a:rPr lang="cs-CZ" altLang="cs-CZ" sz="1200" b="1" i="0" noProof="0">
                <a:latin typeface="Arial"/>
              </a:rPr>
              <a:t>Počáteční náskok se nevyrovnal, jen ztratil váhu</a:t>
            </a:r>
            <a:r>
              <a:rPr lang="cs-CZ" altLang="cs-CZ" sz="1200" b="0" i="0" noProof="0">
                <a:latin typeface="Arial"/>
              </a:rPr>
              <a:t> mezi stovkami dalších tipů.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Opačné očekávání se nazývá </a:t>
            </a:r>
            <a:r>
              <a:rPr lang="cs-CZ" altLang="cs-CZ" sz="1200" b="1" i="0" noProof="0">
                <a:latin typeface="Arial"/>
              </a:rPr>
              <a:t>hráčský klam</a:t>
            </a:r>
            <a:r>
              <a:rPr lang="cs-CZ" altLang="cs-CZ" sz="1200" b="0" i="0" noProof="0">
                <a:latin typeface="Arial"/>
              </a:rPr>
              <a:t> (gambler’s fallacy): přesvědčení, že po sérii stejných výsledků je opačný výsledek „na řadě“. Kdo pětkrát tipoval špatně, má při šestém tipu stále pravděpodobnost úspěchu 0,25; otázka si předchozí tipy nepamatuje. Platí to pro pokusy, které se navzájem neovlivňují. Kdyby se člověk během řady učil, pravděpodobnost by se měnila z jiného důvodu.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Po 1 000 tipech vyšla relativní četnost 0,262. Znamená to, že pravděpodobnost správného tipu není 0,25? Ne: konečná řada pravděpodobnost jen přibližuje a odchylka 0,012 je v rozmezí, které simulace ukazuje i při pravděpodobnosti přesně 0,25.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https://reckak.github.io/statistics-for-psychology/quarto/kapitola_05.html#sec-dlouha-rada.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Druhá část zavádí pojmy, bez nichž nelze s pravděpodobnostmi počítat: výsledek, výběrový prostor a jev. Pak přidáme pravidla pro opačný jev a pro dva jevy najednou.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Abychom mohli počítat, musíme přesně říct, čemu pravděpodobnost přiřazujeme. </a:t>
            </a:r>
            <a:r>
              <a:rPr lang="cs-CZ" altLang="cs-CZ" sz="1200" b="1" i="0" noProof="0">
                <a:latin typeface="Arial"/>
              </a:rPr>
              <a:t>Náhodný pokus</a:t>
            </a:r>
            <a:r>
              <a:rPr lang="cs-CZ" altLang="cs-CZ" sz="1200" b="0" i="0" noProof="0">
                <a:latin typeface="Arial"/>
              </a:rPr>
              <a:t> (random experiment) je děj, u něhož známe možné výsledky, ale nevíme, jak dopadne tentokrát. Není to totéž co výzkumný experiment z první kapitoly: náhodný pokus jen popisuje nejistotu výsledku.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Příklad: krabice se 100 kartičkami, na 40 je podstatné jméno, na 35 sloveso a na 25 přídavné jméno. Vytáhneme jednu naslepo. </a:t>
            </a:r>
            <a:r>
              <a:rPr lang="cs-CZ" altLang="cs-CZ" sz="1200" b="1" i="0" noProof="0">
                <a:latin typeface="Arial"/>
              </a:rPr>
              <a:t>Výsledkem</a:t>
            </a:r>
            <a:r>
              <a:rPr lang="cs-CZ" altLang="cs-CZ" sz="1200" b="0" i="0" noProof="0">
                <a:latin typeface="Arial"/>
              </a:rPr>
              <a:t> (outcome) je konkrétní kartička. Množina všech výsledků je </a:t>
            </a:r>
            <a:r>
              <a:rPr lang="cs-CZ" altLang="cs-CZ" sz="1200" b="1" i="0" noProof="0">
                <a:latin typeface="Arial"/>
              </a:rPr>
              <a:t>výběrový prostor</a:t>
            </a:r>
            <a:r>
              <a:rPr lang="cs-CZ" altLang="cs-CZ" sz="1200" b="0" i="0" noProof="0">
                <a:latin typeface="Arial"/>
              </a:rPr>
              <a:t> (sample space). </a:t>
            </a:r>
            <a:r>
              <a:rPr lang="cs-CZ" altLang="cs-CZ" sz="1200" b="0" i="1" noProof="0">
                <a:latin typeface="Arial"/>
              </a:rPr>
              <a:t>Pozor, výběrový prostor není výběr:</a:t>
            </a:r>
            <a:r>
              <a:rPr lang="cs-CZ" altLang="cs-CZ" sz="1200" b="0" i="0" noProof="0">
                <a:latin typeface="Arial"/>
              </a:rPr>
              <a:t> výběr jsou lidé ve studii, výběrový prostor je vše, co se může stát v jednom pokusu.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Obvykle nás nezajímá konkrétní kartička, ale vlastnost. </a:t>
            </a:r>
            <a:r>
              <a:rPr lang="cs-CZ" altLang="cs-CZ" sz="1200" b="1" i="0" noProof="0">
                <a:latin typeface="Arial"/>
              </a:rPr>
              <a:t>Jev</a:t>
            </a:r>
            <a:r>
              <a:rPr lang="cs-CZ" altLang="cs-CZ" sz="1200" b="0" i="0" noProof="0">
                <a:latin typeface="Arial"/>
              </a:rPr>
              <a:t> (event) je množina výsledků, které ji mají. Na obrázku je každý čtvereček výsledek; stejně označené čtverečky tvoří jev. Jev „podstatné jméno“ obsahuje 40 výsledků, proto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(podstatné jméno) = 40 / 100 = 0,40.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Podíl smíme použít jen tehdy, když jsou výsledky, které počítáme, stejně pravděpodobné.</a:t>
            </a:r>
            <a:r>
              <a:rPr lang="cs-CZ" altLang="cs-CZ" sz="1200" b="0" i="0" noProof="0">
                <a:latin typeface="Arial"/>
              </a:rPr>
              <a:t> Kdybychom za výsledky považovali tři slovní druhy, dostali bychom chybně 1/3 pro každý. Stejně pravděpodobné jsou kartičky, ne slovní druhy. Tam, kde stejně pravděpodobné výsledky nemáme, vycházíme z relativních četností nebo z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Student odpoví na otázku se čtyřmi možnostmi. Je pravděpodobnost správné odpovědi vždy 1/4? Jen pokud student tipuje zcela náhodně. Zná-li látku, možnosti stejně pravděpodobné nejsou.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https://reckak.github.io/statistics-for-psychology/quarto/kapitola_05.html#sec-vyberovy-prostor.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Ke každému jevu A existuje </a:t>
            </a:r>
            <a:r>
              <a:rPr lang="cs-CZ" altLang="cs-CZ" sz="1200" b="1" i="0" noProof="0">
                <a:latin typeface="Arial"/>
              </a:rPr>
              <a:t>opačný jev</a:t>
            </a:r>
            <a:r>
              <a:rPr lang="cs-CZ" altLang="cs-CZ" sz="1200" b="0" i="0" noProof="0">
                <a:latin typeface="Arial"/>
              </a:rPr>
              <a:t> (complement) A′, čteme „A s čárkou“ nebo „ne A“. Obsahuje výsledky, které do A nepatří. V jiné literatuře se mu říká doplňkový nebo komplementární jev.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Každý výsledek patří buď do A, nebo do A′, nikdy do obou. Proto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 +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(A′) = 1 a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(A′) = 1 −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(A). U kartiček: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(není podstatné jméno) = 1 − 0,40 = 0,60, což souhlasí s přímým výpočtem 60 / 100. Stejnou úvahu jsme používali u kumulativních četností a u podílu nad hranicí v normálním modelu. </a:t>
            </a:r>
            <a:r>
              <a:rPr lang="cs-CZ" altLang="cs-CZ" sz="1200" b="0" i="1" noProof="0">
                <a:latin typeface="Arial"/>
              </a:rPr>
              <a:t>Opačný jev se vyplatí, když je snazší spočítat, že něco nenastane</a:t>
            </a:r>
            <a:r>
              <a:rPr lang="cs-CZ" altLang="cs-CZ" sz="1200" b="0" i="0" noProof="0">
                <a:latin typeface="Arial"/>
              </a:rPr>
              <a:t>, například u otázek „alespoň jednou“.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Jistý jev</a:t>
            </a:r>
            <a:r>
              <a:rPr lang="cs-CZ" altLang="cs-CZ" sz="1200" b="0" i="0" noProof="0">
                <a:latin typeface="Arial"/>
              </a:rPr>
              <a:t> obsahuje všechny výsledky a má pravděpodobnost 1, </a:t>
            </a:r>
            <a:r>
              <a:rPr lang="cs-CZ" altLang="cs-CZ" sz="1200" b="1" i="0" noProof="0">
                <a:latin typeface="Arial"/>
              </a:rPr>
              <a:t>nemožný jev</a:t>
            </a:r>
            <a:r>
              <a:rPr lang="cs-CZ" altLang="cs-CZ" sz="1200" b="0" i="0" noProof="0">
                <a:latin typeface="Arial"/>
              </a:rPr>
              <a:t> žádný a má pravděpodobnost 0. V krabici s kartičkami platí i obrácení: nulovou pravděpodobnost má jen jev bez výsledků, protože výsledků je konečně mnoho a každý má kladnou pravděpodobnost.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Obecně obrácení neplatí. Ve spojitém normálním modelu má každá přesná hodnota nulovou pravděpodobnost, protože nad bodem není plocha, a přesto nějaká hodnota nastane. </a:t>
            </a:r>
            <a:r>
              <a:rPr lang="cs-CZ" altLang="cs-CZ" sz="1200" b="0" i="1" noProof="0">
                <a:latin typeface="Arial"/>
              </a:rPr>
              <a:t>Nulová pravděpodobnost tam neznamená nemožnost.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Je jev „vytáhneme podstatné jméno nebo sloveso“ opačný k jevu „vytáhneme přídavné jméno“? Ano: oba nemohou nastat zároveň a dohromady pokrývají všech 100 kartiček, 0,75 + 0,25 = 1.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https://reckak.github.io/statistics-for-psychology/quarto/kapitola_05.html#sec-doplnkovy-jev.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Psychologické otázky se zřídka týkají jediné vlastnosti. Druhý průběžný příklad: </a:t>
            </a:r>
            <a:r>
              <a:rPr lang="cs-CZ" altLang="cs-CZ" sz="1200" b="1" i="0" noProof="0">
                <a:latin typeface="Arial"/>
              </a:rPr>
              <a:t>modelový soubor 200 studentů</a:t>
            </a:r>
            <a:r>
              <a:rPr lang="cs-CZ" altLang="cs-CZ" sz="1200" b="0" i="0" noProof="0">
                <a:latin typeface="Arial"/>
              </a:rPr>
              <a:t>, u nichž známe pohlaví a to, zda uvádějí zvýšený, nebo nízký stres. Vybereme jednoho tak, že každý má stejnou pravděpodobnost. Výsledné pravděpodobnosti popisují tento soubor, ne všechny studenty.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Průnik</a:t>
            </a:r>
            <a:r>
              <a:rPr lang="cs-CZ" altLang="cs-CZ" sz="1200" b="0" i="0" noProof="0">
                <a:latin typeface="Arial"/>
              </a:rPr>
              <a:t> (intersection) A ∩ B nastane, když nastanou </a:t>
            </a:r>
            <a:r>
              <a:rPr lang="cs-CZ" altLang="cs-CZ" sz="1200" b="1" i="0" noProof="0">
                <a:latin typeface="Arial"/>
              </a:rPr>
              <a:t>oba jevy zároveň</a:t>
            </a:r>
            <a:r>
              <a:rPr lang="cs-CZ" altLang="cs-CZ" sz="1200" b="0" i="0" noProof="0">
                <a:latin typeface="Arial"/>
              </a:rPr>
              <a:t>. Žen se zvýšeným stresem je 40, tedy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(žena ∩ zvýšený stres) = 40 / 200 = 0,20. Na obrázku vlevo je to jediné pole, kde se řádek „žena“ a sloupec „zvýšený stres“ potkávají.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Sjednocení</a:t>
            </a:r>
            <a:r>
              <a:rPr lang="cs-CZ" altLang="cs-CZ" sz="1200" b="0" i="0" noProof="0">
                <a:latin typeface="Arial"/>
              </a:rPr>
              <a:t> (union) A ∪ B nastane, když nastane </a:t>
            </a:r>
            <a:r>
              <a:rPr lang="cs-CZ" altLang="cs-CZ" sz="1200" b="1" i="0" noProof="0">
                <a:latin typeface="Arial"/>
              </a:rPr>
              <a:t>alespoň jeden</a:t>
            </a:r>
            <a:r>
              <a:rPr lang="cs-CZ" altLang="cs-CZ" sz="1200" b="0" i="0" noProof="0">
                <a:latin typeface="Arial"/>
              </a:rPr>
              <a:t> z jevů; „nebo“ zde nevylučuje oba. Patří do něj všechny ženy a navíc muži se zvýšeným stresem: 40 + 60 + 30 = 130 studentů, tedy 0,65. Na obrázku vpravo jsou to tři pole.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Součtové pravidlo</a:t>
            </a:r>
            <a:r>
              <a:rPr lang="cs-CZ" altLang="cs-CZ" sz="1200" b="0" i="0" noProof="0">
                <a:latin typeface="Arial"/>
              </a:rPr>
              <a:t> (addition rule) dává totéž z pravděpodobností jednotlivých jevů: sečteme 100 žen a 70 studentů se zvýšeným stresem a jednou odečteme 40 studentek, které jsme započítali dvakrát.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(žena ∪ zvýšený stres) = 0,50 + 0,35 − 0,20 = 0,65.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Jevy, které nemohou nastat zároveň, jsou </a:t>
            </a:r>
            <a:r>
              <a:rPr lang="cs-CZ" altLang="cs-CZ" sz="1200" b="1" i="0" noProof="0">
                <a:latin typeface="Arial"/>
              </a:rPr>
              <a:t>vzájemně výlučné</a:t>
            </a:r>
            <a:r>
              <a:rPr lang="cs-CZ" altLang="cs-CZ" sz="1200" b="0" i="0" noProof="0">
                <a:latin typeface="Arial"/>
              </a:rPr>
              <a:t> (mutually exclusive). Jejich průnik má pravděpodobnost 0 a pravidlo se zjednoduší na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∪ B) =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 +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(B); například podstatné jméno nebo sloveso: 0,40 + 0,35 = 0,75. </a:t>
            </a:r>
            <a:r>
              <a:rPr lang="cs-CZ" altLang="cs-CZ" sz="1200" b="0" i="1" noProof="0">
                <a:latin typeface="Arial"/>
              </a:rPr>
              <a:t>Prostý součet u jevů, které výlučné nejsou, by dal chybných 0,85.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u kartiček „podstatné jméno nebo sloveso“ nic neodečítáme? Protože jedna kartička nemůže nést obojí, průnik je prázdný.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https://reckak.github.io/statistics-for-psychology/quarto/kapitola_05.html#sec-souctove-pravidlo.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Tabulka, která třídí případy podle dvou proměnných zároveň, je </a:t>
            </a:r>
            <a:r>
              <a:rPr lang="cs-CZ" altLang="cs-CZ" sz="1200" b="1" i="0" noProof="0">
                <a:latin typeface="Arial"/>
              </a:rPr>
              <a:t>kontingenční tabulka</a:t>
            </a:r>
            <a:r>
              <a:rPr lang="cs-CZ" altLang="cs-CZ" sz="1200" b="0" i="0" noProof="0">
                <a:latin typeface="Arial"/>
              </a:rPr>
              <a:t> (contingency table). Vnitřní pole obsahují počty kombinací, okraje součty řádků a sloupců. Z jedné tabulky vyčteme tři druhy pravděpodobností a je dobré je od začátku nezaměňovat.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Společná pravděpodobnost</a:t>
            </a:r>
            <a:r>
              <a:rPr lang="cs-CZ" altLang="cs-CZ" sz="1200" b="0" i="0" noProof="0">
                <a:latin typeface="Arial"/>
              </a:rPr>
              <a:t> (joint probability), v jiné literatuře sdružená, je pravděpodobnost průniku. Čteme ji z vnitřního pole a dělíme celkovým počtem: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(muž ∩ nízký stres) = 70 / 200 = 0,35.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Marginální pravděpodobnost</a:t>
            </a:r>
            <a:r>
              <a:rPr lang="cs-CZ" altLang="cs-CZ" sz="1200" b="0" i="0" noProof="0">
                <a:latin typeface="Arial"/>
              </a:rPr>
              <a:t> (marginal probability), také okrajová, se týká jediné proměnné bez ohledu na druhou. Čteme ji z okraje: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(zvýšený stres) = 70 / 200 = 0,35. </a:t>
            </a:r>
            <a:r>
              <a:rPr lang="cs-CZ" altLang="cs-CZ" sz="1200" b="0" i="1" noProof="0">
                <a:latin typeface="Arial"/>
              </a:rPr>
              <a:t>Okrajové číslo 70 vzniklo sečtením přes obě možnosti druhé proměnné</a:t>
            </a:r>
            <a:r>
              <a:rPr lang="cs-CZ" altLang="cs-CZ" sz="1200" b="0" i="0" noProof="0">
                <a:latin typeface="Arial"/>
              </a:rPr>
              <a:t>, 40 + 30; stejně je marginální pravděpodobnost součtem společných, 0,20 + 0,15. Sčítat smíme, protože „žena a zvýšený stres“ a „muž a zvýšený stres“ se vylučují.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Třetím druhem je podmíněná pravděpodobnost, u níž se mění celek. Té věnujeme další část.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Jaká je marginální pravděpodobnost, že vybraný student je muž, a ze kterých polí ji lze složit? 100 / 200 = 0,50; jako součet 30 / 200 + 70 / 200.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https://reckak.github.io/statistics-for-psychology/quarto/kapitola_05.html#sec-kontingencni-tabulka.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Průnik obsahuje jen výsledky, které patří do obou jevů, a proto jich nemůže být víc než v kterémkoli z nich. Studentek se zvýšeným stresem (40) je méně než žen (100) i než všech studentů se zvýšeným stresem (70). Znak ≤ čteme „je menší nebo rovno“.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Vypadá to samozřejmě, ale v intuitivním úsudku to lidé často porušují. Ukázka: popis Kláry a dvě možnosti. Mnoha lidem připadá možnost b) pravděpodobnější, protože lépe odpovídá popisu. </a:t>
            </a:r>
            <a:r>
              <a:rPr lang="cs-CZ" altLang="cs-CZ" sz="1200" b="0" i="1" noProof="0">
                <a:latin typeface="Arial"/>
              </a:rPr>
              <a:t>Každá knihovnice ve čtenářském klubu je ale také knihovnice</a:t>
            </a:r>
            <a:r>
              <a:rPr lang="cs-CZ" altLang="cs-CZ" sz="1200" b="0" i="0" noProof="0">
                <a:latin typeface="Arial"/>
              </a:rPr>
              <a:t>, takže b) je průnik a nemůže být pravděpodobnější než a).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Chyba se nazývá </a:t>
            </a:r>
            <a:r>
              <a:rPr lang="cs-CZ" altLang="cs-CZ" sz="1200" b="1" i="0" noProof="0">
                <a:latin typeface="Arial"/>
              </a:rPr>
              <a:t>konjunkční klam</a:t>
            </a:r>
            <a:r>
              <a:rPr lang="cs-CZ" altLang="cs-CZ" sz="1200" b="0" i="0" noProof="0">
                <a:latin typeface="Arial"/>
              </a:rPr>
              <a:t> (conjunction fallacy). Výzkum úsudku ji vysvětluje tím, že lidé nahradí otázku „jak je to pravděpodobné“ otázkou „jak dobře to k popisu sedí“. </a:t>
            </a:r>
            <a:r>
              <a:rPr lang="cs-CZ" altLang="cs-CZ" sz="1200" b="0" i="1" noProof="0">
                <a:latin typeface="Arial"/>
              </a:rPr>
              <a:t>Podrobnější popis může být věrohodnější jako příběh, a přitom méně pravděpodobný jako jev.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Vinětu s Klárou jsme vytvořili pro výuku podle klasického typu úloh z výzkumu úsudku (Baron, 2008, s. 150–152).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Kdy by obě možnosti měly stejnou pravděpodobnost? Kdyby byly ve čtenářském klubu všechny knihovnice; pak jsou oba jevy totožné.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https://reckak.github.io/statistics-for-psychology/quarto/kapitola_05.html#sec-konjunkcni-klam.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část odpovídá na otázku, jak se pravděpodobnost změní, když už o člověku něco víme. Z odpovědi odvodíme pravidlo pro průnik jevů a pojem nezávislosti.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Jaká je pravděpodobnost, že náhodně vybraná </a:t>
            </a:r>
            <a:r>
              <a:rPr lang="cs-CZ" altLang="cs-CZ" sz="1200" b="1" i="0" noProof="0">
                <a:latin typeface="Arial"/>
              </a:rPr>
              <a:t>žena</a:t>
            </a:r>
            <a:r>
              <a:rPr lang="cs-CZ" altLang="cs-CZ" sz="1200" b="0" i="0" noProof="0">
                <a:latin typeface="Arial"/>
              </a:rPr>
              <a:t> uvedla zvýšený stres? Otázka se už netýká 200 studentů, ale jen 100 žen; zvýšený stres z nich uvedlo 40. Píšeme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(zvýšený stres | žena) = 40 / 100 = 0,40.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Podmíněná pravděpodobnost</a:t>
            </a:r>
            <a:r>
              <a:rPr lang="cs-CZ" altLang="cs-CZ" sz="1200" b="0" i="0" noProof="0">
                <a:latin typeface="Arial"/>
              </a:rPr>
              <a:t> (conditional probability)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| B) je pravděpodobnost jevu A, jestliže víme, že nastal jev B. Svislou čáru čteme „za podmínky“. </a:t>
            </a:r>
            <a:r>
              <a:rPr lang="cs-CZ" altLang="cs-CZ" sz="1200" b="0" i="1" noProof="0">
                <a:latin typeface="Arial"/>
              </a:rPr>
              <a:t>Jev za čarou určuje, které výsledky zůstávají ve hře.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to ukazuje graficky. Vlevo tvoří celek všech 200 studentů a ptáme se na marginální pravděpodobnost zvýšeného stresu, 0,35. Vpravo podmínka „žena“ vyřadila řádek mužů; nový celek je 100 žen a podíl zvýšeného stresu v něm je 0,40.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Obecně je podmíněná pravděpodobnost podílem průniku na podmínce: 0,20 / 0,50 = 0,40, stejně jako z počtů. Vzorec používáme jen tehdy, má-li podmínka kladnou pravděpodobnost; jinak bychom dělili nulou.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Jaká je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(nízký stres | muž)? Celek tvoří 100 mužů, nízký stres jich uvedlo 70, tedy 0,70.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https://reckak.github.io/statistics-for-psychology/quarto/kapitola_05.html#sec-podminena.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čtení tabulky je nejdůležitější otázka: </a:t>
            </a:r>
            <a:r>
              <a:rPr lang="cs-CZ" altLang="cs-CZ" sz="1200" b="1" i="0" noProof="0">
                <a:latin typeface="Arial"/>
              </a:rPr>
              <a:t>z koho počítám?</a:t>
            </a:r>
            <a:r>
              <a:rPr lang="cs-CZ" altLang="cs-CZ" sz="1200" b="0" i="0" noProof="0">
                <a:latin typeface="Arial"/>
              </a:rPr>
              <a:t> Společnou a marginální pravděpodobnost dělíme celkovým počtem; podmíněnou součtem řádku nebo sloupce, který odpovídá podmínce.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Tabulka ukazuje tři čísla o týchž 40 studentkách. Odpovídají na tři různé otázky. Poslední dva řádky se liší jen pořadím jevů v zápisu, a přesto vycházejí jinak: 0,40 a 0,57. </a:t>
            </a:r>
            <a:r>
              <a:rPr lang="cs-CZ" altLang="cs-CZ" sz="1200" b="0" i="1" noProof="0">
                <a:latin typeface="Arial"/>
              </a:rPr>
              <a:t>Pravděpodobnosti P(A | B) a P(B | A) jsou obecně různá čísla, protože se vztahují k různým celkům.</a:t>
            </a:r>
            <a:r>
              <a:rPr lang="cs-CZ" altLang="cs-CZ" sz="1200" b="0" i="0" noProof="0">
                <a:latin typeface="Arial"/>
              </a:rPr>
              <a:t> Jejich záměna patří k nejčastějším chybám; vrátíme se k ní u screeningu.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Podmínka nevyjadřuje časové pořadí ani příčinu.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(žena | zvýšený stres) neříká, že stres předchází pohlaví nebo je ovlivňuje; jen jsme pozornost zúžili na studenty se zvýšeným stresem.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Ve zprávě stojí „většina lidí s depresí má potíže se spánkem“. Plyne z toho, že většina lidí s potížemi se spánkem má depresi? Ne: první věta je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(potíže se spánkem | deprese), druhá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(deprese | potíže se spánkem), a ta závisí také na tom, jak častá je deprese a jak časté jsou potíže se spánkem u ostatních lidí.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https://reckak.github.io/statistics-for-psychology/quarto/kapitola_05.html#sec-podminena.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Vztah pro podmíněnou pravděpodobnost můžeme přečíst obráceně. Vynásobíme-li obě strany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(B), dostaneme </a:t>
            </a:r>
            <a:r>
              <a:rPr lang="cs-CZ" altLang="cs-CZ" sz="1200" b="1" i="0" noProof="0">
                <a:latin typeface="Arial"/>
              </a:rPr>
              <a:t>součinové pravidlo</a:t>
            </a:r>
            <a:r>
              <a:rPr lang="cs-CZ" altLang="cs-CZ" sz="1200" b="0" i="0" noProof="0">
                <a:latin typeface="Arial"/>
              </a:rPr>
              <a:t> (multiplication rule):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∩ B) =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(B) ×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| B). </a:t>
            </a:r>
            <a:r>
              <a:rPr lang="cs-CZ" altLang="cs-CZ" sz="1200" b="0" i="1" noProof="0">
                <a:latin typeface="Arial"/>
              </a:rPr>
              <a:t>Slovy: aby nastaly oba jevy, musí nastat B a potom, mezi případy s B, ještě 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Polovina studentů jsou ženy a 40 % z nich uvedlo zvýšený stres, takže ženy se zvýšeným stresem tvoří 0,50 × 0,40 = 0,20 všech studentů. Na pořadí nezáleží: stejně platí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 ×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(B | A) = 0,35 × 40/70 = 0,20.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Pravidlo se hodí u pokusů o dvou krocích. Z krabice se 100 kartičkami vytáhneme dvě a první </a:t>
            </a:r>
            <a:r>
              <a:rPr lang="cs-CZ" altLang="cs-CZ" sz="1200" b="1" i="0" noProof="0">
                <a:latin typeface="Arial"/>
              </a:rPr>
              <a:t>nevrátíme</a:t>
            </a:r>
            <a:r>
              <a:rPr lang="cs-CZ" altLang="cs-CZ" sz="1200" b="0" i="0" noProof="0">
                <a:latin typeface="Arial"/>
              </a:rPr>
              <a:t>. Pravděpodobnost, že první je podstatné jméno, je 40 / 100. Pokud byla, zbývá 39 podstatných jmen mezi 99 kartičkami, takže obě jsou podstatná jména s pravděpodobností 40/100 × 39/99 = 1 560 / 9 900 ≈ 0,158. </a:t>
            </a:r>
            <a:r>
              <a:rPr lang="cs-CZ" altLang="cs-CZ" sz="1200" b="0" i="1" noProof="0">
                <a:latin typeface="Arial"/>
              </a:rPr>
              <a:t>Druhý činitel je podmíněná pravděpodobnost: první tah změnil složení krabice.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Kdybychom první kartičku </a:t>
            </a:r>
            <a:r>
              <a:rPr lang="cs-CZ" altLang="cs-CZ" sz="1200" b="1" i="0" noProof="0">
                <a:latin typeface="Arial"/>
              </a:rPr>
              <a:t>vrátili</a:t>
            </a:r>
            <a:r>
              <a:rPr lang="cs-CZ" altLang="cs-CZ" sz="1200" b="0" i="0" noProof="0">
                <a:latin typeface="Arial"/>
              </a:rPr>
              <a:t> a zamíchali, zůstala by pravděpodobnost ve druhém tahu 0,40 a výsledek by byl 0,16. Tento rozdíl vede přímo k nezávislosti.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se u velké krabice s 10 000 kartičkami výsledek bez vracení a s vracením téměř neliší? Odebrání jedné kartičky složení velké krabice skoro nezmění.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https://reckak.github.io/statistics-for-psychology/quarto/kapitola_05.html#sec-soucinove-pravidlo.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tahu s vracením první tah nezměnil pravděpodobnost ve druhém. </a:t>
            </a:r>
            <a:r>
              <a:rPr lang="cs-CZ" altLang="cs-CZ" sz="1200" b="0" i="1" noProof="0">
                <a:latin typeface="Arial"/>
              </a:rPr>
              <a:t>To je podstata nezávislosti.</a:t>
            </a:r>
            <a:r>
              <a:rPr lang="cs-CZ" altLang="cs-CZ" sz="1200" b="0" i="0" noProof="0">
                <a:latin typeface="Arial"/>
              </a:rPr>
              <a:t> Představme si druhý soubor 200 studentů, kde zvýšený stres uvedlo 30 % žen, 30 % mužů i 30 % všech. Informace o pohlaví pravděpodobnost zvýšeného stresu nemění; a obráceně, mezi studenty se zvýšeným i nízkým stresem je vždy polovina žen.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Jevy jsou </a:t>
            </a:r>
            <a:r>
              <a:rPr lang="cs-CZ" altLang="cs-CZ" sz="1200" b="1" i="0" noProof="0">
                <a:latin typeface="Arial"/>
              </a:rPr>
              <a:t>nezávislé</a:t>
            </a:r>
            <a:r>
              <a:rPr lang="cs-CZ" altLang="cs-CZ" sz="1200" b="0" i="0" noProof="0">
                <a:latin typeface="Arial"/>
              </a:rPr>
              <a:t> (independent events), když znalost jednoho nemění pravděpodobnost druhého. Dosadíme-li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| B) =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 do součinového pravidla, dostaneme vztah, který se jako definice používá nejčastěji: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 ∩ B) =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(A) ×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(B). Ve druhém souboru platí: 30 / 200 = 0,15 a 0,50 × 0,30 = 0,15. V původním souboru neplatí: 0,20 se liší od 0,175.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ukazuje obě tabulky jako plochy. </a:t>
            </a:r>
            <a:r>
              <a:rPr lang="cs-CZ" altLang="cs-CZ" sz="1200" b="0" i="1" noProof="0">
                <a:latin typeface="Arial"/>
              </a:rPr>
              <a:t>Při nezávislosti leží hranice mezi zvýšeným a nízkým stresem v obou řádcích na stejném místě, při závislosti je posunutá.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nezávislé jevy stačí násobit. Dva tipy na dvě otázky se čtyřmi možnostmi jsou oba správně s pravděpodobností 0,25 × 0,25 = 0,0625. S opačným jevem zvládneme i „alespoň jeden“: oba špatně je 0,75 × 0,75 = 0,5625, takže alespoň jeden správně je 1 − 0,5625 = 0,4375.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Jaká je pravděpodobnost, že ze tří nezávislých tipů bude alespoň jeden správný? 1 − 0,75³ = 1 − 0,421875 ≈ 0,578.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https://reckak.github.io/statistics-for-psychology/quarto/kapitola_05.html#sec-nezavislost.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Nezávislost se snadno splete s jinými pojmy. Čtyři rozlišení stojí za zapamatování.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Nezávislé není totéž co vzájemně výlučné.</a:t>
            </a:r>
            <a:r>
              <a:rPr lang="cs-CZ" altLang="cs-CZ" sz="1200" b="0" i="0" noProof="0">
                <a:latin typeface="Arial"/>
              </a:rPr>
              <a:t> Výlučné jevy nemohou nastat zároveň; jakmile víme, že jeden nastal, druhý má pravděpodobnost nula. </a:t>
            </a:r>
            <a:r>
              <a:rPr lang="cs-CZ" altLang="cs-CZ" sz="1200" b="0" i="1" noProof="0">
                <a:latin typeface="Arial"/>
              </a:rPr>
              <a:t>Jeden o druhém tedy vypovídá velmi mnoho.</a:t>
            </a:r>
            <a:r>
              <a:rPr lang="cs-CZ" altLang="cs-CZ" sz="1200" b="0" i="0" noProof="0">
                <a:latin typeface="Arial"/>
              </a:rPr>
              <a:t> Matematicky: průnik je nulový, ale součin dvou kladných pravděpodobností kladný.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Závislost není příčina.</a:t>
            </a:r>
            <a:r>
              <a:rPr lang="cs-CZ" altLang="cs-CZ" sz="1200" b="0" i="0" noProof="0">
                <a:latin typeface="Arial"/>
              </a:rPr>
              <a:t> Že se podíl zvýšeného stresu u žen a mužů liší, neříká, proč tomu tak je; platí vše, co víme o souvislosti a příčině z první kapitoly.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Nezávislost v tabulce není nezávislost v populaci.</a:t>
            </a:r>
            <a:r>
              <a:rPr lang="cs-CZ" altLang="cs-CZ" sz="1200" b="0" i="0" noProof="0">
                <a:latin typeface="Arial"/>
              </a:rPr>
              <a:t> Jiných 200 studentů by dalo trochu jiné podíly. Malý rozdíl ve výběru nedokazuje závislost v populaci a přesná shoda nedokazuje nezávislost; jak z výběru usuzovat na populaci, je tématem inferenční statistiky.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Nezávislost je předpoklad.</a:t>
            </a:r>
            <a:r>
              <a:rPr lang="cs-CZ" altLang="cs-CZ" sz="1200" b="0" i="0" noProof="0">
                <a:latin typeface="Arial"/>
              </a:rPr>
              <a:t> Odpovědi dvou náhodně vybraných lidí lze obvykle považovat za nezávislé; odpovědi sourozenců nebo spolužáků, kteří se učili spolu, bez dalšího ne.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Jsou jevy „kartička nese podstatné jméno“ a „kartička nese sloveso“ při jednom tahu nezávislé? Ne, vylučují se: víme-li, že padlo podstatné jméno, sloveso má pravděpodobnost 0, ne 0,35.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https://reckak.github.io/statistics-for-psychology/quarto/kapitola_05.html#sec-nezavislost-meze.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Čtvrtá část se vrací k úvodní otázce psycholožky. Ukáže, jak z vlastností dotazníku a z toho, jak častá je porucha, zjistit, co znamená pozitivní výsledek.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Univerzitní poradna používá krátký screeningový dotazník úzkostných poruch. Výsledek je </a:t>
            </a:r>
            <a:r>
              <a:rPr lang="cs-CZ" altLang="cs-CZ" sz="1200" b="1" i="0" noProof="0">
                <a:latin typeface="Arial"/>
              </a:rPr>
              <a:t>pozitivní</a:t>
            </a:r>
            <a:r>
              <a:rPr lang="cs-CZ" altLang="cs-CZ" sz="1200" b="0" i="0" noProof="0">
                <a:latin typeface="Arial"/>
              </a:rPr>
              <a:t>, když na poruchu upozorňuje, a </a:t>
            </a:r>
            <a:r>
              <a:rPr lang="cs-CZ" altLang="cs-CZ" sz="1200" b="1" i="0" noProof="0">
                <a:latin typeface="Arial"/>
              </a:rPr>
              <a:t>negativní</a:t>
            </a:r>
            <a:r>
              <a:rPr lang="cs-CZ" altLang="cs-CZ" sz="1200" b="0" i="0" noProof="0">
                <a:latin typeface="Arial"/>
              </a:rPr>
              <a:t>, když neupozorňuje. </a:t>
            </a:r>
            <a:r>
              <a:rPr lang="cs-CZ" altLang="cs-CZ" sz="1200" b="0" i="1" noProof="0">
                <a:latin typeface="Arial"/>
              </a:rPr>
              <a:t>Slova se netýkají toho, zda je výsledek žádoucí;</a:t>
            </a:r>
            <a:r>
              <a:rPr lang="cs-CZ" altLang="cs-CZ" sz="1200" b="0" i="0" noProof="0">
                <a:latin typeface="Arial"/>
              </a:rPr>
              <a:t> pozitivní výsledek si člověk obvykle nepřeje.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 dotazníku víme, jak se chová u lidí, jejichž stav známe z podrobného vyšetření. </a:t>
            </a:r>
            <a:r>
              <a:rPr lang="cs-CZ" altLang="cs-CZ" sz="1200" b="1" i="0" noProof="0">
                <a:latin typeface="Arial"/>
              </a:rPr>
              <a:t>Senzitivita</a:t>
            </a:r>
            <a:r>
              <a:rPr lang="cs-CZ" altLang="cs-CZ" sz="1200" b="0" i="0" noProof="0">
                <a:latin typeface="Arial"/>
              </a:rPr>
              <a:t> (sensitivity) je pravděpodobnost pozitivního výsledku u člověka s poruchou, zde 0,95. </a:t>
            </a:r>
            <a:r>
              <a:rPr lang="cs-CZ" altLang="cs-CZ" sz="1200" b="1" i="0" noProof="0">
                <a:latin typeface="Arial"/>
              </a:rPr>
              <a:t>Specificita</a:t>
            </a:r>
            <a:r>
              <a:rPr lang="cs-CZ" altLang="cs-CZ" sz="1200" b="0" i="0" noProof="0">
                <a:latin typeface="Arial"/>
              </a:rPr>
              <a:t> (specificity) je pravděpodobnost negativního výsledku u člověka bez poruchy, zde 0,90. Obě jsou podmíněné pravděpodobnosti, jejichž podmínkou je skutečný stav.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Tabulka zkříží stav a výsledek. Senzitivita se týká jen prvního řádku, specificita jen druhého. </a:t>
            </a:r>
            <a:r>
              <a:rPr lang="cs-CZ" altLang="cs-CZ" sz="1200" b="1" i="0" noProof="0">
                <a:latin typeface="Arial"/>
              </a:rPr>
              <a:t>Falešně pozitivní</a:t>
            </a:r>
            <a:r>
              <a:rPr lang="cs-CZ" altLang="cs-CZ" sz="1200" b="0" i="0" noProof="0">
                <a:latin typeface="Arial"/>
              </a:rPr>
              <a:t> výsledek je pozitivní výsledek u člověka bez poruchy, mezi lidmi bez poruchy má pravděpodobnost 1 − 0,90 = 0,10. </a:t>
            </a:r>
            <a:r>
              <a:rPr lang="cs-CZ" altLang="cs-CZ" sz="1200" b="1" i="0" noProof="0">
                <a:latin typeface="Arial"/>
              </a:rPr>
              <a:t>Falešně negativní</a:t>
            </a:r>
            <a:r>
              <a:rPr lang="cs-CZ" altLang="cs-CZ" sz="1200" b="0" i="0" noProof="0">
                <a:latin typeface="Arial"/>
              </a:rPr>
              <a:t> je negativní výsledek u člověka s poruchou, mezi nimi s pravděpodobností 0,05.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Psycholožka ale nezná stav klienta, zná výsledek dotazníku. Ptá se na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(porucha | pozitivní), tedy na pravděpodobnost s </a:t>
            </a:r>
            <a:r>
              <a:rPr lang="cs-CZ" altLang="cs-CZ" sz="1200" b="1" i="0" noProof="0">
                <a:latin typeface="Arial"/>
              </a:rPr>
              <a:t>obrácenou podmínkou</a:t>
            </a:r>
            <a:r>
              <a:rPr lang="cs-CZ" altLang="cs-CZ" sz="1200" b="0" i="0" noProof="0">
                <a:latin typeface="Arial"/>
              </a:rPr>
              <a:t>. </a:t>
            </a:r>
            <a:r>
              <a:rPr lang="cs-CZ" altLang="cs-CZ" sz="1200" b="0" i="1" noProof="0">
                <a:latin typeface="Arial"/>
              </a:rPr>
              <a:t>Odpověď 0,95 by byla záměnou P(A | B) za P(B | A).</a:t>
            </a:r>
            <a:r>
              <a:rPr lang="cs-CZ" altLang="cs-CZ" sz="1200" b="0" i="0" noProof="0">
                <a:latin typeface="Arial"/>
              </a:rPr>
              <a:t> K odpovědi chybí údaj, jak častá porucha mezi příchozími je; předpokládejme 10 %.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Čísla jsou zvolena pro výklad a nepopisují skutečný dotazník.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Než to spočítáme, odhadněte: jaká část klientů s pozitivním výsledkem má poruchu? Odhad si zapište a porovnejte s výsledkem na dalším slidu.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https://reckak.github.io/statistics-for-psychology/quarto/kapitola_05.html#sec-screening.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Úlohu nejsnáze vyřešíme, když pravděpodobnosti převedeme na počty lidí. Představme si 1 000 studentů a postupně je rozdělujme. Poruchu má 10 %, tedy 100 studentů; 900 ji nemá. Ze 100 s poruchou má pozitivní výsledek 95 % (senzitivita), tedy 95, a 5 má výsledek falešně negativní. Z 900 bez poruchy má negativní výsledek 90 % (specificita), tedy 810, a 90 má výsledek falešně pozitivní.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Počty, které vznikají takovým postupným členěním jedné výchozí skupiny, jsou </a:t>
            </a:r>
            <a:r>
              <a:rPr lang="cs-CZ" altLang="cs-CZ" sz="1200" b="1" i="0" noProof="0">
                <a:latin typeface="Arial"/>
              </a:rPr>
              <a:t>přirozené četnosti</a:t>
            </a:r>
            <a:r>
              <a:rPr lang="cs-CZ" altLang="cs-CZ" sz="1200" b="0" i="0" noProof="0">
                <a:latin typeface="Arial"/>
              </a:rPr>
              <a:t> (natural frequencies). Každé číslo je částí čísla o úroveň výše. </a:t>
            </a:r>
            <a:r>
              <a:rPr lang="cs-CZ" altLang="cs-CZ" sz="1200" b="0" i="1" noProof="0">
                <a:latin typeface="Arial"/>
              </a:rPr>
              <a:t>Na rozdíl od uměle stejně velkých skupin („95 ze 100 s poruchou, 10 ze 100 bez ní“) v nich zůstává zachována základní četnost: lidí bez poruchy je devětkrát více.</a:t>
            </a:r>
            <a:r>
              <a:rPr lang="cs-CZ" altLang="cs-CZ" sz="1200" b="0" i="0" noProof="0">
                <a:latin typeface="Arial"/>
              </a:rPr>
              <a:t> Postup zachycuje </a:t>
            </a:r>
            <a:r>
              <a:rPr lang="cs-CZ" altLang="cs-CZ" sz="1200" b="1" i="0" noProof="0">
                <a:latin typeface="Arial"/>
              </a:rPr>
              <a:t>stromový diagram</a:t>
            </a:r>
            <a:r>
              <a:rPr lang="cs-CZ" altLang="cs-CZ" sz="1200" b="0" i="0" noProof="0">
                <a:latin typeface="Arial"/>
              </a:rPr>
              <a:t> (tree diagram); u větví jsou prevalence, senzitivita, specificita a jejich doplňky do jedné.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Pozitivní výsledek má 95 + 90 = 185 studentů a poruchu z nich má 95. </a:t>
            </a:r>
            <a:r>
              <a:rPr lang="cs-CZ" altLang="cs-CZ" sz="1200" b="1" i="0" noProof="0">
                <a:latin typeface="Arial"/>
              </a:rPr>
              <a:t>Prediktivní hodnota pozitivního testu</a:t>
            </a:r>
            <a:r>
              <a:rPr lang="cs-CZ" altLang="cs-CZ" sz="1200" b="0" i="0" noProof="0">
                <a:latin typeface="Arial"/>
              </a:rPr>
              <a:t> (positive predictive value) je tedy 95 / 185 ≈ 0,514. </a:t>
            </a:r>
            <a:r>
              <a:rPr lang="cs-CZ" altLang="cs-CZ" sz="1200" b="0" i="1" noProof="0">
                <a:latin typeface="Arial"/>
              </a:rPr>
              <a:t>Přestože dotazník zachytí 95 % lidí s poruchou, má poruchu jen o málo více než polovina těch, u nichž vyšel pozitivně.</a:t>
            </a:r>
            <a:r>
              <a:rPr lang="cs-CZ" altLang="cs-CZ" sz="1200" b="0" i="0" noProof="0">
                <a:latin typeface="Arial"/>
              </a:rPr>
              <a:t> Důvod: i malá část velké skupiny bez poruchy (90) je početně srovnatelná se správně zachycenými (95).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Prediktivní hodnota negativního testu</a:t>
            </a:r>
            <a:r>
              <a:rPr lang="cs-CZ" altLang="cs-CZ" sz="1200" b="0" i="0" noProof="0">
                <a:latin typeface="Arial"/>
              </a:rPr>
              <a:t> je 810 / 815 ≈ 0,994: negativní výsledek je zde velmi spolehlivý. </a:t>
            </a:r>
            <a:r>
              <a:rPr lang="cs-CZ" altLang="cs-CZ" sz="1200" b="0" i="1" noProof="0">
                <a:latin typeface="Arial"/>
              </a:rPr>
              <a:t>Pozitivní výsledek je důvodem k podrobnějšímu vyšetření, ne diagnózou.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Pojem přirozených četností podle Gigerenzera a Hoffrageové (1995).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 blízko byl váš odhad z minulého slidu? Většina lidí odhaduje mnohem víc než 0,51, protože vychází ze senzitivity.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https://reckak.github.io/statistics-for-psychology/quarto/kapitola_05.html#sec-prirozene-cetnosti.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Výpočet ze stromu teď zapíšeme obecně. Jmenovatel 185 jsme získali sečtením dvou cest stromem, které končí pozitivním výsledkem: přes poruchu (95) a bez poruchy (90). Každou cestu jsme spočítali násobením podél větví. V pravděpodobnostech: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(pozitivní) = 0,10 × 0,95 + 0,90 × 0,10 = 0,185.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Obecný vztah je </a:t>
            </a:r>
            <a:r>
              <a:rPr lang="cs-CZ" altLang="cs-CZ" sz="1200" b="1" i="0" noProof="0">
                <a:latin typeface="Arial"/>
              </a:rPr>
              <a:t>úplná pravděpodobnost</a:t>
            </a:r>
            <a:r>
              <a:rPr lang="cs-CZ" altLang="cs-CZ" sz="1200" b="0" i="0" noProof="0">
                <a:latin typeface="Arial"/>
              </a:rPr>
              <a:t> (law of total probability): jev B nastane buď s A, nebo s opačným jevem A′. Obě možnosti se vylučují a pokrývají vše, takže je sečteme, a každou rozepíšeme součinovým pravidlem. </a:t>
            </a:r>
            <a:r>
              <a:rPr lang="cs-CZ" altLang="cs-CZ" sz="1200" b="0" i="1" noProof="0">
                <a:latin typeface="Arial"/>
              </a:rPr>
              <a:t>Pozitivní výsledek dostane 18,5 % příchozích, ačkoli poruchu má jen 10 %; už z toho je vidět, že pozitivní výsledek nemůže znamenat poruchu vždy.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Bayesova věta</a:t>
            </a:r>
            <a:r>
              <a:rPr lang="cs-CZ" altLang="cs-CZ" sz="1200" b="0" i="0" noProof="0">
                <a:latin typeface="Arial"/>
              </a:rPr>
              <a:t> (Bayes’ theorem) spojí definici podmíněné pravděpodobnosti, součinové pravidlo v čitateli a úplnou pravděpodobnost ve jmenovateli. Nic dalšího nepotřebuje. </a:t>
            </a:r>
            <a:r>
              <a:rPr lang="cs-CZ" altLang="cs-CZ" sz="1200" b="0" i="1" noProof="0">
                <a:latin typeface="Arial"/>
              </a:rPr>
              <a:t>Čitatel je jedna cesta stromem, ta, která vede k pozitivnímu výsledku přes poruchu; jmenovatel jsou všechny cesty k pozitivnímu výsledku.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Dosazení: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(porucha | pozitivní) = 0,095 / 0,185 ≈ 0,514, stejně jako 95 / 185 z přirozených četností. </a:t>
            </a:r>
            <a:r>
              <a:rPr lang="cs-CZ" altLang="cs-CZ" sz="1200" b="0" i="1" noProof="0">
                <a:latin typeface="Arial"/>
              </a:rPr>
              <a:t>Vzorec a strom jsou dva zápisy téhož výpočtu.</a:t>
            </a:r>
            <a:r>
              <a:rPr lang="cs-CZ" altLang="cs-CZ" sz="1200" b="0" i="0" noProof="0">
                <a:latin typeface="Arial"/>
              </a:rPr>
              <a:t> V Excelu stačí sčítání, násobení a dělení; v sešitu kapitoly je výpočet na listu Bayes.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 by se výsledek změnil, kdyby specificita byla 0,99 místo 0,90? Falešně pozitivních by bylo jen 9 z 900, takže 95 / 104 ≈ 0,913. </a:t>
            </a:r>
            <a:r>
              <a:rPr lang="cs-CZ" altLang="cs-CZ" sz="1200" b="0" i="1" noProof="0">
                <a:latin typeface="Arial"/>
              </a:rPr>
              <a:t>Při vzácné poruše rozhoduje o prediktivní hodnotě hlavně počet falešně pozitivních výsledků.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https://reckak.github.io/statistics-for-psychology/quarto/kapitola_05.html#sec-bayesova-veta.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Co se stane, když stejný dotazník použijeme plošně u všech studentů, mezi nimiž má poruchu jen 1 %? Předpokládejme, že senzitivita i specificita zůstávají stejné; </a:t>
            </a:r>
            <a:r>
              <a:rPr lang="cs-CZ" altLang="cs-CZ" sz="1200" b="0" i="1" noProof="0">
                <a:latin typeface="Arial"/>
              </a:rPr>
              <a:t>v praxi je třeba ověřit, zda se přenášejí i do jiné skupiny vyšetřovaných.</a:t>
            </a:r>
            <a:r>
              <a:rPr lang="cs-CZ" altLang="cs-CZ" sz="1200" b="0" i="0" noProof="0">
                <a:latin typeface="Arial"/>
              </a:rPr>
              <a:t> Vezmeme 10 000 studentů: poruchu má 100, z nich 95 pozitivních; bez poruchy je 9 900, z nich 10 %, tedy 990, falešně pozitivních. Pozitivních je 1 085 a poruchu má 95 z nich: 0,088.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poradně s desetiprocentním výskytem by z 10 000 osob bylo 950 správně a 900 falešně pozitivních, tedy 0,514 jako dříve. Obrázek ukazuje jen ty, jejichž výsledek vyšel pozitivně: </a:t>
            </a:r>
            <a:r>
              <a:rPr lang="cs-CZ" altLang="cs-CZ" sz="1200" b="0" i="1" noProof="0">
                <a:latin typeface="Arial"/>
              </a:rPr>
              <a:t>při plošném použití tvoří lidé s poruchou jen asi 9 ze 100 pozitivních výsledků.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Odtud důležitý závěr: </a:t>
            </a:r>
            <a:r>
              <a:rPr lang="cs-CZ" altLang="cs-CZ" sz="1200" b="1" i="0" noProof="0">
                <a:latin typeface="Arial"/>
              </a:rPr>
              <a:t>prediktivní hodnota pozitivního testu není vlastností testu</a:t>
            </a:r>
            <a:r>
              <a:rPr lang="cs-CZ" altLang="cs-CZ" sz="1200" b="0" i="0" noProof="0">
                <a:latin typeface="Arial"/>
              </a:rPr>
              <a:t>, závisí na tom, jak častý je stav ve skupině, kde test používáme. Lidé tuto závislost často přehlížejí a soustředí se jen na to, jak dobře výsledek „sedí“ na poruchu. Této chybě se říká </a:t>
            </a:r>
            <a:r>
              <a:rPr lang="cs-CZ" altLang="cs-CZ" sz="1200" b="1" i="0" noProof="0">
                <a:latin typeface="Arial"/>
              </a:rPr>
              <a:t>zanedbání základních četností</a:t>
            </a:r>
            <a:r>
              <a:rPr lang="cs-CZ" altLang="cs-CZ" sz="1200" b="0" i="0" noProof="0">
                <a:latin typeface="Arial"/>
              </a:rPr>
              <a:t> (base-rate neglect) a úzce souvisí se záměnou podmínky.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Tři související pojmy: </a:t>
            </a:r>
            <a:r>
              <a:rPr lang="cs-CZ" altLang="cs-CZ" sz="1200" b="1" i="0" noProof="0">
                <a:latin typeface="Arial"/>
              </a:rPr>
              <a:t>základní četnost</a:t>
            </a:r>
            <a:r>
              <a:rPr lang="cs-CZ" altLang="cs-CZ" sz="1200" b="0" i="0" noProof="0">
                <a:latin typeface="Arial"/>
              </a:rPr>
              <a:t> (base rate) je obecný podíl jevu ve zvolené skupině; </a:t>
            </a:r>
            <a:r>
              <a:rPr lang="cs-CZ" altLang="cs-CZ" sz="1200" b="1" i="0" noProof="0">
                <a:latin typeface="Arial"/>
              </a:rPr>
              <a:t>prevalence</a:t>
            </a:r>
            <a:r>
              <a:rPr lang="cs-CZ" altLang="cs-CZ" sz="1200" b="0" i="0" noProof="0">
                <a:latin typeface="Arial"/>
              </a:rPr>
              <a:t> je užší, týká se osob s určitým stavem ve vymezené populaci a čase; </a:t>
            </a:r>
            <a:r>
              <a:rPr lang="cs-CZ" altLang="cs-CZ" sz="1200" b="1" i="0" noProof="0">
                <a:latin typeface="Arial"/>
              </a:rPr>
              <a:t>apriorní pravděpodobnost</a:t>
            </a:r>
            <a:r>
              <a:rPr lang="cs-CZ" altLang="cs-CZ" sz="1200" b="0" i="0" noProof="0">
                <a:latin typeface="Arial"/>
              </a:rPr>
              <a:t> (prior probability) je pravděpodobnost před novou informací, zde 0,10. Po pozitivním výsledku je </a:t>
            </a:r>
            <a:r>
              <a:rPr lang="cs-CZ" altLang="cs-CZ" sz="1200" b="1" i="0" noProof="0">
                <a:latin typeface="Arial"/>
              </a:rPr>
              <a:t>aposteriorní pravděpodobnost</a:t>
            </a:r>
            <a:r>
              <a:rPr lang="cs-CZ" altLang="cs-CZ" sz="1200" b="0" i="0" noProof="0">
                <a:latin typeface="Arial"/>
              </a:rPr>
              <a:t> (posterior probability) 0,514, po negativním 5 / 815 ≈ 0,006.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„Před novou informací“ neznamená „bez podkladů“:</a:t>
            </a:r>
            <a:r>
              <a:rPr lang="cs-CZ" altLang="cs-CZ" sz="1200" b="0" i="0" noProof="0">
                <a:latin typeface="Arial"/>
              </a:rPr>
              <a:t> apriorní pravděpodobnost jsme stanovili podle prevalence. Aposteriorní pravděpodobnost se může stát apriorní pro další vyšetření, ale stejnou informaci nesmíme započítat dvakrát.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by plošný screening vzácné poruchy měl obvykle pokračovat druhým, přesnějším vyšetřením pozitivních? Protože většina pozitivních výsledků je falešně pozitivních; druhé vyšetření začíná od vyšší apriorní pravděpodobnosti.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https://reckak.github.io/statistics-for-psychology/quarto/kapitola_05.html#sec-dve-prevalence.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část přechází od otázky, zda jev nastane, k číslům: kolik odpovědí bylo správně. Zavede náhodnou proměnnou, rozdělení pravděpodobnosti a první konkrétní model, binomické rozdělení.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Statistika většinou pracuje s čísly: kolik odpovědí bylo správně, kolik bodů člověk získal. Potřebujeme proto výsledkům náhodného pokusu přiřadit čísla. </a:t>
            </a:r>
            <a:r>
              <a:rPr lang="cs-CZ" altLang="cs-CZ" sz="1200" b="1" i="0" noProof="0">
                <a:latin typeface="Arial"/>
              </a:rPr>
              <a:t>Náhodná proměnná</a:t>
            </a:r>
            <a:r>
              <a:rPr lang="cs-CZ" altLang="cs-CZ" sz="1200" b="0" i="0" noProof="0">
                <a:latin typeface="Arial"/>
              </a:rPr>
              <a:t> (random variable), v jiné literatuře náhodná veličina, je pravidlo, které každému výsledku přiřadí číslo. Značíme ji velkým písmenem, nejčastěji 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; konkrétní hodnotu malým, zde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. (V kapitole o četnostech znamenalo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 počet kategorií; zde je to počet správných tipů.)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Diagram čteme shora dolů na zmenšeném testu se dvěma otázkami, každou se čtyřmi možnostmi. Pokus má čtyři výsledky: NN, NS, SN a SS (S správně, N nesprávně). Tipy jsou nezávislé, takže pravděpodobnost výsledku je součin, například NN = 0,75 × 0,75 = 0,5625; součet všech čtyř je 1, protože výběrový prostor je jistý jev.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Pravidlo „spočítej správné odpovědi“ přiřadí NN hodnotu 0, NS i SN hodnotu 1 a SS hodnotu 2. </a:t>
            </a:r>
            <a:r>
              <a:rPr lang="cs-CZ" altLang="cs-CZ" sz="1200" b="0" i="1" noProof="0">
                <a:latin typeface="Arial"/>
              </a:rPr>
              <a:t>Dva různé výsledky dostaly stejné číslo, a proto je hodnota X = 1 jevem</a:t>
            </a:r>
            <a:r>
              <a:rPr lang="cs-CZ" altLang="cs-CZ" sz="1200" b="0" i="0" noProof="0">
                <a:latin typeface="Arial"/>
              </a:rPr>
              <a:t>: obsahuje NS a SN a má pravděpodobnost 0,1875 + 0,1875 = 0,375.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Rozdělení pravděpodobnosti</a:t>
            </a:r>
            <a:r>
              <a:rPr lang="cs-CZ" altLang="cs-CZ" sz="1200" b="0" i="0" noProof="0">
                <a:latin typeface="Arial"/>
              </a:rPr>
              <a:t> (probability distribution) dole v diagramu udává pravděpodobnost každé hodnoty: 0,5625, 0,375 a 0,0625. Součet je opět 1; </a:t>
            </a:r>
            <a:r>
              <a:rPr lang="cs-CZ" altLang="cs-CZ" sz="1200" b="0" i="1" noProof="0">
                <a:latin typeface="Arial"/>
              </a:rPr>
              <a:t>převodem výsledků na čísla se žádná pravděpodobnost neztratí ani nepřibude.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Náhodná proměnná navazuje na proměnnou z první kapitoly, ale není to sloupec dat. Sloupec obsahuje hodnoty, kterých už lidé nabyli; náhodná proměnná je pravidlo vymezené před pokusem. Nevyžaduje ani opakování: počet správných tipů jednoho studenta v jednom testu je náhodná proměnná.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Kolik výsledků by měl pokus se třemi otázkami a jakých hodnot by nabývala 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? Osm výsledků (2 × 2 × 2) a hodnoty 0, 1, 2, 3.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https://reckak.github.io/statistics-for-psychology/quarto/kapitola_05.html#sec-rozdeleni-pravdepodobnosti.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test s pěti otázkami a náhodným tipováním má počet správných tipů rozdělení v levém grafu: 0 správně s pravděpodobností 0,237, 1 s 0,396 a tak dále. Jak k číslům dojít, ukážeme za chvíli. </a:t>
            </a:r>
            <a:r>
              <a:rPr lang="cs-CZ" altLang="cs-CZ" sz="1200" b="0" i="1" noProof="0">
                <a:latin typeface="Arial"/>
              </a:rPr>
              <a:t>Tabulka rozdělení připomíná tabulku relativních četností, ale popisuje něco jiného: četnosti shrnují data, rozdělení je model toho, co lze očekávat.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Pravý graf ukazuje relativní četnosti u 40 simulovaných studentů, kteří se modelem řídili přesně. Grafy se podobají, ale neshodují: žádnou otázku neuhodlo 32,5 % studentů místo 23,7 % a čtyři ani pět neuhodl nikdo. </a:t>
            </a:r>
            <a:r>
              <a:rPr lang="cs-CZ" altLang="cs-CZ" sz="1200" b="0" i="1" noProof="0">
                <a:latin typeface="Arial"/>
              </a:rPr>
              <a:t>Rozdíly jsou náhodou ve výběru 40 lidí, ne chybou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Střední hodnota</a:t>
            </a:r>
            <a:r>
              <a:rPr lang="cs-CZ" altLang="cs-CZ" sz="1200" b="0" i="0" noProof="0">
                <a:latin typeface="Arial"/>
              </a:rPr>
              <a:t> (expected value), také očekávaná hodnota, je průměr, ke kterému by se blížil průměr při velmi mnoha opakováních. Je to parametr, značíme ji stojatým řeckým μ. Zde μ = 1,25; </a:t>
            </a:r>
            <a:r>
              <a:rPr lang="cs-CZ" altLang="cs-CZ" sz="1200" b="0" i="1" noProof="0">
                <a:latin typeface="Arial"/>
              </a:rPr>
              <a:t>nikdo nemůže uhodnout jednu a čtvrt otázky, střední hodnota nemusí být možnou hodnotou.</a:t>
            </a:r>
            <a:r>
              <a:rPr lang="cs-CZ" altLang="cs-CZ" sz="1200" b="0" i="0" noProof="0">
                <a:latin typeface="Arial"/>
              </a:rPr>
              <a:t> U simulovaných studentů je průměr </a:t>
            </a:r>
            <a:r>
              <a:rPr lang="cs-CZ" altLang="cs-CZ" sz="1200" b="0" i="1" noProof="0">
                <a:latin typeface="Arial"/>
              </a:rPr>
              <a:t>m</a:t>
            </a:r>
            <a:r>
              <a:rPr lang="cs-CZ" altLang="cs-CZ" sz="1200" b="0" i="0" noProof="0">
                <a:latin typeface="Arial"/>
              </a:rPr>
              <a:t> = 41 / 40 = 1,025. Rozdělení má také směrodatnou odchylku σ, zde přibližně 0,97.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Počet správných tipů je </a:t>
            </a:r>
            <a:r>
              <a:rPr lang="cs-CZ" altLang="cs-CZ" sz="1200" b="1" i="0" noProof="0">
                <a:latin typeface="Arial"/>
              </a:rPr>
              <a:t>diskrétní</a:t>
            </a:r>
            <a:r>
              <a:rPr lang="cs-CZ" altLang="cs-CZ" sz="1200" b="0" i="0" noProof="0">
                <a:latin typeface="Arial"/>
              </a:rPr>
              <a:t> proměnná: hodnoty lze vyjmenovat a každé přiřadit pravděpodobnost. U spojité proměnné, například reakčního času, má každá přesná hodnota nulovou pravděpodobnost a rozdělení popisujeme hustotou; </a:t>
            </a:r>
            <a:r>
              <a:rPr lang="cs-CZ" altLang="cs-CZ" sz="1200" b="0" i="1" noProof="0">
                <a:latin typeface="Arial"/>
              </a:rPr>
              <a:t>výška sloupce je pravděpodobnost, výška křivky hustoty ne.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Kdyby test vyplnilo 4 000 tipujících studentů místo 40, jak by vypadal pravý graf? Relativní četnosti by se k pravděpodobnostem zpravidla přiblížily víc, i když přesně by se neshodovaly.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https://reckak.github.io/statistics-for-psychology/quarto/kapitola_05.html#sec-stredni-hodnota.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Mnoho psychologických situací má stejnou stavbu: několikrát opakujeme pokus se dvěma možnými výsledky a počítáme, kolikrát nastal jeden z nich. Kolik otázek student uhodl, v kolika pokusech účastník rozpoznal podnět, kolik oslovených souhlasilo s účastí. Pro počet takových „zásahů“ slouží </a:t>
            </a:r>
            <a:r>
              <a:rPr lang="cs-CZ" altLang="cs-CZ" sz="1200" b="1" i="0" noProof="0">
                <a:latin typeface="Arial"/>
              </a:rPr>
              <a:t>binomické rozdělení</a:t>
            </a:r>
            <a:r>
              <a:rPr lang="cs-CZ" altLang="cs-CZ" sz="1200" b="0" i="0" noProof="0">
                <a:latin typeface="Arial"/>
              </a:rPr>
              <a:t> (binomial distribution).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Model lze použít za čtyř podmínek. Počet opakování, </a:t>
            </a:r>
            <a:r>
              <a:rPr lang="cs-CZ" altLang="cs-CZ" sz="1200" b="1" i="0" noProof="0">
                <a:latin typeface="Arial"/>
              </a:rPr>
              <a:t>pokusů</a:t>
            </a:r>
            <a:r>
              <a:rPr lang="cs-CZ" altLang="cs-CZ" sz="1200" b="0" i="0" noProof="0">
                <a:latin typeface="Arial"/>
              </a:rPr>
              <a:t> (trials), je předem daný a značí se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. Každý pokus má dva výsledky, </a:t>
            </a:r>
            <a:r>
              <a:rPr lang="cs-CZ" altLang="cs-CZ" sz="1200" b="1" i="0" noProof="0">
                <a:latin typeface="Arial"/>
              </a:rPr>
              <a:t>úspěch</a:t>
            </a:r>
            <a:r>
              <a:rPr lang="cs-CZ" altLang="cs-CZ" sz="1200" b="0" i="0" noProof="0">
                <a:latin typeface="Arial"/>
              </a:rPr>
              <a:t> (success) a </a:t>
            </a:r>
            <a:r>
              <a:rPr lang="cs-CZ" altLang="cs-CZ" sz="1200" b="1" i="0" noProof="0">
                <a:latin typeface="Arial"/>
              </a:rPr>
              <a:t>neúspěch</a:t>
            </a:r>
            <a:r>
              <a:rPr lang="cs-CZ" altLang="cs-CZ" sz="1200" b="0" i="0" noProof="0">
                <a:latin typeface="Arial"/>
              </a:rPr>
              <a:t> (failure). Pravděpodobnost úspěchu je ve všech pokusech stejná a značí se stojatým řeckým </a:t>
            </a:r>
            <a:r>
              <a:rPr lang="cs-CZ" altLang="cs-CZ" sz="1200" b="1" i="0" noProof="0">
                <a:latin typeface="Arial"/>
              </a:rPr>
              <a:t>π</a:t>
            </a:r>
            <a:r>
              <a:rPr lang="cs-CZ" altLang="cs-CZ" sz="1200" b="0" i="0" noProof="0">
                <a:latin typeface="Arial"/>
              </a:rPr>
              <a:t>. Pokusy jsou nezávislé.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Úspěch je technické označení výsledku, který počítáme</a:t>
            </a:r>
            <a:r>
              <a:rPr lang="cs-CZ" altLang="cs-CZ" sz="1200" b="0" i="0" noProof="0">
                <a:latin typeface="Arial"/>
              </a:rPr>
              <a:t>, i kdyby šlo o chybu nebo falešně pozitivní výsledek. Písmeno π zde neoznačuje 3,14, ale parametr modelu; Excel a mnoho učebnic používá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, my máme malé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 pro relativní četnost.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Test s pěti otázkami a čistým tipováním podmínky splňuje: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5, π = 0,25. Podmínky se ale snadno poruší: student část látky umí (π není u všech otázek stejné), účastník se zlepšuje nebo unavuje (π se mění), pozdější otázka staví na předchozí (pokusy nejsou nezávislé), nebo vybíráme z malé skupiny bez vracení.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Terapeut počítá, kolik ze 7 dnů v týdnu měl klient záchvat paniky. Je binomický model vhodný? Spíše ne: pravděpodobnost se může den ode dne měnit a dny po sobě jdoucí nejsou nezávislé, například po špatném dni přichází další.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https://reckak.github.io/statistics-for-psychology/quarto/kapitola_05.html#sec-binomicke-predpoklady.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 odvození binomických pravděpodobností potřebujeme spočítat, kolika způsoby může výsledek nastat. Kolika způsoby může student uhodnout právě dvě otázky z pěti? Na pořadí ve dvojici nezáleží, „první a třetí“ je totéž jako „třetí a první“.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Výběr, v němž nezáleží na pořadí, je </a:t>
            </a:r>
            <a:r>
              <a:rPr lang="cs-CZ" altLang="cs-CZ" sz="1200" b="1" i="0" noProof="0">
                <a:latin typeface="Arial"/>
              </a:rPr>
              <a:t>kombinace</a:t>
            </a:r>
            <a:r>
              <a:rPr lang="cs-CZ" altLang="cs-CZ" sz="1200" b="0" i="0" noProof="0">
                <a:latin typeface="Arial"/>
              </a:rPr>
              <a:t> (combination); jejich počet udává </a:t>
            </a:r>
            <a:r>
              <a:rPr lang="cs-CZ" altLang="cs-CZ" sz="1200" b="1" i="0" noProof="0">
                <a:latin typeface="Arial"/>
              </a:rPr>
              <a:t>kombinační číslo</a:t>
            </a:r>
            <a:r>
              <a:rPr lang="cs-CZ" altLang="cs-CZ" sz="1200" b="0" i="0" noProof="0">
                <a:latin typeface="Arial"/>
              </a:rPr>
              <a:t> (binomial coefficient), čteme „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nad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“. Obrázek ukazuje všech deset dvojic. Úvahou: první správnou otázku vybereme pěti způsoby, druhou čtyřmi, 5 × 4 = 20; každou dvojici jsme ale počítali dvakrát, proto 20 / 2 = 10.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Faktoriál</a:t>
            </a:r>
            <a:r>
              <a:rPr lang="cs-CZ" altLang="cs-CZ" sz="1200" b="0" i="0" noProof="0">
                <a:latin typeface="Arial"/>
              </a:rPr>
              <a:t> (factorial)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! je součin čísel od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dolů k jedné a udává, kolika způsoby lze seřadit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různých věcí; tři úlohy lze seřadit 3! = 6 způsoby. Pro úplnost 0! = 1. Ve vzorci kombinačního čísla je v čitateli počet všech pořadí a jmenovatel odstraní pořadí uvnitř vybrané skupiny i uvnitř zbytku: 5! / (2! × 3!) = 120 / 12 = 10.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Zápis v závorce není zlomek.</a:t>
            </a:r>
            <a:r>
              <a:rPr lang="cs-CZ" altLang="cs-CZ" sz="1200" b="0" i="0" noProof="0">
                <a:latin typeface="Arial"/>
              </a:rPr>
              <a:t> Krajní hodnoty: žádnou i všech pět otázek lze vybrat jedním způsobem. Vybrat dvě správné je totéž jako vybrat tři nesprávné, proto 5 nad 2 = 5 nad 3 = 10. V Excelu: FAKTORIÁL (FACT) a KOMBINACE (COMBIN).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Kolika způsoby lze z šesti zájemců vybrat tři účastníky pilotní studie? 6 nad 3 = 720 / (6 × 6) = 20.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https://reckak.github.io/statistics-for-psychology/quarto/kapitola_05.html#sec-kombinace.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Spočítáme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= 2) pro pět otázek a π = 0,25 ve třech krocích. </a:t>
            </a:r>
            <a:r>
              <a:rPr lang="cs-CZ" altLang="cs-CZ" sz="1200" b="1" i="0" noProof="0">
                <a:latin typeface="Arial"/>
              </a:rPr>
              <a:t>Krok 1:</a:t>
            </a:r>
            <a:r>
              <a:rPr lang="cs-CZ" altLang="cs-CZ" sz="1200" b="0" i="0" noProof="0">
                <a:latin typeface="Arial"/>
              </a:rPr>
              <a:t> jedna posloupnost, třeba S, S, N, N, N. Tipy jsou nezávislé, takže násobíme: 0,25 × 0,25 × 0,75 × 0,75 × 0,75 = 0,25² × 0,75³ ≈ 0,0264.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Krok 2:</a:t>
            </a:r>
            <a:r>
              <a:rPr lang="cs-CZ" altLang="cs-CZ" sz="1200" b="0" i="0" noProof="0">
                <a:latin typeface="Arial"/>
              </a:rPr>
              <a:t> každá jiná posloupnost se dvěma úspěchy, například N, S, N, N, S, obsahuje stejná čísla v jiném pořadí, a má tedy stejnou pravděpodobnost. </a:t>
            </a:r>
            <a:r>
              <a:rPr lang="cs-CZ" altLang="cs-CZ" sz="1200" b="1" i="0" noProof="0">
                <a:latin typeface="Arial"/>
              </a:rPr>
              <a:t>Krok 3:</a:t>
            </a:r>
            <a:r>
              <a:rPr lang="cs-CZ" altLang="cs-CZ" sz="1200" b="0" i="0" noProof="0">
                <a:latin typeface="Arial"/>
              </a:rPr>
              <a:t> takových posloupností je 5 nad 2 = 10. Vylučují se, takže je sečteme, a protože jsou stejné, stačí násobit: 10 × 0,0264 ≈ 0,264.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Obecně: </a:t>
            </a:r>
            <a:r>
              <a:rPr lang="cs-CZ" altLang="cs-CZ" sz="1200" b="0" i="1" noProof="0">
                <a:latin typeface="Arial"/>
              </a:rPr>
              <a:t>kombinační číslo říká, kolika způsoby může k úspěchů nastat; zbytek vzorce je pravděpodobnost kteréhokoli z nich.</a:t>
            </a:r>
            <a:r>
              <a:rPr lang="cs-CZ" altLang="cs-CZ" sz="1200" b="0" i="0" noProof="0">
                <a:latin typeface="Arial"/>
              </a:rPr>
              <a:t> Exponenty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 a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−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 dávají dohromady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, protože každý pokus je úspěch, nebo neúspěch.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Tabulka ukazuje celé rozdělení pro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5. Možných pětic úspěchů a neúspěchů je 2⁵ = 32, </a:t>
            </a:r>
            <a:r>
              <a:rPr lang="cs-CZ" altLang="cs-CZ" sz="1200" b="0" i="1" noProof="0">
                <a:latin typeface="Arial"/>
              </a:rPr>
              <a:t>ale nejsou stejně pravděpodobné</a:t>
            </a:r>
            <a:r>
              <a:rPr lang="cs-CZ" altLang="cs-CZ" sz="1200" b="0" i="0" noProof="0">
                <a:latin typeface="Arial"/>
              </a:rPr>
              <a:t>, proto pravděpodobnost nelze počítat jako podíl počtů. Pravděpodobnosti dávají dohromady 1 (zaokrouhlené 1,001). Alespoň tři správné: 0,088 + 0,015 + 0,001 = 0,104, tedy asi jeden tipující z deseti.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má hodnota 1 vyšší pravděpodobnost než 0, když jedna konkrétní posloupnost s jedním úspěchem (0,0791) je méně pravděpodobná než posloupnost bez úspěchu (0,2373)? Posloupností s jedním úspěchem je pět, bez úspěchu jen jedna: 5 × 0,0791 = 0,396.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https://reckak.github.io/statistics-for-psychology/quarto/kapitola_05.html#sec-binomicky-vzorec.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Střední hodnotu a směrodatnou odchylku binomického rozdělení spočítáme přímo z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a π. </a:t>
            </a:r>
            <a:r>
              <a:rPr lang="cs-CZ" altLang="cs-CZ" sz="1200" b="0" i="1" noProof="0">
                <a:latin typeface="Arial"/>
              </a:rPr>
              <a:t>První vztah odpovídá intuici:</a:t>
            </a:r>
            <a:r>
              <a:rPr lang="cs-CZ" altLang="cs-CZ" sz="1200" b="0" i="0" noProof="0">
                <a:latin typeface="Arial"/>
              </a:rPr>
              <a:t> má-li každý z pěti tipů pravděpodobnost úspěchu čtvrtinu, čekáme v průměru čtvrtinu z pěti, 1,25 správného tipu. Směrodatná odchylka je odmocnina z 5 × 0,25 × 0,75 = 0,9375, tedy přibližně 0,97.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Součin π × (1 − π) je největší při π = 0,5, kdy je jeden pokus nejméně předvídatelný, a nulový při π = 0 nebo 1, kdy všechny pokusy dopadnou stejně.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Obrázek má u všech grafů stejné měřítko svislé osy. Při π = 0,5 je rozdělení souměrné. Při nízkém π je zešikmené doprava, protože počet úspěchů nemůže klesnout pod nulu, ale nahoru má prostor; při vysokém π doleva. </a:t>
            </a:r>
            <a:r>
              <a:rPr lang="cs-CZ" altLang="cs-CZ" sz="1200" b="0" i="1" noProof="0">
                <a:latin typeface="Arial"/>
              </a:rPr>
              <a:t>Srovnání grafů s π = 0,25 ukazuje, že s více pokusy se rozdělení rozšiřuje a blíží souměrnému zvonu.</a:t>
            </a:r>
            <a:r>
              <a:rPr lang="cs-CZ" altLang="cs-CZ" sz="1200" b="0" i="0" noProof="0">
                <a:latin typeface="Arial"/>
              </a:rPr>
              <a:t> To využijeme v poslední části.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Jaká je střední hodnota a směrodatná odchylka počtu správných tipů v testu s 20 otázkami a čtyřmi možnostmi? μ = 5, σ = odmocnina z 3,75 ≈ 1,94.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https://reckak.github.io/statistics-for-psychology/quarto/kapitola_05.html#sec-binomicke-tvar.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Skutečné testy mají víc otázek. Pro 20 otázek se čtyřmi možnostmi a tipování je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20, π = 0,25. Tři nejčastější otázky ukazuje obrázek. </a:t>
            </a:r>
            <a:r>
              <a:rPr lang="cs-CZ" altLang="cs-CZ" sz="1200" b="1" i="0" noProof="0">
                <a:latin typeface="Arial"/>
              </a:rPr>
              <a:t>Právě</a:t>
            </a:r>
            <a:r>
              <a:rPr lang="cs-CZ" altLang="cs-CZ" sz="1200" b="0" i="0" noProof="0">
                <a:latin typeface="Arial"/>
              </a:rPr>
              <a:t> 5 správně je jediný sloupec, 0,202. </a:t>
            </a:r>
            <a:r>
              <a:rPr lang="cs-CZ" altLang="cs-CZ" sz="1200" b="1" i="0" noProof="0">
                <a:latin typeface="Arial"/>
              </a:rPr>
              <a:t>Nejvýše</a:t>
            </a:r>
            <a:r>
              <a:rPr lang="cs-CZ" altLang="cs-CZ" sz="1200" b="0" i="0" noProof="0">
                <a:latin typeface="Arial"/>
              </a:rPr>
              <a:t> 5 jsou sloupce 0 až 5, 0,617. </a:t>
            </a:r>
            <a:r>
              <a:rPr lang="cs-CZ" altLang="cs-CZ" sz="1200" b="1" i="0" noProof="0">
                <a:latin typeface="Arial"/>
              </a:rPr>
              <a:t>Alespoň</a:t>
            </a:r>
            <a:r>
              <a:rPr lang="cs-CZ" altLang="cs-CZ" sz="1200" b="0" i="0" noProof="0">
                <a:latin typeface="Arial"/>
              </a:rPr>
              <a:t> 10 jsou sloupce 10 až 20, 0,014.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U diskrétního rozdělení záleží na tom, zda krajní hodnotu zahrnujeme.</a:t>
            </a:r>
            <a:r>
              <a:rPr lang="cs-CZ" altLang="cs-CZ" sz="1200" b="0" i="0" noProof="0">
                <a:latin typeface="Arial"/>
              </a:rPr>
              <a:t> Opačným jevem k „alespoň 10“ je „nejvýše 9“, nikoli „nejvýše 10“, proto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≥ 10) = 1 −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≤ 9). V normálním modelu jsme mezi „méně než“ a „nejvýše“ rozlišovat nemuseli, zde má každá hodnota kladnou pravděpodobnost.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 Excelu počítá binomické pravděpodobnosti </a:t>
            </a:r>
            <a:r>
              <a:rPr lang="cs-CZ" altLang="cs-CZ" sz="1200" b="1" i="0" noProof="0">
                <a:latin typeface="Arial"/>
              </a:rPr>
              <a:t>BINOM.DIST</a:t>
            </a:r>
            <a:r>
              <a:rPr lang="cs-CZ" altLang="cs-CZ" sz="1200" b="0" i="0" noProof="0">
                <a:latin typeface="Arial"/>
              </a:rPr>
              <a:t> se čtyřmi argumenty: počet úspěchů, počet pokusů, pravděpodobnost úspěchu a logická hodnota. NEPRAVDA vrátí pravděpodobnost právě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 úspěchů, PRAVDA kumulativní pravděpodobnost nejvýše </a:t>
            </a:r>
            <a:r>
              <a:rPr lang="cs-CZ" altLang="cs-CZ" sz="1200" b="0" i="1" noProof="0">
                <a:latin typeface="Arial"/>
              </a:rPr>
              <a:t>k</a:t>
            </a:r>
            <a:r>
              <a:rPr lang="cs-CZ" altLang="cs-CZ" sz="1200" b="0" i="0" noProof="0">
                <a:latin typeface="Arial"/>
              </a:rPr>
              <a:t>. Alespoň 10: =1-BINOM.DIST(9;20;0,25;PRAVDA). Totéž vrátí BINOM.DIST.RANGE(20;0,25;10;20).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Co výsledek říká:</a:t>
            </a:r>
            <a:r>
              <a:rPr lang="cs-CZ" altLang="cs-CZ" sz="1200" b="0" i="0" noProof="0">
                <a:latin typeface="Arial"/>
              </a:rPr>
              <a:t> kdyby student jen tipoval, dosáhl by 10 a více bodů asi v jednom případě ze sedmdesáti. To je důvod pochybovat, že jen tipoval. </a:t>
            </a:r>
            <a:r>
              <a:rPr lang="cs-CZ" altLang="cs-CZ" sz="1200" b="0" i="1" noProof="0">
                <a:latin typeface="Arial"/>
              </a:rPr>
              <a:t>Výpočet ale nedokazuje, že látku umí</a:t>
            </a:r>
            <a:r>
              <a:rPr lang="cs-CZ" altLang="cs-CZ" sz="1200" b="0" i="0" noProof="0">
                <a:latin typeface="Arial"/>
              </a:rPr>
              <a:t> (z 500 tipujících by takový výsledek mělo v průměru asi sedm), </a:t>
            </a:r>
            <a:r>
              <a:rPr lang="cs-CZ" altLang="cs-CZ" sz="1200" b="0" i="1" noProof="0">
                <a:latin typeface="Arial"/>
              </a:rPr>
              <a:t>neříká, s jakou pravděpodobností tipoval</a:t>
            </a:r>
            <a:r>
              <a:rPr lang="cs-CZ" altLang="cs-CZ" sz="1200" b="0" i="0" noProof="0">
                <a:latin typeface="Arial"/>
              </a:rPr>
              <a:t> (to je obrácená podmínka), </a:t>
            </a:r>
            <a:r>
              <a:rPr lang="cs-CZ" altLang="cs-CZ" sz="1200" b="0" i="1" noProof="0">
                <a:latin typeface="Arial"/>
              </a:rPr>
              <a:t>a platí jen za předpokladů modelu</a:t>
            </a:r>
            <a:r>
              <a:rPr lang="cs-CZ" altLang="cs-CZ" sz="1200" b="0" i="0" noProof="0">
                <a:latin typeface="Arial"/>
              </a:rPr>
              <a:t>. Jak z toho udělat rozhodovací pravidlo, je tématem testování hypotéz v další kapitole.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se k posouzení výkonu hodí „alespoň 10“, a ne „právě 10“? Pravděpodobnost jedné přesné hodnoty je při mnoha pokusech malá u všech hodnot, i u nejobvyklejších; zajímá nás, jak vzácný je </a:t>
            </a:r>
            <a:r>
              <a:rPr lang="cs-CZ" altLang="cs-CZ" sz="1200" b="0" i="1" noProof="0">
                <a:latin typeface="Arial"/>
              </a:rPr>
              <a:t>alespoň tak dobrý</a:t>
            </a:r>
            <a:r>
              <a:rPr lang="cs-CZ" altLang="cs-CZ" sz="1200" b="0" i="0" noProof="0">
                <a:latin typeface="Arial"/>
              </a:rPr>
              <a:t> výsledek.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https://reckak.github.io/statistics-for-psychology/quarto/kapitola_05.html#sec-binom-kumulace.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Poslední výkladová část ukazuje, kdy lze binomické rozdělení nahradit normálním modelem z minulé kapitoly a jak se změní popis, když počet úspěchů převedeme na podíl.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 větším počtu pokusů připomíná binomické rozdělení normální křivku. Můžeme proto místo sčítání mnoha binomických pravděpodobností použít </a:t>
            </a:r>
            <a:r>
              <a:rPr lang="cs-CZ" altLang="cs-CZ" sz="1200" b="1" i="0" noProof="0">
                <a:latin typeface="Arial"/>
              </a:rPr>
              <a:t>normální model</a:t>
            </a:r>
            <a:r>
              <a:rPr lang="cs-CZ" altLang="cs-CZ" sz="1200" b="0" i="0" noProof="0">
                <a:latin typeface="Arial"/>
              </a:rPr>
              <a:t> se stejnou střední hodnotou a směrodatnou odchylkou a pravděpodobnost určit jako plochu pod křivkou. Postup se nazývá </a:t>
            </a:r>
            <a:r>
              <a:rPr lang="cs-CZ" altLang="cs-CZ" sz="1200" b="1" i="0" noProof="0">
                <a:latin typeface="Arial"/>
              </a:rPr>
              <a:t>normální aproximace binomického rozdělení</a:t>
            </a:r>
            <a:r>
              <a:rPr lang="cs-CZ" altLang="cs-CZ" sz="1200" b="0" i="0" noProof="0">
                <a:latin typeface="Arial"/>
              </a:rPr>
              <a:t> (normal approximation to the binomial distribution); aproximace znamená přiblížení.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Přiblížení funguje, když je rozdělení přibližně souměrné a má na obou stranách od střední hodnoty dost prostoru. </a:t>
            </a:r>
            <a:r>
              <a:rPr lang="cs-CZ" altLang="cs-CZ" sz="1200" b="0" i="1" noProof="0">
                <a:latin typeface="Arial"/>
              </a:rPr>
              <a:t>Orientační pravidlo: očekáváme alespoň deset úspěchů i alespoň deset neúspěchů.</a:t>
            </a:r>
            <a:r>
              <a:rPr lang="cs-CZ" altLang="cs-CZ" sz="1200" b="0" i="0" noProof="0">
                <a:latin typeface="Arial"/>
              </a:rPr>
              <a:t> Není to přesná hranice; některé učebnice uvádějí mírnější pět. Čím blíže je π k 0 nebo 1, tím více pokusů je potřeba.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Příklad.</a:t>
            </a:r>
            <a:r>
              <a:rPr lang="cs-CZ" altLang="cs-CZ" sz="1200" b="0" i="0" noProof="0">
                <a:latin typeface="Arial"/>
              </a:rPr>
              <a:t> V rozpoznávací úloze má účastník 200 nezávislých pokusů a v každém odpoví správně s pravděpodobností 0,6. Jaká je pravděpodobnost 135 a více správných? Podmínka: očekáváme 120 úspěchů a 80 neúspěchů, obojí přes 10. Parametry: μ = 120, σ = odmocnina ze 48 ≈ 6,928. Z-skór hranice je (135 − 120) / 6,928 ≈ 2,165, tedy více než dvě směrodatné odchylky nad střední hodnotou.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Plochu nad hranicí vrátí =1-NORM.S.DIST(2,165;PRAVDA) ≈ 0,015. </a:t>
            </a:r>
            <a:r>
              <a:rPr lang="cs-CZ" altLang="cs-CZ" sz="1200" b="0" i="1" noProof="0">
                <a:latin typeface="Arial"/>
              </a:rPr>
              <a:t>Podle aproximace dosáhne účastník 135 a více správných odpovědí asi v 1,5 % případů.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Lze normální aproximaci použít pro 30 pokusů s π = 0,1? Ne podle orientačního pravidla: očekáváme jen 3 úspěchy.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https://reckak.github.io/statistics-for-psychology/quarto/kapitola_05.html#sec-aproximace-postup.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Excel umí spočítat i přesnou binomickou hodnotu: 0,0173. Aproximace 0,0152 je o dvě tisíciny nižší, tedy </a:t>
            </a:r>
            <a:r>
              <a:rPr lang="cs-CZ" altLang="cs-CZ" sz="1200" b="0" i="1" noProof="0">
                <a:latin typeface="Arial"/>
              </a:rPr>
              <a:t>asi o 12 % této nízké pravděpodobnosti</a:t>
            </a:r>
            <a:r>
              <a:rPr lang="cs-CZ" altLang="cs-CZ" sz="1200" b="0" i="0" noProof="0">
                <a:latin typeface="Arial"/>
              </a:rPr>
              <a:t>. Malý rozdíl na škále 0 až 1 může znamenat znatelnou odchylku u vzácného výsledku.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Část rozdílu má jednoduchou příčinu: počet úspěchů je celé číslo, normální model je spojitý. Sloupec pro 135 zabírá na ose úsek od 134,5 do 135,5, podobně jako zaokrouhlený skór v minulé kapitole. Počítáme-li plochu až od 135, polovinu sloupce vynecháme. Od 134,5 vychází z ≈ 2,093 a pravděpodobnost 0,0182, bližší přesné hodnotě.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Když podmínka splněna není, aproximace se může mýlit výrazně. Pro 20 otázek s π = 0,25 očekáváme jen 5 úspěchů; přesná pravděpodobnost alespoň 10 je 0,0139, aproximace 0,0049, </a:t>
            </a:r>
            <a:r>
              <a:rPr lang="cs-CZ" altLang="cs-CZ" sz="1200" b="0" i="1" noProof="0">
                <a:latin typeface="Arial"/>
              </a:rPr>
              <a:t>téměř třikrát méně</a:t>
            </a:r>
            <a:r>
              <a:rPr lang="cs-CZ" altLang="cs-CZ" sz="1200" b="0" i="0" noProof="0">
                <a:latin typeface="Arial"/>
              </a:rPr>
              <a:t>. Rozdělení je zešikmené a má delší pravý chvost. Levý graf ukazuje krajní případ s jediným očekávaným úspěchem: křivka přisuzuje plochu záporným počtům, které nastat nemohou. V pravém grafu křivka vrcholy sloupců vystihuje dobře.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K výpočtu dnes aproximaci nepotřebujeme, přesnou hodnotu vrátí Excel. Ukazuje však, že počet úspěchů v mnoha nezávislých pokusech má přibližně normální rozdělení, i když jednotlivý pokus má jen dva výsledky.</a:t>
            </a:r>
            <a:r>
              <a:rPr lang="cs-CZ" altLang="cs-CZ" sz="1200" b="0" i="0" noProof="0">
                <a:latin typeface="Arial"/>
              </a:rPr>
              <a:t> Na této vlastnosti stojí velká část inferenční statistiky.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Proč aproximace v levém grafu podceňuje pravděpodobnost vysokých počtů úspěchů? Souměrná křivka nemá dlouhý pravý chvost, který zešikmené binomické rozdělení má.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https://reckak.github.io/statistics-for-psychology/quarto/kapitola_05.html#sec-aproximace-presnost.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Výsledek často uvádíme jako podíl: 135 správných ze 200 je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 = 0,675. </a:t>
            </a:r>
            <a:r>
              <a:rPr lang="cs-CZ" altLang="cs-CZ" sz="1200" b="0" i="1" noProof="0">
                <a:latin typeface="Arial"/>
              </a:rPr>
              <a:t>Malé p je relativní četnost úspěchů v provedených pokusech, π pravděpodobnost úspěchu v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Převod počtu na podíl je dělení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, tedy </a:t>
            </a:r>
            <a:r>
              <a:rPr lang="cs-CZ" altLang="cs-CZ" sz="1200" b="1" i="0" noProof="0">
                <a:latin typeface="Arial"/>
              </a:rPr>
              <a:t>změna jednotky</a:t>
            </a:r>
            <a:r>
              <a:rPr lang="cs-CZ" altLang="cs-CZ" sz="1200" b="0" i="0" noProof="0">
                <a:latin typeface="Arial"/>
              </a:rPr>
              <a:t> z kapitoly 3. Střední hodnota i směrodatná odchylka se dělí stejným číslem: střední hodnota podílu je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× π /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π a směrodatná odchylka podílu je odmocnina z π × (1 − π) /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Pro náš příklad je směrodatná odchylka podílu odmocnina z 0,6 × 0,4 / 200 ≈ 0,0346 a z-skór podílu (0,675 − 0,6) / 0,0346 ≈ 2,165, </a:t>
            </a:r>
            <a:r>
              <a:rPr lang="cs-CZ" altLang="cs-CZ" sz="1200" b="0" i="1" noProof="0">
                <a:latin typeface="Arial"/>
              </a:rPr>
              <a:t>stejný jako u počtu: změna jednotky polohu výsledku nemění.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Vzorec říká něco důležitého: </a:t>
            </a:r>
            <a:r>
              <a:rPr lang="cs-CZ" altLang="cs-CZ" sz="1200" b="1" i="0" noProof="0">
                <a:latin typeface="Arial"/>
              </a:rPr>
              <a:t>čím více pokusů, tím méně podíl kolísá kolem π</a:t>
            </a:r>
            <a:r>
              <a:rPr lang="cs-CZ" altLang="cs-CZ" sz="1200" b="0" i="0" noProof="0">
                <a:latin typeface="Arial"/>
              </a:rPr>
              <a:t>. Při π = 0,6 je směrodatná odchylka podílu 0,069 pro 50 pokusů, 0,035 pro 200 a 0,017 pro 800. </a:t>
            </a:r>
            <a:r>
              <a:rPr lang="cs-CZ" altLang="cs-CZ" sz="1200" b="0" i="1" noProof="0">
                <a:latin typeface="Arial"/>
              </a:rPr>
              <a:t>Čtyřnásobek pokusů ji zmenší na polovinu</a:t>
            </a:r>
            <a:r>
              <a:rPr lang="cs-CZ" altLang="cs-CZ" sz="1200" b="0" i="0" noProof="0">
                <a:latin typeface="Arial"/>
              </a:rPr>
              <a:t>, protože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je pod odmocninou. Je to přesnější vyjádření toho, co ukazovaly simulované řady na začátku, a popis výběrové variability podílu, na kterém staví inferenční statistika.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Otázka k zamyšlení:</a:t>
            </a:r>
            <a:r>
              <a:rPr lang="cs-CZ" altLang="cs-CZ" sz="1200" b="0" i="0" noProof="0">
                <a:latin typeface="Arial"/>
              </a:rPr>
              <a:t> Kolik pokusů je třeba, aby směrodatná odchylka podílu při π = 0,6 klesla z 0,035 (200 pokusů) na zhruba 0,0175? Čtyřikrát víc, tedy 800.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1 min.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Podklad: kapitola 5, Pravděpodobnost, příslušný oddíl: https://reckak.github.io/statistics-for-psychology/quarto/kapitola_05.html#sec-od-poctu-k-podilu. Příklady jsou modelové výukové údaje, simulace, nebo je u nich uveden zdroj.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Závěrečná část slouží k procvičení. Nejprve úlohy, které řešíme úvahou nebo s kalkulačkou; řešení jsou v poznámkách k jednotlivým slidům. Poté následuje práce v doprovodném excelovém sešitu.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První úloha opakuje tři pojetí a hráčský klam.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</a:t>
            </a:r>
            <a:r>
              <a:rPr lang="cs-CZ" altLang="cs-CZ" sz="1200" b="0" i="0" noProof="0">
                <a:latin typeface="Arial"/>
              </a:rPr>
              <a:t> Možné odpovědi: klasické pojetí: „Z 30 jmen v osudí vylosujeme jedno, pravděpodobnost vylosování konkrétního člověka je 1/30.“ Četnostní: „Ze všech uchazečů v posledních letech složilo přijímací test napoprvé 62 %; pravděpodobnost úspěchu dalšího uchazeče odhaduji na 0,62.“ Subjektivní: „Podle toho, co o klientovi vím, si myslím, že se na příští sezení dostaví s pravděpodobností 0,9.“ </a:t>
            </a:r>
            <a:r>
              <a:rPr lang="cs-CZ" altLang="cs-CZ" sz="1200" b="0" i="1" noProof="0">
                <a:latin typeface="Arial"/>
              </a:rPr>
              <a:t>Přijatelné jsou příklady, v nichž je zřejmé, z čeho číslo vychází</a:t>
            </a:r>
            <a:r>
              <a:rPr lang="cs-CZ" altLang="cs-CZ" sz="1200" b="0" i="0" noProof="0">
                <a:latin typeface="Arial"/>
              </a:rPr>
              <a:t>: z výčtu stejně pravděpodobných možností, z relativní četnosti v mnoha obdobných případech, nebo z přesvědčení konkrétního člověka.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</a:t>
            </a:r>
            <a:r>
              <a:rPr lang="cs-CZ" altLang="cs-CZ" sz="1200" b="0" i="0" noProof="0">
                <a:latin typeface="Arial"/>
              </a:rPr>
              <a:t> Jde o </a:t>
            </a:r>
            <a:r>
              <a:rPr lang="cs-CZ" altLang="cs-CZ" sz="1200" b="1" i="0" noProof="0">
                <a:latin typeface="Arial"/>
              </a:rPr>
              <a:t>hráčský klam</a:t>
            </a:r>
            <a:r>
              <a:rPr lang="cs-CZ" altLang="cs-CZ" sz="1200" b="0" i="0" noProof="0">
                <a:latin typeface="Arial"/>
              </a:rPr>
              <a:t>. Pohlaví dalšího dítěte nezávisí na pohlaví předchozích dětí; pravděpodobnost syna je i po osmi dcerách přibližně 0,5 (ve skutečnosti se rodí chlapců o něco víc). Žádný „zákon průměrů“ nevyrovnává dřívější výsledky: </a:t>
            </a:r>
            <a:r>
              <a:rPr lang="cs-CZ" altLang="cs-CZ" sz="1200" b="0" i="1" noProof="0">
                <a:latin typeface="Arial"/>
              </a:rPr>
              <a:t>v dlouhé řadě se relativní četnost k pravděpodobnosti blíží proto, že počáteční odchylka ztratí váhu, ne proto, že by ji pozdější výsledky vyrovnávaly.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Předpokladem je nezávislost jednotlivých porodů a stejná pravděpodobnost syna u každého. Kdyby u této rodiny existoval biologický důvod, proč se jí rodí spíš dívky, pravděpodobnost syna by byla dokonce nižší než 0,5, ne vyšší. Osm dcer za sebou má při nezávislosti pravděpodobnost 0,5⁸ ≈ 0,004; to je nízké číslo, ale netýká se toho, jaké bude deváté dítě.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132, úloha 5.1, a s. 135, úloha 5.35; Howell přebírá příklad z dopisu do novinové poradny, který uvádí Watkinsová (1995).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Druhá úloha procvičuje součtové a součinové pravidlo a rozlišení společné a podmíněné pravděpodobnosti.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</a:t>
            </a:r>
            <a:r>
              <a:rPr lang="cs-CZ" altLang="cs-CZ" sz="1200" b="0" i="0" noProof="0">
                <a:latin typeface="Arial"/>
              </a:rPr>
              <a:t> Každý z 1 000 lístků má stejnou pravděpodobnost: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(vy) = 1 / 1 000 = 0,001;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(kamarád) = 2 / 1 000 = 0,002. Jevy se vylučují (cena je jedna), takže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(vy ∪ kamarád) = 0,001 + 0,002 = </a:t>
            </a:r>
            <a:r>
              <a:rPr lang="cs-CZ" altLang="cs-CZ" sz="1200" b="1" i="0" noProof="0">
                <a:latin typeface="Arial"/>
              </a:rPr>
              <a:t>0,003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</a:t>
            </a:r>
            <a:r>
              <a:rPr lang="cs-CZ" altLang="cs-CZ" sz="1200" b="0" i="0" noProof="0">
                <a:latin typeface="Arial"/>
              </a:rPr>
              <a:t> Víte-li, že první cenu jste nevyhráli, je mezi 9 zbylými lístky jeden váš: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(2. cena vy | 1. cena ne vy) = </a:t>
            </a:r>
            <a:r>
              <a:rPr lang="cs-CZ" altLang="cs-CZ" sz="1200" b="1" i="0" noProof="0">
                <a:latin typeface="Arial"/>
              </a:rPr>
              <a:t>1/9 ≈ 0,111</a:t>
            </a:r>
            <a:r>
              <a:rPr lang="cs-CZ" altLang="cs-CZ" sz="1200" b="0" i="0" noProof="0">
                <a:latin typeface="Arial"/>
              </a:rPr>
              <a:t>. Kamarád 1. a vy 2. cena: součinové pravidlo, 2/10 × 1/9 = 2/90 ≈ </a:t>
            </a:r>
            <a:r>
              <a:rPr lang="cs-CZ" altLang="cs-CZ" sz="1200" b="1" i="0" noProof="0">
                <a:latin typeface="Arial"/>
              </a:rPr>
              <a:t>0,022</a:t>
            </a:r>
            <a:r>
              <a:rPr lang="cs-CZ" altLang="cs-CZ" sz="1200" b="0" i="0" noProof="0">
                <a:latin typeface="Arial"/>
              </a:rPr>
              <a:t>; druhý činitel je podmíněný, protože po vylosování kamarádova lístku zbývá 9 lístků. Vy 1. a kamarád 2. cena: 1/10 × 2/9 = 2/90 ≈ 0,022. Rozdělíte si obě ceny, když nastane jedna z těchto dvou vylučujících se možností: 2/90 + 2/90 = 4/90 ≈ </a:t>
            </a:r>
            <a:r>
              <a:rPr lang="cs-CZ" altLang="cs-CZ" sz="1200" b="1" i="0" noProof="0">
                <a:latin typeface="Arial"/>
              </a:rPr>
              <a:t>0,044</a:t>
            </a:r>
            <a:r>
              <a:rPr lang="cs-CZ" altLang="cs-CZ" sz="1200" b="0" i="0" noProof="0">
                <a:latin typeface="Arial"/>
              </a:rPr>
              <a:t>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c)</a:t>
            </a:r>
            <a:r>
              <a:rPr lang="cs-CZ" altLang="cs-CZ" sz="1200" b="0" i="0" noProof="0">
                <a:latin typeface="Arial"/>
              </a:rPr>
              <a:t> Podmíněná je první otázka v b) (víme, že jsme nevyhráli 1. cenu) a také druhé činitele v součinech. Společné jsou druhá a třetí otázka v b) (obě události zároveň) a pravděpodobnost rozdělení cen, která je součtem dvou společných pravděpodobností. </a:t>
            </a:r>
            <a:r>
              <a:rPr lang="cs-CZ" altLang="cs-CZ" sz="1200" b="0" i="1" noProof="0">
                <a:latin typeface="Arial"/>
              </a:rPr>
              <a:t>Rozlišovací otázka: je něco dáno předem (podmíněná), nebo se ptáme na současné nastání dvou věcí (společná)?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132–133, úlohy 5.2–5.5 (loterie hasičského sboru); kontext změněn na slosování odměn za účast ve výzkumu, čísla zachována.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Třetí úloha procvičuje nezávislost a ukazuje, že je to předpoklad, který musíme zdůvodnit.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</a:t>
            </a:r>
            <a:r>
              <a:rPr lang="cs-CZ" altLang="cs-CZ" sz="1200" b="0" i="0" noProof="0">
                <a:latin typeface="Arial"/>
              </a:rPr>
              <a:t> Den má 24 hodin.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(matka se dívá) = 2/24,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(dítě se dívá) = 3/24. Při nezávislosti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(oba současně) = 2/24 × 3/24 = 6/576 ≈ </a:t>
            </a:r>
            <a:r>
              <a:rPr lang="cs-CZ" altLang="cs-CZ" sz="1200" b="1" i="0" noProof="0">
                <a:latin typeface="Arial"/>
              </a:rPr>
              <a:t>0,0104</a:t>
            </a:r>
            <a:r>
              <a:rPr lang="cs-CZ" altLang="cs-CZ" sz="1200" b="0" i="0" noProof="0">
                <a:latin typeface="Arial"/>
              </a:rPr>
              <a:t>, asi jedna setina dne, tedy přibližně 15 minut.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</a:t>
            </a:r>
            <a:r>
              <a:rPr lang="cs-CZ" altLang="cs-CZ" sz="1200" b="0" i="0" noProof="0">
                <a:latin typeface="Arial"/>
              </a:rPr>
              <a:t> Oba spí 11 hodin, bdělých je tedy 13 hodin a pohledy se odehrávají jen v nich. V náhodné chvíli bdělé části dne: 2/13 × 3/13 = 6/169 ≈ </a:t>
            </a:r>
            <a:r>
              <a:rPr lang="cs-CZ" altLang="cs-CZ" sz="1200" b="1" i="0" noProof="0">
                <a:latin typeface="Arial"/>
              </a:rPr>
              <a:t>0,0355</a:t>
            </a:r>
            <a:r>
              <a:rPr lang="cs-CZ" altLang="cs-CZ" sz="1200" b="0" i="0" noProof="0">
                <a:latin typeface="Arial"/>
              </a:rPr>
              <a:t>. Kdybychom se ptali na náhodnou chvíli celého dne, vynásobili bychom ještě pravděpodobností, že jde o bdělou dobu, 13/24, a dostali 0,019. </a:t>
            </a:r>
            <a:r>
              <a:rPr lang="cs-CZ" altLang="cs-CZ" sz="1200" b="0" i="1" noProof="0">
                <a:latin typeface="Arial"/>
              </a:rPr>
              <a:t>Výsledek závisí na tom, co tvoří celek, tedy na podmínce.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c)</a:t>
            </a:r>
            <a:r>
              <a:rPr lang="cs-CZ" altLang="cs-CZ" sz="1200" b="0" i="0" noProof="0">
                <a:latin typeface="Arial"/>
              </a:rPr>
              <a:t> Nezávislost je zde málo pravděpodobná: matka a dítě na sebe reagují, pohled jednoho často vyvolá pohled druhého a oba jsou bdělí ve stejnou dobu. Kdybychom pozorovali, že se na sebe dívají současně mnohem častěji než 1 % (nebo 3,6 %) doby, </a:t>
            </a:r>
            <a:r>
              <a:rPr lang="cs-CZ" altLang="cs-CZ" sz="1200" b="0" i="1" noProof="0">
                <a:latin typeface="Arial"/>
              </a:rPr>
              <a:t>bylo by to známkou závislosti</a:t>
            </a:r>
            <a:r>
              <a:rPr lang="cs-CZ" altLang="cs-CZ" sz="1200" b="0" i="0" noProof="0">
                <a:latin typeface="Arial"/>
              </a:rPr>
              <a:t>: znalost toho, že se dívá matka, by zvyšovala pravděpodobnost, že se dívá i dítě. Howell takové srovnání pozorovaného a nezávislostí předpovídaného podílu používá jako úvod k analýze vzájemného chování.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jsou i odpovědi, které v b) počítají s celým dnem, pokud jasně uvedou, co je celek.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133, úlohy 5.8–5.9; otázka c) je doplněna pro tuto výuku.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Čtvrtá úloha procvičuje rozpoznání čtyř typických chyb. U každého výroku má student pojmenovat chybu a říct, jak úvahu opravit.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 Záměna podmínky.</a:t>
            </a:r>
            <a:r>
              <a:rPr lang="cs-CZ" altLang="cs-CZ" sz="1200" b="0" i="0" noProof="0">
                <a:latin typeface="Arial"/>
              </a:rPr>
              <a:t> Senzitivita je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(pozitivní | porucha), výrok mluví o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(porucha | pozitivní). Tu nelze určit bez prevalence a specificity; </a:t>
            </a:r>
            <a:r>
              <a:rPr lang="cs-CZ" altLang="cs-CZ" sz="1200" b="0" i="1" noProof="0">
                <a:latin typeface="Arial"/>
              </a:rPr>
              <a:t>při vzácné poruše bývá výrazně nižší</a:t>
            </a:r>
            <a:r>
              <a:rPr lang="cs-CZ" altLang="cs-CZ" sz="1200" b="0" i="0" noProof="0">
                <a:latin typeface="Arial"/>
              </a:rPr>
              <a:t> než senzitivita.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 Prediktivní hodnota závisí na prevalenci.</a:t>
            </a:r>
            <a:r>
              <a:rPr lang="cs-CZ" altLang="cs-CZ" sz="1200" b="0" i="0" noProof="0">
                <a:latin typeface="Arial"/>
              </a:rPr>
              <a:t> Při plošném screeningu bývá porucha vzácnější než v poradně, kam přicházejí lidé s obtížemi; i při stejné senzitivitě a specificitě bude prediktivní hodnota pozitivního testu nižší (v našem příkladu z 0,514 na 0,088 při poklesu prevalence z 10 % na 1 %). Navíc se senzitivita a specificita mohou v jiné skupině lišit.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c) Právě versus alespoň a nejpravděpodobnější hodnota.</a:t>
            </a:r>
            <a:r>
              <a:rPr lang="cs-CZ" altLang="cs-CZ" sz="1200" b="0" i="0" noProof="0">
                <a:latin typeface="Arial"/>
              </a:rPr>
              <a:t> Při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20 a π = 0,5 je 10 </a:t>
            </a:r>
            <a:r>
              <a:rPr lang="cs-CZ" altLang="cs-CZ" sz="1200" b="0" i="1" noProof="0">
                <a:latin typeface="Arial"/>
              </a:rPr>
              <a:t>nejpravděpodobnější</a:t>
            </a:r>
            <a:r>
              <a:rPr lang="cs-CZ" altLang="cs-CZ" sz="1200" b="0" i="0" noProof="0">
                <a:latin typeface="Arial"/>
              </a:rPr>
              <a:t> hodnota a střední hodnota je také 10. Pravděpodobnost 0,176 je nízká jen proto, že při 20 pokusech má každá jednotlivá hodnota malou pravděpodobnost. </a:t>
            </a:r>
            <a:r>
              <a:rPr lang="cs-CZ" altLang="cs-CZ" sz="1200" b="0" i="1" noProof="0">
                <a:latin typeface="Arial"/>
              </a:rPr>
              <a:t>O neobvyklosti vypovídá pravděpodobnost výsledku alespoň tak extrémního</a:t>
            </a:r>
            <a:r>
              <a:rPr lang="cs-CZ" altLang="cs-CZ" sz="1200" b="0" i="0" noProof="0">
                <a:latin typeface="Arial"/>
              </a:rPr>
              <a:t>, zde velmi vysoká, ne pravděpodobnost jedné přesné hodnoty.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d) Konjunkční klam.</a:t>
            </a:r>
            <a:r>
              <a:rPr lang="cs-CZ" altLang="cs-CZ" sz="1200" b="0" i="0" noProof="0">
                <a:latin typeface="Arial"/>
              </a:rPr>
              <a:t> „Tichý knihovník“ je průnik jevů „tichý“ a „knihovník“, a nemůže být pravděpodobnější než samotný jev „knihovník“. Výrok nahrazuje pravděpodobnost tím, jak dobře popis odpovídá představě o knihovnících.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Ověření c): </a:t>
            </a:r>
            <a:r>
              <a:rPr lang="cs-CZ" altLang="cs-CZ" sz="1200" b="0" i="1" noProof="0">
                <a:latin typeface="Arial"/>
              </a:rPr>
              <a:t>P</a:t>
            </a:r>
            <a:r>
              <a:rPr lang="cs-CZ" altLang="cs-CZ" sz="1200" b="0" i="0" noProof="0">
                <a:latin typeface="Arial"/>
              </a:rPr>
              <a:t>(</a:t>
            </a:r>
            <a:r>
              <a:rPr lang="cs-CZ" altLang="cs-CZ" sz="1200" b="0" i="1" noProof="0">
                <a:latin typeface="Arial"/>
              </a:rPr>
              <a:t>X</a:t>
            </a:r>
            <a:r>
              <a:rPr lang="cs-CZ" altLang="cs-CZ" sz="1200" b="0" i="0" noProof="0">
                <a:latin typeface="Arial"/>
              </a:rPr>
              <a:t> = 10) pro 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20 a π = 0,5 je 0,1762 (BINOM.DIST(10;20;0,5;NEPRAVDA)), což je nejvyšší hodnota celého rozdělení.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5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Pátá úloha procvičuje faktoriál a kombinační číslo.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</a:t>
            </a:r>
            <a:r>
              <a:rPr lang="cs-CZ" altLang="cs-CZ" sz="1200" b="0" i="0" noProof="0">
                <a:latin typeface="Arial"/>
              </a:rPr>
              <a:t> Počet pořadí čtyř různých věcí je 4! = 4 × 3 × 2 × 1 = </a:t>
            </a:r>
            <a:r>
              <a:rPr lang="cs-CZ" altLang="cs-CZ" sz="1200" b="1" i="0" noProof="0">
                <a:latin typeface="Arial"/>
              </a:rPr>
              <a:t>24</a:t>
            </a:r>
            <a:r>
              <a:rPr lang="cs-CZ" altLang="cs-CZ" sz="1200" b="0" i="0" noProof="0">
                <a:latin typeface="Arial"/>
              </a:rPr>
              <a:t>. Potřebujeme tedy 24 účastníků. </a:t>
            </a:r>
            <a:r>
              <a:rPr lang="cs-CZ" altLang="cs-CZ" sz="1200" b="0" i="1" noProof="0">
                <a:latin typeface="Arial"/>
              </a:rPr>
              <a:t>Pro deset slovních druhů by šlo o 10! = 3 628 800 pořadí; proto se při vyvažování pořadí obvykle používá jen část pořadí, často náhodně zvolená.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</a:t>
            </a:r>
            <a:r>
              <a:rPr lang="cs-CZ" altLang="cs-CZ" sz="1200" b="0" i="0" noProof="0">
                <a:latin typeface="Arial"/>
              </a:rPr>
              <a:t> Výběr dvou ze čtyř bez ohledu na pořadí: 4 nad 2 = 4! / (2! × 2!) = 24 / 4 = </a:t>
            </a:r>
            <a:r>
              <a:rPr lang="cs-CZ" altLang="cs-CZ" sz="1200" b="1" i="0" noProof="0">
                <a:latin typeface="Arial"/>
              </a:rPr>
              <a:t>6</a:t>
            </a:r>
            <a:r>
              <a:rPr lang="cs-CZ" altLang="cs-CZ" sz="1200" b="0" i="0" noProof="0">
                <a:latin typeface="Arial"/>
              </a:rPr>
              <a:t> dvojic: podstatné jméno a sloveso, podstatné jméno a přídavné jméno, podstatné jméno a příslovce, sloveso a přídavné jméno, sloveso a příslovce, přídavné jméno a příslovce. Howell se v úloze 5.27 ptá na uspořádané dvojice, tedy 12; to je nepovinné rozšíření kapitoly (variace bez opakování), proto se zde na pořadí neptáme.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c)</a:t>
            </a:r>
            <a:r>
              <a:rPr lang="cs-CZ" altLang="cs-CZ" sz="1200" b="0" i="0" noProof="0">
                <a:latin typeface="Arial"/>
              </a:rPr>
              <a:t> Na tom, který signál jde na který kanál, nezáleží, takže jde o kombinace: 6 nad 4 = 6! / (4! × 2!) = 720 / (24 × 2) = </a:t>
            </a:r>
            <a:r>
              <a:rPr lang="cs-CZ" altLang="cs-CZ" sz="1200" b="1" i="0" noProof="0">
                <a:latin typeface="Arial"/>
              </a:rPr>
              <a:t>15</a:t>
            </a:r>
            <a:r>
              <a:rPr lang="cs-CZ" altLang="cs-CZ" sz="1200" b="0" i="0" noProof="0">
                <a:latin typeface="Arial"/>
              </a:rPr>
              <a:t>. Totéž dá výběr dvou elektrod, které se </a:t>
            </a:r>
            <a:r>
              <a:rPr lang="cs-CZ" altLang="cs-CZ" sz="1200" b="0" i="1" noProof="0">
                <a:latin typeface="Arial"/>
              </a:rPr>
              <a:t>nezaznamenávají</a:t>
            </a:r>
            <a:r>
              <a:rPr lang="cs-CZ" altLang="cs-CZ" sz="1200" b="0" i="0" noProof="0">
                <a:latin typeface="Arial"/>
              </a:rPr>
              <a:t>: 6 nad 2 = 15.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Excel: =FAKTORIÁL(4), =KOMBINACE(4;2), =KOMBINACE(6;4).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Zdroj: Howell (2013), s. 134, úlohy 5.26 a 5.27 (pořadí slovních druhů) a 5.30 (elektrody u potkana, zde EEG u člověka); v b) je otázka změněna na neuspořádané dvojice.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3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Šestá úloha procvičuje posouzení předpokladů binomického modelu.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a) Ano.</a:t>
            </a:r>
            <a:r>
              <a:rPr lang="cs-CZ" altLang="cs-CZ" sz="1200" b="0" i="0" noProof="0">
                <a:latin typeface="Arial"/>
              </a:rPr>
              <a:t> Počet pokusů je pevný (</a:t>
            </a:r>
            <a:r>
              <a:rPr lang="cs-CZ" altLang="cs-CZ" sz="1200" b="0" i="1" noProof="0">
                <a:latin typeface="Arial"/>
              </a:rPr>
              <a:t>n</a:t>
            </a:r>
            <a:r>
              <a:rPr lang="cs-CZ" altLang="cs-CZ" sz="1200" b="0" i="0" noProof="0">
                <a:latin typeface="Arial"/>
              </a:rPr>
              <a:t> = 10 účastníků), každý tip je správný, nebo ne, při čistém tipování je π = 0,2 pro všechny a účastníci tipují nezávisle. </a:t>
            </a:r>
            <a:r>
              <a:rPr lang="cs-CZ" altLang="cs-CZ" sz="1200" b="0" i="1" noProof="0">
                <a:latin typeface="Arial"/>
              </a:rPr>
              <a:t>Podmínkou je, že si účastníci tipy nesdělují.</a:t>
            </a:r>
            <a:r>
              <a:rPr lang="cs-CZ" altLang="cs-CZ" sz="1200" b="0" i="0" noProof="0">
                <a:latin typeface="Arial"/>
              </a:rPr>
              <a:t> Rozdělení této proměnné spočítáte v sešitu na listu U3_tipovani.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b) Ne přesně.</a:t>
            </a:r>
            <a:r>
              <a:rPr lang="cs-CZ" altLang="cs-CZ" sz="1200" b="0" i="0" noProof="0">
                <a:latin typeface="Arial"/>
              </a:rPr>
              <a:t> Výběr bez vracení z malé skupiny porušuje stejnou pravděpodobnost a nezávislost: pravděpodobnost levák u druhého vybraného závisí na tom, kdo byl vybrán jako první (3/12, potom 2/11 nebo 3/11). Kdyby skupina byla velmi velká, bylo by binomické rozdělení dobrým přiblížením.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c) Ne.</a:t>
            </a:r>
            <a:r>
              <a:rPr lang="cs-CZ" altLang="cs-CZ" sz="1200" b="0" i="0" noProof="0">
                <a:latin typeface="Arial"/>
              </a:rPr>
              <a:t> Počet pokusů není předem daný, náhodný je právě počet pokusů, ne počet úspěchů v pevném počtu pokusů.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1" i="0" noProof="0">
                <a:latin typeface="Arial"/>
              </a:rPr>
              <a:t>d) Ne.</a:t>
            </a:r>
            <a:r>
              <a:rPr lang="cs-CZ" altLang="cs-CZ" sz="1200" b="0" i="0" noProof="0">
                <a:latin typeface="Arial"/>
              </a:rPr>
              <a:t> Pravděpodobnost úspěchu není u všech otázek stejná: u otázek, které student umí, je blízko 1, u tipovaných 1/počet možností. Binomický model „tipování“ by takový test popisoval špatně, jak jsme viděli u úvahy o studentovi, který umí vyloučit dvě možnosti.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Přijatelné jsou i odpovědi, které u b) uvedou, že pro přibližný výpočet by binomický model posloužil, pokud zároveň pojmenují porušenou podmínku.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4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Početní úlohy jsou v doprovodném sešitu </a:t>
            </a:r>
            <a:r>
              <a:rPr lang="cs-CZ" altLang="cs-CZ" sz="1200" b="1" i="0" noProof="0">
                <a:latin typeface="Arial"/>
              </a:rPr>
              <a:t>kapitola_05_pravdepodobnost_cviceni.xlsx</a:t>
            </a:r>
            <a:r>
              <a:rPr lang="cs-CZ" altLang="cs-CZ" sz="1200" b="0" i="0" noProof="0">
                <a:latin typeface="Arial"/>
              </a:rPr>
              <a:t>. Sešit obsahuje úplná zadání, vstupní údaje, potřebné vztahy i řešení, takže jej lze použít i samostatně.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 </a:t>
            </a:r>
            <a:r>
              <a:rPr lang="cs-CZ" altLang="cs-CZ" sz="1200" b="1" i="0" noProof="0">
                <a:latin typeface="Arial"/>
              </a:rPr>
              <a:t>U1_tabulka</a:t>
            </a:r>
            <a:r>
              <a:rPr lang="cs-CZ" altLang="cs-CZ" sz="1200" b="0" i="0" noProof="0">
                <a:latin typeface="Arial"/>
              </a:rPr>
              <a:t> pracuje s modelovou kontingenční tabulkou 160 studentů (přípravný kurz × úspěch u zkoušky napoprvé): marginální, společná a obě podmíněné pravděpodobnosti, sjednocení, posouzení nezávislosti a meze závěru. List </a:t>
            </a:r>
            <a:r>
              <a:rPr lang="cs-CZ" altLang="cs-CZ" sz="1200" b="1" i="0" noProof="0">
                <a:latin typeface="Arial"/>
              </a:rPr>
              <a:t>U2_screening</a:t>
            </a:r>
            <a:r>
              <a:rPr lang="cs-CZ" altLang="cs-CZ" sz="1200" b="0" i="0" noProof="0">
                <a:latin typeface="Arial"/>
              </a:rPr>
              <a:t> spočítá prediktivní hodnotu pozitivní mamografie přirozenými četnostmi i Bayesovou větou a porovná ji pro dvě míry falešně pozitivních výsledků.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List </a:t>
            </a:r>
            <a:r>
              <a:rPr lang="cs-CZ" altLang="cs-CZ" sz="1200" b="1" i="0" noProof="0">
                <a:latin typeface="Arial"/>
              </a:rPr>
              <a:t>U3_tipovani</a:t>
            </a:r>
            <a:r>
              <a:rPr lang="cs-CZ" altLang="cs-CZ" sz="1200" b="0" i="0" noProof="0">
                <a:latin typeface="Arial"/>
              </a:rPr>
              <a:t> sestaví binomické rozdělení počtu správných tipů deseti účastníků v úloze s pěti možnostmi, včetně grafu a otázky, od kolika správných je výsledek při tipování vzácný. </a:t>
            </a:r>
            <a:r>
              <a:rPr lang="cs-CZ" altLang="cs-CZ" sz="1200" b="1" i="0" noProof="0">
                <a:latin typeface="Arial"/>
              </a:rPr>
              <a:t>U4_test_20</a:t>
            </a:r>
            <a:r>
              <a:rPr lang="cs-CZ" altLang="cs-CZ" sz="1200" b="0" i="0" noProof="0">
                <a:latin typeface="Arial"/>
              </a:rPr>
              <a:t> posoudí 11 správných odpovědí z 20 otázek ano–ne. </a:t>
            </a:r>
            <a:r>
              <a:rPr lang="cs-CZ" altLang="cs-CZ" sz="1200" b="1" i="0" noProof="0">
                <a:latin typeface="Arial"/>
              </a:rPr>
              <a:t>U5_aproximace</a:t>
            </a:r>
            <a:r>
              <a:rPr lang="cs-CZ" altLang="cs-CZ" sz="1200" b="0" i="0" noProof="0">
                <a:latin typeface="Arial"/>
              </a:rPr>
              <a:t> porovná normální aproximaci a přesný binomický výpočet a převede výsledek na podíl.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1" noProof="0">
                <a:latin typeface="Arial"/>
              </a:rPr>
              <a:t>Řešení je rozepsané po krocích základními operacemi: počty, součty, podíly, kombinační číslo a mocniny. Funkce BINOM.DIST, BINOM.DIST.RANGE a NORM.S.DIST slouží k výpočtu tam, kde krok nelze rozumně provést ručně, a jako kontrola.</a:t>
            </a:r>
            <a:r>
              <a:rPr lang="cs-CZ" altLang="cs-CZ" sz="1200" b="0" i="0" noProof="0">
                <a:latin typeface="Arial"/>
              </a:rPr>
              <a:t> Na každém listu je pod zadáním blok „Potřebné vztahy“ s obecnými rovnicemi.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Doporučený postup: přibližně 20 minut samostatné práce nebo práce ve dvojicích, například každá dvojice dva listy, poté společný rozbor listů U2_screening a U4_test_20, které nejvíce vyžadují interpretaci.</a:t>
            </a:r>
            <a:endParaRPr lang="cs-CZ" altLang="cs-CZ" sz="1200" noProof="0"/>
          </a:p>
          <a:p>
            <a:pPr marL="228600" indent="-171450">
              <a:buChar char="•"/>
            </a:pPr>
            <a:r>
              <a:rPr lang="cs-CZ" altLang="cs-CZ" sz="1200" b="0" i="0" noProof="0">
                <a:latin typeface="Arial"/>
              </a:rPr>
              <a:t>Čas pro vyučujícího: přibližně 20 min včetně společného rozboru.</a:t>
            </a:r>
            <a:endParaRPr lang="cs-CZ" altLang="cs-CZ" sz="1200" noProof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lang="cs-CZ" altLang="cs-CZ" sz="4400" noProof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lang="cs-CZ" altLang="cs-CZ" sz="2800" noProof="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lang="cs-CZ" altLang="cs-CZ" sz="2400" noProof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lang="cs-CZ" altLang="cs-CZ" sz="2000" noProof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lang="cs-CZ" altLang="cs-CZ" sz="1800" noProof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1952625"/>
            <a:ext cx="13563600" cy="2190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52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Pravděpodobnost</a:t>
            </a:r>
            <a:endParaRPr lang="cs-CZ" altLang="cs-CZ" sz="525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4953000"/>
            <a:ext cx="135636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700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Kapitola 5</a:t>
            </a:r>
            <a:endParaRPr lang="cs-CZ" altLang="cs-CZ" sz="27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Obsah přednášky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1. Co pravděpodobnost vyjadřuje</a:t>
            </a:r>
            <a:endParaRPr lang="cs-CZ" altLang="cs-CZ" sz="300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5747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2. Jevy a pravidla počítání</a:t>
            </a:r>
            <a:endParaRPr lang="cs-CZ" altLang="cs-CZ" sz="30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40995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3. Podmíněná pravděpodobnost a nezávislost</a:t>
            </a:r>
            <a:endParaRPr lang="cs-CZ" altLang="cs-CZ" sz="30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16242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4. Obrácení podmínky: Bayesova věta</a:t>
            </a:r>
            <a:endParaRPr lang="cs-CZ" altLang="cs-CZ" sz="30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91490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5. Rozdělení pravděpodobnosti a binomický model</a:t>
            </a:r>
            <a:endParaRPr lang="cs-CZ" altLang="cs-CZ" sz="30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667375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6. Normální aproximace a podíl</a:t>
            </a:r>
            <a:endParaRPr lang="cs-CZ" altLang="cs-CZ" sz="30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6419850"/>
            <a:ext cx="13563600" cy="4667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0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7. Procvičování</a:t>
            </a:r>
            <a:endParaRPr lang="cs-CZ" altLang="cs-CZ" sz="300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 pravděpodobnost vyjadřuje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03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 relativní četnosti k pravděpodobnosti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6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Data: 14 z 36 účastníků se cítí „dost“ odpočatě</a:t>
            </a:r>
            <a:endParaRPr lang="cs-CZ" altLang="cs-CZ" sz="26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98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Relativní četnost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14/36 ≈ 0,389 popisuje soubor, který už máme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0956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Jeden z 36 lístků se jmény vytáhneme naslepo: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(odpověď „dost“) = 14/36 ≈ 0,389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81425"/>
            <a:ext cx="13563600" cy="790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Pravděpodobnost: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číslo od 0 do 1 (0 až 100 %), které vyjadřuje, nakolik lze očekávat, že něco nastane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85775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Velké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pravděpodobnost; malé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relativní četnost nebo úroveň kvantilu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Tři pojetí: odkud číslo pochází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3563600" cy="3505200"/>
        </p:xfrm>
        <a:graphic>
          <a:graphicData uri="http://schemas.openxmlformats.org/drawingml/2006/table">
            <a:tbl>
              <a:tblPr first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Pojetí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 čeho číslo vychází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Příklad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Klasické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podíl příznivých mezi stejně pravděpodobnými výsledky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14 z 36 lístků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Četnostní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relativní četnost, k níž se blížíme ve velmi dlouhé řadě opakování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podíl odpovědí „dost“ v mnoha tazích s vracením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Subjektivní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míra přesvědčení podle dostupných informací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terapeutka: klient dokončí terapii s P = 0,7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55435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Interpretace se liší,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pravidla počítání jsou stejná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Dlouhá řada kolísání zmenšuje, nic nevyrovnává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5240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Tip na otázku se čtyřmi možnostmi: 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(správně) = 0,25; pět řad po 1 000 tipech</a:t>
            </a:r>
            <a:endParaRPr lang="cs-CZ" altLang="cs-CZ" sz="22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02882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 10 tipech 0,20 až 0,60; po 50 tipech 0,20 až 0,34; po 1 000 tipech 0,244 až 0,267</a:t>
            </a:r>
            <a:endParaRPr lang="cs-CZ" altLang="cs-CZ" sz="22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53365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Hráčský klam: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 sérii neúspěchů není úspěch „na řadě“</a:t>
            </a:r>
            <a:endParaRPr lang="cs-CZ" altLang="cs-CZ" sz="2250" noProof="0"/>
          </a:p>
        </p:txBody>
      </p:sp>
      <p:pic>
        <p:nvPicPr>
          <p:cNvPr id="15" name="Obrázek 15" descr="Pět simulovaných řad relativní četnosti správných tipů. Vlevo prvních 50 pokusů s velkým kolísáním, vpravo 1 000 pokusů, kdy se čáry stahují k hodnotě 0,25 a končí mezi 0,24 a 0,27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942" y="3038475"/>
            <a:ext cx="11497050" cy="504825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627185" y="8001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 dirty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Simulovaná data</a:t>
            </a:r>
            <a:endParaRPr lang="cs-CZ" altLang="cs-CZ" sz="165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Jevy a pravidla počítání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07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Jev je množina výsledků</a:t>
            </a:r>
            <a:endParaRPr lang="cs-CZ" altLang="cs-CZ" sz="3600" noProof="0"/>
          </a:p>
        </p:txBody>
      </p:sp>
      <p:pic>
        <p:nvPicPr>
          <p:cNvPr id="12" name="Obrázek 12" descr="Mřížka sta kartiček: 40 označeno P jako podstatné jméno, 35 S jako sloveso, 25 A jako přídavné jméno. Jedna kartička zvýrazněna jako jeden výsledek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084" y="1526814"/>
            <a:ext cx="8433916" cy="5490296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6096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Náhodný pokus: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vytažení jedné ze 100 kartiček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295525"/>
            <a:ext cx="6096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Výsledek: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konkrétní kartička;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výběrový prostor: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všech 100 kartiček</a:t>
            </a:r>
            <a:endParaRPr lang="cs-CZ" altLang="cs-CZ" sz="2100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3200400"/>
            <a:ext cx="6096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Jev: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množina výsledků se společnou vlastností, např. „podstatné jméno“ (40 kartiček)</a:t>
            </a:r>
            <a:endParaRPr lang="cs-CZ" altLang="cs-CZ" sz="2100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4105275"/>
            <a:ext cx="6096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(podstatné jméno) = 40/100 = 0,40</a:t>
            </a:r>
            <a:endParaRPr lang="cs-CZ" altLang="cs-CZ" sz="210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4686300"/>
            <a:ext cx="6096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Podíl jen pro stejně pravděpodobné výsledky: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kartičky ano, slovní druhy ne</a:t>
            </a:r>
            <a:endParaRPr lang="cs-CZ" altLang="cs-CZ" sz="2100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Modelový příklad: krabice se 100 kartičkami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Opačný jev: dopočet do jedné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A′) = 1 − P(A)"/>
              <p:cNvSpPr txBox="1"/>
              <p:nvPr/>
            </p:nvSpPr>
            <p:spPr>
              <a:xfrm>
                <a:off x="838200" y="17145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1 −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A′) = 1 − P(A)"/>
              <p:cNvSpPr txBox="1"/>
              <p:nvPr/>
            </p:nvSpPr>
            <p:spPr>
              <a:xfrm>
                <a:off x="838200" y="17145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P(A′) = 1 − P(A)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8194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Opačný jev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A′ obsahuje právě ty výsledky, které do A nepatří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5528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(není podstatné jméno) = 1 − 0,40 = 0,60, totéž jako 60/100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2862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Jistý jev: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1;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nemožný jev: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0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0196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Ve spojitém modelu má nulovou pravděpodobnost i hodnota, která nastat může</a:t>
            </a:r>
            <a:endParaRPr lang="cs-CZ" altLang="cs-CZ" sz="28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09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Průnik, sjednocení a součtové pravidlo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A ∪ B) = P(A) + P(B) − P(A ∩ B)"/>
              <p:cNvSpPr txBox="1"/>
              <p:nvPr/>
            </p:nvSpPr>
            <p:spPr>
              <a:xfrm>
                <a:off x="838200" y="15240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∪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∩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A ∪ B) = P(A) + P(B) − P(A ∩ B)"/>
              <p:cNvSpPr txBox="1"/>
              <p:nvPr/>
            </p:nvSpPr>
            <p:spPr>
              <a:xfrm>
                <a:off x="838200" y="15240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 ∪ B) = P(A) + P(B) − P(A ∩ B)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6289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200 studentů: žen 100, zvýšený stres 70, obojí 40</a:t>
            </a:r>
            <a:endParaRPr lang="cs-CZ" altLang="cs-CZ" sz="22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133725"/>
            <a:ext cx="1356360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(žena ∪ zvýšený stres) = 0,50 + 0,35 − 0,20 =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0,65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bez odečtení bychom 40 studentek započítali dvakrát</a:t>
            </a:r>
            <a:endParaRPr lang="cs-CZ" altLang="cs-CZ" sz="2250" noProof="0"/>
          </a:p>
        </p:txBody>
      </p:sp>
      <p:pic>
        <p:nvPicPr>
          <p:cNvPr id="15" name="Obrázek 15" descr="Vlevo průnik: jedno pole žena a zvýšený stres, 40 z 200 je 0,20. Vpravo sjednocení: tři pole, 40 + 60 + 30 = 130 z 200 je 0,65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94" y="3671888"/>
            <a:ext cx="11680765" cy="490061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Společná a marginální pravděpodobnost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2382500" cy="2362200"/>
        </p:xfrm>
        <a:graphic>
          <a:graphicData uri="http://schemas.openxmlformats.org/drawingml/2006/table">
            <a:tbl>
              <a:tblPr firstRow="1"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/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Zvýšený stres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Nízký stres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Celkem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Žena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Muž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Celkem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44005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Společná: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z vnitřního pole,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(muž ∩ nízký stres) = 70/200 = 0,35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51339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Marginální: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z okraje,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(zvýšený stres) = 70/200 = 0,20 + 0,15 = 0,35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Modelový soubor 200 studentů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Konjunkční klam: věrohodnější není pravděpodobnější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819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6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„Klára studuje psychologii, ráda čte detektivky a o víkendech hraje deskové hry.“</a:t>
            </a:r>
            <a:endParaRPr lang="cs-CZ" altLang="cs-CZ" sz="26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8194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Klára pracuje při studiu jako knihovnice.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5052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Klára pracuje při studiu jako knihovnice a je členkou čtenářského klubu.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191000"/>
            <a:ext cx="13563600" cy="790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Průnik nemůže být pravděpodobnější než kterýkoli z jevů: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(A ∩ B) ≤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(A) a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(A ∩ B) ≤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(B)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267325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Konjunkční klam: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otázku „jak pravděpodobné?“ nahradíme otázkou „jak dobře to sedí?“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Podmíněná pravděpodobnost a nezávislost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13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Podmínka zužuje celek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A | B) = P(A ∩ B) / P(B), pokud P(B) &gt; 0"/>
              <p:cNvSpPr txBox="1"/>
              <p:nvPr/>
            </p:nvSpPr>
            <p:spPr>
              <a:xfrm>
                <a:off x="838200" y="15240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∣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 ∩ 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,   pokud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&gt; 0</m:t>
                      </m:r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A | B) = P(A ∩ B) / P(B), pokud P(B) &gt; 0"/>
              <p:cNvSpPr txBox="1"/>
              <p:nvPr/>
            </p:nvSpPr>
            <p:spPr>
              <a:xfrm>
                <a:off x="838200" y="15240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 | B) = P(A ∩ B) / P(B), pokud P(B) &gt; 0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72415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(zvýšený stres | žena) = 40/100 = 0,20/0,50 =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0,40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marginálně 0,35</a:t>
            </a:r>
            <a:endParaRPr lang="cs-CZ" altLang="cs-CZ" sz="2250" noProof="0"/>
          </a:p>
        </p:txBody>
      </p:sp>
      <p:pic>
        <p:nvPicPr>
          <p:cNvPr id="14" name="Obrázek 14" descr="Vlevo celek 200 studentů a zvýšený stres 70 z 200 je 0,35. Vpravo je řádek muž vybledlý, celek tvoří 100 žen a zvýšený stres 40 ze 100 je 0,4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926" y="3228975"/>
            <a:ext cx="10466148" cy="4391025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Modelový soubor 200 studentů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 koho počítám? P(A | B) ≠ P(B | A)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3563600" cy="3200400"/>
        </p:xfrm>
        <a:graphic>
          <a:graphicData uri="http://schemas.openxmlformats.org/drawingml/2006/table">
            <a:tbl>
              <a:tblPr firstRow="1"/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Otázka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Zápis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Výpočet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Jaká část všech studentů jsou ženy se zvýšeným stresem?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P(žena ∩ zvýšený stres)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40/200 = 0,20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Jaká část žen uvedla zvýšený stres?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P(zvýšený stres | žena)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40/100 = 0,40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Jaká část studentů se zvýšeným stresem jsou ženy?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P(žena | zvýšený stres)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19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40/70 = 0,57</a:t>
                      </a:r>
                      <a:endParaRPr lang="cs-CZ" altLang="cs-CZ" sz="19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52387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Podmínka neoznačuje časové pořadí ani příčinu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Součinové pravidlo: průnik krok za krokem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A ∩ B) = P(B) × P(A | B)"/>
              <p:cNvSpPr txBox="1"/>
              <p:nvPr/>
            </p:nvSpPr>
            <p:spPr>
              <a:xfrm>
                <a:off x="838200" y="17145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∩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∣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A ∩ B) = P(B) × P(A | B)"/>
              <p:cNvSpPr txBox="1"/>
              <p:nvPr/>
            </p:nvSpPr>
            <p:spPr>
              <a:xfrm>
                <a:off x="838200" y="17145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 ∩ B) = P(B) × P(A | B)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8194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Polovina studentů jsou ženy, z nich 40 % uvádí zvýšený stres: 0,50 × 0,40 =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0,20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9909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Dvě kartičky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bez vracení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, obě podstatná jména: 40/100 × 39/99 ≈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0,158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7244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 vracením: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0,40 × 0,40 = 0,16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Nezávislé jevy: jeden nemění pravděpodobnost druhého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A ∩ B) = P(A) × P(B)"/>
              <p:cNvSpPr txBox="1"/>
              <p:nvPr/>
            </p:nvSpPr>
            <p:spPr>
              <a:xfrm>
                <a:off x="838200" y="15240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∩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A ∩ B) = P(A) × P(B)"/>
              <p:cNvSpPr txBox="1"/>
              <p:nvPr/>
            </p:nvSpPr>
            <p:spPr>
              <a:xfrm>
                <a:off x="838200" y="1524000"/>
                <a:ext cx="135636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 ∩ B) = P(A) × P(B)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6289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Druhý soubor: zvýšený stres u 30 % žen i 30 % mužů; 0,15 = 0,50 × 0,30</a:t>
            </a:r>
            <a:endParaRPr lang="cs-CZ" altLang="cs-CZ" sz="22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13372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Původní soubor: 0,20 ≠ 0,50 × 0,35 = 0,175, jevy jsou závislé</a:t>
            </a:r>
            <a:endParaRPr lang="cs-CZ" altLang="cs-CZ" sz="2250" noProof="0"/>
          </a:p>
        </p:txBody>
      </p:sp>
      <p:pic>
        <p:nvPicPr>
          <p:cNvPr id="15" name="Obrázek 15" descr="Vlevo nezávislost: ženy i muži mají 30 a 70, hranice mezi zvýšeným a nízkým stresem leží v obou řádcích na stejném místě. Vpravo závislost: ženy 40 a 60, muži 30 a 70, hranice jsou posunuté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619" y="3638550"/>
            <a:ext cx="10048761" cy="4215912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838200" y="8035437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 dirty="0">
                <a:solidFill>
                  <a:srgbClr val="576574"/>
                </a:solidFill>
                <a:latin typeface="Arial"/>
                <a:ea typeface="Arial"/>
                <a:cs typeface="Arial"/>
              </a:rPr>
              <a:t>Vlevo druhý modelový soubor (nezávislost), vpravo původní soubor (závislost)</a:t>
            </a:r>
            <a:endParaRPr lang="cs-CZ" altLang="cs-CZ" sz="165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Co nezávislost neznamená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Nezávislé ≠ vzájemně výlučné.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Výlučné jevy s kladnou pravděpodobností jsou vždy závislé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8860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Závislost ≠ příčina.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Rozdíl podílů neříká, proč vznikl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6195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Tabulka ≠ populace.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Jiný výběr by dal trochu jiné podíly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35292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Nezávislost je předpoklad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, který je třeba zdůvodnit: sourozenci, spolužáci, opakovaná měření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18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Obrácení podmínky: Bayesova věta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19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Screening: co víme a na co se ptáme</a:t>
            </a:r>
            <a:endParaRPr lang="cs-CZ" altLang="cs-CZ" sz="3600" noProof="0"/>
          </a:p>
        </p:txBody>
      </p:sp>
      <p:graphicFrame>
        <p:nvGraphicFramePr>
          <p:cNvPr id="12" name="Tabulka 12"/>
          <p:cNvGraphicFramePr>
            <a:graphicFrameLocks noGrp="1"/>
          </p:cNvGraphicFramePr>
          <p:nvPr/>
        </p:nvGraphicFramePr>
        <p:xfrm>
          <a:off x="838200" y="1714500"/>
          <a:ext cx="13563600" cy="1828800"/>
        </p:xfrm>
        <a:graphic>
          <a:graphicData uri="http://schemas.openxmlformats.org/drawingml/2006/table">
            <a:tbl>
              <a:tblPr firstRow="1"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Skutečný stav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Pozitivní výsledek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Negativní výsledek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Porucha přítomna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správně pozitivní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falešně negativní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Porucha nepřítomna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falešně pozitivní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10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správně negativní</a:t>
                      </a:r>
                      <a:endParaRPr lang="cs-CZ" altLang="cs-CZ" sz="210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ED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3"/>
          <p:cNvSpPr txBox="1"/>
          <p:nvPr/>
        </p:nvSpPr>
        <p:spPr>
          <a:xfrm>
            <a:off x="838200" y="38671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Senzitivita</a:t>
            </a:r>
            <a: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8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(pozitivní | porucha) = 0,95; </a:t>
            </a:r>
            <a:b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85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specificita</a:t>
            </a:r>
            <a: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8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(negativní | bez poruchy) = 0,90</a:t>
            </a:r>
            <a:endParaRPr lang="cs-CZ" altLang="cs-CZ" sz="2850" noProof="0" dirty="0"/>
          </a:p>
        </p:txBody>
      </p:sp>
      <p:sp>
        <p:nvSpPr>
          <p:cNvPr id="14" name="Text 14"/>
          <p:cNvSpPr txBox="1"/>
          <p:nvPr/>
        </p:nvSpPr>
        <p:spPr>
          <a:xfrm>
            <a:off x="838200" y="50387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Psycholožka se ptá obráceně: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(porucha | pozitivní) = 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57721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Chybí ještě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prevalence: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v poradně má poruchu 10 % příchozích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Modelové hodnoty; nepopisují skutečný dotazník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Přirozené četnosti: tisíc studentů ve stromu</a:t>
            </a:r>
            <a:endParaRPr lang="cs-CZ" altLang="cs-CZ" sz="3600" noProof="0"/>
          </a:p>
        </p:txBody>
      </p:sp>
      <p:pic>
        <p:nvPicPr>
          <p:cNvPr id="12" name="Obrázek 12" descr="Strom: 1 000 studentů, větev 0,10 ke 100 s poruchou a 0,90 k 900 bez poruchy. Ze 100 je 95 pozitivních a 5 negativních, z 900 je 90 pozitivních a 810 negativních. Pozitivních je 185, prediktivní hodnota pozitivního testu 95/185 = 0,514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937" y="1512780"/>
            <a:ext cx="9859063" cy="618342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447675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1 000 studentů: 100 s poruchou, 900 bez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447675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Pozitivní: 95 správně + 90 falešně = 185</a:t>
            </a:r>
            <a:endParaRPr lang="cs-CZ" altLang="cs-CZ" sz="210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447675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Prediktivní hodnota pozitivního testu: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95/185 ≈ </a:t>
            </a:r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0,514</a:t>
            </a:r>
            <a:endParaRPr lang="cs-CZ" altLang="cs-CZ" sz="210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29125"/>
            <a:ext cx="44767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Negativního testu: 810/815 ≈ 0,994</a:t>
            </a:r>
            <a:endParaRPr lang="cs-CZ" altLang="cs-CZ" sz="210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010150"/>
            <a:ext cx="447675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Senzitivita se čte po řádcích, otázka psycholožky po sloupcích</a:t>
            </a:r>
            <a:endParaRPr lang="cs-CZ" altLang="cs-CZ" sz="210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Modelové hodnoty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Úplná pravděpodobnost a Bayesova věta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B) = P(A) × P(B | A) + P(A′) × P(B | A′)"/>
              <p:cNvSpPr txBox="1"/>
              <p:nvPr/>
            </p:nvSpPr>
            <p:spPr>
              <a:xfrm>
                <a:off x="838200" y="1714500"/>
                <a:ext cx="13563600" cy="857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∣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∣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B) = P(A) × P(B | A) + P(A′) × P(B | A′)"/>
              <p:cNvSpPr txBox="1"/>
              <p:nvPr/>
            </p:nvSpPr>
            <p:spPr>
              <a:xfrm>
                <a:off x="838200" y="1714500"/>
                <a:ext cx="13563600" cy="857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P(B) = P(A) × P(B | A) + P(A′) × P(B | A′)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7241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(pozitivní) = 0,10 × 0,95 + 0,90 × 0,10 = 0,095 + 0,090 =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0,185</a:t>
            </a:r>
            <a:endParaRPr lang="cs-CZ" altLang="cs-CZ" sz="285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P(A | B) = P(A) × P(B | A) / [P(A) × P(B | A) + P(A′) × P(B | A′)]"/>
              <p:cNvSpPr txBox="1"/>
              <p:nvPr/>
            </p:nvSpPr>
            <p:spPr>
              <a:xfrm>
                <a:off x="838200" y="3457575"/>
                <a:ext cx="13563600" cy="1238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∣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 ∣ 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 ∣ 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 ∣ 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P(A | B) = P(A) × P(B | A) / [P(A) × P(B | A) + P(A′) × P(B | A′)]"/>
              <p:cNvSpPr txBox="1"/>
              <p:nvPr/>
            </p:nvSpPr>
            <p:spPr>
              <a:xfrm>
                <a:off x="838200" y="3457575"/>
                <a:ext cx="13563600" cy="12382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P(A | B) = P(A) × P(B | A) / [P(A) × P(B | A) + P(A′) × P(B | A′)]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48482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(porucha | pozitivní) = 0,095 / 0,185 ≈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0,514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5816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Čitatel: jedna cesta stromem; jmenovatel: všechny cesty k pozitivnímu výsledku</a:t>
            </a:r>
            <a:endParaRPr lang="cs-CZ" altLang="cs-CZ" sz="28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Stejný dotazník, jiná prevalence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5240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Prevalence 10 %: 950/(950 + 900) ≈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0,514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prevalence 1 %: 95/(95 + 990) ≈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0,088</a:t>
            </a:r>
            <a:endParaRPr lang="cs-CZ" altLang="cs-CZ" sz="22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02882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Prediktivní hodnota pozitivního testu není vlastností samotného testu</a:t>
            </a:r>
            <a:endParaRPr lang="cs-CZ" altLang="cs-CZ" sz="22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53365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Zanedbání základních četností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apriorní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0,10 →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aposteriorní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0,514</a:t>
            </a:r>
            <a:endParaRPr lang="cs-CZ" altLang="cs-CZ" sz="2250" noProof="0"/>
          </a:p>
        </p:txBody>
      </p:sp>
      <p:pic>
        <p:nvPicPr>
          <p:cNvPr id="15" name="Obrázek 15" descr="Dva pruhy pozitivních výsledků z 10 000 testovaných. Prevalence 10 %: 950 správně a 900 falešně pozitivních, prediktivní hodnota 0,514. Prevalence 1 %: 95 správně a 990 falešně pozitivních, prediktivní hodnota 0,088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20" y="3038475"/>
            <a:ext cx="10230559" cy="4769094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838200" y="80010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 dirty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Předpoklad: senzitivita 0,95 a specificita 0,90 v obou skupinách</a:t>
            </a:r>
            <a:endParaRPr lang="cs-CZ" altLang="cs-CZ" sz="165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Rozdělení pravděpodobnosti a binomický model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24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354623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Náhodná proměnná přiřazuje výsledkům čísla</a:t>
            </a:r>
            <a:endParaRPr lang="cs-CZ" altLang="cs-CZ" sz="3600" noProof="0" dirty="0"/>
          </a:p>
        </p:txBody>
      </p:sp>
      <p:pic>
        <p:nvPicPr>
          <p:cNvPr id="12" name="Obrázek 12" descr="Diagram od pokusu k rozdělení. Tip na dvě otázky má čtyři výsledky NN 0,5625, NS 0,1875, SN 0,1875, SS 0,0625. Výsledky NS a SN tvoří jev X = 1 s pravděpodobností 0,375. Náhodná proměnná přiřazuje výsledkům hodnoty 0, 1, 2; rozdělení 0,5625, 0,375, 0,0625 se součtem 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441" y="976863"/>
            <a:ext cx="8410528" cy="7476025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838200" y="1714500"/>
            <a:ext cx="5715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Náhodná proměnná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10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10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: pravidlo, které každému výsledku přiřadí číslo</a:t>
            </a:r>
            <a:endParaRPr lang="cs-CZ" altLang="cs-CZ" sz="210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619375"/>
            <a:ext cx="5715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počet správných tipů;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konkrétní hodnota</a:t>
            </a:r>
            <a:endParaRPr lang="cs-CZ" altLang="cs-CZ" sz="2100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3524250"/>
            <a:ext cx="5715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Hodnota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 je jev: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výsledky NS a SN</a:t>
            </a:r>
            <a:endParaRPr lang="cs-CZ" altLang="cs-CZ" sz="2100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4480413"/>
            <a:ext cx="5715000" cy="6572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Rozdělení pravděpodobnosti: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</a:t>
            </a:r>
            <a:r>
              <a:rPr lang="cs-CZ" altLang="cs-CZ" sz="210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</a:t>
            </a: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) pro všechny hodnoty, součet 1</a:t>
            </a:r>
            <a:endParaRPr lang="cs-CZ" altLang="cs-CZ" sz="210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5385288"/>
            <a:ext cx="571500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Není to sloupec dat </a:t>
            </a:r>
            <a:b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10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 nevyžaduje opakování</a:t>
            </a:r>
            <a:endParaRPr lang="cs-CZ" altLang="cs-CZ" sz="2100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Rozdělení je model, data se od něj liší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5240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Test s pěti otázkami a tipováním: model a 40 simulovaných studentů</a:t>
            </a:r>
            <a:endParaRPr lang="cs-CZ" altLang="cs-CZ" sz="22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02882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Střední hodnota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μ = 1,25 (dlouhodobý průměr modelu); v datech 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1,025</a:t>
            </a:r>
            <a:endParaRPr lang="cs-CZ" altLang="cs-CZ" sz="22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253365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Diskrétní proměnná: pravděpodobnost hodnoty; spojitá: hustota, plocha intervalu</a:t>
            </a:r>
            <a:endParaRPr lang="cs-CZ" altLang="cs-CZ" sz="2250" noProof="0"/>
          </a:p>
        </p:txBody>
      </p:sp>
      <p:pic>
        <p:nvPicPr>
          <p:cNvPr id="15" name="Obrázek 15" descr="Dva sloupcové grafy pro 0 až 5 správných tipů. Model: 0,237; 0,396; 0,264; 0,088; 0,015; 0,001. Data 40 simulovaných studentů: 0,325; 0,375; 0,250; 0,050; 0; 0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36" y="3038474"/>
            <a:ext cx="12603369" cy="5534025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Kdy použít binomický model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1.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Počet pokusů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 předem daný</a:t>
            </a:r>
            <a:endParaRPr lang="cs-CZ" altLang="cs-CZ" sz="25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003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2.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Každý pokus má dva výsledky: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úspěch, nebo neúspěch</a:t>
            </a:r>
            <a:endParaRPr lang="cs-CZ" altLang="cs-CZ" sz="25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0861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3.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Pravděpodobnost úspěchu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π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 ve všech pokusech stejná</a:t>
            </a:r>
            <a:endParaRPr lang="cs-CZ" altLang="cs-CZ" sz="25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7719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4. </a:t>
            </a:r>
            <a:r>
              <a:rPr lang="cs-CZ" altLang="cs-CZ" sz="25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Pokusy jsou nezávislé</a:t>
            </a:r>
            <a:endParaRPr lang="cs-CZ" altLang="cs-CZ" sz="25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4577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počet úspěchů v </a:t>
            </a:r>
            <a:r>
              <a:rPr lang="cs-CZ" altLang="cs-CZ" sz="25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pokusech; „úspěch“ je jen výsledek, který počítáme</a:t>
            </a:r>
            <a:endParaRPr lang="cs-CZ" altLang="cs-CZ" sz="25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143500"/>
            <a:ext cx="13563600" cy="400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5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Porušení: částečná znalost, učení či únava, navazující otázky, výběr bez vracení</a:t>
            </a:r>
            <a:endParaRPr lang="cs-CZ" altLang="cs-CZ" sz="25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Kombinační číslo: kolika způsoby lze vybrat</a:t>
            </a:r>
            <a:endParaRPr lang="cs-CZ" altLang="cs-CZ" sz="3600" noProof="0"/>
          </a:p>
        </p:txBody>
      </p:sp>
      <p:pic>
        <p:nvPicPr>
          <p:cNvPr id="12" name="Obrázek 12" descr="Deset řádků po pěti kroužcích; v každém jsou jiné dva kroužky označené S jako správně. Všech deset dvojic otázek z pěti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667" y="1420107"/>
            <a:ext cx="10229333" cy="57015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zorec 13" descr="(n nad k) = n! / [k! × (n − k)!]"/>
              <p:cNvSpPr txBox="1"/>
              <p:nvPr/>
            </p:nvSpPr>
            <p:spPr>
              <a:xfrm>
                <a:off x="838200" y="1714500"/>
                <a:ext cx="72390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! × (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cs-CZ" altLang="cs-CZ" sz="2925" noProof="0" dirty="0"/>
              </a:p>
            </p:txBody>
          </p:sp>
        </mc:Choice>
        <mc:Fallback>
          <p:sp>
            <p:nvSpPr>
              <p:cNvPr id="13" name="Vzorec 13" descr="(n nad k) = n! / [k! × (n − k)!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14500"/>
                <a:ext cx="7239000" cy="1143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4"/>
          <p:cNvSpPr txBox="1"/>
          <p:nvPr/>
        </p:nvSpPr>
        <p:spPr>
          <a:xfrm>
            <a:off x="838200" y="3154889"/>
            <a:ext cx="7239000" cy="390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Dvě správné otázky z pěti: </a:t>
            </a:r>
            <a:b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(5 × 4) / 2 = </a:t>
            </a:r>
            <a:r>
              <a:rPr lang="cs-CZ" altLang="cs-CZ" sz="2475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10</a:t>
            </a:r>
            <a:endParaRPr lang="cs-CZ" altLang="cs-CZ" sz="2475" noProof="0" dirty="0"/>
          </a:p>
        </p:txBody>
      </p:sp>
      <p:sp>
        <p:nvSpPr>
          <p:cNvPr id="15" name="Text 15"/>
          <p:cNvSpPr txBox="1"/>
          <p:nvPr/>
        </p:nvSpPr>
        <p:spPr>
          <a:xfrm>
            <a:off x="838200" y="4605698"/>
            <a:ext cx="7239000" cy="15518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Faktoriál </a:t>
            </a:r>
            <a:r>
              <a:rPr lang="cs-CZ" altLang="cs-CZ" sz="247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! = </a:t>
            </a:r>
            <a:b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47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(</a:t>
            </a:r>
            <a:r>
              <a:rPr lang="cs-CZ" altLang="cs-CZ" sz="247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− 1) × … × 1; </a:t>
            </a:r>
            <a:b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5! = 120, 0! = 1</a:t>
            </a:r>
            <a:endParaRPr lang="cs-CZ" altLang="cs-CZ" sz="247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6486790"/>
            <a:ext cx="7239000" cy="1269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Excel: </a:t>
            </a:r>
            <a:b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KOMBINACE(5;2) = 10; </a:t>
            </a:r>
            <a:b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47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FAKTORIÁL(5) = 120</a:t>
            </a:r>
            <a:endParaRPr lang="cs-CZ" altLang="cs-CZ" sz="247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Binomický vzorec</a:t>
            </a:r>
            <a:endParaRPr lang="cs-CZ" altLang="cs-CZ" sz="360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Vzorec 12" descr="P(X = k) = (n nad k) × π^k × (1 − π)^(n − k)"/>
              <p:cNvSpPr txBox="1"/>
              <p:nvPr/>
            </p:nvSpPr>
            <p:spPr>
              <a:xfrm>
                <a:off x="838200" y="17145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m:rPr>
                                  <m:nor/>
                                </m:rPr>
                                <a:rPr lang="cs-CZ" altLang="cs-CZ" sz="2925" i="0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</m:e>
                        <m:sup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2" name="Vzorec 12" descr="P(X = k) = (n nad k) × π^k × (1 − π)^(n − k)"/>
              <p:cNvSpPr txBox="1"/>
              <p:nvPr/>
            </p:nvSpPr>
            <p:spPr>
              <a:xfrm>
                <a:off x="838200" y="171450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P(X = k) = (n nad k) × π^k × (1 − π)^(n − k)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3" name="Text 13"/>
          <p:cNvSpPr txBox="1"/>
          <p:nvPr/>
        </p:nvSpPr>
        <p:spPr>
          <a:xfrm>
            <a:off x="838200" y="29146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2) = 10 × 0,25</a:t>
            </a:r>
            <a:r>
              <a:rPr lang="cs-CZ" altLang="cs-CZ" sz="2850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0,75</a:t>
            </a:r>
            <a:r>
              <a:rPr lang="cs-CZ" altLang="cs-CZ" sz="2850" b="0" baseline="3000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10 × 0,0264 ≈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0,264</a:t>
            </a:r>
            <a:endParaRPr lang="cs-CZ" altLang="cs-CZ" sz="2850" noProof="0"/>
          </a:p>
        </p:txBody>
      </p:sp>
      <p:graphicFrame>
        <p:nvGraphicFramePr>
          <p:cNvPr id="14" name="Tabulka 14"/>
          <p:cNvGraphicFramePr>
            <a:graphicFrameLocks noGrp="1"/>
          </p:cNvGraphicFramePr>
          <p:nvPr/>
        </p:nvGraphicFramePr>
        <p:xfrm>
          <a:off x="838200" y="3648075"/>
          <a:ext cx="13563600" cy="1181100"/>
        </p:xfrm>
        <a:graphic>
          <a:graphicData uri="http://schemas.openxmlformats.org/drawingml/2006/table">
            <a:tbl>
              <a:tblPr firstRow="1"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1" noProof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14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P(X = k)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0,237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0,396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0,264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0,088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0,015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altLang="cs-CZ" sz="2250" b="0" noProof="0">
                          <a:solidFill>
                            <a:srgbClr val="142A3B"/>
                          </a:solidFill>
                          <a:latin typeface="Arial"/>
                          <a:ea typeface="Arial"/>
                          <a:cs typeface="Arial"/>
                        </a:rPr>
                        <a:t>0,001</a:t>
                      </a:r>
                      <a:endParaRPr lang="cs-CZ" altLang="cs-CZ" sz="2250" noProof="0"/>
                    </a:p>
                  </a:txBody>
                  <a:tcPr marL="152400" marR="114300" marT="57150" marB="57150" anchor="ctr">
                    <a:lnL w="9525">
                      <a:solidFill>
                        <a:srgbClr val="C5D1D5"/>
                      </a:solidFill>
                    </a:lnL>
                    <a:lnR w="9525">
                      <a:solidFill>
                        <a:srgbClr val="C5D1D5"/>
                      </a:solidFill>
                    </a:lnR>
                    <a:lnT w="9525">
                      <a:solidFill>
                        <a:srgbClr val="C5D1D5"/>
                      </a:solidFill>
                    </a:lnT>
                    <a:lnB w="9525">
                      <a:solidFill>
                        <a:srgbClr val="C5D1D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15"/>
          <p:cNvSpPr txBox="1"/>
          <p:nvPr/>
        </p:nvSpPr>
        <p:spPr>
          <a:xfrm>
            <a:off x="838200" y="51530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32 možných pětic, ale nejsou stejně pravděpodobné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Test s pěti otázkami a čtyřmi možnostmi, tipování: n = 5, π = 0,25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29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Tvar, střední hodnota a směrodatná odchylka</a:t>
            </a:r>
            <a:endParaRPr lang="cs-CZ" altLang="cs-CZ" sz="3600" noProof="0"/>
          </a:p>
        </p:txBody>
      </p:sp>
      <p:pic>
        <p:nvPicPr>
          <p:cNvPr id="12" name="Obrázek 12" descr="Čtyři binomická rozdělení. n 5, π 0,25 zešikmené doprava; n 20, π 0,25 vrchol v 5, mírně zešikmené; n 20, π 0,50 souměrné kolem 10; n 20, π 0,90 zešikmené doleva s vrcholem v 18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46" y="1253011"/>
            <a:ext cx="9730154" cy="68337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zorec 13" descr="μ = n × π"/>
              <p:cNvSpPr txBox="1"/>
              <p:nvPr/>
            </p:nvSpPr>
            <p:spPr>
              <a:xfrm>
                <a:off x="838200" y="1714500"/>
                <a:ext cx="533400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3" name="Vzorec 13" descr="μ = n × π"/>
              <p:cNvSpPr txBox="1"/>
              <p:nvPr/>
            </p:nvSpPr>
            <p:spPr>
              <a:xfrm>
                <a:off x="838200" y="1714500"/>
                <a:ext cx="5334000" cy="762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μ = n × π</a:t>
                </a:r>
                <a:endParaRPr lang="cs-CZ" altLang="cs-CZ" sz="2550" noProof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σ = √[n × π × (1 − π)]"/>
              <p:cNvSpPr txBox="1"/>
              <p:nvPr/>
            </p:nvSpPr>
            <p:spPr>
              <a:xfrm>
                <a:off x="838200" y="2628900"/>
                <a:ext cx="5334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m:rPr>
                              <m:nor/>
                            </m:r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× </m:t>
                          </m:r>
                          <m:d>
                            <m:dPr>
                              <m:ctrlP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r>
                                <m:rPr>
                                  <m:nor/>
                                </m:rPr>
                                <a:rPr lang="cs-CZ" altLang="cs-CZ" sz="2925" i="0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σ = √[n × π × (1 − π)]"/>
              <p:cNvSpPr txBox="1"/>
              <p:nvPr/>
            </p:nvSpPr>
            <p:spPr>
              <a:xfrm>
                <a:off x="838200" y="2628900"/>
                <a:ext cx="5334000" cy="9525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σ = √[n × π × (1 − π)]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3733800"/>
            <a:ext cx="5334000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5, π = 0,25: μ = 1,25; σ ≈ 0,97</a:t>
            </a:r>
            <a:endParaRPr lang="cs-CZ" altLang="cs-CZ" sz="2325" noProof="0" dirty="0"/>
          </a:p>
        </p:txBody>
      </p:sp>
      <p:sp>
        <p:nvSpPr>
          <p:cNvPr id="16" name="Text 16"/>
          <p:cNvSpPr txBox="1"/>
          <p:nvPr/>
        </p:nvSpPr>
        <p:spPr>
          <a:xfrm>
            <a:off x="838200" y="4343400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π = 0,5 souměrné; </a:t>
            </a:r>
            <a:b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</a:br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malé π doprava, velké doleva zešikmené</a:t>
            </a:r>
            <a:endParaRPr lang="cs-CZ" altLang="cs-CZ" sz="2325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838200" y="5737347"/>
            <a:ext cx="5334000" cy="723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325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Víc pokusů: širší a souměrnější rozdělení</a:t>
            </a:r>
            <a:endParaRPr lang="cs-CZ" altLang="cs-CZ" sz="2325" noProof="0" dirty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Právě, nejvýše, alespoň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52400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20 otázek, tipování (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20, π = 0,25): 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5) = 0,202; 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≤ 5) = 0,617</a:t>
            </a:r>
            <a:endParaRPr lang="cs-CZ" altLang="cs-CZ" sz="22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02882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2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2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≥ 10) = 1 − </a:t>
            </a:r>
            <a:r>
              <a:rPr lang="cs-CZ" altLang="cs-CZ" sz="22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2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(</a:t>
            </a:r>
            <a:r>
              <a:rPr lang="cs-CZ" altLang="cs-CZ" sz="22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X</a:t>
            </a:r>
            <a:r>
              <a:rPr lang="cs-CZ" altLang="cs-CZ" sz="22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≤ 9) = </a:t>
            </a:r>
            <a:r>
              <a:rPr lang="cs-CZ" altLang="cs-CZ" sz="225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0,014</a:t>
            </a:r>
            <a:r>
              <a:rPr lang="cs-CZ" altLang="cs-CZ" sz="22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opačným jevem k „alespoň 10“ je „nejvýše 9“</a:t>
            </a:r>
            <a:endParaRPr lang="cs-CZ" altLang="cs-CZ" sz="2250" noProof="0" dirty="0"/>
          </a:p>
        </p:txBody>
      </p:sp>
      <p:sp>
        <p:nvSpPr>
          <p:cNvPr id="14" name="Text 14"/>
          <p:cNvSpPr txBox="1"/>
          <p:nvPr/>
        </p:nvSpPr>
        <p:spPr>
          <a:xfrm>
            <a:off x="838200" y="2533650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Excel: BINOM.DIST(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π; NEPRAVDA) právě, PRAVDA nejvýše</a:t>
            </a:r>
            <a:endParaRPr lang="cs-CZ" altLang="cs-CZ" sz="22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3038475"/>
            <a:ext cx="1356360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Je to P(výsledek | tipování), nikoli P(tipování | výsledek)</a:t>
            </a:r>
            <a:endParaRPr lang="cs-CZ" altLang="cs-CZ" sz="2250" noProof="0" dirty="0"/>
          </a:p>
        </p:txBody>
      </p:sp>
      <p:pic>
        <p:nvPicPr>
          <p:cNvPr id="16" name="Obrázek 16" descr="Tři grafy binomického rozdělení n 20, π 0,25. Zvýrazněn sloupec 5 (0,202), sloupce 0 až 5 (0,617) a sloupce 10 až 20 (0,014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05" y="3724275"/>
            <a:ext cx="12913195" cy="4848225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Normální aproximace a podíl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32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Normální aproximace: postup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Podmínka: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π ≥ 10 a zároveň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(1 − π) ≥ 10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479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Normální model se stejnými μ =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π a σ = √[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× π × (1 − π)]</a:t>
            </a:r>
            <a:endParaRPr lang="cs-CZ" altLang="cs-CZ" sz="285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z = (hranice − μ) / σ"/>
              <p:cNvSpPr txBox="1"/>
              <p:nvPr/>
            </p:nvSpPr>
            <p:spPr>
              <a:xfrm>
                <a:off x="838200" y="318135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cs-CZ" altLang="cs-CZ" sz="2925" i="1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hranice</m:t>
                          </m:r>
                          <m: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cs-CZ" altLang="cs-CZ" sz="2925" i="0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z = (hranice − μ) / σ"/>
              <p:cNvSpPr txBox="1"/>
              <p:nvPr/>
            </p:nvSpPr>
            <p:spPr>
              <a:xfrm>
                <a:off x="838200" y="3181350"/>
                <a:ext cx="13563600" cy="104775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z = (hranice − μ) / σ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43815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200 pokusů, π = 0,6: μ = 120, σ = √48 ≈ 6,928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1149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(135 − 120) / 6,928 ≈ 2,165; =1-NORM.S.DIST(2,165;PRAVDA) ≈ </a:t>
            </a:r>
            <a:r>
              <a:rPr lang="cs-CZ" altLang="cs-CZ" sz="28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0,015</a:t>
            </a:r>
            <a:endParaRPr lang="cs-CZ" altLang="cs-CZ" sz="28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69620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Modelový příklad: rozpoznávací úloha s 200 nezávislými pokusy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33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Jak přesná aproximace je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524000"/>
            <a:ext cx="1356360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Přesně: =1-BINOM.DIST(134;200;0,6;PRAVDA) = </a:t>
            </a:r>
            <a:r>
              <a:rPr lang="cs-CZ" altLang="cs-CZ" sz="225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0,0173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; aproximace 0,0152, od 134,5 vychází 0,0182</a:t>
            </a:r>
            <a:endParaRPr lang="cs-CZ" altLang="cs-CZ" sz="22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381250"/>
            <a:ext cx="1356360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Nesplněná podmínka (</a:t>
            </a:r>
            <a:r>
              <a:rPr lang="cs-CZ" altLang="cs-CZ" sz="22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2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20, π = 0,25): přesně 0,0139, aproximace 0,0049; vlevo krajní případ π = 0,05</a:t>
            </a:r>
            <a:endParaRPr lang="cs-CZ" altLang="cs-CZ" sz="2250" noProof="0"/>
          </a:p>
        </p:txBody>
      </p:sp>
      <p:pic>
        <p:nvPicPr>
          <p:cNvPr id="14" name="Obrázek 14" descr="Vlevo n 20 a π 0,05: sloupce nahromaděné u 0 a 1, normální křivka zasahuje do záporných hodnot. Vpravo n 200 a π 0,60: křivka prochází vrcholy sloupců, sloupce od 135 výše jsou zvýrazněny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093" y="3093427"/>
            <a:ext cx="12494907" cy="5486400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34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Od počtu k podílu: víc pokusů, menší kolísání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7145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/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: 135 / 200 = 0,675 (relativní četnost); π je pravděpodobnost v modelu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4479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Střední hodnota podílu = π</a:t>
            </a:r>
            <a:endParaRPr lang="cs-CZ" altLang="cs-CZ" sz="2850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Vzorec 14" descr="směrodatná odchylka podílu = √[π × (1 − π) / n]"/>
              <p:cNvSpPr txBox="1"/>
              <p:nvPr/>
            </p:nvSpPr>
            <p:spPr>
              <a:xfrm>
                <a:off x="838200" y="3181350"/>
                <a:ext cx="135636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cs-CZ" altLang="cs-CZ" sz="2925" i="0" noProof="0">
                          <a:solidFill>
                            <a:srgbClr val="142A3B"/>
                          </a:solidFill>
                          <a:latin typeface="Cambria Math" panose="02040503050406030204" pitchFamily="18" charset="0"/>
                        </a:rPr>
                        <m:t>směrodatná odchylka podílu = </m:t>
                      </m:r>
                      <m:rad>
                        <m:radPr>
                          <m:degHide m:val="on"/>
                          <m:ctrlPr>
                            <a:rPr lang="cs-CZ" altLang="cs-CZ" sz="2925" i="1" noProof="0">
                              <a:solidFill>
                                <a:srgbClr val="142A3B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cs-CZ" altLang="cs-CZ" sz="2925" i="0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cs-CZ" altLang="cs-CZ" sz="2925" i="0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 × </m:t>
                              </m:r>
                              <m:d>
                                <m:dPr>
                                  <m:ctrlPr>
                                    <a:rPr lang="cs-CZ" altLang="cs-CZ" sz="2925" i="1" noProof="0">
                                      <a:solidFill>
                                        <a:srgbClr val="142A3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cs-CZ" altLang="cs-CZ" sz="2925" i="1" noProof="0">
                                      <a:solidFill>
                                        <a:srgbClr val="142A3B"/>
                                      </a:solidFill>
                                      <a:latin typeface="Cambria Math" panose="02040503050406030204" pitchFamily="18" charset="0"/>
                                    </a:rPr>
                                    <m:t>1 − </m:t>
                                  </m:r>
                                  <m:r>
                                    <m:rPr>
                                      <m:nor/>
                                    </m:rPr>
                                    <a:rPr lang="cs-CZ" altLang="cs-CZ" sz="2925" i="0" noProof="0">
                                      <a:solidFill>
                                        <a:srgbClr val="142A3B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</m:d>
                            </m:num>
                            <m:den>
                              <m:r>
                                <a:rPr lang="cs-CZ" altLang="cs-CZ" sz="2925" i="1" noProof="0">
                                  <a:solidFill>
                                    <a:srgbClr val="142A3B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cs-CZ" altLang="cs-CZ" sz="2925" noProof="0"/>
              </a:p>
            </p:txBody>
          </p:sp>
        </mc:Choice>
        <mc:Fallback xmlns="">
          <p:sp>
            <p:nvSpPr>
              <p:cNvPr id="14" name="Vzorec 14" descr="směrodatná odchylka podílu = √[π × (1 − π) / n]"/>
              <p:cNvSpPr txBox="1"/>
              <p:nvPr/>
            </p:nvSpPr>
            <p:spPr>
              <a:xfrm>
                <a:off x="838200" y="3181350"/>
                <a:ext cx="13563600" cy="1143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/>
                <a:r>
                  <a:rPr lang="cs-CZ" altLang="cs-CZ" sz="2550" b="0" noProof="0">
                    <a:solidFill>
                      <a:srgbClr val="142A3B"/>
                    </a:solidFill>
                    <a:latin typeface="Arial"/>
                    <a:ea typeface="Arial"/>
                    <a:cs typeface="Arial"/>
                  </a:rPr>
                  <a:t xml:space="preserve">směrodatná odchylka podílu = √[π × (1 − π) / n]</a:t>
                </a:r>
                <a:endParaRPr lang="cs-CZ" altLang="cs-CZ" sz="2550" noProof="0"/>
              </a:p>
            </p:txBody>
          </p:sp>
        </mc:Fallback>
      </mc:AlternateContent>
      <p:sp>
        <p:nvSpPr>
          <p:cNvPr id="15" name="Text 15"/>
          <p:cNvSpPr txBox="1"/>
          <p:nvPr/>
        </p:nvSpPr>
        <p:spPr>
          <a:xfrm>
            <a:off x="838200" y="44767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π = 0,6,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200: 0,0346; </a:t>
            </a:r>
            <a:r>
              <a:rPr lang="cs-CZ" altLang="cs-CZ" sz="2850" b="0" i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z</a:t>
            </a:r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(0,675 − 0,6) / 0,0346 ≈ 2,165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2101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i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</a:t>
            </a:r>
            <a:r>
              <a:rPr lang="cs-CZ" altLang="cs-CZ" sz="2850" b="0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 = 50 → 0,069; 200 → 0,035; 800 → 0,017: </a:t>
            </a:r>
            <a:r>
              <a:rPr lang="cs-CZ" altLang="cs-CZ" sz="2850" b="1" noProof="0" dirty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čtyřnásobek pokusů půlí kolísání</a:t>
            </a:r>
            <a:endParaRPr lang="cs-CZ" altLang="cs-CZ" sz="2850" noProof="0" dirty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35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2857500"/>
            <a:ext cx="135636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cs-CZ" altLang="cs-CZ" sz="4950" b="1" noProof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Procvičování</a:t>
            </a:r>
            <a:endParaRPr lang="cs-CZ" altLang="cs-CZ" sz="4950" noProof="0"/>
          </a:p>
        </p:txBody>
      </p:sp>
      <p:sp>
        <p:nvSpPr>
          <p:cNvPr id="12" name="Text 12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C9DFE6"/>
                </a:solidFill>
                <a:latin typeface="Arial"/>
                <a:ea typeface="Arial"/>
                <a:cs typeface="Arial"/>
              </a:rPr>
              <a:t>36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1: Co číslo znamená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Uveďte vlastní příklad pravděpodobnosti v klasickém, četnostním a subjektivním pojetí.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Manželé mají osm dcer. Lékař jim řekl, že podle „zákona průměrů“ je nyní syn téměř jistý. Co je na úvaze chybného? Za jakého předpokladu by byla pravděpodobnost syna i nyní přibližně 0,5?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132, úloha 5.1, a s. 135, úloha 5.35. Česká adaptace.</a:t>
            </a:r>
            <a:endParaRPr lang="cs-CZ" altLang="cs-CZ" sz="16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6" name="Text 16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37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2: Losování odměn za účast ve výzkumu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Účastníci výzkumu dostávají lístky do slosování o odměnu. Vy máte jeden lístek, váš kamarád dva.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Prodáno 1 000 lístků, jedna cena: jaká je pravděpodobnost, že vyhrajete vy, kamarád, vy nebo kamarád?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24815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Lístků je jen 10, ceny dvě a vytažený lístek se nevrací: jaká je pravděpodobnost, že vyhrajete 2. cenu, víte-li, že jste nevyhráli 1. cenu? Že kamarád vyhraje 1. a vy 2. cenu? Že si vy dva rozdělíte obě ceny?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58674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c) Které pravděpodobnosti v b) jsou společné a které podmíněné?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132–133, úlohy 5.2–5.5. Česká adaptace.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38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3: Matka a dítě se dívají na sebe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Matka se během dne dívá na své dítě celkem 2 hodiny, dítě na matku celkem 3 hodiny. Předpokládejte, že se chovají nezávisle.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Jaká je pravděpodobnost, že se v náhodně zvolené chvíli dne podívají jeden na druhého současně?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2481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Jak se výsledek změní, když oba spí od 20 do 7 hodin?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9815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c) Je předpoklad nezávislosti rozumný? Co by znamenalo, kdyby se skutečně dívali na sebe častěji?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133, úlohy 5.8–5.9. Česká adaptace s doplněnou otázkou c).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39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4: Kde je chyba?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„Dotazník má senzitivitu 0,90, takže 90 % lidí s pozitivním výsledkem poruchu má.“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07657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„V poradně měl dotazník prediktivní hodnotu pozitivního testu 0,51; při plošném screeningu bude stejná.“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2481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c) „Mít právě 10 správných z 20 při tipování otázek ano–ne má pravděpodobnost 0,18, takže výsledek 10 je u tipujícího neobvyklý.“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54197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d) „Je pravděpodobnější, že Petr je tichý knihovník, než že je knihovník.“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Vlastní úlohy pro tuto výuku</a:t>
            </a:r>
            <a:endParaRPr lang="cs-CZ" altLang="cs-CZ" sz="16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5 minut</a:t>
            </a:r>
            <a:endParaRPr lang="cs-CZ" altLang="cs-CZ" sz="1575" noProof="0"/>
          </a:p>
        </p:txBody>
      </p:sp>
      <p:sp>
        <p:nvSpPr>
          <p:cNvPr id="18" name="Text 18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40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5: Kolika způsoby?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Účastník uvidí po jednom slově ze čtyř slovních druhů (podstatné jméno, sloveso, přídavné jméno, příslovce). Kolik je různých pořadí, má-li každé pořadí vidět jeden účastník?</a:t>
            </a:r>
            <a:endParaRPr lang="cs-CZ" altLang="cs-CZ" sz="2850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3524250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Z časových důvodů uvidí každý účastník jen dva ze čtyř slovních druhů. Kolik je různých dvojic, nezáleží-li na pořadí?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695825"/>
            <a:ext cx="13563600" cy="8858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c) Elektroencefalograf má čtyři funkční kanály a na hlavě je šest elektrod. Kolika způsoby lze vybrat čtyři elektrody k záznamu?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134, úlohy 5.26, 5.27 a 5.30. Česká adaptace; b) a c) změněny.</a:t>
            </a:r>
            <a:endParaRPr lang="cs-CZ" altLang="cs-CZ" sz="16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3 minut</a:t>
            </a:r>
            <a:endParaRPr lang="cs-CZ" altLang="cs-CZ" sz="1575" noProof="0"/>
          </a:p>
        </p:txBody>
      </p:sp>
      <p:sp>
        <p:nvSpPr>
          <p:cNvPr id="17" name="Text 17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41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Úloha 6: Hodí se binomický model?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771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 každé situace rozhodněte, zda lze počet použít jako binomickou náhodnou proměnnou. Pokud ne, která podmínka je porušena?</a:t>
            </a:r>
            <a:endParaRPr lang="cs-CZ" altLang="cs-CZ" sz="247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962275"/>
            <a:ext cx="13563600" cy="771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a) Deset účastníků tipuje, který z pěti podnětů experimentátor předem určil jako správný; počítáme správné tipy v prvním pokusu.</a:t>
            </a:r>
            <a:endParaRPr lang="cs-CZ" altLang="cs-CZ" sz="2475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4019550"/>
            <a:ext cx="13563600" cy="390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b) Ze skupiny 12 studentů, z nichž 3 jsou leváci, vybereme bez vracení 5; počítáme leváky.</a:t>
            </a:r>
            <a:endParaRPr lang="cs-CZ" altLang="cs-CZ" sz="2475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695825"/>
            <a:ext cx="13563600" cy="390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c) Počítáme, kolik pokusů potřebuje účastník do prvního správného rozpoznání podnětu.</a:t>
            </a:r>
            <a:endParaRPr lang="cs-CZ" altLang="cs-CZ" sz="2475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5372100"/>
            <a:ext cx="13563600" cy="7715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475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d) Student odpovídá na 15 otázek, z nichž některé umí a jiné tipuje; počítáme správné odpovědi.</a:t>
            </a:r>
            <a:endParaRPr lang="cs-CZ" altLang="cs-CZ" sz="2475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Situace a) podle Howella (2013), s. 133, úloha 5.21; ostatní vlastní</a:t>
            </a:r>
            <a:endParaRPr lang="cs-CZ" altLang="cs-CZ" sz="165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· přibližně 4 minut</a:t>
            </a:r>
            <a:endParaRPr lang="cs-CZ" altLang="cs-CZ" sz="1575" noProof="0"/>
          </a:p>
        </p:txBody>
      </p:sp>
      <p:sp>
        <p:nvSpPr>
          <p:cNvPr id="19" name="Text 19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42</a:t>
            </a:r>
            <a:endParaRPr lang="cs-CZ" altLang="cs-CZ" sz="1575" noProof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"/>
          <p:cNvSpPr txBox="1"/>
          <p:nvPr/>
        </p:nvSpPr>
        <p:spPr>
          <a:xfrm>
            <a:off x="838200" y="571500"/>
            <a:ext cx="135636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3600" b="1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Práce v Excelu: doprovodný sešit</a:t>
            </a:r>
            <a:endParaRPr lang="cs-CZ" altLang="cs-CZ" sz="3600" noProof="0"/>
          </a:p>
        </p:txBody>
      </p:sp>
      <p:sp>
        <p:nvSpPr>
          <p:cNvPr id="12" name="Text 12"/>
          <p:cNvSpPr txBox="1"/>
          <p:nvPr/>
        </p:nvSpPr>
        <p:spPr>
          <a:xfrm>
            <a:off x="838200" y="1905000"/>
            <a:ext cx="13563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925" b="1" noProof="0">
                <a:solidFill>
                  <a:srgbClr val="176A83"/>
                </a:solidFill>
                <a:latin typeface="Arial"/>
                <a:ea typeface="Arial"/>
                <a:cs typeface="Arial"/>
              </a:rPr>
              <a:t>kapitola_05_pravdepodobnost_cviceni.xlsx</a:t>
            </a:r>
            <a:endParaRPr lang="cs-CZ" altLang="cs-CZ" sz="2925" noProof="0"/>
          </a:p>
        </p:txBody>
      </p:sp>
      <p:sp>
        <p:nvSpPr>
          <p:cNvPr id="13" name="Text 13"/>
          <p:cNvSpPr txBox="1"/>
          <p:nvPr/>
        </p:nvSpPr>
        <p:spPr>
          <a:xfrm>
            <a:off x="838200" y="26479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U1_tabulka: přípravný kurz a úspěch u zkoušky (160 studentů)</a:t>
            </a:r>
            <a:endParaRPr lang="cs-CZ" altLang="cs-CZ" sz="2850" noProof="0"/>
          </a:p>
        </p:txBody>
      </p:sp>
      <p:sp>
        <p:nvSpPr>
          <p:cNvPr id="14" name="Text 14"/>
          <p:cNvSpPr txBox="1"/>
          <p:nvPr/>
        </p:nvSpPr>
        <p:spPr>
          <a:xfrm>
            <a:off x="838200" y="338137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U2_screening: mamografie, přirozené četnosti a Bayesova věta</a:t>
            </a:r>
            <a:endParaRPr lang="cs-CZ" altLang="cs-CZ" sz="2850" noProof="0"/>
          </a:p>
        </p:txBody>
      </p:sp>
      <p:sp>
        <p:nvSpPr>
          <p:cNvPr id="15" name="Text 15"/>
          <p:cNvSpPr txBox="1"/>
          <p:nvPr/>
        </p:nvSpPr>
        <p:spPr>
          <a:xfrm>
            <a:off x="838200" y="411480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U3_tipovani: deset účastníků, pět možností, rozdělení a graf</a:t>
            </a:r>
            <a:endParaRPr lang="cs-CZ" altLang="cs-CZ" sz="2850" noProof="0"/>
          </a:p>
        </p:txBody>
      </p:sp>
      <p:sp>
        <p:nvSpPr>
          <p:cNvPr id="16" name="Text 16"/>
          <p:cNvSpPr txBox="1"/>
          <p:nvPr/>
        </p:nvSpPr>
        <p:spPr>
          <a:xfrm>
            <a:off x="838200" y="4848225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U4_test_20: 11 správných z 20 otázek ano–ne</a:t>
            </a:r>
            <a:endParaRPr lang="cs-CZ" altLang="cs-CZ" sz="2850" noProof="0"/>
          </a:p>
        </p:txBody>
      </p:sp>
      <p:sp>
        <p:nvSpPr>
          <p:cNvPr id="17" name="Text 17"/>
          <p:cNvSpPr txBox="1"/>
          <p:nvPr/>
        </p:nvSpPr>
        <p:spPr>
          <a:xfrm>
            <a:off x="838200" y="5581650"/>
            <a:ext cx="1356360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2850" b="0" noProof="0">
                <a:solidFill>
                  <a:srgbClr val="142A3B"/>
                </a:solidFill>
                <a:latin typeface="Arial"/>
                <a:ea typeface="Arial"/>
                <a:cs typeface="Arial"/>
              </a:rPr>
              <a:t>U5_aproximace: zkouška v autoškole, 22 z 30, a podíl</a:t>
            </a:r>
            <a:endParaRPr lang="cs-CZ" altLang="cs-CZ" sz="2850" noProof="0"/>
          </a:p>
        </p:txBody>
      </p:sp>
      <p:sp>
        <p:nvSpPr>
          <p:cNvPr id="18" name="Text 18"/>
          <p:cNvSpPr txBox="1"/>
          <p:nvPr/>
        </p:nvSpPr>
        <p:spPr>
          <a:xfrm>
            <a:off x="838200" y="7334250"/>
            <a:ext cx="12382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650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Howell (2013), s. 133–135, úlohy 5.21–5.23, 5.31, 5.33 a 5.36–5.38. Česká adaptace; U1 vlastní.</a:t>
            </a:r>
            <a:endParaRPr lang="cs-CZ" altLang="cs-CZ" sz="1650" noProof="0"/>
          </a:p>
        </p:txBody>
      </p:sp>
      <p:sp>
        <p:nvSpPr>
          <p:cNvPr id="19" name="Text 19"/>
          <p:cNvSpPr txBox="1"/>
          <p:nvPr/>
        </p:nvSpPr>
        <p:spPr>
          <a:xfrm>
            <a:off x="838200" y="8086725"/>
            <a:ext cx="1095375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Procvičení v Excelu · přibližně 20 minut</a:t>
            </a:r>
            <a:endParaRPr lang="cs-CZ" altLang="cs-CZ" sz="1575" noProof="0"/>
          </a:p>
        </p:txBody>
      </p:sp>
      <p:sp>
        <p:nvSpPr>
          <p:cNvPr id="20" name="Text 20"/>
          <p:cNvSpPr txBox="1"/>
          <p:nvPr/>
        </p:nvSpPr>
        <p:spPr>
          <a:xfrm>
            <a:off x="13716000" y="8086725"/>
            <a:ext cx="685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cs-CZ" altLang="cs-CZ" sz="1575" b="0" noProof="0">
                <a:solidFill>
                  <a:srgbClr val="576574"/>
                </a:solidFill>
                <a:latin typeface="Arial"/>
                <a:ea typeface="Arial"/>
                <a:cs typeface="Arial"/>
              </a:rPr>
              <a:t>43</a:t>
            </a:r>
            <a:endParaRPr lang="cs-CZ" altLang="cs-CZ" sz="1575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13689</Words>
  <Application>Microsoft Office PowerPoint</Application>
  <PresentationFormat>Vlastní</PresentationFormat>
  <Paragraphs>567</Paragraphs>
  <Slides>43</Slides>
  <Notes>43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43</vt:i4>
      </vt:variant>
    </vt:vector>
  </HeadingPairs>
  <TitlesOfParts>
    <vt:vector size="47" baseType="lpstr">
      <vt:lpstr>Arial</vt:lpstr>
      <vt:lpstr>Calibri</vt:lpstr>
      <vt:lpstr>Cambria Math</vt:lpstr>
      <vt:lpstr>ChatGPT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Pravděpodobnost</dc:title>
  <dc:creator>Karel Rečka</dc:creator>
  <cp:lastModifiedBy>Karel Rečka</cp:lastModifiedBy>
  <cp:revision>2</cp:revision>
  <dcterms:created xsi:type="dcterms:W3CDTF">2026-10-27T21:10:34Z</dcterms:created>
  <dcterms:modified xsi:type="dcterms:W3CDTF">2026-10-27T21:24:13Z</dcterms:modified>
  <dc:language>cs-CZ</dc:language>
</cp:coreProperties>
</file>