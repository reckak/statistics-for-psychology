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5240000" cy="8572500"/>
  <p:notesSz cx="6858000" cy="9144000"/>
  <p:defaultTextStyle>
    <a:defPPr>
      <a:defRPr lang="cs-CZ" altLang="cs-CZ" noProof="0"/>
    </a:defPPr>
    <a:lvl1pPr marL="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4686" autoAdjust="0"/>
  </p:normalViewPr>
  <p:slideViewPr>
    <p:cSldViewPr snapToGrid="0">
      <p:cViewPr varScale="1">
        <p:scale>
          <a:sx n="62" d="100"/>
          <a:sy n="62" d="100"/>
        </p:scale>
        <p:origin x="28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cs-CZ" altLang="cs-CZ" sz="1200" kern="1200" noProof="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minulé kapitole jsme data třídili do tabulek četností a zobrazovali grafy. Dnes se naučíme shrnout rozdělení několika čísly: </a:t>
            </a:r>
            <a:r>
              <a:rPr lang="cs-CZ" altLang="cs-CZ" sz="1200" b="1" i="0" noProof="0">
                <a:latin typeface="Arial"/>
              </a:rPr>
              <a:t>ukazateli polohy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1" i="0" noProof="0">
                <a:latin typeface="Arial"/>
              </a:rPr>
              <a:t>ukazateli variability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Budeme se ptát na tři věci: kde data na škále leží, jak moc se od sebe jednotlivé hodnoty liší a jak obojí srozumitelně sdělit.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Souhrnné číslo je užitečné jen tehdy, když víme, kterou vlastnost dat vystihuje a kterou ponechává stranou.</a:t>
            </a:r>
            <a:r>
              <a:rPr lang="cs-CZ" altLang="cs-CZ" sz="1200" b="0" i="0" noProof="0">
                <a:latin typeface="Arial"/>
              </a:rPr>
              <a:t> Proto budeme u každého ukazatele sledovat i to, co z něj nepoznáme.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Všechna data ve výkladu jsou modelová, sestavená pro výuku; nejde o výsledky skutečného výzkumu. Úlohy na konci vycházejí z Howellovy učebnice.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Stačí k popisu výsledků skupiny jedno číslo, například průměr? Nestačí: dvě skupiny se stejným průměrem se mohou výrazně lišit tím, jak jsou jejich výsledky rozložené.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https://reckak.github.io/statistics-for-psychology/quarto/kapitola_03.html#sec-kapitola-03.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Začneme příkladem, který ukazuje, proč jedno číslo nestačí. Graf zobrazuje dvě skupiny po pěti modelových účastnících a jejich doby dokončení úlohy v minutách.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první skupině jsou doby 5, 6, 6, 6 a 7 minut, ve druhé 2, 4, 6, 8 a 10 minut. </a:t>
            </a:r>
            <a:r>
              <a:rPr lang="cs-CZ" altLang="cs-CZ" sz="1200" b="1" i="0" noProof="0">
                <a:latin typeface="Arial"/>
              </a:rPr>
              <a:t>Průměr je v obou skupinách 6 minut</a:t>
            </a:r>
            <a:r>
              <a:rPr lang="cs-CZ" altLang="cs-CZ" sz="1200" b="0" i="0" noProof="0">
                <a:latin typeface="Arial"/>
              </a:rPr>
              <a:t>, ale v první se všichni vešli mezi pět a sedm minut, ve druhé mezi dvě a deset.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Ukazatele polohy</a:t>
            </a:r>
            <a:r>
              <a:rPr lang="cs-CZ" altLang="cs-CZ" sz="1200" b="0" i="0" noProof="0">
                <a:latin typeface="Arial"/>
              </a:rPr>
              <a:t> (measures of location) vyjadřují, kde se rozdělení na škále nachází. </a:t>
            </a:r>
            <a:r>
              <a:rPr lang="cs-CZ" altLang="cs-CZ" sz="1200" b="1" i="0" noProof="0">
                <a:latin typeface="Arial"/>
              </a:rPr>
              <a:t>Ukazatele variability</a:t>
            </a:r>
            <a:r>
              <a:rPr lang="cs-CZ" altLang="cs-CZ" sz="1200" b="0" i="0" noProof="0">
                <a:latin typeface="Arial"/>
              </a:rPr>
              <a:t> (measures of variability) zachycují, jak se hodnoty navzájem liší. </a:t>
            </a:r>
            <a:r>
              <a:rPr lang="cs-CZ" altLang="cs-CZ" sz="1200" b="0" i="1" noProof="0">
                <a:latin typeface="Arial"/>
              </a:rPr>
              <a:t>K popisu dat potřebujeme obojí: stejná poloha neznamená stejné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Číslu vypočtenému z dat říkáme </a:t>
            </a:r>
            <a:r>
              <a:rPr lang="cs-CZ" altLang="cs-CZ" sz="1200" b="1" i="0" noProof="0">
                <a:latin typeface="Arial"/>
              </a:rPr>
              <a:t>statistika</a:t>
            </a:r>
            <a:r>
              <a:rPr lang="cs-CZ" altLang="cs-CZ" sz="1200" b="0" i="0" noProof="0">
                <a:latin typeface="Arial"/>
              </a:rPr>
              <a:t> (statistic). Číselné charakteristice celé populace nebo modelu říkáme </a:t>
            </a:r>
            <a:r>
              <a:rPr lang="cs-CZ" altLang="cs-CZ" sz="1200" b="1" i="0" noProof="0">
                <a:latin typeface="Arial"/>
              </a:rPr>
              <a:t>parametr</a:t>
            </a:r>
            <a:r>
              <a:rPr lang="cs-CZ" altLang="cs-CZ" sz="1200" b="0" i="0" noProof="0">
                <a:latin typeface="Arial"/>
              </a:rPr>
              <a:t> (parameter). Průměr našich pěti účastníků je statistika; průměr všech lidí, o které se zajímáme, je parametr, který z výběru jen odhadujeme.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Plánujete délku vyšetření pro další klienty. Pro kterou skupinu vám průměr 6 minut pomůže více? Pro první, kde se doby od průměru téměř neliší. Ve druhé skupině by někteří potřebovali až deset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https://reckak.github.io/statistics-for-psychology/quarto/kapitola_03.html#sec-poloha-variabilita.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Střed rozdělení lze vyjádřit třemi způsoby. Ukážeme je na jednom průběžném příkladu: pět modelových účastníků dokončilo úlohu měřící pozornost za 4, 5, 5, 6 a 10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Modus</a:t>
            </a:r>
            <a:r>
              <a:rPr lang="cs-CZ" altLang="cs-CZ" sz="1200" b="0" i="0" noProof="0">
                <a:latin typeface="Arial"/>
              </a:rPr>
              <a:t> (mode) je hodnota nebo kategorie s nejvyšší četností. Zde je modem </a:t>
            </a:r>
            <a:r>
              <a:rPr lang="cs-CZ" altLang="cs-CZ" sz="1200" b="1" i="0" noProof="0">
                <a:latin typeface="Arial"/>
              </a:rPr>
              <a:t>5 minut</a:t>
            </a:r>
            <a:r>
              <a:rPr lang="cs-CZ" altLang="cs-CZ" sz="1200" b="0" i="0" noProof="0">
                <a:latin typeface="Arial"/>
              </a:rPr>
              <a:t>, protože pětka se vyskytuje dvakrát a ostatní hodnoty jednou. Modem je hodnota 5, nikoli její četnost 2.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Modus můžeme určit i u nominální proměnné, například u nejčastějšího způsobu přípravy na zkoušku. Průměr ani medián tam smysl nemají.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Nejčastější neznamená většinový.</a:t>
            </a:r>
            <a:r>
              <a:rPr lang="cs-CZ" altLang="cs-CZ" sz="1200" b="0" i="0" noProof="0">
                <a:latin typeface="Arial"/>
              </a:rPr>
              <a:t> Pět minut mají jen dva z pěti účastníků, tedy 40,0 %. Modus také nemusí být jediný: pro hodnoty 4, 4, 6, 6 a 9 jsou mody 4 a 6 a uvedeme oba.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jemně měřených veličin, například reakčních časů na tisíciny sekundy, se téměř žádná hodnota neopakuje. Náhodná shoda dvou časů pak nevystihuje, kde se data soustřeďují; užitečnější je histogram a jeho nejčetnější interval.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Ve skupině 100 studentů uvedlo 30 jako hlavní strategii učení opakované čtení, ostatní strategie byly méně časté. Používá opakované čtení většina? Ne, je to modus, ale používá jej jen 30 % studentů.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https://reckak.github.io/statistics-for-psychology/quarto/kapitola_03.html#sec-modus.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Druhý způsob vyjádření středu se neptá na četnost, ale na pořadí. Hodnoty nejprve seřadíme od nejmenší po největší.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Medián</a:t>
            </a:r>
            <a:r>
              <a:rPr lang="cs-CZ" altLang="cs-CZ" sz="1200" b="0" i="0" noProof="0">
                <a:latin typeface="Arial"/>
              </a:rPr>
              <a:t> (median) vyjadřuje prostřední polohu seřazeného souboru. Při lichém počtu hodnot je to prostřední hodnota: v řadě 4, 5, 5, 6, 10 je třetí hodnota </a:t>
            </a:r>
            <a:r>
              <a:rPr lang="cs-CZ" altLang="cs-CZ" sz="1200" b="1" i="0" noProof="0">
                <a:latin typeface="Arial"/>
              </a:rPr>
              <a:t>5 minut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sudém počtu číselných hodnot používáme průměr dvou prostředních. Pro 4, 5, 6 a 10 je medián (5 + 6) / 2 = 5,5 minuty. Takovou dobu nikdo nenaměřil; je to hranice prostředku řady.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Přesná definice říká: alespoň polovina hodnot je menší nebo rovna mediánu a alespoň polovina větší nebo rovna.</a:t>
            </a:r>
            <a:r>
              <a:rPr lang="cs-CZ" altLang="cs-CZ" sz="1200" b="0" i="0" noProof="0">
                <a:latin typeface="Arial"/>
              </a:rPr>
              <a:t> Slovo „alespoň“ je důležité kvůli shodným hodnotám. V našem příkladu je nejvýše 5 minut u 60,0 % hodnot a nejméně 5 minut u 80,0 % hodnot.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slovních ordinálních kategorií, například „vůbec, trochu, dost, zcela“, stačí k určení prostřední kategorie pořadí. Padnou-li dvě prostřední odpovědi do různých kategorií, uvedeme obě; číslo 2,5 by nebylo žádnou měřenou kategorií.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Změní se medián, když nejdelší dobu 10 minut nahradíme 30 minutami? Nezmění, prostřední hodnota zůstane 5 minut. K tomu se za chvíli vrátíme.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https://reckak.github.io/statistics-for-psychology/quarto/kapitola_03.html#sec-median.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způsob vyjádření středu využívá velikost všech hodnot. </a:t>
            </a:r>
            <a:r>
              <a:rPr lang="cs-CZ" altLang="cs-CZ" sz="1200" b="1" i="0" noProof="0">
                <a:latin typeface="Arial"/>
              </a:rPr>
              <a:t>Aritmetický průměr</a:t>
            </a:r>
            <a:r>
              <a:rPr lang="cs-CZ" altLang="cs-CZ" sz="1200" b="0" i="0" noProof="0">
                <a:latin typeface="Arial"/>
              </a:rPr>
              <a:t> (arithmetic mean) značíme v této učebnici malým kurzivním </a:t>
            </a:r>
            <a:r>
              <a:rPr lang="cs-CZ" altLang="cs-CZ" sz="1200" b="1" i="0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Představme si, že celkový čas všech pěti účastníků rozdělíme rovnoměrně: každý dostane stejný díl. Vzorec říká totéž: sečteme všechny hodnoty x s indexem i od prvního do n-tého pozorování a součet vydělíme jejich počtem 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Dosadíme: (4 + 5 + 5 + 6 + 10) / 5 = 30 / 5 = </a:t>
            </a:r>
            <a:r>
              <a:rPr lang="cs-CZ" altLang="cs-CZ" sz="1200" b="1" i="0" noProof="0">
                <a:latin typeface="Arial"/>
              </a:rPr>
              <a:t>6 minut</a:t>
            </a:r>
            <a:r>
              <a:rPr lang="cs-CZ" altLang="cs-CZ" sz="1200" b="0" i="0" noProof="0">
                <a:latin typeface="Arial"/>
              </a:rPr>
              <a:t>. Šest minut žádný účastník nenaměřil; průměr nemusí být pozorovanou hodnotou.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Průměr souvisí přímo se součtem: pět účastníků dohromady potřebovalo 30 minut, tedy 6 minut na osobu.</a:t>
            </a:r>
            <a:r>
              <a:rPr lang="cs-CZ" altLang="cs-CZ" sz="1200" b="0" i="0" noProof="0">
                <a:latin typeface="Arial"/>
              </a:rPr>
              <a:t> Proto je vhodný, když nás zajímá celková velikost rozdělená mezi případy.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Význam průměru závisí na tom, co čísla představují. Průměrný čas shrnuje naměřené doby, průměrný dotazníkový skór přidělené body. K výpočtu průměru není nutné, aby data měla normální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průměr 6 minut vyšel vyšší než medián i modus (5 minut)? Protože do součtu vstupuje i nejdelší doba 10 minut, která součet zvyšuje, ale prostřední polohu nemění.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https://reckak.github.io/statistics-for-psychology/quarto/kapitola_03.html#sec-prumer.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Právě jsme viděli, že průměr reaguje na nejdelší dobu. Podívejme se, co se stane, když ji ještě prodloužíme: místo 10 minut potřeboval poslední účastník 30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Součet vzroste o 20 minut, takže průměr se zvýší o 20 / 5 = 4 minuty, </a:t>
            </a:r>
            <a:r>
              <a:rPr lang="cs-CZ" altLang="cs-CZ" sz="1200" b="1" i="0" noProof="0">
                <a:latin typeface="Arial"/>
              </a:rPr>
              <a:t>z 6 na 10 minut</a:t>
            </a:r>
            <a:r>
              <a:rPr lang="cs-CZ" altLang="cs-CZ" sz="1200" b="0" i="0" noProof="0">
                <a:latin typeface="Arial"/>
              </a:rPr>
              <a:t>. </a:t>
            </a:r>
            <a:r>
              <a:rPr lang="cs-CZ" altLang="cs-CZ" sz="1200" b="1" i="0" noProof="0">
                <a:latin typeface="Arial"/>
              </a:rPr>
              <a:t>Medián i modus zůstávají 5 minut</a:t>
            </a:r>
            <a:r>
              <a:rPr lang="cs-CZ" altLang="cs-CZ" sz="1200" b="0" i="0" noProof="0">
                <a:latin typeface="Arial"/>
              </a:rPr>
              <a:t>, protože prostřední ani nejčastější hodnota se nezměnila.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Graf ukazuje oba soubory ve stejném měřítku: plná čára průměru se posunula doprava, přerušovaná čára mediánu zůstala na místě.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Průměr je citlivý na vzdálené hodnoty, medián je vůči nim odolný. Ani jedno není samo o sobě výhoda nebo vada.</a:t>
            </a:r>
            <a:r>
              <a:rPr lang="cs-CZ" altLang="cs-CZ" sz="1200" b="0" i="0" noProof="0">
                <a:latin typeface="Arial"/>
              </a:rPr>
              <a:t> Pokud nás zajímá celková časová zátěž, má průměr změnu zachytit. Pokud chceme popsat prostřední dobu, je užitečné, že se medián nezměnil.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Odolnost mediánu neznamená, že dlouhou dobu smíme automaticky vyřadit. Může jít o chybu záznamu, přerušení úlohy, ale také o platný pomalý výkon; to je třeba ověřit v původním záznamu.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Vedení kliniky chce vědět, kolik minut má na jednoho klienta rezervovat, aby celkový čas vystačil. Použijete průměr, nebo medián? Průměr, protože souvisí s celkovým součtem času.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https://reckak.github.io/statistics-for-psychology/quarto/kapitola_03.html#sec-prumer.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Shrňme si tři ukazatele středu vedle sebe. Žádný není nejlepší pro všechny situace; každý odpovídá na jinou otázku.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Modus</a:t>
            </a:r>
            <a:r>
              <a:rPr lang="cs-CZ" altLang="cs-CZ" sz="1200" b="0" i="0" noProof="0">
                <a:latin typeface="Arial"/>
              </a:rPr>
              <a:t> odpovídá na otázku „Co se vyskytuje nejčastěji?“. Je použitelný i pro nominální kategorie, ale nemusí být jediný a nejčastější hodnota nemusí zastupovat většinu.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Medián</a:t>
            </a:r>
            <a:r>
              <a:rPr lang="cs-CZ" altLang="cs-CZ" sz="1200" b="0" i="0" noProof="0">
                <a:latin typeface="Arial"/>
              </a:rPr>
              <a:t> odpovídá na otázku „Kde leží prostředek seřazených hodnot?“. Stačí mu pořadí a je odolný vůči krajním hodnotám. Nezaznamená však změny mimo prostředek řady a nezjistíme z něj součet.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Průměr</a:t>
            </a:r>
            <a:r>
              <a:rPr lang="cs-CZ" altLang="cs-CZ" sz="1200" b="0" i="0" noProof="0">
                <a:latin typeface="Arial"/>
              </a:rPr>
              <a:t> odpovídá na otázku „Kolik připadá na jeden případ, rozdělíme-li součet rovnoměrně?“. Využívá velikost každé hodnoty, vyžaduje ale smysluplné sčítání a reaguje i na jedinou vzdálenou hodnotu.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Při volbě společně zvažujeme otázku, úroveň měření a tvar rozdělení.</a:t>
            </a:r>
            <a:r>
              <a:rPr lang="cs-CZ" altLang="cs-CZ" sz="1200" b="0" i="0" noProof="0">
                <a:latin typeface="Arial"/>
              </a:rPr>
              <a:t> U výrazně nesouměrných nebo vícevrcholových dat je vhodné uvést průměr i medián, vysvětlit jejich rozdíl a doplnit graf.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Který ukazatel středu použijete pro proměnnou „hlavní strategie učení“ s kategoriemi bez pořadí? Pouze modus; medián vyžaduje pořadí a průměr smysluplné sčítání.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https://reckak.github.io/statistics-for-psychology/quarto/kapitola_03.html#sec-volba-stredu.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Vztah mezi třemi ukazateli středu závisí na tvaru rozdělení. Tři grafy ukazují modelová rozdělení testových skórů: souměrné, zešikmené doleva a zešikmené doprava.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Připomeňme, že </a:t>
            </a:r>
            <a:r>
              <a:rPr lang="cs-CZ" altLang="cs-CZ" sz="1200" b="1" i="0" noProof="0">
                <a:latin typeface="Arial"/>
              </a:rPr>
              <a:t>směr zešikmení pojmenováváme podle delšího chvostu</a:t>
            </a:r>
            <a:r>
              <a:rPr lang="cs-CZ" altLang="cs-CZ" sz="1200" b="0" i="0" noProof="0">
                <a:latin typeface="Arial"/>
              </a:rPr>
              <a:t>, tedy podle strany, kam rozdělení vybíhá ke vzdáleným hodnotám, nikoli podle strany, kde leží vrchol.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přesně souměrného rozdělení s jedním vrcholem uprostřed leží </a:t>
            </a:r>
            <a:r>
              <a:rPr lang="cs-CZ" altLang="cs-CZ" sz="1200" b="1" i="0" noProof="0">
                <a:latin typeface="Arial"/>
              </a:rPr>
              <a:t>průměr, medián i modus na stejném místě</a:t>
            </a:r>
            <a:r>
              <a:rPr lang="cs-CZ" altLang="cs-CZ" sz="1200" b="0" i="0" noProof="0">
                <a:latin typeface="Arial"/>
              </a:rPr>
              <a:t>, zde na 50 bodech. V reálných, jen přibližně souměrných datech očekáváme jejich blízkost, ne přesnou shodu.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zešikmení doleva, například u lehkého testu s několika velmi nízkými skóry, je v našem modelu průměr 71,4, medián 73,6 a modus 80 bodů. Při zešikmení doprava je pořadí zrcadlové: modus 20, medián 26,4 a průměr 28,6 bodu. </a:t>
            </a:r>
            <a:r>
              <a:rPr lang="cs-CZ" altLang="cs-CZ" sz="1200" b="0" i="1" noProof="0">
                <a:latin typeface="Arial"/>
              </a:rPr>
              <a:t>Vzdálené hodnoty v chvostu posouvají průměr nejvíce.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Toto pořadí nepoužíváme jako definici ani jako neomylný test šikmosti.</a:t>
            </a:r>
            <a:r>
              <a:rPr lang="cs-CZ" altLang="cs-CZ" sz="1200" b="0" i="0" noProof="0">
                <a:latin typeface="Arial"/>
              </a:rPr>
              <a:t> Existují rozdělení, u nichž medián leží mimo interval mezi modem a průměrem. Shoda průměru a mediánu také sama nedokazuje souměrnost. Tvar posuzujeme z grafu celého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U příjmů domácností bývá průměr vyšší než medián. Co to naznačuje o tvaru rozdělení? Delší pravý chvost: několik velmi vysokých příjmů zvyšuje součet. Jistotu by nám dal až graf.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https://reckak.github.io/statistics-for-psychology/quarto/kapitola_03.html#sec-stred-tvar.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Průměr souvisí se součtem, a proto umíme spojit průměry několika skupin, známe-li jejich velikosti. U mediánu to obecně nejde.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Deset účastníků dokončilo úlohu v průměru za 4 minuty a třicet účastníků za 8 minut. První skupina strávila úlohou celkem 10 × 4 = 40 minut, druhá 30 × 8 = 240 minut, dohromady 280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Součet vydělíme počtem všech lidí: 280 / 40 = </a:t>
            </a:r>
            <a:r>
              <a:rPr lang="cs-CZ" altLang="cs-CZ" sz="1200" b="1" i="0" noProof="0">
                <a:latin typeface="Arial"/>
              </a:rPr>
              <a:t>7 minut</a:t>
            </a:r>
            <a:r>
              <a:rPr lang="cs-CZ" altLang="cs-CZ" sz="1200" b="0" i="0" noProof="0">
                <a:latin typeface="Arial"/>
              </a:rPr>
              <a:t>. Tomuto postupu říkáme </a:t>
            </a:r>
            <a:r>
              <a:rPr lang="cs-CZ" altLang="cs-CZ" sz="1200" b="1" i="0" noProof="0">
                <a:latin typeface="Arial"/>
              </a:rPr>
              <a:t>vážený průměr</a:t>
            </a:r>
            <a:r>
              <a:rPr lang="cs-CZ" altLang="cs-CZ" sz="1200" b="0" i="0" noProof="0">
                <a:latin typeface="Arial"/>
              </a:rPr>
              <a:t> (weighted mean): každý skupinový průměr dostává váhu podle velikosti své skupiny.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Při spojování skupin musíme zachovat příspěvek každého člověka.</a:t>
            </a:r>
            <a:r>
              <a:rPr lang="cs-CZ" altLang="cs-CZ" sz="1200" b="0" i="0" noProof="0">
                <a:latin typeface="Arial"/>
              </a:rPr>
              <a:t> Prostý průměr dvou skupinových průměrů, (4 + 8) / 2 = 6, by dal oběma skupinám stejnou váhu, přestože jedna má třikrát více lidí. Odpovídá na jinou otázku: jaký je průměr dvou skupinových charakteristik.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Společný průměr 7 minut leží mezi oběma skupinovými průměry, ale blíže k 8 minutám, protože větší skupina přispívá více.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Dva semináře mají průměrný počet bodů 60 a 80. Kdy je společný průměr přesně 70? Jen když mají oba semináře stejný počet studentů.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https://reckak.github.io/statistics-for-psychology/quarto/kapitola_03.html#sec-vazeny-prumer.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Medián popisuje prostřední polohu. Často nás ale zajímá jiné místo rozdělení, například doba, do níž úlohu dokončí většina účastníků. K tomu slouží kvantily.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Kvantil</a:t>
            </a:r>
            <a:r>
              <a:rPr lang="cs-CZ" altLang="cs-CZ" sz="1200" b="0" i="0" noProof="0">
                <a:latin typeface="Arial"/>
              </a:rPr>
              <a:t> (quantile) je hodnota na škále spojená se zvolenou úrovní kumulativního zastoupení. Úroveň značíme p a volíme ji jako podíl od 0 do 1; kvantil pak zapisujeme q s indexem p.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Percentily</a:t>
            </a:r>
            <a:r>
              <a:rPr lang="cs-CZ" altLang="cs-CZ" sz="1200" b="0" i="0" noProof="0">
                <a:latin typeface="Arial"/>
              </a:rPr>
              <a:t> (percentiles) vyjadřují úrovně v setinách: 25. percentil je kvantil pro p = 0,25. </a:t>
            </a:r>
            <a:r>
              <a:rPr lang="cs-CZ" altLang="cs-CZ" sz="1200" b="1" i="0" noProof="0">
                <a:latin typeface="Arial"/>
              </a:rPr>
              <a:t>Kvartily</a:t>
            </a:r>
            <a:r>
              <a:rPr lang="cs-CZ" altLang="cs-CZ" sz="1200" b="0" i="0" noProof="0">
                <a:latin typeface="Arial"/>
              </a:rPr>
              <a:t> (quartiles) jsou kvantily pro čtvrtinu, polovinu a tři čtvrtiny. Druhý kvartil je medián.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Slovo kvartil zde označuje hraniční hodnotu na škále, nikoli jednu ze čtyř skupin lidí.</a:t>
            </a:r>
            <a:r>
              <a:rPr lang="cs-CZ" altLang="cs-CZ" sz="1200" b="0" i="0" noProof="0">
                <a:latin typeface="Arial"/>
              </a:rPr>
              <a:t> V našem příkladu je 1. kvartil 5 minut, medián 5 minut a 3. kvartil 6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konečném souboru nelze vždy oddělit přesně požadovaný podíl dat, proto existuje více konvencí výpočtu. Pro číselná data používáme v této učebnici postup funkce </a:t>
            </a:r>
            <a:r>
              <a:rPr lang="cs-CZ" altLang="cs-CZ" sz="1200" b="1" i="0" noProof="0">
                <a:latin typeface="Arial"/>
              </a:rPr>
              <a:t>PERCENTIL.INC</a:t>
            </a:r>
            <a:r>
              <a:rPr lang="cs-CZ" altLang="cs-CZ" sz="1200" b="0" i="0" noProof="0">
                <a:latin typeface="Arial"/>
              </a:rPr>
              <a:t>, který si ukážeme na dalším slidu.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Student říká: „Jsem ve třetím kvartilu.“ Co je na tom nepřesné? Kvartil je hodnota, ne skupina. Přesnější je říci, že jeho výsledek leží například mezi mediánem a 3. kvartilem.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https://reckak.github.io/statistics-for-psychology/quarto/kapitola_03.html#sec-kvantily.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Jak kvantil vypočítat? Ukážeme si to na jedenácti různých modelových dobách dokončení úlohy, seřazených od 4 do 22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Mezi jedenácti pozicemi je deset mezer. Konvence PERCENTIL.INC přiřadí první hodnotě úroveň 0 %, poslední 100 % a mezi sousedními pozicemi postupuje vždy o stejný díl, zde o 10 procentních bodů. Horní graf tyto přiřazené úrovně ukazuje.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zvolenou úroveň p určíme pozici v seřazené řadě: </a:t>
            </a:r>
            <a:r>
              <a:rPr lang="cs-CZ" altLang="cs-CZ" sz="1200" b="1" i="0" noProof="0">
                <a:latin typeface="Arial"/>
              </a:rPr>
              <a:t>pozice = 1 + (n − 1) × p</a:t>
            </a:r>
            <a:r>
              <a:rPr lang="cs-CZ" altLang="cs-CZ" sz="1200" b="0" i="0" noProof="0">
                <a:latin typeface="Arial"/>
              </a:rPr>
              <a:t>. Pro 17. percentil je to 1 + 10 × 0,17 = 2,7. Hledaná hodnota tedy leží mezi druhým časem (5 minut) a třetím časem (7 minut).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Desetinná část pozice, 0,7, říká, jakou část cesty mezi oběma hodnotami urazíme. Tomu říkáme </a:t>
            </a:r>
            <a:r>
              <a:rPr lang="cs-CZ" altLang="cs-CZ" sz="1200" b="1" i="0" noProof="0">
                <a:latin typeface="Arial"/>
              </a:rPr>
              <a:t>lineární interpolace</a:t>
            </a:r>
            <a:r>
              <a:rPr lang="cs-CZ" altLang="cs-CZ" sz="1200" b="0" i="0" noProof="0">
                <a:latin typeface="Arial"/>
              </a:rPr>
              <a:t> (linear interpolation): 5 + 0,7 × (7 − 5) = 5 + 1,4 = </a:t>
            </a:r>
            <a:r>
              <a:rPr lang="cs-CZ" altLang="cs-CZ" sz="1200" b="1" i="0" noProof="0">
                <a:latin typeface="Arial"/>
              </a:rPr>
              <a:t>6,4 minuty</a:t>
            </a:r>
            <a:r>
              <a:rPr lang="cs-CZ" altLang="cs-CZ" sz="1200" b="0" i="0" noProof="0">
                <a:latin typeface="Arial"/>
              </a:rPr>
              <a:t>. Dolní graf ukazuje tento úsek zvětšený.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Interpolovaný kvantil je vypočtená hranice, ne naměřená hodnota.</a:t>
            </a:r>
            <a:r>
              <a:rPr lang="cs-CZ" altLang="cs-CZ" sz="1200" b="0" i="0" noProof="0">
                <a:latin typeface="Arial"/>
              </a:rPr>
              <a:t> Spojnice mezi body je pravidlo výpočtu; netvrdí, že mezi 5 a 7 minutami někdo byl. Výpočet také nezaručuje, že pod hranicí leží přesně 17 % pozorování.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Je-li pozice celé číslo, vezmeme přímo příslušnou hodnotu. Pro pět časů 4, 5, 5, 6, 10 má 1. kvartil pozici 1 + 4 × 0,25 = 2, tedy hodnotu 5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Jakou pozici má v řadě jedenácti časů medián a která hodnota mu odpovídá? Pozice 1 + 10 × 0,5 = 6, šestý čas je 10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https://reckak.github.io/statistics-for-psychology/quarto/kapitola_03.html#sec-vypocet-kvantilu.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 percentilem se snadno plete podobně znějící pojem, percentilové pořadí. Odpovídají ale na opačné otázky.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</a:t>
            </a:r>
            <a:r>
              <a:rPr lang="cs-CZ" altLang="cs-CZ" sz="1200" b="1" i="0" noProof="0">
                <a:latin typeface="Arial"/>
              </a:rPr>
              <a:t>percentilu</a:t>
            </a:r>
            <a:r>
              <a:rPr lang="cs-CZ" altLang="cs-CZ" sz="1200" b="0" i="0" noProof="0">
                <a:latin typeface="Arial"/>
              </a:rPr>
              <a:t> známe úroveň a hledáme hodnotu: 50. percentil našich pěti časů je 5 minut. U </a:t>
            </a:r>
            <a:r>
              <a:rPr lang="cs-CZ" altLang="cs-CZ" sz="1200" b="1" i="0" noProof="0">
                <a:latin typeface="Arial"/>
              </a:rPr>
              <a:t>percentilového pořadí</a:t>
            </a:r>
            <a:r>
              <a:rPr lang="cs-CZ" altLang="cs-CZ" sz="1200" b="0" i="0" noProof="0">
                <a:latin typeface="Arial"/>
              </a:rPr>
              <a:t> (percentile rank) známe hodnotu a ptáme se, jaké má v souboru postavení.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této učebnici používáme inkluzivní konvenci: percentilové pořadí je procento výsledků </a:t>
            </a:r>
            <a:r>
              <a:rPr lang="cs-CZ" altLang="cs-CZ" sz="1200" b="1" i="0" noProof="0">
                <a:latin typeface="Arial"/>
              </a:rPr>
              <a:t>menších nebo rovných</a:t>
            </a:r>
            <a:r>
              <a:rPr lang="cs-CZ" altLang="cs-CZ" sz="1200" b="0" i="0" noProof="0">
                <a:latin typeface="Arial"/>
              </a:rPr>
              <a:t> dané hodnotě. Nejvýše 5 minut potřebovali tři z pěti účastníků, tedy 60 %. Percentilové pořadí času 5 minut je 60.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Hodnota 5 minut je tedy 50. percentilem a současně má percentilové pořadí 60; kvůli shodným hodnotám nejde o vratné převody.</a:t>
            </a:r>
            <a:r>
              <a:rPr lang="cs-CZ" altLang="cs-CZ" sz="1200" b="0" i="0" noProof="0">
                <a:latin typeface="Arial"/>
              </a:rPr>
              <a:t> Píšeme „60. percentil“ s tečkou, ale „percentilové pořadí 60“ bez tečky.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čistě ordinálních kategorií neinterpolujeme, protože neznáme vzdálenosti mezi kategoriemi. Kvantilem je první kategorie, u níž kumulativní podíl dosáhne zvolené úrovně. Pro odpovědi „vůbec, trochu, trochu, dost, dost, zcela“ je 75. percentilem kategorie „dost“, protože teprve u ní kumulativní podíl (83,3 %) dosáhne 75 %.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čtení testových norem vždy potřebujeme znát použitou konvenci a referenční skupinu. Vysoké percentilové pořadí také neznamená automaticky lepší výsledek: u doby řešení znamená delší dobu.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Je percentilové pořadí 60 totéž co 60 % správně vyřešených položek testu? Ne. Percentilové pořadí popisuje postavení výsledku mezi ostatními, ne podíl správných odpovědí.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https://reckak.github.io/statistics-for-psychology/quarto/kapitola_03.html#sec-percentilove-poradi.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Přecházíme od polohy k variabilitě. Nejjednodušší ukazatele variability vycházejí z hodnot, které už známe: z minima, maxima a kvartilů.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Variační rozpětí</a:t>
            </a:r>
            <a:r>
              <a:rPr lang="cs-CZ" altLang="cs-CZ" sz="1200" b="0" i="0" noProof="0">
                <a:latin typeface="Arial"/>
              </a:rPr>
              <a:t> (range) je rozdíl největší a nejmenší pozorované hodnoty. U našich dob je to 10 − 4 = </a:t>
            </a:r>
            <a:r>
              <a:rPr lang="cs-CZ" altLang="cs-CZ" sz="1200" b="1" i="0" noProof="0">
                <a:latin typeface="Arial"/>
              </a:rPr>
              <a:t>6 minut</a:t>
            </a:r>
            <a:r>
              <a:rPr lang="cs-CZ" altLang="cs-CZ" sz="1200" b="0" i="0" noProof="0">
                <a:latin typeface="Arial"/>
              </a:rPr>
              <a:t>. Minimum a maximum zde znamenají pozorované hodnoty, ne nejnižší a nejvyšší možnou hodnotu nástroje.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Variační rozpětí využívá jen dvě krajní hodnoty, takže je velmi citlivé na jediné vzdálené pozorování: po nahrazení 10 minut 30 minutami vzroste na 26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Mezikvartilové rozpětí</a:t>
            </a:r>
            <a:r>
              <a:rPr lang="cs-CZ" altLang="cs-CZ" sz="1200" b="0" i="0" noProof="0">
                <a:latin typeface="Arial"/>
              </a:rPr>
              <a:t> (interquartile range, běžně IQR) je rozdíl 3. a 1. kvartilu: 6 − 5 = </a:t>
            </a:r>
            <a:r>
              <a:rPr lang="cs-CZ" altLang="cs-CZ" sz="1200" b="1" i="0" noProof="0">
                <a:latin typeface="Arial"/>
              </a:rPr>
              <a:t>1 minuta</a:t>
            </a:r>
            <a:r>
              <a:rPr lang="cs-CZ" altLang="cs-CZ" sz="1200" b="0" i="0" noProof="0">
                <a:latin typeface="Arial"/>
              </a:rPr>
              <a:t>. </a:t>
            </a:r>
            <a:r>
              <a:rPr lang="cs-CZ" altLang="cs-CZ" sz="1200" b="0" i="1" noProof="0">
                <a:latin typeface="Arial"/>
              </a:rPr>
              <a:t>Zachycuje šířku prostřední části rozdělení a krajní hodnoty je neovlivní.</a:t>
            </a:r>
            <a:r>
              <a:rPr lang="cs-CZ" altLang="cs-CZ" sz="1200" b="0" i="0" noProof="0">
                <a:latin typeface="Arial"/>
              </a:rPr>
              <a:t> V našem příkladu se po změně 10 → 30 nezmění.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Označení „prostředních 50 % dat“ je užitečné zjednodušení: u malých souborů a při shodných hodnotách nemusí interval mezi kvartily obsahovat přesně polovinu pozorování.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Dvě třídy mají ve stejném testu stejné variační rozpětí 40 bodů. Znamená to, že se žáci v obou třídách liší stejně? Ne nutně; rozpětí určují jen dva krajní žáci. O ostatních nic neříká.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https://reckak.github.io/statistics-for-psychology/quarto/kapitola_03.html#sec-rozpeti.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Rozpětí pracují jen s vybranými hodnotami. Další ukazatele variability využívají všechna pozorování: ptají se, jak daleko je každá hodnota od středu.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Odchylka</a:t>
            </a:r>
            <a:r>
              <a:rPr lang="cs-CZ" altLang="cs-CZ" sz="1200" b="0" i="0" noProof="0" dirty="0">
                <a:latin typeface="Arial"/>
              </a:rPr>
              <a:t> (</a:t>
            </a:r>
            <a:r>
              <a:rPr lang="cs-CZ" altLang="cs-CZ" sz="1200" b="0" i="0" noProof="0" dirty="0" err="1">
                <a:latin typeface="Arial"/>
              </a:rPr>
              <a:t>deviation</a:t>
            </a:r>
            <a:r>
              <a:rPr lang="cs-CZ" altLang="cs-CZ" sz="1200" b="0" i="0" noProof="0" dirty="0">
                <a:latin typeface="Arial"/>
              </a:rPr>
              <a:t>) je rozdíl hodnoty od zvoleného referenčního bodu, zde od průměru 6 minut. Pro naše doby jsou odchylky −2, −1, −1, 0 a 4 minuty. Záporná odchylka znamená hodnotu pod průměrem, kladná nad průměrem.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1" noProof="0" dirty="0">
                <a:latin typeface="Arial"/>
              </a:rPr>
              <a:t>Součet odchylek od průměru je vždy nula: záporné a kladné odchylky se přesně vyruší.</a:t>
            </a:r>
            <a:r>
              <a:rPr lang="cs-CZ" altLang="cs-CZ" sz="1200" b="0" i="0" noProof="0" dirty="0">
                <a:latin typeface="Arial"/>
              </a:rPr>
              <a:t> Průměr je těžištěm hodnot. Proto nemůžeme variabilitu měřit prostým průměrem odchylek, vyšel by vždy nula.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Jedna možnost je vzít </a:t>
            </a:r>
            <a:r>
              <a:rPr lang="cs-CZ" altLang="cs-CZ" sz="1200" b="1" i="0" noProof="0" dirty="0">
                <a:latin typeface="Arial"/>
              </a:rPr>
              <a:t>absolutní hodnotu</a:t>
            </a:r>
            <a:r>
              <a:rPr lang="cs-CZ" altLang="cs-CZ" sz="1200" b="0" i="0" noProof="0" dirty="0">
                <a:latin typeface="Arial"/>
              </a:rPr>
              <a:t>, tedy vzdálenost bez ohledu na směr: 2, 1, 1, 0 a 4 minuty. Na grafu jsou to délky úseček mezi body a čarou průměru; jejich součet je 8 minut.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Průměrná absolutní odchylka od průměru</a:t>
            </a:r>
            <a:r>
              <a:rPr lang="cs-CZ" altLang="cs-CZ" sz="1200" b="0" i="0" noProof="0" dirty="0">
                <a:latin typeface="Arial"/>
              </a:rPr>
              <a:t>, kterou v učebnici zkracujeme </a:t>
            </a:r>
            <a:r>
              <a:rPr lang="cs-CZ" altLang="cs-CZ" sz="1200" b="0" i="0" noProof="0" dirty="0" err="1">
                <a:latin typeface="Arial"/>
              </a:rPr>
              <a:t>MeanAD</a:t>
            </a:r>
            <a:r>
              <a:rPr lang="cs-CZ" altLang="cs-CZ" sz="1200" b="0" i="0" noProof="0" dirty="0">
                <a:latin typeface="Arial"/>
              </a:rPr>
              <a:t>, je 8 / 5 = </a:t>
            </a:r>
            <a:r>
              <a:rPr lang="cs-CZ" altLang="cs-CZ" sz="1200" b="1" i="0" noProof="0" dirty="0">
                <a:latin typeface="Arial"/>
              </a:rPr>
              <a:t>1,6 minuty</a:t>
            </a:r>
            <a:r>
              <a:rPr lang="cs-CZ" altLang="cs-CZ" sz="1200" b="0" i="0" noProof="0" dirty="0">
                <a:latin typeface="Arial"/>
              </a:rPr>
              <a:t>. Doby jsou od svého průměru vzdálené průměrně o 1,6 minuty. V literatuře se pro různé ukazatele používá zkratka MAD, proto vždy ověřujeme definici.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Otázka k zamyšlení:</a:t>
            </a:r>
            <a:r>
              <a:rPr lang="cs-CZ" altLang="cs-CZ" sz="1200" b="0" i="0" noProof="0" dirty="0">
                <a:latin typeface="Arial"/>
              </a:rPr>
              <a:t> Znamená nulový součet odchylek, že data nemají žádnou variabilitu? Ne. Nulový součet platí pro každý soubor; o variabilitě vypovídají až velikosti odchylek.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Čas pro vyučujícího: přibližně 2 min.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Podklad: kapitola 3, Ukazatele polohy a variability, příslušný oddíl: https://reckak.github.io/</a:t>
            </a:r>
            <a:r>
              <a:rPr lang="cs-CZ" altLang="cs-CZ" sz="1200" b="0" i="0" noProof="0" dirty="0" err="1">
                <a:latin typeface="Arial"/>
              </a:rPr>
              <a:t>statistics</a:t>
            </a:r>
            <a:r>
              <a:rPr lang="cs-CZ" altLang="cs-CZ" sz="1200" b="0" i="0" noProof="0" dirty="0">
                <a:latin typeface="Arial"/>
              </a:rPr>
              <a:t>-</a:t>
            </a:r>
            <a:r>
              <a:rPr lang="cs-CZ" altLang="cs-CZ" sz="1200" b="0" i="0" noProof="0" dirty="0" err="1">
                <a:latin typeface="Arial"/>
              </a:rPr>
              <a:t>for</a:t>
            </a:r>
            <a:r>
              <a:rPr lang="cs-CZ" altLang="cs-CZ" sz="1200" b="0" i="0" noProof="0" dirty="0">
                <a:latin typeface="Arial"/>
              </a:rPr>
              <a:t>-psychology/</a:t>
            </a:r>
            <a:r>
              <a:rPr lang="cs-CZ" altLang="cs-CZ" sz="1200" b="0" i="0" noProof="0" dirty="0" err="1">
                <a:latin typeface="Arial"/>
              </a:rPr>
              <a:t>quarto</a:t>
            </a:r>
            <a:r>
              <a:rPr lang="cs-CZ" altLang="cs-CZ" sz="1200" b="0" i="0" noProof="0" dirty="0">
                <a:latin typeface="Arial"/>
              </a:rPr>
              <a:t>/kapitola_03.html#sec-odchylky. Příklady jsou modelové výukové údaje.</a:t>
            </a:r>
            <a:endParaRPr lang="cs-CZ" altLang="cs-CZ" sz="1200" noProof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Druhý způsob, jak zabránit vyrušení kladných a záporných odchylek, je umocnit je na druhou. Na tomto postupu stojí rozptyl a směrodatná odchylka.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Druhá mocnina</a:t>
            </a:r>
            <a:r>
              <a:rPr lang="cs-CZ" altLang="cs-CZ" sz="1200" b="0" i="0" noProof="0" dirty="0">
                <a:latin typeface="Arial"/>
              </a:rPr>
              <a:t>, čili čtverec, znamená vynásobit číslo samo sebou: (−2)² = 4 a 4² = 16. Na grafu je každá odchylka stranou čtverce a čtverec odchylky je jeho plocha. Čtverce odchylek jsou 4, 1, 1, 0 a 16.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1" noProof="0" dirty="0">
                <a:latin typeface="Arial"/>
              </a:rPr>
              <a:t>Vzdálenější hodnoty přispívají mnohem více: dvojnásobná vzdálenost znamená čtyřnásobnou plochu.</a:t>
            </a:r>
            <a:r>
              <a:rPr lang="cs-CZ" altLang="cs-CZ" sz="1200" b="0" i="0" noProof="0" dirty="0">
                <a:latin typeface="Arial"/>
              </a:rPr>
              <a:t> Poslední pozorování je od průměru dvakrát dál než první, ale do součtu přispívá čtyřikrát více.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Součet čtverců odchylek od průměru</a:t>
            </a:r>
            <a:r>
              <a:rPr lang="cs-CZ" altLang="cs-CZ" sz="1200" b="0" i="0" noProof="0" dirty="0">
                <a:latin typeface="Arial"/>
              </a:rPr>
              <a:t> je 22 min². Pozor: nejde o součet druhých mocnin původních hodnot (ten je 202) ani o druhou mocninu součtu (900).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Rozptyl</a:t>
            </a:r>
            <a:r>
              <a:rPr lang="cs-CZ" altLang="cs-CZ" sz="1200" b="0" i="0" noProof="0" dirty="0">
                <a:latin typeface="Arial"/>
              </a:rPr>
              <a:t> (variance) je založen na tomto součtu. Chceme-li popsat právě těchto pět hodnot, vydělíme 22 pěti a dostaneme 4,4 min². Když z výběru odhadujeme rozptyl populace, používáme </a:t>
            </a:r>
            <a:r>
              <a:rPr lang="cs-CZ" altLang="cs-CZ" sz="1200" b="1" i="0" noProof="0" dirty="0">
                <a:latin typeface="Arial"/>
              </a:rPr>
              <a:t>výběrový rozptyl s²</a:t>
            </a:r>
            <a:r>
              <a:rPr lang="cs-CZ" altLang="cs-CZ" sz="1200" b="0" i="0" noProof="0" dirty="0">
                <a:latin typeface="Arial"/>
              </a:rPr>
              <a:t> s dělením n − 1: 22 / 4 = </a:t>
            </a:r>
            <a:r>
              <a:rPr lang="cs-CZ" altLang="cs-CZ" sz="1200" b="1" i="0" noProof="0" dirty="0">
                <a:latin typeface="Arial"/>
              </a:rPr>
              <a:t>5,5 min²</a:t>
            </a:r>
            <a:r>
              <a:rPr lang="cs-CZ" altLang="cs-CZ" sz="1200" b="0" i="0" noProof="0" dirty="0">
                <a:latin typeface="Arial"/>
              </a:rPr>
              <a:t>. Proč n − 1, vysvětlíme na dalším slidu.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Rozptyl je ve čtverečních jednotkách, zde v minutách na druhou, což se špatně interpretuje. K původním jednotkám se vrátíme směrodatnou odchylkou.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1" i="0" noProof="0" dirty="0">
                <a:latin typeface="Arial"/>
              </a:rPr>
              <a:t>Otázka k zamyšlení:</a:t>
            </a:r>
            <a:r>
              <a:rPr lang="cs-CZ" altLang="cs-CZ" sz="1200" b="0" i="0" noProof="0" dirty="0">
                <a:latin typeface="Arial"/>
              </a:rPr>
              <a:t> Může být rozptyl záporný? Nemůže. Čtverce odchylek jsou nezáporné, takže i jejich součet a rozptyl jsou nezáporné. Nulový je jen tehdy, když jsou všechny hodnoty stejné.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Čas pro vyučujícího: přibližně 2 min.</a:t>
            </a:r>
            <a:endParaRPr lang="cs-CZ" altLang="cs-CZ" sz="1200" noProof="0" dirty="0"/>
          </a:p>
          <a:p>
            <a:pPr marL="228600" indent="-171450">
              <a:buChar char="•"/>
            </a:pPr>
            <a:r>
              <a:rPr lang="cs-CZ" altLang="cs-CZ" sz="1200" b="0" i="0" noProof="0" dirty="0">
                <a:latin typeface="Arial"/>
              </a:rPr>
              <a:t>Podklad: kapitola 3, Ukazatele polohy a variability, příslušný oddíl: https://reckak.github.io/</a:t>
            </a:r>
            <a:r>
              <a:rPr lang="cs-CZ" altLang="cs-CZ" sz="1200" b="0" i="0" noProof="0" dirty="0" err="1">
                <a:latin typeface="Arial"/>
              </a:rPr>
              <a:t>statistics</a:t>
            </a:r>
            <a:r>
              <a:rPr lang="cs-CZ" altLang="cs-CZ" sz="1200" b="0" i="0" noProof="0" dirty="0">
                <a:latin typeface="Arial"/>
              </a:rPr>
              <a:t>-</a:t>
            </a:r>
            <a:r>
              <a:rPr lang="cs-CZ" altLang="cs-CZ" sz="1200" b="0" i="0" noProof="0" dirty="0" err="1">
                <a:latin typeface="Arial"/>
              </a:rPr>
              <a:t>for</a:t>
            </a:r>
            <a:r>
              <a:rPr lang="cs-CZ" altLang="cs-CZ" sz="1200" b="0" i="0" noProof="0" dirty="0">
                <a:latin typeface="Arial"/>
              </a:rPr>
              <a:t>-psychology/</a:t>
            </a:r>
            <a:r>
              <a:rPr lang="cs-CZ" altLang="cs-CZ" sz="1200" b="0" i="0" noProof="0" dirty="0" err="1">
                <a:latin typeface="Arial"/>
              </a:rPr>
              <a:t>quarto</a:t>
            </a:r>
            <a:r>
              <a:rPr lang="cs-CZ" altLang="cs-CZ" sz="1200" b="0" i="0" noProof="0" dirty="0">
                <a:latin typeface="Arial"/>
              </a:rPr>
              <a:t>/kapitola_03.html#sec-rozptyl. Příklady jsou modelové výukové údaje.</a:t>
            </a:r>
            <a:endParaRPr lang="cs-CZ" altLang="cs-CZ" sz="1200" noProof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Proč při odhadu populačního rozptylu dělíme n − 1 a ne n? Důvod souvisí s tím, že průměr počítáme ze stejných dat jako odchylky.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Výběrový průměr je bod, od něhož je součet čtverců odchylek nejmenší možný. Kdybychom znali skutečný populační průměr a počítali odchylky od něj, vyšel by součet čtverců stejný nebo větší. </a:t>
            </a:r>
            <a:r>
              <a:rPr lang="cs-CZ" altLang="cs-CZ" sz="1200" b="0" i="1" noProof="0">
                <a:latin typeface="Arial"/>
              </a:rPr>
              <a:t>Variabilita měřená kolem průměru přizpůsobeného týmž datům proto vychází soustavně o něco menší.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Dělení n − 1 toto podhodnocení vyrovnává. Výsledek je </a:t>
            </a:r>
            <a:r>
              <a:rPr lang="cs-CZ" altLang="cs-CZ" sz="1200" b="1" i="0" noProof="0">
                <a:latin typeface="Arial"/>
              </a:rPr>
              <a:t>nestranný odhad</a:t>
            </a:r>
            <a:r>
              <a:rPr lang="cs-CZ" altLang="cs-CZ" sz="1200" b="0" i="0" noProof="0">
                <a:latin typeface="Arial"/>
              </a:rPr>
              <a:t> (unbiased estimator) populačního rozptylu: kdybychom výběr mnohokrát opakovali, průměr odhadů by se rovnal odhadovanému parametru. Neznamená to, že každý jednotlivý odhad je přesný.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Graf ukazuje simulaci. Z modelové populace s hodnotami 2, 4, 6, 8 a 10 minut a rozptylem 8 min² jsme pro každou velikost výběru vytvořili 20 000 náhodných výběrů s vracením. Při dělení n vyšly průměrné rozptyly 6,41, 7,62 a 7,93; při dělení n − 1 vyšly 8,01, 8,02 a 8,01. Podhodnocení je největší u malých výběrů.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 tím souvisejí </a:t>
            </a:r>
            <a:r>
              <a:rPr lang="cs-CZ" altLang="cs-CZ" sz="1200" b="1" i="0" noProof="0">
                <a:latin typeface="Arial"/>
              </a:rPr>
              <a:t>stupně volnosti</a:t>
            </a:r>
            <a:r>
              <a:rPr lang="cs-CZ" altLang="cs-CZ" sz="1200" b="0" i="0" noProof="0">
                <a:latin typeface="Arial"/>
              </a:rPr>
              <a:t> (degrees of freedom). Odchylky od průměru se musí sečíst na nulu. Známe-li čtyři z pěti odchylek, například −2, −1, −1 a 0, pátá už musí být 4. Volně lze určit jen n − 1 odchylek. Žádného účastníka přitom nevyřazujeme.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Simulace vztah ilustruje, nenahrazuje matematické zdůvodnění. Korekce také nenapraví nereprezentativní výběr ani chybné měření.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Je odhad s dělením n − 1 v každém jednotlivém výběru blíže skutečnému rozptylu? Ne. Nestrannost je vlastnost dlouhodobého průměru při opakování, ne záruka pro jeden výběr.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https://reckak.github.io/statistics-for-psychology/quarto/kapitola_03.html#sec-korekce-rozptylu.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Rozptyl 5,5 min² je ve čtverečních jednotkách. Abychom variabilitu vyjádřili v minutách, vezmeme jeho druhou odmocninu.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Směrodatná odchylka</a:t>
            </a:r>
            <a:r>
              <a:rPr lang="cs-CZ" altLang="cs-CZ" sz="1200" b="0" i="0" noProof="0">
                <a:latin typeface="Arial"/>
              </a:rPr>
              <a:t> (standard deviation), značená </a:t>
            </a:r>
            <a:r>
              <a:rPr lang="cs-CZ" altLang="cs-CZ" sz="1200" b="1" i="0" noProof="0">
                <a:latin typeface="Arial"/>
              </a:rPr>
              <a:t>s</a:t>
            </a:r>
            <a:r>
              <a:rPr lang="cs-CZ" altLang="cs-CZ" sz="1200" b="0" i="0" noProof="0">
                <a:latin typeface="Arial"/>
              </a:rPr>
              <a:t>, je odmocnina rozptylu: odmocnina z 5,5 je přibližně </a:t>
            </a:r>
            <a:r>
              <a:rPr lang="cs-CZ" altLang="cs-CZ" sz="1200" b="1" i="0" noProof="0">
                <a:latin typeface="Arial"/>
              </a:rPr>
              <a:t>2,35 minuty</a:t>
            </a:r>
            <a:r>
              <a:rPr lang="cs-CZ" altLang="cs-CZ" sz="1200" b="0" i="0" noProof="0">
                <a:latin typeface="Arial"/>
              </a:rPr>
              <a:t>. Značka ≐ znamená přibližnou rovnost po zaokrouhlení; mezivýpočty nezaokrouhlujeme.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Směrodatná odchylka vyjadřuje typickou vzdálenost hodnot od průměru v původních jednotkách, ale vypočtenou přes druhé mocniny.</a:t>
            </a:r>
            <a:r>
              <a:rPr lang="cs-CZ" altLang="cs-CZ" sz="1200" b="0" i="0" noProof="0">
                <a:latin typeface="Arial"/>
              </a:rPr>
              <a:t> Proto není totožná s průměrnou absolutní odchylkou 1,6 minuty a je citlivější ke vzdáleným hodnotám.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Co směrodatná odchylka neříká: netvrdí, že se každý účastník liší od průměru právě o 2,35 minuty. A bez dalšího předpokladu o tvaru rozdělení neurčuje, jaký podíl hodnot leží mezi m − s a m + s. Taková pravidla probereme až u normálního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Nulová směrodatná odchylka při alespoň dvou hodnotách znamená, že jsou všechny hodnoty stejné. Po nahrazení 10 minut 30 minutami vzroste směrodatná odchylka z 2,35 na 11,20 minuty.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Dvě skupiny mají průměr 6 minut; první má s = 0,71 minuty, druhá s = 3,16 minuty. Ve které skupině průměr lépe vystihuje jednotlivé účastníky? V první, kde jsou hodnoty průměru blíže. Jde o skupiny z úvodního grafu.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https://reckak.github.io/statistics-for-psychology/quarto/kapitola_03.html#sec-smerodatna-odchylka.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Průměr i směrodatná odchylka reagují na vzdálené hodnoty. Někdy chceme shrnutí, které několik krajních hodnot výrazně nezmění. Stručně si ukážeme tři možnosti; podrobnosti jsou v kapitole.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Medián absolutních odchylek od mediánu</a:t>
            </a:r>
            <a:r>
              <a:rPr lang="cs-CZ" altLang="cs-CZ" sz="1200" b="0" i="0" noProof="0">
                <a:latin typeface="Arial"/>
              </a:rPr>
              <a:t> (MedAD) vypočteme ve třech krocích: určíme medián dat, vzdálenost každé hodnoty od něj a medián těchto vzdáleností. Pro 4, 5, 5, 6, 10 jsou vzdálenosti od mediánu 1, 0, 0, 1 a 5; jejich medián je </a:t>
            </a:r>
            <a:r>
              <a:rPr lang="cs-CZ" altLang="cs-CZ" sz="1200" b="1" i="0" noProof="0">
                <a:latin typeface="Arial"/>
              </a:rPr>
              <a:t>1 minuta</a:t>
            </a:r>
            <a:r>
              <a:rPr lang="cs-CZ" altLang="cs-CZ" sz="1200" b="0" i="0" noProof="0">
                <a:latin typeface="Arial"/>
              </a:rPr>
              <a:t>. Po změně 10 → 30 zůstane 1 minuta, zatímco směrodatná odchylka vzroste na 11,20.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Graf ukazuje deset časů 2, 3, 4, 5, 5, 6, 7, 8, 9 a 31 minut s průměrem 8 minut. </a:t>
            </a:r>
            <a:r>
              <a:rPr lang="cs-CZ" altLang="cs-CZ" sz="1200" b="1" i="0" noProof="0">
                <a:latin typeface="Arial"/>
              </a:rPr>
              <a:t>Ořezání</a:t>
            </a:r>
            <a:r>
              <a:rPr lang="cs-CZ" altLang="cs-CZ" sz="1200" b="0" i="0" noProof="0">
                <a:latin typeface="Arial"/>
              </a:rPr>
              <a:t> (trimming) 10 % na každém konci vynechá jednu nejnižší a jednu nejvyšší hodnotu; ořezaný průměr je 47 / 8 = 5,875, po zaokrouhlení 5,88 minuty.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Winsorizace</a:t>
            </a:r>
            <a:r>
              <a:rPr lang="cs-CZ" altLang="cs-CZ" sz="1200" b="0" i="0" noProof="0">
                <a:latin typeface="Arial"/>
              </a:rPr>
              <a:t> (winsorization) krajní hodnoty nevynechá, ale pro výpočet je nahradí nejbližšími ponechanými: 2 nahradíme 3 a 31 nahradíme 9. Winsorizovaný průměr všech deseti hodnot je 59 / 10 = 5,9 minuty.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Odolnost není totéž co správnost. Tyto postupy odpovídají na jinou otázku než běžný průměr a nesmíme je volit dodatečně podle toho, jaký výsledek chceme.</a:t>
            </a:r>
            <a:r>
              <a:rPr lang="cs-CZ" altLang="cs-CZ" sz="1200" b="0" i="0" noProof="0">
                <a:latin typeface="Arial"/>
              </a:rPr>
              <a:t> Pravidlo uvedeme ve zprávě a původní data uchováme. Pokud nás zajímá celkový čas všech účastníků, dlouhé platné časy vynechat nelze.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po ořezání dělíme osmi, ale po winsorizaci deseti? Ořezání hodnoty z výpočtu vynechává, winsorizace je nahrazuje, takže počet hodnot zůstává stejný.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https://reckak.github.io/statistics-for-psychology/quarto/kapitola_03.html#sec-odolne-shrnuti.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Kvartily a mezikvartilové rozpětí umíme zobrazit jedním úsporným grafem. </a:t>
            </a:r>
            <a:r>
              <a:rPr lang="cs-CZ" altLang="cs-CZ" sz="1200" b="1" i="0" noProof="0">
                <a:latin typeface="Arial"/>
              </a:rPr>
              <a:t>Krabicový graf</a:t>
            </a:r>
            <a:r>
              <a:rPr lang="cs-CZ" altLang="cs-CZ" sz="1200" b="0" i="0" noProof="0">
                <a:latin typeface="Arial"/>
              </a:rPr>
              <a:t> (boxplot) je užitečný hlavně při porovnávání několika skupin.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Použijeme modelový soubor testových skórů 41 účastníků. Krabice sahá od 1. kvartilu ke 3. kvartilu, zde od 40 do 60 bodů, a čára uvnitř označuje medián 50 bodů. Výška krabice je mezikvartilové rozpětí, 20 bodů.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Dále spočítáme 1,5násobek mezikvartilového rozpětí, 30 bodů, a určíme </a:t>
            </a:r>
            <a:r>
              <a:rPr lang="cs-CZ" altLang="cs-CZ" sz="1200" b="1" i="0" noProof="0">
                <a:latin typeface="Arial"/>
              </a:rPr>
              <a:t>pomocné meze</a:t>
            </a:r>
            <a:r>
              <a:rPr lang="cs-CZ" altLang="cs-CZ" sz="1200" b="0" i="0" noProof="0">
                <a:latin typeface="Arial"/>
              </a:rPr>
              <a:t>: dolní 40 − 30 = 10 a horní 60 + 30 = 90 bodů. V běžném grafu se meze nekreslí; zde jsou vyznačeny tečkovaně jen kvůli výkladu.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Vousy</a:t>
            </a:r>
            <a:r>
              <a:rPr lang="cs-CZ" altLang="cs-CZ" sz="1200" b="0" i="0" noProof="0">
                <a:latin typeface="Arial"/>
              </a:rPr>
              <a:t> (whiskers) sahají k nejnižšímu a nejvyššímu skutečnému pozorování, které ještě leží uvnitř mezí: zde k 15 a 85 bodům. </a:t>
            </a:r>
            <a:r>
              <a:rPr lang="cs-CZ" altLang="cs-CZ" sz="1200" b="0" i="1" noProof="0">
                <a:latin typeface="Arial"/>
              </a:rPr>
              <a:t>Meze určují nejzazší možný dosah vousů, ne jejich skutečné konce.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Pozorování za mezemi, zde 2, 5, 95 a 98 bodů, zobrazíme samostatnými body jako </a:t>
            </a:r>
            <a:r>
              <a:rPr lang="cs-CZ" altLang="cs-CZ" sz="1200" b="1" i="0" noProof="0">
                <a:latin typeface="Arial"/>
              </a:rPr>
              <a:t>podezřelá odlehlá pozorování</a:t>
            </a:r>
            <a:r>
              <a:rPr lang="cs-CZ" altLang="cs-CZ" sz="1200" b="0" i="0" noProof="0">
                <a:latin typeface="Arial"/>
              </a:rPr>
              <a:t>. Pravidlo 1,5násobku je pomůcka k označení neobvyklých hodnot, nikoli důkaz chyby nebo pokyn k vyřazení.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Krabicový graf některé vlastnosti skrývá, například dva vrcholy rozdělení. Různé programy také určují kvartily a vousy různě, proto vždy zjistíme použitou definici.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Kde by skončil horní vous, kdyby nejvyšší skór uvnitř mezí byl 72 bodů? Na 72 bodech, ne na mezi 90: vous končí vždy na skutečném pozorování.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https://reckak.github.io/statistics-for-psychology/quarto/kapitola_03.html#sec-boxplot.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Co se stane se statistikami, když změníme jednotky nebo ke všem hodnotám něco přičteme? Nemusíme vše počítat znovu, stačí znát několik pravidel.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Lineární transformace</a:t>
            </a:r>
            <a:r>
              <a:rPr lang="cs-CZ" altLang="cs-CZ" sz="1200" b="0" i="0" noProof="0">
                <a:latin typeface="Arial"/>
              </a:rPr>
              <a:t> (linear transformation) převádí každou původní hodnotu x na novou hodnotu y podle pravidla y = a + b × x. Konstanta a je společný posun, konstanta b společný násobitel.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Přičteme-li ke každé době 2 minuty přípravy, všechny hodnoty se posunou stejně. </a:t>
            </a:r>
            <a:r>
              <a:rPr lang="cs-CZ" altLang="cs-CZ" sz="1200" b="1" i="0" noProof="0">
                <a:latin typeface="Arial"/>
              </a:rPr>
              <a:t>Ukazatele polohy se zvýší o 2 minuty</a:t>
            </a:r>
            <a:r>
              <a:rPr lang="cs-CZ" altLang="cs-CZ" sz="1200" b="0" i="0" noProof="0">
                <a:latin typeface="Arial"/>
              </a:rPr>
              <a:t>: průměr na 8, medián na 7 minut. Rozdíly mezi hodnotami zůstanou stejné, takže </a:t>
            </a:r>
            <a:r>
              <a:rPr lang="cs-CZ" altLang="cs-CZ" sz="1200" b="1" i="0" noProof="0">
                <a:latin typeface="Arial"/>
              </a:rPr>
              <a:t>variabilita se nezmění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Převedeme-li minuty na sekundy, násobíme každou hodnotu 60. Průměr, medián i směrodatná odchylka se násobí 60: průměr je 360 sekund, směrodatná odchylka 140,71 sekundy. </a:t>
            </a:r>
            <a:r>
              <a:rPr lang="cs-CZ" altLang="cs-CZ" sz="1200" b="1" i="0" noProof="0">
                <a:latin typeface="Arial"/>
              </a:rPr>
              <a:t>Rozptyl se násobí 60² = 3 600</a:t>
            </a:r>
            <a:r>
              <a:rPr lang="cs-CZ" altLang="cs-CZ" sz="1200" b="0" i="0" noProof="0">
                <a:latin typeface="Arial"/>
              </a:rPr>
              <a:t>, protože pracuje se čtverci odchylek: 19 800 s².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Vyšší číslo po změně jednotky neznamená, že se lidé začali více lišit.</a:t>
            </a:r>
            <a:r>
              <a:rPr lang="cs-CZ" altLang="cs-CZ" sz="1200" b="0" i="0" noProof="0">
                <a:latin typeface="Arial"/>
              </a:rPr>
              <a:t> Obecně platí: nový průměr je a + b × m, nová směrodatná odchylka je absolutní hodnota b krát s a nový rozptyl b² krát s².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záporném násobiteli, například při obrácení skórování „10 minus původní skór“, se obrátí pořadí hodnot, ale směrodatná odchylka zůstane stejná; nemůže být záporná. Nelineární převody, například druhá mocnina, mění i tvar rozdělení a statistiky po nich musíme spočítat znovu.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Teploty ve stupních Celsia převedeme na Fahrenheity pravidlem y = 32 + 1,8 × x. Jak se změní směrodatná odchylka? Vynásobí se 1,8; přičtení 32 ji neovlivní.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https://reckak.github.io/statistics-for-psychology/quarto/kapitola_03.html#sec-zmena-skaly.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Probrali jsme řadu ukazatelů. Jak z nich vybrat a jak výsledek sdělit? Postupujeme od otázky přes význam měření a graf k číselnému souhrnu.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nominálních kategorií, například strategií učení, uvádíme četnosti, podíly a modus. Rozmanitost zastoupení kategorií lze shrnout také </a:t>
            </a:r>
            <a:r>
              <a:rPr lang="cs-CZ" altLang="cs-CZ" sz="1200" b="1" i="0" noProof="0">
                <a:latin typeface="Arial"/>
              </a:rPr>
              <a:t>entropií</a:t>
            </a:r>
            <a:r>
              <a:rPr lang="cs-CZ" altLang="cs-CZ" sz="1200" b="0" i="0" noProof="0">
                <a:latin typeface="Arial"/>
              </a:rPr>
              <a:t>: je nulová, když všichni patří do jedné kategorie, a největší při rovnoměrném zastoupení. Její výpočet je v kapitole nepovinný.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ordinálních kategorií uvádíme četnosti, kumulativní podíly a prostřední kategorii. Rozdíly kódů nezaměňujeme s měřenou vzdáleností.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číselných dat s přibližně souměrným jednovrcholovým rozdělením dobře poslouží průměr a směrodatná odchylka. U silně zešikmených dat pomohou medián a kvartily popsat prostřední část, ale je třeba ukázat i chvost. Někdy potřebujeme oba pohledy.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Ani průměr spolu se směrodatnou odchylkou neurčují celé rozdělení: velmi odlišně tvarovaná rozdělení mohou mít obě čísla stejná.</a:t>
            </a:r>
            <a:r>
              <a:rPr lang="cs-CZ" altLang="cs-CZ" sz="1200" b="0" i="0" noProof="0">
                <a:latin typeface="Arial"/>
              </a:rPr>
              <a:t> Proto souhrn doplňujeme grafem. Teprve když přijmeme určitý model, například normální rozdělení, určují tyto dva parametry celé rozdělení; tím začneme příště.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odborném textu podle APA se používají značky M, SD a Mdn; ve výpočtech učebnice zůstává m a s. Ve zprávě uvádíme také počet platných údajů a jednotky, například: dobu spánku uvedlo 33 z 36 účastníků, průměr 7,06 hodiny, směrodatná odchylka 1,29 hodiny.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Článek uvádí „průměr 7,0 ± 2,6 slova“. Je to interval, v němž leží skutečný průměr populace? Ne. Zápis průměr ± směrodatná odchylka popisuje variabilitu dat, ne nejistotu odhadu průměru.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https://reckak.github.io/statistics-for-psychology/quarto/kapitola_03.html#sec-komunikace-statistik.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Ruční výpočet na malých datech pomáhá pochopit postup. U větších souborů použijeme Excel; funkce odpovídají přesně tomu, co jsme počítali ručně.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sešitu ke kapitole 3 jsou na listu Priklad naše časy 4, 5, 5, 6 a 10 minut v buňkách A2 až A6. Používáme české názvy funkcí, desetinnou čárku a středník mezi argumenty.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PRŮMĚR</a:t>
            </a:r>
            <a:r>
              <a:rPr lang="cs-CZ" altLang="cs-CZ" sz="1200" b="0" i="0" noProof="0">
                <a:latin typeface="Arial"/>
              </a:rPr>
              <a:t> (anglicky AVERAGE) vrací 6 minut a </a:t>
            </a:r>
            <a:r>
              <a:rPr lang="cs-CZ" altLang="cs-CZ" sz="1200" b="1" i="0" noProof="0">
                <a:latin typeface="Arial"/>
              </a:rPr>
              <a:t>MEDIAN</a:t>
            </a:r>
            <a:r>
              <a:rPr lang="cs-CZ" altLang="cs-CZ" sz="1200" b="0" i="0" noProof="0">
                <a:latin typeface="Arial"/>
              </a:rPr>
              <a:t> (MEDIAN) 5 minut. </a:t>
            </a:r>
            <a:r>
              <a:rPr lang="cs-CZ" altLang="cs-CZ" sz="1200" b="1" i="0" noProof="0">
                <a:latin typeface="Arial"/>
              </a:rPr>
              <a:t>PERCENTIL.INC</a:t>
            </a:r>
            <a:r>
              <a:rPr lang="cs-CZ" altLang="cs-CZ" sz="1200" b="0" i="0" noProof="0">
                <a:latin typeface="Arial"/>
              </a:rPr>
              <a:t> (PERCENTILE.INC) má dva argumenty: oblast dat a úroveň zadanou jako podíl. Pro 3. kvartil zadáme 0,75 a dostaneme 6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VAR.S</a:t>
            </a:r>
            <a:r>
              <a:rPr lang="cs-CZ" altLang="cs-CZ" sz="1200" b="0" i="0" noProof="0">
                <a:latin typeface="Arial"/>
              </a:rPr>
              <a:t> (VAR.S) vrací výběrový rozptyl s dělením n − 1, zde 5,5 min². </a:t>
            </a:r>
            <a:r>
              <a:rPr lang="cs-CZ" altLang="cs-CZ" sz="1200" b="1" i="0" noProof="0">
                <a:latin typeface="Arial"/>
              </a:rPr>
              <a:t>SMODCH.VÝBĚR.S</a:t>
            </a:r>
            <a:r>
              <a:rPr lang="cs-CZ" altLang="cs-CZ" sz="1200" b="0" i="0" noProof="0">
                <a:latin typeface="Arial"/>
              </a:rPr>
              <a:t> (STDEV.S) vrací výběrovou směrodatnou odchylku, po zaokrouhlení 2,35 minuty. Obě funkce potřebují alespoň dvě čísla.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Excel vrací číslo bez jednotek a bez interpretace: jednotky, význam a vhodnost ukazatele musíme doplnit sami.</a:t>
            </a:r>
            <a:r>
              <a:rPr lang="cs-CZ" altLang="cs-CZ" sz="1200" b="0" i="0" noProof="0">
                <a:latin typeface="Arial"/>
              </a:rPr>
              <a:t> Prázdné buňky a text funkce ignorují, ale skutečnou nulu započítají.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Modus počítá funkce MODE.SNGL, která při několika stejně častých hodnotách vrátí jen jednu; proto je lepší prohlédnout četnosti. Rozpětí získáme rozdílem funkcí MAX a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Co vrátí vzorec =PERCENTIL.INC(A2:A6;75)? Chybu, protože úroveň musí být podíl od 0 do 1. Správně je 0,75.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3, Ukazatele polohy a variability, příslušný oddíl: https://reckak.github.io/statistics-for-psychology/quarto/kapitola_03.html#sec-excel-poloha. Příklady jsou modelové výukové údaje.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Začínáme procvičování. V první úloze si vyzkoušíte, jak tvar rozdělení ovlivňuje vztah průměru a mediánu.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Možné řešení:</a:t>
            </a:r>
            <a:r>
              <a:rPr lang="cs-CZ" altLang="cs-CZ" sz="1200" b="0" i="0" noProof="0">
                <a:latin typeface="Arial"/>
              </a:rPr>
              <a:t> doby 3, 4, 4, 5, 6, 7 a 20 minut. Součet je 49, průměr 49 / 7 = 7 minut. Medián je čtvrtá hodnota seřazené řady, 5 minut. Průměr je tedy větší než medián.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Rozdělení tohoto souboru má delší pravý chvost: většina dob je krátká a jedna doba je výrazně delší. </a:t>
            </a:r>
            <a:r>
              <a:rPr lang="cs-CZ" altLang="cs-CZ" sz="1200" b="0" i="1" noProof="0">
                <a:latin typeface="Arial"/>
              </a:rPr>
              <a:t>Vzdálená vysoká hodnota zvyšuje součet, a tím průměr, ale prostřední polohu nemění.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dat zešikmených doprava leží průměr zpravidla nad mediánem. Je to užitečné vodítko, ne univerzální pravidlo: obrácený závěr, že průměr větší než medián dokazuje zešikmení doprava, bez grafu dělat nemůžeme.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Přijatelné jsou všechny soubory</a:t>
            </a:r>
            <a:r>
              <a:rPr lang="cs-CZ" altLang="cs-CZ" sz="1200" b="0" i="0" noProof="0">
                <a:latin typeface="Arial"/>
              </a:rPr>
              <a:t>, v nichž je správně spočítaný průměr větší než medián. Vyžadujte výpočet obou ukazatelů a popis tvaru; nestačí data bez ověření.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60, úlohy 2.30–2.31, česká adaptace. Úloha 2.31 se v originále odvolává na data, která si studenti sami sestavili v úloze 2.6.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Druhá úloha navazuje na první, ale míří na častý omyl: že shoda průměru a mediánu znamená souměrné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Možné řešení:</a:t>
            </a:r>
            <a:r>
              <a:rPr lang="cs-CZ" altLang="cs-CZ" sz="1200" b="0" i="0" noProof="0">
                <a:latin typeface="Arial"/>
              </a:rPr>
              <a:t> hodnoty 2, 2, 2, 3, 3, 4 a 5. Součet je 21, průměr 21 / 7 = 3. Medián je čtvrtá hodnota, tedy 3. Modus je 2, protože se vyskytuje třikrát. Rozdělení má jediný vrchol na hodnotě 2.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Toto rozdělení souměrné není: vrchol leží na levém okraji a hodnoty vybíhají doprava. Přesto se průměr a medián shodují.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Shoda průměru a mediánu sama souměrnost nedokazuje.</a:t>
            </a:r>
            <a:r>
              <a:rPr lang="cs-CZ" altLang="cs-CZ" sz="1200" b="0" i="0" noProof="0">
                <a:latin typeface="Arial"/>
              </a:rPr>
              <a:t> U souměrného rozdělení s jedním vrcholem uprostřed se sice průměr, medián a modus shodují, ale obráceně to neplatí. Tvar posuzujeme z grafu.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Přijatelné jsou všechny soubory</a:t>
            </a:r>
            <a:r>
              <a:rPr lang="cs-CZ" altLang="cs-CZ" sz="1200" b="0" i="0" noProof="0">
                <a:latin typeface="Arial"/>
              </a:rPr>
              <a:t>, které mají jediný modus odlišný od společné hodnoty průměru a mediánu. Zkontrolujte, že soubor nemá dva stejně časté mody.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60, úloha 2.32. Otázky na souměrnost jsou doplněny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úloha procvičuje výpočet z tabulky četností: každou hodnotu musíme započítat tolikrát, kolikrát se vyskytla. Je to stejný princip jako u váženého průměru.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Průměr:</a:t>
            </a:r>
            <a:r>
              <a:rPr lang="cs-CZ" altLang="cs-CZ" sz="1200" b="0" i="0" noProof="0">
                <a:latin typeface="Arial"/>
              </a:rPr>
              <a:t> součet je 18 × 1 + 19 × 0 + 20 × 4 + 21 × 3 + 22 × 3 + 23 × 3 + 24 × 1 = 18 + 0 + 80 + 63 + 66 + 69 + 24 = 320 pokusů. Průměr je 320 / 15 ≐ </a:t>
            </a:r>
            <a:r>
              <a:rPr lang="cs-CZ" altLang="cs-CZ" sz="1200" b="1" i="0" noProof="0">
                <a:latin typeface="Arial"/>
              </a:rPr>
              <a:t>21,33 pokusu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Medián:</a:t>
            </a:r>
            <a:r>
              <a:rPr lang="cs-CZ" altLang="cs-CZ" sz="1200" b="0" i="0" noProof="0">
                <a:latin typeface="Arial"/>
              </a:rPr>
              <a:t> při patnácti hodnotách je prostřední osmá hodnota seřazené řady. Kumulativní četnosti jsou 1, 1, 5, 8, 11, 14 a 15. Osmá hodnota tedy patří k 21 pokusům; medián je </a:t>
            </a:r>
            <a:r>
              <a:rPr lang="cs-CZ" altLang="cs-CZ" sz="1200" b="1" i="0" noProof="0">
                <a:latin typeface="Arial"/>
              </a:rPr>
              <a:t>21 pokusů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Častá chyba je zprůměrovat jen sedm hodnot z prvního řádku, (18 + … + 24) / 7 = 21, a ignorovat četnosti.</a:t>
            </a:r>
            <a:r>
              <a:rPr lang="cs-CZ" altLang="cs-CZ" sz="1200" b="0" i="0" noProof="0">
                <a:latin typeface="Arial"/>
              </a:rPr>
              <a:t> Zde vychází podobné číslo jen shodou okolností; postup je chybný.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 celkovým počtem pokusů souvisí průměr: 15 potkanů × 21,33 pokusu = 320 pokusů. Z mediánu součet nezjistíme. Pro úplnost: modus je 20 pokusů.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60, úloha 2.33; četnosti ověřeny v originálu (1, 0, 4, 3, 3, 3, 1). Doplňující otázka je přidána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Čtvrtá úloha ověřuje pravidla pro posun a změnu jednotek na konkrétních číslech.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Soubor A:</a:t>
            </a:r>
            <a:r>
              <a:rPr lang="cs-CZ" altLang="cs-CZ" sz="1200" b="0" i="0" noProof="0">
                <a:latin typeface="Arial"/>
              </a:rPr>
              <a:t> součet je 51, průměr 51 / 6 = 8,5. Seřazeno 3, 7, 7, 8, 12, 14; medián je (7 + 8) / 2 = 7,5 a modus 7. Po odečtení 5 dostaneme 3, 2, 7, 9, −2, 2: průměr 21 / 6 = 3,5, medián (2 + 3) / 2 = 2,5 a modus 2. Všechny tři ukazatele klesly právě o 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Soubor B:</a:t>
            </a:r>
            <a:r>
              <a:rPr lang="cs-CZ" altLang="cs-CZ" sz="1200" b="0" i="0" noProof="0">
                <a:latin typeface="Arial"/>
              </a:rPr>
              <a:t> součet je 29, průměr 29 / 6 ≐ 4,83. Seřazeno 2, 3, 5, 5, 6, 8; medián 5, modus 5. Po vynásobení 3 dostaneme 24, 9, 15, 15, 18, 6: průměr 87 / 6 = 14,5, medián 15 a modus 15. Všechny tři ukazatele se vynásobily 3.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Směrodatná odchylka:</a:t>
            </a:r>
            <a:r>
              <a:rPr lang="cs-CZ" altLang="cs-CZ" sz="1200" b="0" i="0" noProof="0">
                <a:latin typeface="Arial"/>
              </a:rPr>
              <a:t> odečtení konstanty ji nezmění, protože rozdíly mezi hodnotami zůstávají stejné (u souboru A je před i po převodu přibližně 3,94). Násobení trojkou ji ztrojnásobí (u souboru B z přibližně 2,14 na 6,41). Rozptyl by se vynásobil 3² = 9.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Posun mění polohu, ne variabilitu; násobení mění obojí.</a:t>
            </a:r>
            <a:r>
              <a:rPr lang="cs-CZ" altLang="cs-CZ" sz="1200" b="0" i="0" noProof="0">
                <a:latin typeface="Arial"/>
              </a:rPr>
              <a:t> Howell v úloze 2.35 konkrétní násobitel neuvádí; hodnota 3 je zvolena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61, úlohy 2.34–2.35. Otázka na směrodatnou odchylku je doplněna.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úloha je krátká, ale pomáhá pochopit, co znamenají stupně volnosti.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Má-li mít deset čísel průměr 8,6, musí být jejich součet 10 × 8,6 = 86. </a:t>
            </a:r>
            <a:r>
              <a:rPr lang="cs-CZ" altLang="cs-CZ" sz="1200" b="1" i="0" noProof="0">
                <a:latin typeface="Arial"/>
              </a:rPr>
              <a:t>Devět čísel můžeme zvolit libovolně</a:t>
            </a:r>
            <a:r>
              <a:rPr lang="cs-CZ" altLang="cs-CZ" sz="1200" b="0" i="0" noProof="0">
                <a:latin typeface="Arial"/>
              </a:rPr>
              <a:t>; desáté je pak určeno: musí doplnit součet do 86.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Možné řešení:</a:t>
            </a:r>
            <a:r>
              <a:rPr lang="cs-CZ" altLang="cs-CZ" sz="1200" b="0" i="0" noProof="0">
                <a:latin typeface="Arial"/>
              </a:rPr>
              <a:t> zvolíme 5, 7, 8, 8, 9, 9, 10, 10 a 12. Jejich součet je 78, desáté číslo proto musí být 86 − 78 = 8. Soubor 5, 7, 8, 8, 8, 9, 9, 10, 10, 12 má průměr 8,6.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Jakmile je průměr dán, jedna hodnota ztrácí volnost.</a:t>
            </a:r>
            <a:r>
              <a:rPr lang="cs-CZ" altLang="cs-CZ" sz="1200" b="0" i="0" noProof="0">
                <a:latin typeface="Arial"/>
              </a:rPr>
              <a:t> Stejně je tomu u odchylek od výběrového průměru: musí se sečíst na nulu, takže známe-li n − 1 odchylek, poslední je jimi určena. Proto má výběrový rozptyl n − 1 stupňů volnosti, zde 10 − 1 = 9.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Přijatelný je každý soubor</a:t>
            </a:r>
            <a:r>
              <a:rPr lang="cs-CZ" altLang="cs-CZ" sz="1200" b="0" i="0" noProof="0">
                <a:latin typeface="Arial"/>
              </a:rPr>
              <a:t> deseti čísel se součtem 86, včetně desetinných nebo záporných čísel. Důležité je vysvětlení, proč desáté číslo už volit nelze.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61, úloha 2.36.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Poslední úloha bez Excelu shrnuje rozdíl mezi lineární a nelineární transformací.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Lineární transformace</a:t>
            </a:r>
            <a:r>
              <a:rPr lang="cs-CZ" altLang="cs-CZ" sz="1200" b="0" i="0" noProof="0">
                <a:latin typeface="Arial"/>
              </a:rPr>
              <a:t> y = a + b × x s nenulovým b tvar rozdělení nemění: všechny rozdíly mezi hodnotami se násobí stejným číslem. Příkladem je převod minut na sekundy nebo přičtení dvou minut ke každé době. Při záporném b se rozdělení zrcadlově převrátí, takže se obrátí směr zešikmení, ale jinak tvar zůstává.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Nelineární transformace</a:t>
            </a:r>
            <a:r>
              <a:rPr lang="cs-CZ" altLang="cs-CZ" sz="1200" b="0" i="0" noProof="0">
                <a:latin typeface="Arial"/>
              </a:rPr>
              <a:t> tvar změnit může, protože stejně velké rozdíly mění různě. Příkladem je druhá mocnina: skóry 2 a 3 se změní na 4 a 9 (rozdíl 5), zatímco skóry 8 a 9 na 64 a 81 (rozdíl 17). Vyšší hodnoty se od sebe vzdálí více a pravý chvost se prodlouží.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Tvar rozdělení se tedy mění tehdy, když převod nezachovává poměry vzdáleností mezi hodnotami, tedy když je nelineární.</a:t>
            </a:r>
            <a:r>
              <a:rPr lang="cs-CZ" altLang="cs-CZ" sz="1200" b="0" i="0" noProof="0">
                <a:latin typeface="Arial"/>
              </a:rPr>
              <a:t> Po nelineárním převodu musíme průměr i směrodatnou odchylku spočítat znovu z převedených hodnot.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Přijatelné příklady</a:t>
            </a:r>
            <a:r>
              <a:rPr lang="cs-CZ" altLang="cs-CZ" sz="1200" b="0" i="0" noProof="0">
                <a:latin typeface="Arial"/>
              </a:rPr>
              <a:t> nelineárních převodů jsou také odmocnina, logaritmus nebo převrácená hodnota; logaritmus v této kapitole patří jen do nepovinného rozšíření, proto jej nevyžadujte.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62, úloha 2.54. Pokyny k příkladům jsou doplněny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Početní úlohy pro Excel nejsou v prezentaci, ale v doprovodném sešitu </a:t>
            </a:r>
            <a:r>
              <a:rPr lang="cs-CZ" altLang="cs-CZ" sz="1200" b="1" i="0" noProof="0">
                <a:latin typeface="Arial"/>
              </a:rPr>
              <a:t>kapitola_03_poloha_a_variabilita_cviceni.xlsx</a:t>
            </a:r>
            <a:r>
              <a:rPr lang="cs-CZ" altLang="cs-CZ" sz="1200" b="0" i="0" noProof="0">
                <a:latin typeface="Arial"/>
              </a:rPr>
              <a:t>. Sešit obsahuje úplná zadání, data i řešení, takže jej lze použít i samostatně.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Listy </a:t>
            </a:r>
            <a:r>
              <a:rPr lang="cs-CZ" altLang="cs-CZ" sz="1200" b="1" i="0" noProof="0">
                <a:latin typeface="Arial"/>
              </a:rPr>
              <a:t>U1_stred</a:t>
            </a:r>
            <a:r>
              <a:rPr lang="cs-CZ" altLang="cs-CZ" sz="1200" b="0" i="0" noProof="0">
                <a:latin typeface="Arial"/>
              </a:rPr>
              <a:t>, </a:t>
            </a:r>
            <a:r>
              <a:rPr lang="cs-CZ" altLang="cs-CZ" sz="1200" b="1" i="0" noProof="0">
                <a:latin typeface="Arial"/>
              </a:rPr>
              <a:t>U2_variabilita</a:t>
            </a:r>
            <a:r>
              <a:rPr lang="cs-CZ" altLang="cs-CZ" sz="1200" b="0" i="0" noProof="0">
                <a:latin typeface="Arial"/>
              </a:rPr>
              <a:t>, </a:t>
            </a:r>
            <a:r>
              <a:rPr lang="cs-CZ" altLang="cs-CZ" sz="1200" b="1" i="0" noProof="0">
                <a:latin typeface="Arial"/>
              </a:rPr>
              <a:t>U3_interval</a:t>
            </a:r>
            <a:r>
              <a:rPr lang="cs-CZ" altLang="cs-CZ" sz="1200" b="0" i="0" noProof="0">
                <a:latin typeface="Arial"/>
              </a:rPr>
              <a:t>, </a:t>
            </a:r>
            <a:r>
              <a:rPr lang="cs-CZ" altLang="cs-CZ" sz="1200" b="1" i="0" noProof="0">
                <a:latin typeface="Arial"/>
              </a:rPr>
              <a:t>U4_boxplot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1" i="0" noProof="0">
                <a:latin typeface="Arial"/>
              </a:rPr>
              <a:t>U5_orezani</a:t>
            </a:r>
            <a:r>
              <a:rPr lang="cs-CZ" altLang="cs-CZ" sz="1200" b="0" i="0" noProof="0">
                <a:latin typeface="Arial"/>
              </a:rPr>
              <a:t> pracují se stejnými daty z Howellovy učebnice: počet výroků „a potom…“, které při vyprávění o filmu použilo 50 dětí a 50 dospělých. Hodnoty obou skupin jsou seřazeny vzestupně a doplněny pořadím. Každý list řeší jeden úkol: ukazatele středu; variační rozpětí, rozptyl a směrodatnou odchylku; podíl hodnot v intervalu m ± 2s; údaje pro krabicový graf; 10% ořezaný průměr.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 </a:t>
            </a:r>
            <a:r>
              <a:rPr lang="cs-CZ" altLang="cs-CZ" sz="1200" b="1" i="0" noProof="0">
                <a:latin typeface="Arial"/>
              </a:rPr>
              <a:t>U6_transformace</a:t>
            </a:r>
            <a:r>
              <a:rPr lang="cs-CZ" altLang="cs-CZ" sz="1200" b="0" i="0" noProof="0">
                <a:latin typeface="Arial"/>
              </a:rPr>
              <a:t> obsahuje osm hodnot. Úkolem 6 je převést je tak, aby nový soubor měl směrodatnou odchylku přesně 1.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První list </a:t>
            </a:r>
            <a:r>
              <a:rPr lang="cs-CZ" altLang="cs-CZ" sz="1200" b="1" i="0" noProof="0">
                <a:latin typeface="Arial"/>
              </a:rPr>
              <a:t>Prehled</a:t>
            </a:r>
            <a:r>
              <a:rPr lang="cs-CZ" altLang="cs-CZ" sz="1200" b="0" i="0" noProof="0">
                <a:latin typeface="Arial"/>
              </a:rPr>
              <a:t> shrnuje úkoly, barvy buněk, použité konvence a zdroje. Na listech s úkoly je vlevo zadání a data, vedle nich žlutá pracovní oblast a vpravo modrý blok řešení po krocích s pomocnými sloupci, postupem a interpretací.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Řešení je rozepsané jen základními operacemi: součty, rozdíly, násobení, dělení a odmocnina. Hotová funkce Excelu, například VAR.S nebo PERCENTIL.INC, je uvedena až na konci jako kontrola.</a:t>
            </a:r>
            <a:r>
              <a:rPr lang="cs-CZ" altLang="cs-CZ" sz="1200" b="0" i="0" noProof="0">
                <a:latin typeface="Arial"/>
              </a:rPr>
              <a:t> Cílem je vidět každý krok výpočtu a rozumět mu, ne jen získat číslo. Počítejte proto nejprve sami po krocích a do bloku řešení se dívejte až po vlastním pokusu.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Data jsou převzata z učebnicových zadání; Howell u nich neuvádí konkrétní empirickou studii, proto je nepovažujeme za doložené výsledky výzkumu. Úkol na ořezaný průměr je inspirován úlohou 2.51, která v originále používá jiná data.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Doporučený postup: přibližně 15 minut samostatné práce nebo práce ve dvojicích, například každá dvojice jeden list, poté společný rozbor úkolů 3 a 4, u nichž je nejvíce prostoru pro interpretaci.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lang="cs-CZ" altLang="cs-CZ" sz="4400" noProof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lang="cs-CZ" altLang="cs-CZ" sz="2800" noProof="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lang="cs-CZ" altLang="cs-CZ" sz="2400" noProof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lang="cs-CZ" altLang="cs-CZ" sz="2000" noProof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1952625"/>
            <a:ext cx="13563600" cy="2190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52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Ukazatele polohy</a:t>
            </a:r>
            <a:endParaRPr lang="cs-CZ" altLang="cs-CZ" sz="5250" noProof="0"/>
          </a:p>
          <a:p>
            <a:pPr algn="l"/>
            <a:r>
              <a:rPr lang="cs-CZ" altLang="cs-CZ" sz="52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variability</a:t>
            </a:r>
            <a:endParaRPr lang="cs-CZ" altLang="cs-CZ" sz="525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4953000"/>
            <a:ext cx="135636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700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Kapitola 3</a:t>
            </a:r>
            <a:endParaRPr lang="cs-CZ" altLang="cs-CZ" sz="27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Stejný průměr, jiná variabilita</a:t>
            </a:r>
            <a:endParaRPr lang="cs-CZ" altLang="cs-CZ" sz="3600" noProof="0"/>
          </a:p>
        </p:txBody>
      </p:sp>
      <p:pic>
        <p:nvPicPr>
          <p:cNvPr id="12" name="Obrázek 12" descr="Dva modelové soubory dob dokončení úlohy. První obsahuje hodnoty 5, 6, 6, 6 a 7 minut, druhý 2, 4, 6, 8 a 10 minut. Oba mají průměr 6 minut, druhý má větší variabilitu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701" y="1463040"/>
            <a:ext cx="8963299" cy="644271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Kde data leží a jak se navzájem liší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343150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Ukazatele polohy: kde se rozdělení na škále nachází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314700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Ukazatele variability: jak se hodnoty navzájem liší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286250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Statistika popisuje soubor dat, parametr populaci nebo model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Dva modelové soubory dob dokončení úlohy v minutách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Modus: nejčastější hodnota</a:t>
            </a:r>
            <a:endParaRPr lang="cs-CZ" altLang="cs-CZ" sz="3600" noProof="0"/>
          </a:p>
        </p:txBody>
      </p:sp>
      <p:sp>
        <p:nvSpPr>
          <p:cNvPr id="12" name="Hodnota 12"/>
          <p:cNvSpPr/>
          <p:nvPr/>
        </p:nvSpPr>
        <p:spPr>
          <a:xfrm>
            <a:off x="838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</a:t>
            </a:r>
            <a:endParaRPr lang="cs-CZ" altLang="cs-CZ" sz="2550" noProof="0"/>
          </a:p>
        </p:txBody>
      </p:sp>
      <p:sp>
        <p:nvSpPr>
          <p:cNvPr id="13" name="Hodnota 13"/>
          <p:cNvSpPr/>
          <p:nvPr/>
        </p:nvSpPr>
        <p:spPr>
          <a:xfrm>
            <a:off x="20764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176A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4" name="Hodnota 14"/>
          <p:cNvSpPr/>
          <p:nvPr/>
        </p:nvSpPr>
        <p:spPr>
          <a:xfrm>
            <a:off x="33147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176A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5" name="Hodnota 15"/>
          <p:cNvSpPr/>
          <p:nvPr/>
        </p:nvSpPr>
        <p:spPr>
          <a:xfrm>
            <a:off x="45529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</a:t>
            </a:r>
            <a:endParaRPr lang="cs-CZ" altLang="cs-CZ" sz="2550" noProof="0"/>
          </a:p>
        </p:txBody>
      </p:sp>
      <p:sp>
        <p:nvSpPr>
          <p:cNvPr id="16" name="Hodnota 16"/>
          <p:cNvSpPr/>
          <p:nvPr/>
        </p:nvSpPr>
        <p:spPr>
          <a:xfrm>
            <a:off x="5791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7124700" y="1714500"/>
            <a:ext cx="28575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minut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27813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Modus = 5 minut</a:t>
            </a:r>
            <a:endParaRPr lang="cs-CZ" altLang="cs-CZ" sz="2925" noProof="0"/>
          </a:p>
        </p:txBody>
      </p:sp>
      <p:sp>
        <p:nvSpPr>
          <p:cNvPr id="19" name="Text 19"/>
          <p:cNvSpPr txBox="1"/>
          <p:nvPr/>
        </p:nvSpPr>
        <p:spPr>
          <a:xfrm>
            <a:off x="838200" y="35242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Hodnota nebo kategorie s nejvyšší četností; lze jej určit i u nominálních dat</a:t>
            </a:r>
            <a:endParaRPr lang="cs-CZ" altLang="cs-CZ" sz="2850" noProof="0"/>
          </a:p>
        </p:txBody>
      </p:sp>
      <p:sp>
        <p:nvSpPr>
          <p:cNvPr id="20" name="Text 20"/>
          <p:cNvSpPr txBox="1"/>
          <p:nvPr/>
        </p:nvSpPr>
        <p:spPr>
          <a:xfrm>
            <a:off x="838200" y="42576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Nejčastější neznamená většinový: 5 minut mají 2 z 5 osob (40,0 %)</a:t>
            </a:r>
            <a:endParaRPr lang="cs-CZ" altLang="cs-CZ" sz="2850" noProof="0"/>
          </a:p>
        </p:txBody>
      </p:sp>
      <p:sp>
        <p:nvSpPr>
          <p:cNvPr id="21" name="Text 21"/>
          <p:cNvSpPr txBox="1"/>
          <p:nvPr/>
        </p:nvSpPr>
        <p:spPr>
          <a:xfrm>
            <a:off x="838200" y="49911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Modů může být více; u jemně měřených veličin bývá málo informativní</a:t>
            </a:r>
            <a:endParaRPr lang="cs-CZ" altLang="cs-CZ" sz="2850" noProof="0"/>
          </a:p>
        </p:txBody>
      </p:sp>
      <p:sp>
        <p:nvSpPr>
          <p:cNvPr id="22" name="Text 22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Průběžný příklad: doby dokončení úlohy pěti modelových účastníků</a:t>
            </a:r>
            <a:endParaRPr lang="cs-CZ" altLang="cs-CZ" sz="1650" noProof="0"/>
          </a:p>
        </p:txBody>
      </p:sp>
      <p:sp>
        <p:nvSpPr>
          <p:cNvPr id="23" name="Text 23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Medián: prostřední poloha</a:t>
            </a:r>
            <a:endParaRPr lang="cs-CZ" altLang="cs-CZ" sz="3600" noProof="0"/>
          </a:p>
        </p:txBody>
      </p:sp>
      <p:sp>
        <p:nvSpPr>
          <p:cNvPr id="12" name="Hodnota 12"/>
          <p:cNvSpPr/>
          <p:nvPr/>
        </p:nvSpPr>
        <p:spPr>
          <a:xfrm>
            <a:off x="838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</a:t>
            </a:r>
            <a:endParaRPr lang="cs-CZ" altLang="cs-CZ" sz="2550" noProof="0"/>
          </a:p>
        </p:txBody>
      </p:sp>
      <p:sp>
        <p:nvSpPr>
          <p:cNvPr id="13" name="Hodnota 13"/>
          <p:cNvSpPr/>
          <p:nvPr/>
        </p:nvSpPr>
        <p:spPr>
          <a:xfrm>
            <a:off x="20764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4" name="Hodnota 14"/>
          <p:cNvSpPr/>
          <p:nvPr/>
        </p:nvSpPr>
        <p:spPr>
          <a:xfrm>
            <a:off x="33147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176A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5" name="Hodnota 15"/>
          <p:cNvSpPr/>
          <p:nvPr/>
        </p:nvSpPr>
        <p:spPr>
          <a:xfrm>
            <a:off x="45529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</a:t>
            </a:r>
            <a:endParaRPr lang="cs-CZ" altLang="cs-CZ" sz="2550" noProof="0"/>
          </a:p>
        </p:txBody>
      </p:sp>
      <p:sp>
        <p:nvSpPr>
          <p:cNvPr id="16" name="Hodnota 16"/>
          <p:cNvSpPr/>
          <p:nvPr/>
        </p:nvSpPr>
        <p:spPr>
          <a:xfrm>
            <a:off x="5791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7124700" y="1714500"/>
            <a:ext cx="28575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minut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27813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Medián = 5 minut: prostřední hodnota seřazené řady</a:t>
            </a:r>
            <a:endParaRPr lang="cs-CZ" altLang="cs-CZ" sz="2925" noProof="0"/>
          </a:p>
        </p:txBody>
      </p:sp>
      <p:sp>
        <p:nvSpPr>
          <p:cNvPr id="19" name="Text 19"/>
          <p:cNvSpPr txBox="1"/>
          <p:nvPr/>
        </p:nvSpPr>
        <p:spPr>
          <a:xfrm>
            <a:off x="838200" y="35242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Sudý počet hodnot: průměr dvou prostředních; 4, 5, 6, 10 → 5,5 minuty</a:t>
            </a:r>
            <a:endParaRPr lang="cs-CZ" altLang="cs-CZ" sz="2850" noProof="0"/>
          </a:p>
        </p:txBody>
      </p:sp>
      <p:sp>
        <p:nvSpPr>
          <p:cNvPr id="20" name="Text 20"/>
          <p:cNvSpPr txBox="1"/>
          <p:nvPr/>
        </p:nvSpPr>
        <p:spPr>
          <a:xfrm>
            <a:off x="838200" y="42576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Alespoň polovina hodnot je nejvýše rovna mediánu a alespoň polovina nejméně</a:t>
            </a:r>
            <a:endParaRPr lang="cs-CZ" altLang="cs-CZ" sz="2850" noProof="0"/>
          </a:p>
        </p:txBody>
      </p:sp>
      <p:sp>
        <p:nvSpPr>
          <p:cNvPr id="21" name="Text 21"/>
          <p:cNvSpPr txBox="1"/>
          <p:nvPr/>
        </p:nvSpPr>
        <p:spPr>
          <a:xfrm>
            <a:off x="838200" y="49911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Ordinální kategorie: kódy neprůměrujeme, uvedeme obě prostřední kategorie</a:t>
            </a:r>
            <a:endParaRPr lang="cs-CZ" altLang="cs-CZ" sz="2850" noProof="0"/>
          </a:p>
        </p:txBody>
      </p:sp>
      <p:sp>
        <p:nvSpPr>
          <p:cNvPr id="22" name="Text 2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Aritmetický průměr</a:t>
            </a:r>
            <a:endParaRPr lang="cs-CZ" altLang="cs-CZ" sz="3600" noProof="0"/>
          </a:p>
        </p:txBody>
      </p:sp>
      <p:sp>
        <p:nvSpPr>
          <p:cNvPr id="12" name="Hodnota 12"/>
          <p:cNvSpPr/>
          <p:nvPr/>
        </p:nvSpPr>
        <p:spPr>
          <a:xfrm>
            <a:off x="838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</a:t>
            </a:r>
            <a:endParaRPr lang="cs-CZ" altLang="cs-CZ" sz="2550" noProof="0"/>
          </a:p>
        </p:txBody>
      </p:sp>
      <p:sp>
        <p:nvSpPr>
          <p:cNvPr id="13" name="Hodnota 13"/>
          <p:cNvSpPr/>
          <p:nvPr/>
        </p:nvSpPr>
        <p:spPr>
          <a:xfrm>
            <a:off x="20764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4" name="Hodnota 14"/>
          <p:cNvSpPr/>
          <p:nvPr/>
        </p:nvSpPr>
        <p:spPr>
          <a:xfrm>
            <a:off x="33147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5" name="Hodnota 15"/>
          <p:cNvSpPr/>
          <p:nvPr/>
        </p:nvSpPr>
        <p:spPr>
          <a:xfrm>
            <a:off x="45529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</a:t>
            </a:r>
            <a:endParaRPr lang="cs-CZ" altLang="cs-CZ" sz="2550" noProof="0"/>
          </a:p>
        </p:txBody>
      </p:sp>
      <p:sp>
        <p:nvSpPr>
          <p:cNvPr id="16" name="Hodnota 16"/>
          <p:cNvSpPr/>
          <p:nvPr/>
        </p:nvSpPr>
        <p:spPr>
          <a:xfrm>
            <a:off x="5791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7124700" y="1714500"/>
            <a:ext cx="28575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minut</a:t>
            </a:r>
            <a:endParaRPr lang="cs-CZ" altLang="cs-CZ" sz="21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Vzorec 18" descr="m = (1/n) × součet všech x_i"/>
              <p:cNvSpPr txBox="1"/>
              <p:nvPr/>
            </p:nvSpPr>
            <p:spPr>
              <a:xfrm>
                <a:off x="838200" y="2781300"/>
                <a:ext cx="135636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8" name="Vzorec 18" descr="m = (1/n) × součet všech x_i"/>
              <p:cNvSpPr txBox="1"/>
              <p:nvPr/>
            </p:nvSpPr>
            <p:spPr>
              <a:xfrm>
                <a:off x="838200" y="2781300"/>
                <a:ext cx="135636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m = (1/n) × součet všech x_i</a:t>
                </a:r>
                <a:endParaRPr lang="cs-CZ" altLang="cs-CZ" sz="2550" noProof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Vzorec 19" descr="m = (4 + 5 + 5 + 6 + 10) / 5 = 30 / 5 = 6 minut"/>
              <p:cNvSpPr txBox="1"/>
              <p:nvPr/>
            </p:nvSpPr>
            <p:spPr>
              <a:xfrm>
                <a:off x="838200" y="40767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4+5+5+6+10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6 </m:t>
                      </m:r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minut</m:t>
                      </m:r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9" name="Vzorec 19" descr="m = (4 + 5 + 5 + 6 + 10) / 5 = 30 / 5 = 6 minut"/>
              <p:cNvSpPr txBox="1"/>
              <p:nvPr/>
            </p:nvSpPr>
            <p:spPr>
              <a:xfrm>
                <a:off x="838200" y="40767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m = (4 + 5 + 5 + 6 + 10) / 5 = 30 / 5 = 6 minut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20" name="Text 20"/>
          <p:cNvSpPr txBox="1"/>
          <p:nvPr/>
        </p:nvSpPr>
        <p:spPr>
          <a:xfrm>
            <a:off x="838200" y="52768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Součet rozdělený rovnoměrně mezi všechny případy</a:t>
            </a:r>
            <a:endParaRPr lang="cs-CZ" altLang="cs-CZ" sz="2850" noProof="0"/>
          </a:p>
        </p:txBody>
      </p:sp>
      <p:sp>
        <p:nvSpPr>
          <p:cNvPr id="21" name="Text 21"/>
          <p:cNvSpPr txBox="1"/>
          <p:nvPr/>
        </p:nvSpPr>
        <p:spPr>
          <a:xfrm>
            <a:off x="838200" y="60102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Využívá velikost každé hodnoty; nemusí být pozorovanou hodnotou</a:t>
            </a:r>
            <a:endParaRPr lang="cs-CZ" altLang="cs-CZ" sz="2850" noProof="0"/>
          </a:p>
        </p:txBody>
      </p:sp>
      <p:sp>
        <p:nvSpPr>
          <p:cNvPr id="22" name="Text 22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n = počet pozorování, x s indexem i = hodnota i-tého pozorování, m = výběrový průměr</a:t>
            </a:r>
            <a:endParaRPr lang="cs-CZ" altLang="cs-CZ" sz="1650" noProof="0"/>
          </a:p>
        </p:txBody>
      </p:sp>
      <p:sp>
        <p:nvSpPr>
          <p:cNvPr id="23" name="Text 23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Jedno vzdálenější pozorování</a:t>
            </a:r>
            <a:endParaRPr lang="cs-CZ" altLang="cs-CZ" sz="3600" noProof="0"/>
          </a:p>
        </p:txBody>
      </p:sp>
      <p:pic>
        <p:nvPicPr>
          <p:cNvPr id="12" name="Obrázek 12" descr="Při stejném měřítku obou os se po změně jedné doby z 10 na 30 minut průměr posune z 6 na 10 minut, zatímco medián zůstane na 5 minutách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46" y="1238250"/>
            <a:ext cx="9401908" cy="6757977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Dobu 10 minut nahradíme 30 minutami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714625"/>
            <a:ext cx="5143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Průměr: 6 → 10 minut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324225"/>
            <a:ext cx="5143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Medián a modus: stále 5 minut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393382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Žádný výsledek není chybný;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každý odpovídá na jinou otázku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Tři středy, tři otázky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Volíme podle otázky, úrovně měření a tvaru rozdělení</a:t>
            </a:r>
            <a:endParaRPr lang="cs-CZ" altLang="cs-CZ" sz="2925" noProof="0"/>
          </a:p>
        </p:txBody>
      </p:sp>
      <p:graphicFrame>
        <p:nvGraphicFramePr>
          <p:cNvPr id="13" name="Tabulka 13"/>
          <p:cNvGraphicFramePr>
            <a:graphicFrameLocks noGrp="1"/>
          </p:cNvGraphicFramePr>
          <p:nvPr/>
        </p:nvGraphicFramePr>
        <p:xfrm>
          <a:off x="838200" y="2457450"/>
          <a:ext cx="13563600" cy="3657600"/>
        </p:xfrm>
        <a:graphic>
          <a:graphicData uri="http://schemas.openxmlformats.org/drawingml/2006/table">
            <a:tbl>
              <a:tblPr first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Ukazatel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 co odpovídá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 co dát pozor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Modus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Co se vyskytuje nejčastěji?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Nemusí být jediný ani většinový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Medián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Kde leží prostředek seřazených hodnot?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Nezachytí změny mimo prostředek řady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Průměr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Kolik připadá na jeden případ?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Reaguje i na jedinou vzdálenou hodnotu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V příkladu 4, 5, 5, 6, 10 minut: modus 5, medián 5, průměr 6 minut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Střed a tvar rozdělení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Směr zešikmení určuje delší chvost</a:t>
            </a:r>
            <a:endParaRPr lang="cs-CZ" altLang="cs-CZ" sz="29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56007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Vzdálené hodnoty v chvostu táhnou průměr za sebou; medián se posune méně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63341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Pořadí průměru, mediánu a modu je vodítko, ne test šikmosti</a:t>
            </a:r>
            <a:endParaRPr lang="cs-CZ" altLang="cs-CZ" sz="2850" noProof="0"/>
          </a:p>
        </p:txBody>
      </p:sp>
      <p:pic>
        <p:nvPicPr>
          <p:cNvPr id="15" name="Obrázek 15" descr="Souměrné modelové rozdělení skórů: průměr, medián i modus leží na 50 bodech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05207"/>
            <a:ext cx="4330700" cy="2809586"/>
          </a:xfrm>
          <a:prstGeom prst="rect">
            <a:avLst/>
          </a:prstGeom>
        </p:spPr>
      </p:pic>
      <p:pic>
        <p:nvPicPr>
          <p:cNvPr id="16" name="Obrázek 16" descr="Modelové rozdělení zešikmené doleva: průměr 71,4, medián 73,6 a modus 80 bodů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650" y="2440998"/>
            <a:ext cx="4330700" cy="2738005"/>
          </a:xfrm>
          <a:prstGeom prst="rect">
            <a:avLst/>
          </a:prstGeom>
        </p:spPr>
      </p:pic>
      <p:pic>
        <p:nvPicPr>
          <p:cNvPr id="17" name="Obrázek 17" descr="Modelové rozdělení zešikmené doprava: modus 20, medián 26,4 a průměr 28,6 bodu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100" y="2449945"/>
            <a:ext cx="4330700" cy="2720109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Vlastní modelová rozdělení testových skórů, nikoli naměřená data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Průměr více skupin</a:t>
            </a:r>
            <a:endParaRPr lang="cs-CZ" altLang="cs-CZ" sz="3600" noProof="0"/>
          </a:p>
        </p:txBody>
      </p:sp>
      <p:pic>
        <p:nvPicPr>
          <p:cNvPr id="12" name="Obrázek 12" descr="Deset lidí s průměrem čtyři minuty přispívá celkovým časem 40 minut, třicet lidí s průměrem osm minut přispívá 240 minutami. Součet 280 dělený 40 lidmi dává sedm minu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318" y="1575073"/>
            <a:ext cx="9823938" cy="6139961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  <a:t>Skupiny 10 a 30 osob, </a:t>
            </a:r>
            <a:b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</a:br>
            <a: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  <a:t>průměry 4 a 8 minut</a:t>
            </a:r>
            <a:endParaRPr lang="cs-CZ" altLang="cs-CZ" sz="2400" noProof="0" dirty="0"/>
          </a:p>
        </p:txBody>
      </p:sp>
      <p:sp>
        <p:nvSpPr>
          <p:cNvPr id="14" name="Text 14"/>
          <p:cNvSpPr txBox="1"/>
          <p:nvPr/>
        </p:nvSpPr>
        <p:spPr>
          <a:xfrm>
            <a:off x="838200" y="2714625"/>
            <a:ext cx="5143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(10 × 4 + 30 × 8) / 40 = 7 minut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32422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Prostý průměr (4 + 8) / 2 = 6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odpovídá na jinou otázku</a:t>
            </a:r>
            <a:endParaRPr lang="cs-CZ" altLang="cs-CZ" sz="232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429577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Ze skupinových mediánů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společný medián neurčíme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Kvantily, percentily a kvartily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Kvantil q</a:t>
            </a:r>
            <a:r>
              <a:rPr lang="cs-CZ" altLang="cs-CZ" sz="2925" b="1" baseline="-25000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: hodnota na škále pro zvolenou úroveň p</a:t>
            </a:r>
            <a:endParaRPr lang="cs-CZ" altLang="cs-CZ" sz="2925" noProof="0"/>
          </a:p>
        </p:txBody>
      </p:sp>
      <p:graphicFrame>
        <p:nvGraphicFramePr>
          <p:cNvPr id="13" name="Tabulka 13"/>
          <p:cNvGraphicFramePr>
            <a:graphicFrameLocks noGrp="1"/>
          </p:cNvGraphicFramePr>
          <p:nvPr/>
        </p:nvGraphicFramePr>
        <p:xfrm>
          <a:off x="838200" y="2457450"/>
          <a:ext cx="13563600" cy="2895600"/>
        </p:xfrm>
        <a:graphic>
          <a:graphicData uri="http://schemas.openxmlformats.org/drawingml/2006/table">
            <a:tbl>
              <a:tblPr firstRow="1"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Úroveň p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0,25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Percentil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25. percentil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50. percentil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75. percentil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Kvartil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1. kvartil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2. kvartil = medián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3. kvartil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Příklad 4, 5, 5, 6, 10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 minut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 minut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75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 minut</a:t>
                      </a:r>
                      <a:endParaRPr lang="cs-CZ" altLang="cs-CZ" sz="2175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56769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Kvartil je hraniční hodnota na škále, ne čtvrtina lidí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64103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Číselná data: konvence funkce PERCENTIL.INC s lineární interpolací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Výpočet kvantilu s interpolací</a:t>
            </a:r>
            <a:endParaRPr lang="cs-CZ" altLang="cs-CZ" sz="3600" noProof="0"/>
          </a:p>
        </p:txBody>
      </p:sp>
      <p:pic>
        <p:nvPicPr>
          <p:cNvPr id="12" name="Obrázek 12" descr="Horní graf spojuje jedenáct seřazených časů s přiřazenými úrovněmi od 0 do 100 procent. Dolní graf zvětšuje úsek od 10 procent a 5 minut do 20 procent a 7 minut; úrovni 17 procent odpovídá na spojnici 6,4 minut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812" y="88233"/>
            <a:ext cx="5927188" cy="839603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7810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pozice = 1 + (n − 1) × p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343150"/>
            <a:ext cx="7810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Jedenáct časů, 17. percentil: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pozice = 1 + 10 × 0,17 = 2,7</a:t>
            </a:r>
            <a:endParaRPr lang="cs-CZ" altLang="cs-CZ" sz="2325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3200400"/>
            <a:ext cx="7810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Leží mezi 2. hodnotou (5 minut)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 3. hodnotou (7 minut), v sedmi desetinách cesty</a:t>
            </a:r>
            <a:endParaRPr lang="cs-CZ" altLang="cs-CZ" sz="232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4286251"/>
            <a:ext cx="7810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q</a:t>
            </a:r>
            <a:r>
              <a:rPr lang="cs-CZ" altLang="cs-CZ" sz="2325" b="0" baseline="-2500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0,17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5 + 0,7 × (7 − 5) = 6,4 minuty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4927868"/>
            <a:ext cx="78105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Výsledek nemusí být pozorovanou hodnotou</a:t>
            </a:r>
            <a:endParaRPr lang="cs-CZ" altLang="cs-CZ" sz="2325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Seřazené časy: 4, 5, 7, 8, 9, 10, 12, 13, 15, 18, 22 minut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Percentil a percentilové pořadí</a:t>
            </a:r>
            <a:endParaRPr lang="cs-CZ" altLang="cs-CZ" sz="3600" noProof="0"/>
          </a:p>
        </p:txBody>
      </p:sp>
      <p:pic>
        <p:nvPicPr>
          <p:cNvPr id="12" name="Obrázek 12" descr="Pět seřazených časů 4, 5, 5, 6 a 10 minut. Horní řada označuje prostřední pozici: 50. percentil je pět minut. Dolní řada označuje všechny tři časy nejvýše pět minut: inkluzivní percentilové pořadí je 6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62" y="1468909"/>
            <a:ext cx="8721256" cy="576792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Dvě opačné otázky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343150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Percentil: známe úroveň, hledáme hodnotu. 50. percentil = 5 minut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314700"/>
            <a:ext cx="5143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Percentilové pořadí: známe hodnotu, hledáme podíl hodnot nejvýše rovných 5 minutám: 3 z 5, tedy 60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010150"/>
            <a:ext cx="5143500" cy="1085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Ordinální kategorie: první kategorie, u níž kumulativní podíl dosáhne úrovně p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Rozpětí celku a prostřední části</a:t>
            </a:r>
            <a:endParaRPr lang="cs-CZ" altLang="cs-CZ" sz="3600" noProof="0"/>
          </a:p>
        </p:txBody>
      </p:sp>
      <p:sp>
        <p:nvSpPr>
          <p:cNvPr id="12" name="Hodnota 12"/>
          <p:cNvSpPr/>
          <p:nvPr/>
        </p:nvSpPr>
        <p:spPr>
          <a:xfrm>
            <a:off x="838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176A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cs-CZ" altLang="cs-CZ" sz="2550" noProof="0"/>
          </a:p>
        </p:txBody>
      </p:sp>
      <p:sp>
        <p:nvSpPr>
          <p:cNvPr id="13" name="Hodnota 13"/>
          <p:cNvSpPr/>
          <p:nvPr/>
        </p:nvSpPr>
        <p:spPr>
          <a:xfrm>
            <a:off x="20764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4" name="Hodnota 14"/>
          <p:cNvSpPr/>
          <p:nvPr/>
        </p:nvSpPr>
        <p:spPr>
          <a:xfrm>
            <a:off x="33147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5" name="Hodnota 15"/>
          <p:cNvSpPr/>
          <p:nvPr/>
        </p:nvSpPr>
        <p:spPr>
          <a:xfrm>
            <a:off x="45529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</a:t>
            </a:r>
            <a:endParaRPr lang="cs-CZ" altLang="cs-CZ" sz="2550" noProof="0"/>
          </a:p>
        </p:txBody>
      </p:sp>
      <p:sp>
        <p:nvSpPr>
          <p:cNvPr id="16" name="Hodnota 16"/>
          <p:cNvSpPr/>
          <p:nvPr/>
        </p:nvSpPr>
        <p:spPr>
          <a:xfrm>
            <a:off x="5791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176A8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7124700" y="1714500"/>
            <a:ext cx="28575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minut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27813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Variační rozpětí = maximum − minimum = 10 − 4 = 6 minut</a:t>
            </a:r>
            <a:endParaRPr lang="cs-CZ" altLang="cs-CZ" sz="2925" noProof="0"/>
          </a:p>
        </p:txBody>
      </p:sp>
      <p:sp>
        <p:nvSpPr>
          <p:cNvPr id="19" name="Text 19"/>
          <p:cNvSpPr txBox="1"/>
          <p:nvPr/>
        </p:nvSpPr>
        <p:spPr>
          <a:xfrm>
            <a:off x="838200" y="35242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Využívá jen dvě krajní hodnoty; po změně 10 → 30 vzroste na 26 minut</a:t>
            </a:r>
            <a:endParaRPr lang="cs-CZ" altLang="cs-CZ" sz="2850" noProof="0"/>
          </a:p>
        </p:txBody>
      </p:sp>
      <p:sp>
        <p:nvSpPr>
          <p:cNvPr id="20" name="Text 20"/>
          <p:cNvSpPr txBox="1"/>
          <p:nvPr/>
        </p:nvSpPr>
        <p:spPr>
          <a:xfrm>
            <a:off x="838200" y="4257675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Mezikvartilové rozpětí = q</a:t>
            </a:r>
            <a:r>
              <a:rPr lang="cs-CZ" altLang="cs-CZ" sz="2925" b="1" baseline="-25000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0,75</a:t>
            </a:r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 − q</a:t>
            </a:r>
            <a:r>
              <a:rPr lang="cs-CZ" altLang="cs-CZ" sz="2925" b="1" baseline="-25000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0,25</a:t>
            </a:r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 = 6 − 5 = 1 minuta</a:t>
            </a:r>
            <a:endParaRPr lang="cs-CZ" altLang="cs-CZ" sz="2925" noProof="0"/>
          </a:p>
        </p:txBody>
      </p:sp>
      <p:sp>
        <p:nvSpPr>
          <p:cNvPr id="21" name="Text 21"/>
          <p:cNvSpPr txBox="1"/>
          <p:nvPr/>
        </p:nvSpPr>
        <p:spPr>
          <a:xfrm>
            <a:off x="838200" y="50006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Šířka prostřední části rozdělení; změna 10 → 30 ji zde nezmění</a:t>
            </a:r>
            <a:endParaRPr lang="cs-CZ" altLang="cs-CZ" sz="2850" noProof="0"/>
          </a:p>
        </p:txBody>
      </p:sp>
      <p:sp>
        <p:nvSpPr>
          <p:cNvPr id="22" name="Text 22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IQR (interquartile range) je běžná zkratka mezikvartilového rozpětí</a:t>
            </a:r>
            <a:endParaRPr lang="cs-CZ" altLang="cs-CZ" sz="1650" noProof="0"/>
          </a:p>
        </p:txBody>
      </p:sp>
      <p:sp>
        <p:nvSpPr>
          <p:cNvPr id="23" name="Text 23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Odchylky od průměru</a:t>
            </a:r>
            <a:endParaRPr lang="cs-CZ" altLang="cs-CZ" sz="3600" noProof="0"/>
          </a:p>
        </p:txBody>
      </p:sp>
      <p:pic>
        <p:nvPicPr>
          <p:cNvPr id="12" name="Obrázek 12" descr="Pět modelových dob 4, 5, 5, 6 a 10 minut spojených úsečkami s čarou průměru 6 minut. Odchylky jsou minus 2, minus 1, minus 1, 0 a plus 4; součet délek úseček je 8 minu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476689"/>
            <a:ext cx="8966470" cy="7524311"/>
          </a:xfrm>
          <a:prstGeom prst="rect">
            <a:avLst/>
          </a:prstGeom>
        </p:spPr>
      </p:pic>
      <p:graphicFrame>
        <p:nvGraphicFramePr>
          <p:cNvPr id="13" name="Tabulk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805249"/>
              </p:ext>
            </p:extLst>
          </p:nvPr>
        </p:nvGraphicFramePr>
        <p:xfrm>
          <a:off x="838200" y="1714500"/>
          <a:ext cx="4099561" cy="3474720"/>
        </p:xfrm>
        <a:graphic>
          <a:graphicData uri="http://schemas.openxmlformats.org/drawingml/2006/table">
            <a:tbl>
              <a:tblPr firstRow="1"/>
              <a:tblGrid>
                <a:gridCol w="1138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Doba (min)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Odchylka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Absolutní odchylka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Součet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16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650" b="0" noProof="0" dirty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lang="cs-CZ" altLang="cs-CZ" sz="1650" noProof="0" dirty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5372100"/>
            <a:ext cx="51435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  <a:t>Součet odchylek od průměru </a:t>
            </a:r>
            <a:b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</a:br>
            <a:r>
              <a:rPr lang="cs-CZ" altLang="cs-CZ" sz="2400" b="1" noProof="0" dirty="0">
                <a:solidFill>
                  <a:srgbClr val="176A83"/>
                </a:solidFill>
                <a:latin typeface="Arial"/>
                <a:ea typeface="Arial"/>
                <a:cs typeface="Arial"/>
              </a:rPr>
              <a:t>je vždy 0</a:t>
            </a:r>
            <a:endParaRPr lang="cs-CZ" altLang="cs-CZ" sz="2400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637222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Průměrná absolutní odchylka: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8 / 5 = 1,6 minuty</a:t>
            </a:r>
            <a:endParaRPr lang="cs-CZ" altLang="cs-CZ" sz="232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295422"/>
            <a:ext cx="13563600" cy="9428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Čtverce odchylek </a:t>
            </a:r>
            <a:b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 rozptyl</a:t>
            </a:r>
            <a:endParaRPr lang="cs-CZ" altLang="cs-CZ" sz="3600" noProof="0" dirty="0"/>
          </a:p>
        </p:txBody>
      </p:sp>
      <p:pic>
        <p:nvPicPr>
          <p:cNvPr id="12" name="Obrázek 12" descr="Na úsečkách odchylek pěti modelových dob jsou postaveny čtverce o plochách 4, 1, 1, 0 a 16 minut čtverečních; součet ploch je 22 minut čtverečních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560" y="295422"/>
            <a:ext cx="9050309" cy="7657954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Součet čtverců odchylek: 4 + 1 + 1 + 0 + 16 = 22 min</a:t>
            </a:r>
            <a:r>
              <a:rPr lang="cs-CZ" altLang="cs-CZ" sz="2400" b="1" baseline="30000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71462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Průměr čtverců těchto pěti hodnot: 22 / 5 = 4,4 min</a:t>
            </a:r>
            <a:r>
              <a:rPr lang="cs-CZ" altLang="cs-CZ" sz="2325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325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Vzorec 15" descr="s² = součet čtverců odchylek / (n − 1)"/>
              <p:cNvSpPr txBox="1"/>
              <p:nvPr/>
            </p:nvSpPr>
            <p:spPr>
              <a:xfrm>
                <a:off x="838200" y="3686175"/>
                <a:ext cx="5143500" cy="1238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cs-CZ" altLang="cs-CZ" sz="2925" i="1" noProof="0">
                                      <a:solidFill>
                                        <a:srgbClr val="142A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cs-CZ" altLang="cs-CZ" sz="2925" i="1" noProof="0">
                                          <a:solidFill>
                                            <a:srgbClr val="142A3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cs-CZ" altLang="cs-CZ" sz="2925" i="1" noProof="0">
                                              <a:solidFill>
                                                <a:srgbClr val="142A3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cs-CZ" altLang="cs-CZ" sz="2925" i="1" noProof="0">
                                              <a:solidFill>
                                                <a:srgbClr val="142A3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cs-CZ" altLang="cs-CZ" sz="2925" i="1" noProof="0">
                                              <a:solidFill>
                                                <a:srgbClr val="142A3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cs-CZ" altLang="cs-CZ" sz="2925" i="1" noProof="0">
                                          <a:solidFill>
                                            <a:srgbClr val="142A3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r>
                                        <a:rPr lang="cs-CZ" altLang="cs-CZ" sz="2925" i="1" noProof="0">
                                          <a:solidFill>
                                            <a:srgbClr val="142A3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cs-CZ" altLang="cs-CZ" sz="2925" i="1" noProof="0">
                                      <a:solidFill>
                                        <a:srgbClr val="142A3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− 1</m:t>
                          </m:r>
                        </m:den>
                      </m:f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5" name="Vzorec 15" descr="s² = součet čtverců odchylek / (n − 1)"/>
              <p:cNvSpPr txBox="1"/>
              <p:nvPr/>
            </p:nvSpPr>
            <p:spPr>
              <a:xfrm>
                <a:off x="838200" y="3686175"/>
                <a:ext cx="5143500" cy="1238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s² = součet čtverců odchylek / (n − 1)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6" name="Text 16"/>
          <p:cNvSpPr txBox="1"/>
          <p:nvPr/>
        </p:nvSpPr>
        <p:spPr>
          <a:xfrm>
            <a:off x="838200" y="5076825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Výběrový rozptyl: s</a:t>
            </a:r>
            <a:r>
              <a:rPr lang="cs-CZ" altLang="cs-CZ" sz="2325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22 / 4 = 5,5 min</a:t>
            </a:r>
            <a:r>
              <a:rPr lang="cs-CZ" altLang="cs-CZ" sz="2325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Proč dělíme n − 1</a:t>
            </a:r>
            <a:endParaRPr lang="cs-CZ" altLang="cs-CZ" sz="3600" noProof="0"/>
          </a:p>
        </p:txBody>
      </p:sp>
      <p:pic>
        <p:nvPicPr>
          <p:cNvPr id="12" name="Obrázek 12" descr="Průměry rozptylů z opakovaných výběrů o velikosti 5, 20 a 100. Při dělení n jsou přibližně 6,41, 7,62 a 7,93, při dělení n minus jedna přibližně 8,01, 8,02 a 8,01, blízko populačnímu rozptylu 8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892" y="1238250"/>
            <a:ext cx="9033108" cy="6022072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Průměr je přizpůsoben týmž datům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343150"/>
            <a:ext cx="5143500" cy="1085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Variabilita kolem výběrového průměru vychází soustavně o něco menší než kolem populačního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676650"/>
            <a:ext cx="51435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Dělení n − 1 toto podhodnocení odstraňuje: nestranný odhad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648200"/>
            <a:ext cx="5143500" cy="1085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Stupně volnosti: odchylky dávají součet 0, volně lze určit jen n − 1 z nich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Simulace: 20 000 náhodných výběrů pro každé n z modelové populace s rozptylem 8 min</a:t>
            </a:r>
            <a:r>
              <a:rPr lang="cs-CZ" altLang="cs-CZ" sz="1650" b="0" baseline="3000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Směrodatná odchylka</a:t>
            </a:r>
            <a:endParaRPr lang="cs-CZ" altLang="cs-CZ" sz="3600" noProof="0"/>
          </a:p>
        </p:txBody>
      </p:sp>
      <p:sp>
        <p:nvSpPr>
          <p:cNvPr id="12" name="Hodnota 12"/>
          <p:cNvSpPr/>
          <p:nvPr/>
        </p:nvSpPr>
        <p:spPr>
          <a:xfrm>
            <a:off x="838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</a:t>
            </a:r>
            <a:endParaRPr lang="cs-CZ" altLang="cs-CZ" sz="2550" noProof="0"/>
          </a:p>
        </p:txBody>
      </p:sp>
      <p:sp>
        <p:nvSpPr>
          <p:cNvPr id="13" name="Hodnota 13"/>
          <p:cNvSpPr/>
          <p:nvPr/>
        </p:nvSpPr>
        <p:spPr>
          <a:xfrm>
            <a:off x="20764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4" name="Hodnota 14"/>
          <p:cNvSpPr/>
          <p:nvPr/>
        </p:nvSpPr>
        <p:spPr>
          <a:xfrm>
            <a:off x="33147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</a:t>
            </a:r>
            <a:endParaRPr lang="cs-CZ" altLang="cs-CZ" sz="2550" noProof="0"/>
          </a:p>
        </p:txBody>
      </p:sp>
      <p:sp>
        <p:nvSpPr>
          <p:cNvPr id="15" name="Hodnota 15"/>
          <p:cNvSpPr/>
          <p:nvPr/>
        </p:nvSpPr>
        <p:spPr>
          <a:xfrm>
            <a:off x="455295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</a:t>
            </a:r>
            <a:endParaRPr lang="cs-CZ" altLang="cs-CZ" sz="2550" noProof="0"/>
          </a:p>
        </p:txBody>
      </p:sp>
      <p:sp>
        <p:nvSpPr>
          <p:cNvPr id="16" name="Hodnota 16"/>
          <p:cNvSpPr/>
          <p:nvPr/>
        </p:nvSpPr>
        <p:spPr>
          <a:xfrm>
            <a:off x="5791200" y="1714500"/>
            <a:ext cx="1066800" cy="742950"/>
          </a:xfrm>
          <a:prstGeom prst="roundRect">
            <a:avLst>
              <a:gd name="adj" fmla="val 14000"/>
            </a:avLst>
          </a:prstGeom>
          <a:solidFill>
            <a:srgbClr val="EDF2F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7124700" y="1714500"/>
            <a:ext cx="2857500" cy="742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minut</a:t>
            </a:r>
            <a:endParaRPr lang="cs-CZ" altLang="cs-CZ" sz="21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Vzorec 18" descr="s = odmocnina z s² = odmocnina z 5,5 ≐ 2,35 minuty"/>
              <p:cNvSpPr txBox="1"/>
              <p:nvPr/>
            </p:nvSpPr>
            <p:spPr>
              <a:xfrm>
                <a:off x="838200" y="27813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5,5</m:t>
                          </m:r>
                        </m:e>
                      </m:ra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≐ 2,35 </m:t>
                      </m:r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minuty</m:t>
                      </m:r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8" name="Vzorec 18" descr="s = odmocnina z s² = odmocnina z 5,5 ≐ 2,35 minuty"/>
              <p:cNvSpPr txBox="1"/>
              <p:nvPr/>
            </p:nvSpPr>
            <p:spPr>
              <a:xfrm>
                <a:off x="838200" y="27813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s = odmocnina z s² = odmocnina z 5,5 ≐ 2,35 minuty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9" name="Text 19"/>
          <p:cNvSpPr txBox="1"/>
          <p:nvPr/>
        </p:nvSpPr>
        <p:spPr>
          <a:xfrm>
            <a:off x="838200" y="39814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Odmocnina vrací původní jednotky: minuty místo min</a:t>
            </a:r>
            <a:r>
              <a:rPr lang="cs-CZ" altLang="cs-CZ" sz="2850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850" noProof="0"/>
          </a:p>
        </p:txBody>
      </p:sp>
      <p:sp>
        <p:nvSpPr>
          <p:cNvPr id="20" name="Text 20"/>
          <p:cNvSpPr txBox="1"/>
          <p:nvPr/>
        </p:nvSpPr>
        <p:spPr>
          <a:xfrm>
            <a:off x="838200" y="47148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Není totožná s průměrnou absolutní odchylkou (1,6 minuty)</a:t>
            </a:r>
            <a:endParaRPr lang="cs-CZ" altLang="cs-CZ" sz="2850" noProof="0"/>
          </a:p>
        </p:txBody>
      </p:sp>
      <p:sp>
        <p:nvSpPr>
          <p:cNvPr id="21" name="Text 21"/>
          <p:cNvSpPr txBox="1"/>
          <p:nvPr/>
        </p:nvSpPr>
        <p:spPr>
          <a:xfrm>
            <a:off x="838200" y="54483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Neříká, že se každý liší od průměru právě o 2,35 minuty</a:t>
            </a:r>
            <a:endParaRPr lang="cs-CZ" altLang="cs-CZ" sz="2850" noProof="0"/>
          </a:p>
        </p:txBody>
      </p:sp>
      <p:sp>
        <p:nvSpPr>
          <p:cNvPr id="22" name="Text 22"/>
          <p:cNvSpPr txBox="1"/>
          <p:nvPr/>
        </p:nvSpPr>
        <p:spPr>
          <a:xfrm>
            <a:off x="838200" y="61817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Bez předpokladu o tvaru rozdělení neurčuje podíl hodnot mezi m − s a m + s</a:t>
            </a:r>
            <a:endParaRPr lang="cs-CZ" altLang="cs-CZ" sz="2850" noProof="0"/>
          </a:p>
        </p:txBody>
      </p:sp>
      <p:sp>
        <p:nvSpPr>
          <p:cNvPr id="23" name="Text 23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Odolnější shrnutí</a:t>
            </a:r>
            <a:endParaRPr lang="cs-CZ" altLang="cs-CZ" sz="3600" noProof="0"/>
          </a:p>
        </p:txBody>
      </p:sp>
      <p:pic>
        <p:nvPicPr>
          <p:cNvPr id="12" name="Obrázek 12" descr="Tři řady deseti časů. Původní časy mají průměr osm minut. Ořezání vynechá krajní časy 2 a 31, zbývajících osm má průměr 5,875. Winsorizace nahradí 2 třemi a 31 devíti; všech deset hodnot má průměr 5,9 minut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666750"/>
            <a:ext cx="9258958" cy="6307974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143500" cy="676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7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Když nemá rozhodovat několik krajních hodnot</a:t>
            </a:r>
            <a:endParaRPr lang="cs-CZ" altLang="cs-CZ" sz="2175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38425"/>
            <a:ext cx="5143500" cy="9810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MedAD, medián absolutních odchylek od mediánu: pro 4, 5, 5, 6, 10 je 1 minuta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867150"/>
            <a:ext cx="5143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Ořezání 10 %: krajní hodnoty vynecháme; 47 / 8 ≐ 5,88 minuty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772025"/>
            <a:ext cx="5143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Winsorizace 10 %: krajní hodnoty nahradíme; 59 / 10 = 5,9 minuty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676900"/>
            <a:ext cx="51435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Pravidlo volíme předem; původní data uchováme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Deset časů: 2, 3, 4, 5, 5, 6, 7, 8, 9, 31 minut; běžný průměr 8 minut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Krabicový graf</a:t>
            </a:r>
            <a:endParaRPr lang="cs-CZ" altLang="cs-CZ" sz="3600" noProof="0"/>
          </a:p>
        </p:txBody>
      </p:sp>
      <p:pic>
        <p:nvPicPr>
          <p:cNvPr id="12" name="Obrázek 12" descr="Svislý krabicový graf 41 modelových skórů: 1. kvartil 40, medián 50, 3. kvartil 60, mezikvartilové rozpětí 20 bodů. Pomocné meze jsou 10 a 90, dolní vous končí na 15, horní na 85. Samostatně jsou zobrazena pozorování 2, 5, 95 a 98. Vlevo jsou původní skór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072" y="93293"/>
            <a:ext cx="5327842" cy="8298231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723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00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Krabice: 1. kvartil 40, medián 50, 3. kvartil 60</a:t>
            </a:r>
            <a:endParaRPr lang="cs-CZ" altLang="cs-CZ" sz="24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343150"/>
            <a:ext cx="7239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Mezikvartilové rozpětí 20 bodů; 1,5 × 20 = 30 bodů</a:t>
            </a:r>
            <a:endParaRPr lang="cs-CZ" altLang="cs-CZ" sz="232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2952750"/>
            <a:ext cx="7239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Pomocné meze: 40 − 30 = 10 a 60 + 30 = 90</a:t>
            </a:r>
            <a:endParaRPr lang="cs-CZ" altLang="cs-CZ" sz="232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3562350"/>
            <a:ext cx="7239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Vousy končí na pozorováních uvnitř mezí: 15 a 85</a:t>
            </a:r>
            <a:endParaRPr lang="cs-CZ" altLang="cs-CZ" sz="232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4171950"/>
            <a:ext cx="7239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Body za mezemi (2, 5, 95, 98): podezřelá odlehlá pozorování, ne důkaz chyby</a:t>
            </a:r>
            <a:endParaRPr lang="cs-CZ" altLang="cs-CZ" sz="2325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41 modelových testových skórů v bodech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Posun a změna jednotek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y_i = a + b × x_i"/>
              <p:cNvSpPr txBox="1"/>
              <p:nvPr/>
            </p:nvSpPr>
            <p:spPr>
              <a:xfrm>
                <a:off x="838200" y="1714500"/>
                <a:ext cx="13563600" cy="857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y_i = a + b × x_i"/>
              <p:cNvSpPr txBox="1"/>
              <p:nvPr/>
            </p:nvSpPr>
            <p:spPr>
              <a:xfrm>
                <a:off x="838200" y="1714500"/>
                <a:ext cx="13563600" cy="857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y_i = a + b × x_i</a:t>
                </a:r>
                <a:endParaRPr lang="cs-CZ" altLang="cs-CZ" sz="2550" noProof="0"/>
              </a:p>
            </p:txBody>
          </p:sp>
        </mc:Fallback>
      </mc:AlternateContent>
      <p:graphicFrame>
        <p:nvGraphicFramePr>
          <p:cNvPr id="13" name="Tabulka 13"/>
          <p:cNvGraphicFramePr>
            <a:graphicFrameLocks noGrp="1"/>
          </p:cNvGraphicFramePr>
          <p:nvPr/>
        </p:nvGraphicFramePr>
        <p:xfrm>
          <a:off x="838200" y="2724150"/>
          <a:ext cx="13563600" cy="3429000"/>
        </p:xfrm>
        <a:graphic>
          <a:graphicData uri="http://schemas.openxmlformats.org/drawingml/2006/table">
            <a:tbl>
              <a:tblPr firstRow="1"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Ukazatel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Původní data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Přičteme 2 minuty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Převod na sekundy (× 60)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Průměr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8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360 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Medián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7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300 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Směrodatná odchylka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2,35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2,35 min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140,71 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Rozptyl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5,5 min²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5,5 min²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19 800 s²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6477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Posun mění polohu, ne variabilitu. Násobení mění obojí; rozptyl se násobí b</a:t>
            </a:r>
            <a:r>
              <a:rPr lang="cs-CZ" altLang="cs-CZ" sz="2850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Jak vybrat a sdělit statistiky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Otázka → význam měření → graf → souhrn</a:t>
            </a:r>
            <a:endParaRPr lang="cs-CZ" altLang="cs-CZ" sz="2925" noProof="0"/>
          </a:p>
        </p:txBody>
      </p:sp>
      <p:graphicFrame>
        <p:nvGraphicFramePr>
          <p:cNvPr id="13" name="Tabulka 13"/>
          <p:cNvGraphicFramePr>
            <a:graphicFrameLocks noGrp="1"/>
          </p:cNvGraphicFramePr>
          <p:nvPr/>
        </p:nvGraphicFramePr>
        <p:xfrm>
          <a:off x="838200" y="2457450"/>
          <a:ext cx="13563600" cy="3619500"/>
        </p:xfrm>
        <a:graphic>
          <a:graphicData uri="http://schemas.openxmlformats.org/drawingml/2006/table">
            <a:tbl>
              <a:tblPr firstRow="1"/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Otázka a data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Užitečný popis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Které strategie učení lidé uvádějí?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Četnosti, podíly, modus; případně entropie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Jak lidé hodnotí odpočatost slovními kategoriemi?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Četnosti, kumulativní podíly, prostřední kategorie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Kolik času připadá v průměru na člověka?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Průměr, směrodatná odchylka a graf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Jak vypadá prostřední část silně zešikmených dob?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Medián, 1. a 3. kvartil; ukázat i chvost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64008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Stejný průměr a směrodatná odchylka neurčují tvar rozdělení; souhrn doplňujeme grafem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Ukazatele v Excelu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3563600" cy="4229100"/>
        </p:xfrm>
        <a:graphic>
          <a:graphicData uri="http://schemas.openxmlformats.org/drawingml/2006/table">
            <a:tbl>
              <a:tblPr firstRow="1"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Ukazatel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Český vzorec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Anglický název funkce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Výsledek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Průměr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=PRŮMĚR(A2:A6)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AVERAGE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Medián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=MEDIAN(A2:A6)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3. kvartil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=PERCENTIL.INC(A2:A6;0,75)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PERCENTILE.INC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Výběrový rozptyl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=VAR.S(A2:A6)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VAR.S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5,5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Směrodatná odchylka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=SMODCH.VÝBĚR.S(A2:A6)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STDEV.S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2,35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62674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 funkce PERCENTIL.INC zadáváme úroveň jako podíl: 0,75, nikoli 75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620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Sešit ke kapitole 3, list Priklad: časy 4, 5, 5, 6, 10 minut v buňkách A2:A6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1: Průměr větší než medián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Sestavte malý soubor dat, například sedm dob řešení úlohy v minutách, v němž je průměr větší než medián.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Jaký tvar má rozdělení vašich dat?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810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Leží u dat zešikmených doprava průměr nad mediánem, nebo pod ním? Proč?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60, úlohy 2.30–2.31. Česká adaptace.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2: Stejný průměr a medián, jiný modus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Sestavte soubor dat s jedním vrcholem, v němž se průměr rovná mediánu, ale modus má jinou hodnotu.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 vaše rozdělení souměrné?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810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Co z toho plyne pro posuzování souměrnosti podle shody průměru a mediánu?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60, úloha 2.32. Česká adaptace s doplňujícími otázkami.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3: Průměr a medián z četností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Patnáct potkanů se učilo probíhat přímou uličkou. Tabulka uvádí, kolik pokusů potřebovali k dosažení předem stanoveného kritéria.</a:t>
            </a:r>
            <a:endParaRPr lang="cs-CZ" altLang="cs-CZ" sz="2850" noProof="0"/>
          </a:p>
        </p:txBody>
      </p:sp>
      <p:graphicFrame>
        <p:nvGraphicFramePr>
          <p:cNvPr id="13" name="Tabulka 13"/>
          <p:cNvGraphicFramePr>
            <a:graphicFrameLocks noGrp="1"/>
          </p:cNvGraphicFramePr>
          <p:nvPr/>
        </p:nvGraphicFramePr>
        <p:xfrm>
          <a:off x="838200" y="3076575"/>
          <a:ext cx="13563600" cy="1333500"/>
        </p:xfrm>
        <a:graphic>
          <a:graphicData uri="http://schemas.openxmlformats.org/drawingml/2006/table">
            <a:tbl>
              <a:tblPr firstRow="1"/>
              <a:tblGrid>
                <a:gridCol w="42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Počet pokusů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Počet potkanů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 14"/>
          <p:cNvSpPr txBox="1"/>
          <p:nvPr/>
        </p:nvSpPr>
        <p:spPr>
          <a:xfrm>
            <a:off x="838200" y="473392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Určete průměr a medián počtu pokusů. Který ukazatel souvisí s celkovým počtem pokusů všech potkanů?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60, úloha 2.33. Česká adaptace s doplňující otázkou.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4: Odečtení a násobení konstantou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Soubor A: 8, 7, 12, 14, 3, 7. Od každé hodnoty odečtěte 5 a ukažte, co se stane s průměrem, mediánem a modem.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Soubor B: 8, 3, 5, 5, 6, 2. Každou hodnotu vynásobte 3 a ukažte totéž.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810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Předpovězte bez výpočtu: jak se v obou případech změní směrodatná odchylka?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61, úlohy 2.34–2.35. Česká adaptace; otázka na směrodatnou odchylku doplněna.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5: Průměr 8,6 a stupně volnosti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Sestavte soubor deseti čísel, jehož průměr je přesně 8,6.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384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Kolik čísel jste mohli zvolit zcela libovolně?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3718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Jak to souvisí se stupni volnosti při výpočtu výběrového rozptylu?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61, úloha 2.36. Česká adaptace.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6: Kdy transformace změní tvar rozdělení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 jakých podmínek změní transformace dat tvar jejich rozdělení?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384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Uveďte příklad převodu, který tvar zachová.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3718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Uveďte příklad převodu, který tvar změní, a popište, co se stane se stejně velkými rozdíly mezi hodnotami.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62, úloha 2.54. Česká adaptace s doplňujícími pokyny.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Práce v Excelu: doprovodný sešit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kapitola_03_poloha_a_variabilita_cviceni.xlsx</a:t>
            </a:r>
            <a:endParaRPr lang="cs-CZ" altLang="cs-CZ" sz="29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479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Listy U1_stred až U5_orezani: výrok „a potom…“ při vyprávění filmu u 50 dětí a 50 dospělých; jeden úkol na list, stejná data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8195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List U6_transformace: osm hodnot a převod na směrodatnou odchylku 1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5529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Na každém listu: zadání, žlutá pracovní oblast a řešení po krocích. Funkce Excelu slouží až ke kontrole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55–56 a 62, úlohy 2.1, 2.4, 2.40–2.46 a 2.51. Česká adaptace.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v Excelu · přibližně 15 minut</a:t>
            </a:r>
            <a:endParaRPr lang="cs-CZ" altLang="cs-CZ" sz="157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29</a:t>
            </a:r>
            <a:endParaRPr lang="cs-CZ" altLang="cs-CZ" sz="1575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9832</Words>
  <Application>Microsoft Office PowerPoint</Application>
  <PresentationFormat>Vlastní</PresentationFormat>
  <Paragraphs>560</Paragraphs>
  <Slides>29</Slides>
  <Notes>29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3" baseType="lpstr">
      <vt:lpstr>Arial</vt:lpstr>
      <vt:lpstr>Calibri</vt:lpstr>
      <vt:lpstr>Cambria Math</vt:lpstr>
      <vt:lpstr>ChatGPT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Ukazatele polohy a variability</dc:title>
  <dc:creator>Karel Rečka</dc:creator>
  <cp:lastModifiedBy>Karel Rečka</cp:lastModifiedBy>
  <cp:revision>4</cp:revision>
  <dcterms:created xsi:type="dcterms:W3CDTF">2026-10-13T19:05:57Z</dcterms:created>
  <dcterms:modified xsi:type="dcterms:W3CDTF">2026-10-13T20:01:48Z</dcterms:modified>
  <dc:language>cs-CZ</dc:language>
</cp:coreProperties>
</file>