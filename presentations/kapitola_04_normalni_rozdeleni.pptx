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3" r:id="rId28"/>
    <p:sldId id="294" r:id="rId29"/>
    <p:sldId id="295" r:id="rId30"/>
    <p:sldId id="296" r:id="rId31"/>
    <p:sldId id="297" r:id="rId32"/>
    <p:sldId id="298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5240000" cy="8572500"/>
  <p:notesSz cx="6858000" cy="9144000"/>
  <p:defaultTextStyle>
    <a:defPPr>
      <a:defRPr lang="cs-CZ" altLang="cs-CZ" noProof="0"/>
    </a:defPPr>
    <a:lvl1pPr marL="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909" autoAdjust="0"/>
  </p:normalViewPr>
  <p:slideViewPr>
    <p:cSldViewPr snapToGrid="0">
      <p:cViewPr varScale="1">
        <p:scale>
          <a:sx n="72" d="100"/>
          <a:sy n="72" d="100"/>
        </p:scale>
        <p:origin x="44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cs-CZ" altLang="cs-CZ" sz="1200" kern="1200" noProof="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minulé kapitole jsme shrnovali rozdělení průměrem, směrodatnou odchylkou a kvantily. Dnes tyto ukazatele použijeme k odpovědi na otázku, </a:t>
            </a:r>
            <a:r>
              <a:rPr lang="cs-CZ" altLang="cs-CZ" sz="1200" b="1" i="0" noProof="0">
                <a:latin typeface="Arial"/>
              </a:rPr>
              <a:t>kde leží jednotlivý výsledek</a:t>
            </a:r>
            <a:r>
              <a:rPr lang="cs-CZ" altLang="cs-CZ" sz="1200" b="0" i="0" noProof="0">
                <a:latin typeface="Arial"/>
              </a:rPr>
              <a:t> vzhledem ke skupině.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Výsledek 60 bodů sám o sobě neříká, zda je vysoký. Záleží na skupině, s níž jej porovnáváme, a na tom, jak se výsledky této skupiny rozkládají.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Normální rozdělení je matematický model; dovoluje odhadnout podíly výsledků, ale jen tehdy, když data přiměřeně popisuje.</a:t>
            </a:r>
            <a:r>
              <a:rPr lang="cs-CZ" altLang="cs-CZ" sz="1200" b="0" i="0" noProof="0">
                <a:latin typeface="Arial"/>
              </a:rPr>
              <a:t> Proto lekci zakončíme tím, jak přiměřenost modelu posoudit.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Průběžným příkladem je ilustrační model skóru pozornosti s průměrem 50 a směrodatnou odchylkou 10 bodů; nejde o normy skutečného testu. Úlohy na konci vycházejí z Howellovy učebnice.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Kamarád získal v testu 60 bodů a průměr skupiny byl 50. Je jeho výsledek výjimečný? Nevíme: deset bodů nad průměrem je výjimečných jen tehdy, když se výsledky ve skupině liší málo.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https://reckak.github.io/statistics-for-psychology/quarto/kapitola_04.html#sec-kapitola-04.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Přednáška má šest částí. Nejprve vyjádříme polohu výsledku z-skórem, potom zavedeme normální rozdělení jako model a naučíme se z něj počítat podíly a hranice.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Ve čtvrté části převedeme tutéž polohu na standardní skóry používané v psychologických testech: T-skóry, IQ-skóry, steny a staniny.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Pátá část odpovídá na otázku, kdy normálnímu modelu můžeme věřit; klíčovým nástrojem je normální Q–Q graf.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Na závěr procvičíme úvahy bez výpočetní techniky a výpočty v doprovodném excelovém sešitu.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První část odpovídá na otázku, jak vyjádřit polohu výsledku tak, aby šla porovnat napříč testy s různými body.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Navazujeme na otázku z úvodu. </a:t>
            </a:r>
            <a:r>
              <a:rPr lang="cs-CZ" altLang="cs-CZ" sz="1200" b="1" i="0" noProof="0">
                <a:latin typeface="Arial"/>
              </a:rPr>
              <a:t>Hrubý skór</a:t>
            </a:r>
            <a:r>
              <a:rPr lang="cs-CZ" altLang="cs-CZ" sz="1200" b="0" i="0" noProof="0">
                <a:latin typeface="Arial"/>
              </a:rPr>
              <a:t> (raw score) je výsledek před převodem na společnou standardní škálu, například počet správně vyřešených úloh.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Výsledek vždy vztahujeme k nějaké skupině. Této skupině říkáme </a:t>
            </a:r>
            <a:r>
              <a:rPr lang="cs-CZ" altLang="cs-CZ" sz="1200" b="1" i="0" noProof="0">
                <a:latin typeface="Arial"/>
              </a:rPr>
              <a:t>referenční skupina</a:t>
            </a:r>
            <a:r>
              <a:rPr lang="cs-CZ" altLang="cs-CZ" sz="1200" b="0" i="0" noProof="0">
                <a:latin typeface="Arial"/>
              </a:rPr>
              <a:t> (reference group). U psychologických testů je jí </a:t>
            </a:r>
            <a:r>
              <a:rPr lang="cs-CZ" altLang="cs-CZ" sz="1200" b="1" i="0" noProof="0">
                <a:latin typeface="Arial"/>
              </a:rPr>
              <a:t>normativní soubor</a:t>
            </a:r>
            <a:r>
              <a:rPr lang="cs-CZ" altLang="cs-CZ" sz="1200" b="0" i="0" noProof="0">
                <a:latin typeface="Arial"/>
              </a:rPr>
              <a:t> (normative sample): konkrétní soubor lidí, z jehož výsledků vznikly normy testu.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Ve skupině s průměrem 50 je 60 bodů deset bodů nad průměrem, ve skupině s průměrem 70 deset bodů pod průměrem. </a:t>
            </a:r>
            <a:r>
              <a:rPr lang="cs-CZ" altLang="cs-CZ" sz="1200" b="0" i="1" noProof="0">
                <a:latin typeface="Arial"/>
              </a:rPr>
              <a:t>Poloha vůči průměru tedy závisí na tom, s kým srovnáváme.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Ani to nestačí. Ve skupině, kde se výsledky liší jen o pár bodů, je deset bodů nad průměrem mimořádný výsledek; ve velmi různorodé skupině běžný. Proto potřebujeme i </a:t>
            </a:r>
            <a:r>
              <a:rPr lang="cs-CZ" altLang="cs-CZ" sz="1200" b="1" i="0" noProof="0">
                <a:latin typeface="Arial"/>
              </a:rPr>
              <a:t>směrodatnou odchylku</a:t>
            </a:r>
            <a:r>
              <a:rPr lang="cs-CZ" altLang="cs-CZ" sz="1200" b="0" i="0" noProof="0">
                <a:latin typeface="Arial"/>
              </a:rPr>
              <a:t> z minulé kapitoly.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Použitelnost norem závisí na věku, jazyce, době získání a způsobu výběru normativního souboru. Velký normativní soubor není automaticky reprezentativní.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by normy testu pozornosti vytvořené před třiceti lety na dospělých nemusely být vhodné pro dnešní adolescenty? Liší se referenční skupina věkem i dobou; jejich výsledky se mohou systematicky lišit.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https://reckak.github.io/statistics-for-psychology/quarto/kapitola_04.html#sec-referencni-skupina.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Obě potřebné informace, průměr i variabilitu, spojuje </a:t>
            </a:r>
            <a:r>
              <a:rPr lang="cs-CZ" altLang="cs-CZ" sz="1200" b="1" i="0" noProof="0">
                <a:latin typeface="Arial"/>
              </a:rPr>
              <a:t>z-skór</a:t>
            </a:r>
            <a:r>
              <a:rPr lang="cs-CZ" altLang="cs-CZ" sz="1200" b="0" i="0" noProof="0">
                <a:latin typeface="Arial"/>
              </a:rPr>
              <a:t> (z score). Vyjadřuje, </a:t>
            </a:r>
            <a:r>
              <a:rPr lang="cs-CZ" altLang="cs-CZ" sz="1200" b="0" i="1" noProof="0">
                <a:latin typeface="Arial"/>
              </a:rPr>
              <a:t>o kolik směrodatných odchylek leží hodnota nad průměrem nebo pod ním.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Postup má dva kroky. Od hodnoty odečteme průměr </a:t>
            </a:r>
            <a:r>
              <a:rPr lang="cs-CZ" altLang="cs-CZ" sz="1200" b="0" i="1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 a získáme odchylku v původních jednotkách. Odchylku vydělíme směrodatnou odchylkou </a:t>
            </a:r>
            <a:r>
              <a:rPr lang="cs-CZ" altLang="cs-CZ" sz="1200" b="0" i="1" noProof="0">
                <a:latin typeface="Arial"/>
              </a:rPr>
              <a:t>s</a:t>
            </a:r>
            <a:r>
              <a:rPr lang="cs-CZ" altLang="cs-CZ" sz="1200" b="0" i="0" noProof="0">
                <a:latin typeface="Arial"/>
              </a:rPr>
              <a:t> a zjistíme, kolikrát se tato jednotka variability do odchylky vejde.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testu A má člověk 60 bodů při průměru 50 a směrodatné odchylce 10: z = (60 − 50) / 10 = 1. V testu B má 42 bodů při průměru 30 a směrodatné odchylce 6: z = (42 − 30) / 6 = 2. Obrázek ukazuje kroky směrodatné odchylky: nahoře 10 bodů, dole 6 bodů. </a:t>
            </a:r>
            <a:r>
              <a:rPr lang="cs-CZ" altLang="cs-CZ" sz="1200" b="0" i="1" noProof="0">
                <a:latin typeface="Arial"/>
              </a:rPr>
              <a:t>V testu B je výsledek relativně dále nad průměrem, přestože hrubý skór je nižší.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Kladné z znamená nad průměrem, záporné pod průměrem, nula přesně průměr. Body se při dělení vykrátí, proto </a:t>
            </a:r>
            <a:r>
              <a:rPr lang="cs-CZ" altLang="cs-CZ" sz="1200" b="1" i="0" noProof="0">
                <a:latin typeface="Arial"/>
              </a:rPr>
              <a:t>z-skór nemá původní jednotku</a:t>
            </a:r>
            <a:r>
              <a:rPr lang="cs-CZ" altLang="cs-CZ" sz="1200" b="0" i="0" noProof="0">
                <a:latin typeface="Arial"/>
              </a:rPr>
              <a:t>. Převod lze obrátit: 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= </a:t>
            </a:r>
            <a:r>
              <a:rPr lang="cs-CZ" altLang="cs-CZ" sz="1200" b="0" i="1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 + </a:t>
            </a:r>
            <a:r>
              <a:rPr lang="cs-CZ" altLang="cs-CZ" sz="1200" b="0" i="1" noProof="0">
                <a:latin typeface="Arial"/>
              </a:rPr>
              <a:t>s</a:t>
            </a:r>
            <a:r>
              <a:rPr lang="cs-CZ" altLang="cs-CZ" sz="1200" b="0" i="0" noProof="0">
                <a:latin typeface="Arial"/>
              </a:rPr>
              <a:t> × 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; například z = −1,5 v testu A odpovídá 50 − 15 = 35 bodům.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Z-skór porovnává relativní polohu, nikoli schopnost: z = 2 neznamená „dvakrát schopnější“ a dva testy nemusejí měřit totéž. U škál obtíží znamená kladné z více potíží, ne lepší výsledek. Převod vyžaduje kladnou směrodatnou odchylku.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Jaký z-skór má výsledek 44 bodů v testu A? (44 − 50) / 10 = −0,6, tedy 0,6 směrodatné odchylky pod průměrem.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3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https://reckak.github.io/statistics-for-psychology/quarto/kapitola_04.html#sec-z-skor.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Převedeme-li na z-skóry všechny hodnoty souboru, provádíme </a:t>
            </a:r>
            <a:r>
              <a:rPr lang="cs-CZ" altLang="cs-CZ" sz="1200" b="1" i="0" noProof="0">
                <a:latin typeface="Arial"/>
              </a:rPr>
              <a:t>standardizaci</a:t>
            </a:r>
            <a:r>
              <a:rPr lang="cs-CZ" altLang="cs-CZ" sz="1200" b="0" i="0" noProof="0">
                <a:latin typeface="Arial"/>
              </a:rPr>
              <a:t> (standardization): lineární převod na škálu se zvoleným průměrem a směrodatnou odchylkou. Při převodu s vlastním </a:t>
            </a:r>
            <a:r>
              <a:rPr lang="cs-CZ" altLang="cs-CZ" sz="1200" b="0" i="1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0" i="1" noProof="0">
                <a:latin typeface="Arial"/>
              </a:rPr>
              <a:t>s</a:t>
            </a:r>
            <a:r>
              <a:rPr lang="cs-CZ" altLang="cs-CZ" sz="1200" b="0" i="0" noProof="0">
                <a:latin typeface="Arial"/>
              </a:rPr>
              <a:t> mají nové hodnoty průměr 0 a směrodatnou odchylku 1.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Příklad z minulé kapitoly: doby 4, 5, 5, 6 a 10 minut mají průměr 6 a směrodatnou odchylku přibližně 2,35. Jejich z-skóry jsou −0,85; −0,43; −0,43; 0 a 1,71. Obrázek ukazuje, že body se rozmístily stejně, jen se změnilo měřítko osy.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Standardizace mění souřadnice, ne uspořádání dat.</a:t>
            </a:r>
            <a:r>
              <a:rPr lang="cs-CZ" altLang="cs-CZ" sz="1200" b="0" i="0" noProof="0">
                <a:latin typeface="Arial"/>
              </a:rPr>
              <a:t> Pořadí, shody i vzdálená hodnota 10 minut zůstávají; šikmé rozdělení se nestane souměrným.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Proto </a:t>
            </a:r>
            <a:r>
              <a:rPr lang="cs-CZ" altLang="cs-CZ" sz="1200" b="1" i="0" noProof="0">
                <a:latin typeface="Arial"/>
              </a:rPr>
              <a:t>z-skór sám neříká, kolik procent lidí má nižší výsledek</a:t>
            </a:r>
            <a:r>
              <a:rPr lang="cs-CZ" altLang="cs-CZ" sz="1200" b="0" i="0" noProof="0">
                <a:latin typeface="Arial"/>
              </a:rPr>
              <a:t>. K tomu musíme znát tvar rozdělení, nebo percentilové pořadí spočítat přímo z dat. Právě tvar dodá v další části normální model.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Z-skóry lze počítat i podle průměru a směrodatné odchylky norem jiné skupiny. Pak popisují polohu vůči normám a v našem souboru nemusejí mít průměr 0 a směrodatnou odchylku 1. Slovo standardizace má v psychologii i jiný význam, sjednocení zadávání testu; zde jde o číselný převod.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Mají z-skóry pěti dob stejné rozdělení jako normované normální rozdělení? Ne: mají průměr 0 a směrodatnou odchylku 1, ale tvar zůstal šikmý.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https://reckak.github.io/statistics-for-psychology/quarto/kapitola_04.html#sec-standardizace.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Z-skór popisuje polohu, ale neříká, jaký podíl lidí má nižší výsledek. Ve druhé části zavedeme model rozdělení, který to za určitých předpokladů dovolí odhadnout.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Histogram shrnuje konkrétní naměřené hodnoty. </a:t>
            </a:r>
            <a:r>
              <a:rPr lang="cs-CZ" altLang="cs-CZ" sz="1200" b="1" i="0" noProof="0">
                <a:latin typeface="Arial"/>
              </a:rPr>
              <a:t>Normální rozdělení</a:t>
            </a:r>
            <a:r>
              <a:rPr lang="cs-CZ" altLang="cs-CZ" sz="1200" b="0" i="0" noProof="0">
                <a:latin typeface="Arial"/>
              </a:rPr>
              <a:t> (normal distribution) je naproti tomu </a:t>
            </a:r>
            <a:r>
              <a:rPr lang="cs-CZ" altLang="cs-CZ" sz="1200" b="0" i="1" noProof="0">
                <a:latin typeface="Arial"/>
              </a:rPr>
              <a:t>matematický model rozdělení spojité veličiny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Jeho křivka má jeden vrchol a je souměrná kolem průměru; průměr, medián i modus se v modelu shodují. Hodnoty blízko průměru jsou nejčastější a čím dále od průměru hodnota leží, tím je vzácnější.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Oblasti vzdálených a vzácných hodnot vlevo a vpravo jsou </a:t>
            </a:r>
            <a:r>
              <a:rPr lang="cs-CZ" altLang="cs-CZ" sz="1200" b="1" i="0" noProof="0">
                <a:latin typeface="Arial"/>
              </a:rPr>
              <a:t>chvosty</a:t>
            </a:r>
            <a:r>
              <a:rPr lang="cs-CZ" altLang="cs-CZ" sz="1200" b="0" i="0" noProof="0">
                <a:latin typeface="Arial"/>
              </a:rPr>
              <a:t>. V modelu pokračují neomezeně: žádná konečná hodnota není nepřekročitelná, velmi vzdálené hodnoty jsou jen velmi vzácné.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Model nemusí přesně popisovat mechanismus vzniku dat. Skór omezený na 0 až 100 bodů nemůže být přesně normální, ale model může dobře přibližovat jeho střed, pokud většina výsledků leží daleko od obou mezí škály a škála má dost možných hodnot.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Název „normální“ se ustálil v 19. století, kdy se tento tvar považoval za obvyklý zákon chyb měření. </a:t>
            </a:r>
            <a:r>
              <a:rPr lang="cs-CZ" altLang="cs-CZ" sz="1200" b="0" i="1" noProof="0">
                <a:latin typeface="Arial"/>
              </a:rPr>
              <a:t>Označuje tvar modelu, ne normalitu ve smyslu zdraví nebo správnosti.</a:t>
            </a:r>
            <a:r>
              <a:rPr lang="cs-CZ" altLang="cs-CZ" sz="1200" b="0" i="0" noProof="0">
                <a:latin typeface="Arial"/>
              </a:rPr>
              <a:t> Mnoho psychologických proměnných se jím řídí jen přibližně, nebo vůbec.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reakční časy obvykle nemají normální rozdělení? Nemohou být záporné a několik velmi pomalých reakcí vytvoří dlouhý pravý chvost.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https://reckak.github.io/statistics-for-psychology/quarto/kapitola_04.html#sec-normalni-model.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Celou rodinu normálních rozdělení určují dva </a:t>
            </a:r>
            <a:r>
              <a:rPr lang="cs-CZ" altLang="cs-CZ" sz="1200" b="1" i="0" noProof="0">
                <a:latin typeface="Arial"/>
              </a:rPr>
              <a:t>parametry</a:t>
            </a:r>
            <a:r>
              <a:rPr lang="cs-CZ" altLang="cs-CZ" sz="1200" b="0" i="0" noProof="0">
                <a:latin typeface="Arial"/>
              </a:rPr>
              <a:t>. </a:t>
            </a:r>
            <a:r>
              <a:rPr lang="cs-CZ" altLang="cs-CZ" sz="1200" b="1" i="0" noProof="0">
                <a:latin typeface="Arial"/>
              </a:rPr>
              <a:t>μ</a:t>
            </a:r>
            <a:r>
              <a:rPr lang="cs-CZ" altLang="cs-CZ" sz="1200" b="0" i="0" noProof="0">
                <a:latin typeface="Arial"/>
              </a:rPr>
              <a:t> („mí“) je populační nebo modelový průměr a určuje polohu středu. </a:t>
            </a:r>
            <a:r>
              <a:rPr lang="cs-CZ" altLang="cs-CZ" sz="1200" b="1" i="0" noProof="0">
                <a:latin typeface="Arial"/>
              </a:rPr>
              <a:t>σ</a:t>
            </a:r>
            <a:r>
              <a:rPr lang="cs-CZ" altLang="cs-CZ" sz="1200" b="0" i="0" noProof="0">
                <a:latin typeface="Arial"/>
              </a:rPr>
              <a:t> („sigma“) je populační nebo modelová směrodatná odchylka; musí být kladná a určuje šířku.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Značky známe z kapitoly 3. Výběrové </a:t>
            </a:r>
            <a:r>
              <a:rPr lang="cs-CZ" altLang="cs-CZ" sz="1200" b="0" i="1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0" i="1" noProof="0">
                <a:latin typeface="Arial"/>
              </a:rPr>
              <a:t>s</a:t>
            </a:r>
            <a:r>
              <a:rPr lang="cs-CZ" altLang="cs-CZ" sz="1200" b="0" i="0" noProof="0">
                <a:latin typeface="Arial"/>
              </a:rPr>
              <a:t> počítáme z pozorovaných dat; když z dat model odhadujeme, slouží jako odhady μ a σ, ale přesné populační hodnoty tím neznáme.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Model zapisujeme stručně </a:t>
            </a:r>
            <a:r>
              <a:rPr lang="cs-CZ" altLang="cs-CZ" sz="1200" b="1" i="0" noProof="0">
                <a:latin typeface="Arial"/>
              </a:rPr>
              <a:t>N(μ, σ)</a:t>
            </a:r>
            <a:r>
              <a:rPr lang="cs-CZ" altLang="cs-CZ" sz="1200" b="0" i="0" noProof="0">
                <a:latin typeface="Arial"/>
              </a:rPr>
              <a:t>: N označuje normální rozdělení, první údaj průměr, druhý směrodatnou odchylku. Náš ilustrační model skóru pozornosti je </a:t>
            </a:r>
            <a:r>
              <a:rPr lang="cs-CZ" altLang="cs-CZ" sz="1200" b="1" i="0" noProof="0">
                <a:latin typeface="Arial"/>
              </a:rPr>
              <a:t>N(50, 10)</a:t>
            </a:r>
            <a:r>
              <a:rPr lang="cs-CZ" altLang="cs-CZ" sz="1200" b="0" i="0" noProof="0">
                <a:latin typeface="Arial"/>
              </a:rPr>
              <a:t>; oba údaje jsou v bodech.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Pozor na konvenci:</a:t>
            </a:r>
            <a:r>
              <a:rPr lang="cs-CZ" altLang="cs-CZ" sz="1200" b="0" i="0" noProof="0">
                <a:latin typeface="Arial"/>
              </a:rPr>
              <a:t> mnoho učebnic a programů uvádí jako druhý údaj rozptyl a týž model zapíše N(50, 100). V naší učebnici je druhým údajem vždy směrodatná odchylka; u cizího textu si konvenci ověřte.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vlevo: posun průměru z 50 na 65 posune křivku, šířka zůstane. Vpravo: větší směrodatná odchylka křivku rozšíří a sníží vrchol, protože celková plocha musí zůstat stejná. </a:t>
            </a:r>
            <a:r>
              <a:rPr lang="cs-CZ" altLang="cs-CZ" sz="1200" b="0" i="1" noProof="0">
                <a:latin typeface="Arial"/>
              </a:rPr>
              <a:t>Průměr a směrodatnou odchylku lze v normálním modelu volit nezávisle.</a:t>
            </a:r>
            <a:r>
              <a:rPr lang="cs-CZ" altLang="cs-CZ" sz="1200" b="0" i="0" noProof="0">
                <a:latin typeface="Arial"/>
              </a:rPr>
              <a:t> Mění-li se ve srovnatelných skupinách variabilita spolu s průměrem, například u efektu stropu, je to varování, že model nemusí sedět.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Program uvádí model N(80, 25). Jaká je směrodatná odchylka? Záleží na konvenci: je-li druhým údajem rozptyl, je směrodatná odchylka 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https://reckak.github.io/statistics-for-psychology/quarto/kapitola_04.html#sec-parametry-normalniho.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Jak z hladké křivky vyčíst podíl výsledků? Začneme histogramem, v němž podíl vyjadřuje </a:t>
            </a:r>
            <a:r>
              <a:rPr lang="cs-CZ" altLang="cs-CZ" sz="1200" b="1" i="0" noProof="0">
                <a:latin typeface="Arial"/>
              </a:rPr>
              <a:t>plocha sloupce</a:t>
            </a:r>
            <a:r>
              <a:rPr lang="cs-CZ" altLang="cs-CZ" sz="1200" b="0" i="0" noProof="0">
                <a:latin typeface="Arial"/>
              </a:rPr>
              <a:t>. Plocha obdélníku je šířka krát výška. Patří-li do intervalu širokého 10 bodů 30 % případů, má mít sloupec plochu 0,30, a tedy výšku 0,30 / 10 = 0,03 na bod.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Spojitý model nahrazuje sloupce hladkou křivkou. Její výška vyjadřuje </a:t>
            </a:r>
            <a:r>
              <a:rPr lang="cs-CZ" altLang="cs-CZ" sz="1200" b="1" i="0" noProof="0">
                <a:latin typeface="Arial"/>
              </a:rPr>
              <a:t>hustotu pravděpodobnosti</a:t>
            </a:r>
            <a:r>
              <a:rPr lang="cs-CZ" altLang="cs-CZ" sz="1200" b="0" i="0" noProof="0">
                <a:latin typeface="Arial"/>
              </a:rPr>
              <a:t> (probability density): kde je křivka výše, tam je v malém okolí soustředěn větší podíl hodnot. </a:t>
            </a:r>
            <a:r>
              <a:rPr lang="cs-CZ" altLang="cs-CZ" sz="1200" b="0" i="1" noProof="0">
                <a:latin typeface="Arial"/>
              </a:rPr>
              <a:t>Samotná výška ale podílem není; podíl odpovídá ploše pod křivkou nad celým intervalem.</a:t>
            </a:r>
            <a:r>
              <a:rPr lang="cs-CZ" altLang="cs-CZ" sz="1200" b="0" i="0" noProof="0">
                <a:latin typeface="Arial"/>
              </a:rPr>
              <a:t> Celková plocha je 1, tedy 100 %.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Vpravo v obrázku je model N(50, 10). Mezi 50 a 60 body leží plocha přibližně 0,341, tedy 34,1 % modelových výsledků. Při náhodném výběru jednoho člověka z takto modelované populace ji můžeme číst jako pravděpodobnost, že jeho výsledek do intervalu padne.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Ze všech normálních modelů se zvlášť používá </a:t>
            </a:r>
            <a:r>
              <a:rPr lang="cs-CZ" altLang="cs-CZ" sz="1200" b="1" i="0" noProof="0">
                <a:latin typeface="Arial"/>
              </a:rPr>
              <a:t>normované normální rozdělení</a:t>
            </a:r>
            <a:r>
              <a:rPr lang="cs-CZ" altLang="cs-CZ" sz="1200" b="0" i="0" noProof="0">
                <a:latin typeface="Arial"/>
              </a:rPr>
              <a:t> (standard normal distribution) N(0, 1). Z libovolného normálního modelu na něj přejdeme vztahem 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 = (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− μ) / σ; pro 60 bodů v N(50, 10) dostaneme z = 1. Stačí tedy umět pracovat s jedním modelem.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Data, která normálnímu rozdělení neodpovídají, se jím standardizací nestanou;</a:t>
            </a:r>
            <a:r>
              <a:rPr lang="cs-CZ" altLang="cs-CZ" sz="1200" b="0" i="0" noProof="0">
                <a:latin typeface="Arial"/>
              </a:rPr>
              <a:t> přechod na N(0, 1) je vlastností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Může mít úzký interval pod vrcholem křivky menší podíl než široký interval na jejím okraji? Ano, rozhoduje plocha, tedy výška i šířka.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https://reckak.github.io/statistics-for-psychology/quarto/kapitola_04.html#sec-hustota.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 toho, že podíl je plocha, plyne zvláštní důsledek. </a:t>
            </a:r>
            <a:r>
              <a:rPr lang="cs-CZ" altLang="cs-CZ" sz="1200" b="1" i="0" noProof="0">
                <a:latin typeface="Arial"/>
              </a:rPr>
              <a:t>Jediný přesný bod má nulovou šířku</a:t>
            </a:r>
            <a:r>
              <a:rPr lang="cs-CZ" altLang="cs-CZ" sz="1200" b="0" i="0" noProof="0">
                <a:latin typeface="Arial"/>
              </a:rPr>
              <a:t>, a ve spojitém normálním modelu nad ním proto nevzniká žádná plocha.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Neznamená to, že člověk nemůže získat zaznamenaných 50 bodů. </a:t>
            </a:r>
            <a:r>
              <a:rPr lang="cs-CZ" altLang="cs-CZ" sz="1200" b="0" i="1" noProof="0">
                <a:latin typeface="Arial"/>
              </a:rPr>
              <a:t>Zaznamenané číslo obvykle představuje interval:</a:t>
            </a:r>
            <a:r>
              <a:rPr lang="cs-CZ" altLang="cs-CZ" sz="1200" b="0" i="0" noProof="0">
                <a:latin typeface="Arial"/>
              </a:rPr>
              <a:t> při zaokrouhlování na celé body odpovídá 50 hodnotám přibližně od 49,5 do 50,5. Ten už má kladnou plochu, v modelu N(50, 10) přibližně 4,0 %.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plochy modelu se proto „méně než 60“ a „nejvýše 60“ neliší. V datech, kde se hodnoty opakují, se ale četnosti mohou lišit právě o počet výsledků přesně rovných 60.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Počet správných odpovědí je od počátku diskrétní a jeho konkrétní hodnota může mít nenulový podíl. Normální model je pro něj jen přiblížením; pomáhá, když má škála mnoho možných hodnot s malým krokem vůči směrodatné odchylce, ale samo to nestačí.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má smysl ptát se na podíl výsledků mezi 49,5 a 50,5, a ne na podíl výsledků „přesně 50“? Protože ve spojitém modelu má každá přesná hodnota podíl nula.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https://reckak.github.io/statistics-for-psychology/quarto/kapitola_04.html#sec-bod-a-interval.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každém normálním modelu, bez ohledu na μ a σ, leží přibližně </a:t>
            </a:r>
            <a:r>
              <a:rPr lang="cs-CZ" altLang="cs-CZ" sz="1200" b="1" i="0" noProof="0">
                <a:latin typeface="Arial"/>
              </a:rPr>
              <a:t>68,3 %</a:t>
            </a:r>
            <a:r>
              <a:rPr lang="cs-CZ" altLang="cs-CZ" sz="1200" b="0" i="0" noProof="0">
                <a:latin typeface="Arial"/>
              </a:rPr>
              <a:t> hodnot do vzdálenosti jedné směrodatné odchylky od průměru, </a:t>
            </a:r>
            <a:r>
              <a:rPr lang="cs-CZ" altLang="cs-CZ" sz="1200" b="1" i="0" noProof="0">
                <a:latin typeface="Arial"/>
              </a:rPr>
              <a:t>95,4 %</a:t>
            </a:r>
            <a:r>
              <a:rPr lang="cs-CZ" altLang="cs-CZ" sz="1200" b="0" i="0" noProof="0">
                <a:latin typeface="Arial"/>
              </a:rPr>
              <a:t> do vzdálenosti dvou a </a:t>
            </a:r>
            <a:r>
              <a:rPr lang="cs-CZ" altLang="cs-CZ" sz="1200" b="1" i="0" noProof="0">
                <a:latin typeface="Arial"/>
              </a:rPr>
              <a:t>99,7 %</a:t>
            </a:r>
            <a:r>
              <a:rPr lang="cs-CZ" altLang="cs-CZ" sz="1200" b="0" i="0" noProof="0">
                <a:latin typeface="Arial"/>
              </a:rPr>
              <a:t> do vzdálenosti tří. Zbytek se díky souměrnosti dělí napůl mezi oba chvosty.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modelu N(50, 10) tedy asi 68 % výsledků leží mezi 40 a 60 body a jen asi 2,3 % nad 70 body.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orientaci se používá název pravidlo 68–95–99,7. Přesnějších </a:t>
            </a:r>
            <a:r>
              <a:rPr lang="cs-CZ" altLang="cs-CZ" sz="1200" b="1" i="0" noProof="0">
                <a:latin typeface="Arial"/>
              </a:rPr>
              <a:t>prostředních 95 %</a:t>
            </a:r>
            <a:r>
              <a:rPr lang="cs-CZ" altLang="cs-CZ" sz="1200" b="0" i="0" noProof="0">
                <a:latin typeface="Arial"/>
              </a:rPr>
              <a:t> však vymezují z-skóry přibližně −1,96 a 1,96, nikoli −2 a 2; výpočet ukážeme za chvíli.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Pravidlo platí pro normální model.</a:t>
            </a:r>
            <a:r>
              <a:rPr lang="cs-CZ" altLang="cs-CZ" sz="1200" b="0" i="0" noProof="0">
                <a:latin typeface="Arial"/>
              </a:rPr>
              <a:t> U dat, jejichž rozdělení se od normálního odchyluje, uvedené podíly nemůžeme předpokládat jen ze znalosti průměru a směrodatné odchylky. Minulá kapitola ukázala soubor, v němž bylo v intervalu m ± 2s 96 % hodnot, ale to byla náhoda konkrétních dat.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Jaký podíl výsledků modelu N(50, 10) leží pod 30 body? Asi 2,3 %: je to jeden chvost mimo interval ±2 směrodatné odchylky.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https://reckak.github.io/statistics-for-psychology/quarto/kapitola_04.html#sec-pravidlo-normalni.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Pravidlo 68–95–99,7 pokrývá jen tři vzdálenosti. Ve třetí části se naučíme určit v Excelu podíl pro libovolnou hranici a naopak hranici pro libovolný podíl.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Ke každé hranici můžeme určit plochu pod křivkou vlevo od ní. Funkce, která hranici přiřazuje tento podíl, se jmenuje </a:t>
            </a:r>
            <a:r>
              <a:rPr lang="cs-CZ" altLang="cs-CZ" sz="1200" b="1" i="0" noProof="0">
                <a:latin typeface="Arial"/>
              </a:rPr>
              <a:t>distribuční funkce</a:t>
            </a:r>
            <a:r>
              <a:rPr lang="cs-CZ" altLang="cs-CZ" sz="1200" b="0" i="0" noProof="0">
                <a:latin typeface="Arial"/>
              </a:rPr>
              <a:t> (cumulative distribution function). Je to modelový protějšek </a:t>
            </a:r>
            <a:r>
              <a:rPr lang="cs-CZ" altLang="cs-CZ" sz="1200" b="0" i="1" noProof="0">
                <a:latin typeface="Arial"/>
              </a:rPr>
              <a:t>kumulativní relativní četnosti</a:t>
            </a:r>
            <a:r>
              <a:rPr lang="cs-CZ" altLang="cs-CZ" sz="1200" b="0" i="0" noProof="0">
                <a:latin typeface="Arial"/>
              </a:rPr>
              <a:t> z kapitoly 2.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má nahoře hustotu a dole distribuční funkci se stejnou vodorovnou osou. Pro hranici 60 bodů je oranžová plocha nahoře stejně velká jako výška oranžového sloupce dole: </a:t>
            </a:r>
            <a:r>
              <a:rPr lang="cs-CZ" altLang="cs-CZ" sz="1200" b="1" i="0" noProof="0">
                <a:latin typeface="Arial"/>
              </a:rPr>
              <a:t>0,841</a:t>
            </a:r>
            <a:r>
              <a:rPr lang="cs-CZ" altLang="cs-CZ" sz="1200" b="0" i="0" noProof="0">
                <a:latin typeface="Arial"/>
              </a:rPr>
              <a:t>. U hustoty čteme podíl z plochy, u distribuční funkce z výšky. Distribuční funkce s rostoucí hranicí nikdy neklesá a v průměru má hodnotu 0,5.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Excelu nejprve hranici standardizujeme: (60 − 50) / 10 = 1. Funkce </a:t>
            </a:r>
            <a:r>
              <a:rPr lang="cs-CZ" altLang="cs-CZ" sz="1200" b="1" i="0" noProof="0">
                <a:latin typeface="Arial"/>
              </a:rPr>
              <a:t>NORM.S.DIST</a:t>
            </a:r>
            <a:r>
              <a:rPr lang="cs-CZ" altLang="cs-CZ" sz="1200" b="0" i="0" noProof="0">
                <a:latin typeface="Arial"/>
              </a:rPr>
              <a:t> (anglicky stejně) vrací plochu normovaného normálního rozdělení: =NORM.S.DIST(1;PRAVDA) dává 0,841. Druhý argument PRAVDA požaduje distribuční funkci, tedy plochu; píše se bez uvozovek.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 argumentem NEPRAVDA vrací funkce výšku křivky, tedy hustotu,</a:t>
            </a:r>
            <a:r>
              <a:rPr lang="cs-CZ" altLang="cs-CZ" sz="1200" b="0" i="0" noProof="0">
                <a:latin typeface="Arial"/>
              </a:rPr>
              <a:t> například 0,242 pro z = 1. To není podíl výsledků a na naši otázku neodpovídá.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NORM.DIST</a:t>
            </a:r>
            <a:r>
              <a:rPr lang="cs-CZ" altLang="cs-CZ" sz="1200" b="0" i="0" noProof="0">
                <a:latin typeface="Arial"/>
              </a:rPr>
              <a:t> totéž počítá bez předchozí standardizace: =NORM.DIST(60;50;10;PRAVDA). Písmeno S v NORM.S.DIST znamená normované (standard) rozdělení N(0, 1). Funkce jsou v Excelu 2016 a novějším.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Co znamená výsledek 0,841? Že v modelu N(50, 10) má 84,1 % výsledků nejvýše 60 bodů; jde o modelové percentilové pořadí, ne o procento správně vyřešených úloh.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https://reckak.github.io/statistics-for-psychology/quarto/kapitola_04.html#sec-distribucni-funkce.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Distribuční funkce dává vždy plochu zleva. Jiné otázky z ní získáme odečtením. V obrázku má </a:t>
            </a:r>
            <a:r>
              <a:rPr lang="cs-CZ" altLang="cs-CZ" sz="1200" b="1" i="0" noProof="0">
                <a:latin typeface="Arial"/>
              </a:rPr>
              <a:t>hledaný podíl oranžovou barvu, odečítaná část modrou</a:t>
            </a:r>
            <a:r>
              <a:rPr lang="cs-CZ" altLang="cs-CZ" sz="1200" b="0" i="0" noProof="0">
                <a:latin typeface="Arial"/>
              </a:rPr>
              <a:t>, v hustotě nahoře i v distribuční funkci dole.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Podíl nejvýše 60</a:t>
            </a:r>
            <a:r>
              <a:rPr lang="cs-CZ" altLang="cs-CZ" sz="1200" b="0" i="0" noProof="0">
                <a:latin typeface="Arial"/>
              </a:rPr>
              <a:t> je přímo výška distribuční funkce v 60 bodech, tedy 0,841. </a:t>
            </a:r>
            <a:r>
              <a:rPr lang="cs-CZ" altLang="cs-CZ" sz="1200" b="1" i="0" noProof="0">
                <a:latin typeface="Arial"/>
              </a:rPr>
              <a:t>Podíl nad 60</a:t>
            </a:r>
            <a:r>
              <a:rPr lang="cs-CZ" altLang="cs-CZ" sz="1200" b="0" i="0" noProof="0">
                <a:latin typeface="Arial"/>
              </a:rPr>
              <a:t> je zbytek do celkové plochy 1: 1 − 0,841 = 0,159, tedy 15,9 %. Od 100 bychom odečítali, kdybychom počítali v procentech.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Podíl mezi 60 a 70:</a:t>
            </a:r>
            <a:r>
              <a:rPr lang="cs-CZ" altLang="cs-CZ" sz="1200" b="0" i="0" noProof="0">
                <a:latin typeface="Arial"/>
              </a:rPr>
              <a:t> plocha do 70 bodů (0,977) obsahuje i celou plochu do 60 bodů (0,841). Menší levou plochu odečteme od větší: 0,977 − 0,841 = 0,136, tedy 13,6 %. V Excelu: =NORM.S.DIST((70−50)/10;PRAVDA)−NORM.S.DIST((60−50)/10;PRAVDA).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Než začnete počítat, načrtněte křivku a vyznačte hledanou oblast.</a:t>
            </a:r>
            <a:r>
              <a:rPr lang="cs-CZ" altLang="cs-CZ" sz="1200" b="0" i="0" noProof="0">
                <a:latin typeface="Arial"/>
              </a:rPr>
              <a:t> Náčrt ukáže, zda má být výsledek menší, nebo větší než polovina. Záporný rozdíl upozorňuje na obrácené pořadí mezí, ne na záporný podíl lidí.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mezivýpočtech necháváme plnou přesnost; podíl obvykle zaokrouhlujeme na tři desetinná místa, procento na jedno.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Jaký podíl modelu N(50, 10) leží mezi 40 a 60 body? 0,841 − 0,159 = 0,683, tedy známých 68,3 %.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3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https://reckak.github.io/statistics-for-psychology/quarto/kapitola_04.html#mezi-dvěma-hranicemi.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Nyní postupujeme opačně: </a:t>
            </a:r>
            <a:r>
              <a:rPr lang="cs-CZ" altLang="cs-CZ" sz="1200" b="1" i="0" noProof="0">
                <a:latin typeface="Arial"/>
              </a:rPr>
              <a:t>známe podíl a hledáme hranici</a:t>
            </a:r>
            <a:r>
              <a:rPr lang="cs-CZ" altLang="cs-CZ" sz="1200" b="0" i="0" noProof="0">
                <a:latin typeface="Arial"/>
              </a:rPr>
              <a:t>. Devadesátý percentil normálního modelu je hodnota, po kterou leží 90 % jeho plochy. Jde o kvantil modelu, nikoli o kvantil vypočtený z konkrétních dat.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Funkce </a:t>
            </a:r>
            <a:r>
              <a:rPr lang="cs-CZ" altLang="cs-CZ" sz="1200" b="1" i="0" noProof="0">
                <a:latin typeface="Arial"/>
              </a:rPr>
              <a:t>NORM.S.INV</a:t>
            </a:r>
            <a:r>
              <a:rPr lang="cs-CZ" altLang="cs-CZ" sz="1200" b="0" i="0" noProof="0">
                <a:latin typeface="Arial"/>
              </a:rPr>
              <a:t> (anglicky stejně) provádí opačný převod než distribuční funkce: ze zadaného podílu vlevo vrátí z-skór hranice. Podíl musí ležet mezi 0 a 1, bez krajních hodnot; 90 % zadáváme jako 0,9. =NORM.S.INV(0,9) vrací přibližně 1,282.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Z-skór převedeme zpět na body vztahem </a:t>
            </a:r>
            <a:r>
              <a:rPr lang="cs-CZ" altLang="cs-CZ" sz="1200" b="1" i="0" noProof="0">
                <a:latin typeface="Arial"/>
              </a:rPr>
              <a:t>x = μ + σz</a:t>
            </a:r>
            <a:r>
              <a:rPr lang="cs-CZ" altLang="cs-CZ" sz="1200" b="0" i="0" noProof="0">
                <a:latin typeface="Arial"/>
              </a:rPr>
              <a:t>: 50 + 10 × 1,282 ≈ 62,82 bodu. </a:t>
            </a:r>
            <a:r>
              <a:rPr lang="cs-CZ" altLang="cs-CZ" sz="1200" b="0" i="1" noProof="0">
                <a:latin typeface="Arial"/>
              </a:rPr>
              <a:t>Vlevo má ležet víc než polovina plochy, proto musí hranice ležet nad průměrem</a:t>
            </a:r>
            <a:r>
              <a:rPr lang="cs-CZ" altLang="cs-CZ" sz="1200" b="0" i="0" noProof="0">
                <a:latin typeface="Arial"/>
              </a:rPr>
              <a:t>; náčrt opět slouží jako kontrola.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NORM.INV</a:t>
            </a:r>
            <a:r>
              <a:rPr lang="cs-CZ" altLang="cs-CZ" sz="1200" b="0" i="0" noProof="0">
                <a:latin typeface="Arial"/>
              </a:rPr>
              <a:t> vrací hranici rovnou v původních jednotkách: =NORM.INV(0,9;50;10). Kontrolu provedeme opačným převodem: NORM.S.DIST(1,282;PRAVDA) vrátí přibližně 0,9.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Kvantil normovaného normálního rozdělení zapisujeme </a:t>
            </a:r>
            <a:r>
              <a:rPr lang="cs-CZ" altLang="cs-CZ" sz="1200" b="1" i="0" noProof="0">
                <a:latin typeface="Arial"/>
              </a:rPr>
              <a:t>*z*_{p}</a:t>
            </a:r>
            <a:r>
              <a:rPr lang="cs-CZ" altLang="cs-CZ" sz="1200" b="0" i="0" noProof="0">
                <a:latin typeface="Arial"/>
              </a:rPr>
              <a:t>, kde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 je </a:t>
            </a:r>
            <a:r>
              <a:rPr lang="cs-CZ" altLang="cs-CZ" sz="1200" b="1" i="0" noProof="0">
                <a:latin typeface="Arial"/>
              </a:rPr>
              <a:t>podíl vlevo</a:t>
            </a:r>
            <a:r>
              <a:rPr lang="cs-CZ" altLang="cs-CZ" sz="1200" b="0" i="0" noProof="0">
                <a:latin typeface="Arial"/>
              </a:rPr>
              <a:t>; tedy 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0,9 ≈ 1,282. </a:t>
            </a:r>
            <a:r>
              <a:rPr lang="cs-CZ" altLang="cs-CZ" sz="1200" b="0" i="1" noProof="0">
                <a:latin typeface="Arial"/>
              </a:rPr>
              <a:t>Jiné učebnice index často vztahují k podílu vpravo</a:t>
            </a:r>
            <a:r>
              <a:rPr lang="cs-CZ" altLang="cs-CZ" sz="1200" b="0" i="0" noProof="0">
                <a:latin typeface="Arial"/>
              </a:rPr>
              <a:t>, u cizího textu si konvenci ověřte. Dolní index tu není pořadí pozorování jako u 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Funkce PERCENTIL.INC řeší jinou otázku: potřebuje konkrétní data a vrací empirický kvantil. Dva soubory se stejným průměrem a směrodatnou odchylkou nemusejí mít stejný empirický 90. percentil.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Bude 20. percentil modelu N(50, 10) nad průměrem, nebo pod ním? Pod: vlevo má ležet méně než polovina plochy. Vychází asi 41,58 bodu.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https://reckak.github.io/statistics-for-psychology/quarto/kapitola_04.html#sec-normalni-kvantil.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Častá chyba vzniká záměnou dvou podobných otázek. Chceme-li vymezit </a:t>
            </a:r>
            <a:r>
              <a:rPr lang="cs-CZ" altLang="cs-CZ" sz="1200" b="1" i="0" noProof="0">
                <a:latin typeface="Arial"/>
              </a:rPr>
              <a:t>prostředních 95 %</a:t>
            </a:r>
            <a:r>
              <a:rPr lang="cs-CZ" altLang="cs-CZ" sz="1200" b="0" i="0" noProof="0">
                <a:latin typeface="Arial"/>
              </a:rPr>
              <a:t> rozdělení, zbývá mimo interval 5 % a díky souměrnosti připadá 2,5 % na každý chvost.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Dolní mez proto odpovídá podílu vlevo 0,025, horní podílu vlevo 0,975, protože vlevo od horní meze leží i celý dolní chvost. =NORM.S.INV(0,975) ≈ 1,960; v modelu N(50, 10) jsou meze 50 ± 19,60, tedy </a:t>
            </a:r>
            <a:r>
              <a:rPr lang="cs-CZ" altLang="cs-CZ" sz="1200" b="1" i="0" noProof="0">
                <a:latin typeface="Arial"/>
              </a:rPr>
              <a:t>30,40 a 69,60 bodu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Hranice </a:t>
            </a:r>
            <a:r>
              <a:rPr lang="cs-CZ" altLang="cs-CZ" sz="1200" b="1" i="0" noProof="0">
                <a:latin typeface="Arial"/>
              </a:rPr>
              <a:t>horních 5 %</a:t>
            </a:r>
            <a:r>
              <a:rPr lang="cs-CZ" altLang="cs-CZ" sz="1200" b="0" i="0" noProof="0">
                <a:latin typeface="Arial"/>
              </a:rPr>
              <a:t> je naproti tomu 95. percentil: vlevo 95 %, vpravo 5 %. </a:t>
            </a:r>
            <a:r>
              <a:rPr lang="cs-CZ" altLang="cs-CZ" sz="1200" b="0" i="1" noProof="0">
                <a:latin typeface="Arial"/>
              </a:rPr>
              <a:t>Chvost tu nepůlíme</a:t>
            </a:r>
            <a:r>
              <a:rPr lang="cs-CZ" altLang="cs-CZ" sz="1200" b="0" i="0" noProof="0">
                <a:latin typeface="Arial"/>
              </a:rPr>
              <a:t>: =NORM.INV(0,95;50;10) dává </a:t>
            </a:r>
            <a:r>
              <a:rPr lang="cs-CZ" altLang="cs-CZ" sz="1200" b="1" i="0" noProof="0">
                <a:latin typeface="Arial"/>
              </a:rPr>
              <a:t>66,45 bodu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obě úlohy staví vedle sebe. Interval vpravo popisuje rozložení </a:t>
            </a:r>
            <a:r>
              <a:rPr lang="cs-CZ" altLang="cs-CZ" sz="1200" b="1" i="0" noProof="0">
                <a:latin typeface="Arial"/>
              </a:rPr>
              <a:t>jednotlivých výsledků</a:t>
            </a:r>
            <a:r>
              <a:rPr lang="cs-CZ" altLang="cs-CZ" sz="1200" b="0" i="0" noProof="0">
                <a:latin typeface="Arial"/>
              </a:rPr>
              <a:t> v zadaném modelu. Není to interval spolehlivosti průměru, s nímž se setkáme později, a ani meze prostředních 95 % nejsou samy hranicí zdraví nebo diagnostickým prahem.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Kde začíná dolních 5 % modelu N(50, 10)? Na 50 − 16,45 = 33,55 bodu; díky souměrnosti stačí změnit znaménko z-skóru.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https://reckak.github.io/statistics-for-psychology/quarto/kapitola_04.html#sec-centralni-podil.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Některé hodnoty z se v praxi i v dalších kapitolách stále opakují. </a:t>
            </a:r>
            <a:r>
              <a:rPr lang="cs-CZ" altLang="cs-CZ" sz="1200" b="1" i="0" noProof="0">
                <a:latin typeface="Arial"/>
              </a:rPr>
              <a:t>Je užitečné si je zapamatovat</a:t>
            </a:r>
            <a:r>
              <a:rPr lang="cs-CZ" altLang="cs-CZ" sz="1200" b="0" i="0" noProof="0">
                <a:latin typeface="Arial"/>
              </a:rPr>
              <a:t>: se zpětným převodem 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= μ + σ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 pak běžné výpočty zvládnete bez Excelu.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Tabulka uvádí šest hodnot; spolu s hodnotami 1, 2 a 3 z orientačního pravidla jich je devět. Například 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0,95 ≈ 1,645: nad ní leží 5 % a mezi −1,645 a 1,645 leží 90 %.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Stejné z odpovídá jednostranné i oboustranné otázce; rozhoduje, zda zbytek přiřazujeme jednomu chvostu, nebo oběma.</a:t>
            </a:r>
            <a:r>
              <a:rPr lang="cs-CZ" altLang="cs-CZ" sz="1200" b="0" i="0" noProof="0">
                <a:latin typeface="Arial"/>
              </a:rPr>
              <a:t> 1,645 je hranice horních 5 % i mez prostředních 90 %.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Příklad: prostředních 99 % modelu N(50, 10) leží mezi 50 − 2,576 × 10 a 50 + 2,576 × 10, tedy přibližně mezi 24,24 a 75,76 bodu.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Dolní meze jsou díky souměrnosti tytéž hodnoty se záporným znaménkem. Pro ostatní podíly a hranice použijeme NORM.S.DIST a NORM.S.INV.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Kde začíná horní 1 % modelu N(100, 15)? 100 + 2,326 × 15 ≈ 134,9 bodu.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https://reckak.github.io/statistics-for-psychology/quarto/kapitola_04.html#sec-hodnoty-zpameti.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Psychologické testy neuvádějí výsledky jako z-skóry. Čtvrtá část ukazuje, jak tutéž relativní polohu vyjadřují běžné standardní škály a pásma.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Standardní skór</a:t>
            </a:r>
            <a:r>
              <a:rPr lang="cs-CZ" altLang="cs-CZ" sz="1200" b="0" i="0" noProof="0" dirty="0">
                <a:latin typeface="Arial"/>
              </a:rPr>
              <a:t> (standard </a:t>
            </a:r>
            <a:r>
              <a:rPr lang="cs-CZ" altLang="cs-CZ" sz="1200" b="0" i="0" noProof="0" dirty="0" err="1">
                <a:latin typeface="Arial"/>
              </a:rPr>
              <a:t>score</a:t>
            </a:r>
            <a:r>
              <a:rPr lang="cs-CZ" altLang="cs-CZ" sz="1200" b="0" i="0" noProof="0" dirty="0">
                <a:latin typeface="Arial"/>
              </a:rPr>
              <a:t>) vyjadřuje výsledek na škále s určeným středem a variabilitou. Z-skór je jen jedním z nich; testy používají škály, na kterých se většinou vyhneme záporným a desetinným číslům.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Převod ze z-skóru je lineární: </a:t>
            </a:r>
            <a:r>
              <a:rPr lang="cs-CZ" altLang="cs-CZ" sz="1200" b="1" i="0" noProof="0" dirty="0">
                <a:latin typeface="Arial"/>
              </a:rPr>
              <a:t>nový skór = nový průměr + nová směrodatná odchylka × z</a:t>
            </a:r>
            <a:r>
              <a:rPr lang="cs-CZ" altLang="cs-CZ" sz="1200" b="0" i="0" noProof="0" dirty="0">
                <a:latin typeface="Arial"/>
              </a:rPr>
              <a:t>. </a:t>
            </a:r>
            <a:r>
              <a:rPr lang="cs-CZ" altLang="cs-CZ" sz="1200" b="1" i="0" noProof="0" dirty="0">
                <a:latin typeface="Arial"/>
              </a:rPr>
              <a:t>T-skór</a:t>
            </a:r>
            <a:r>
              <a:rPr lang="cs-CZ" altLang="cs-CZ" sz="1200" b="0" i="0" noProof="0" dirty="0">
                <a:latin typeface="Arial"/>
              </a:rPr>
              <a:t> má průměr 50 a směrodatnou odchylku 10, </a:t>
            </a:r>
            <a:r>
              <a:rPr lang="cs-CZ" altLang="cs-CZ" sz="1200" b="1" i="0" noProof="0" dirty="0">
                <a:latin typeface="Arial"/>
              </a:rPr>
              <a:t>IQ-skór</a:t>
            </a:r>
            <a:r>
              <a:rPr lang="cs-CZ" altLang="cs-CZ" sz="1200" b="0" i="0" noProof="0" dirty="0">
                <a:latin typeface="Arial"/>
              </a:rPr>
              <a:t> 100 a 15, </a:t>
            </a:r>
            <a:r>
              <a:rPr lang="cs-CZ" altLang="cs-CZ" sz="1200" b="1" i="0" noProof="0" dirty="0">
                <a:latin typeface="Arial"/>
              </a:rPr>
              <a:t>standardní </a:t>
            </a:r>
            <a:r>
              <a:rPr lang="cs-CZ" altLang="cs-CZ" sz="1200" b="1" i="0" noProof="0" dirty="0" err="1">
                <a:latin typeface="Arial"/>
              </a:rPr>
              <a:t>subtestový</a:t>
            </a:r>
            <a:r>
              <a:rPr lang="cs-CZ" altLang="cs-CZ" sz="1200" b="1" i="0" noProof="0" dirty="0">
                <a:latin typeface="Arial"/>
              </a:rPr>
              <a:t> skór</a:t>
            </a:r>
            <a:r>
              <a:rPr lang="cs-CZ" altLang="cs-CZ" sz="1200" b="0" i="0" noProof="0" dirty="0">
                <a:latin typeface="Arial"/>
              </a:rPr>
              <a:t> často 10 a 3, například u </a:t>
            </a:r>
            <a:r>
              <a:rPr lang="cs-CZ" altLang="cs-CZ" sz="1200" b="0" i="0" noProof="0" dirty="0" err="1">
                <a:latin typeface="Arial"/>
              </a:rPr>
              <a:t>subtestů</a:t>
            </a:r>
            <a:r>
              <a:rPr lang="cs-CZ" altLang="cs-CZ" sz="1200" b="0" i="0" noProof="0" dirty="0">
                <a:latin typeface="Arial"/>
              </a:rPr>
              <a:t> </a:t>
            </a:r>
            <a:r>
              <a:rPr lang="cs-CZ" altLang="cs-CZ" sz="1200" b="0" i="0" noProof="0" dirty="0" err="1">
                <a:latin typeface="Arial"/>
              </a:rPr>
              <a:t>Wechslerových</a:t>
            </a:r>
            <a:r>
              <a:rPr lang="cs-CZ" altLang="cs-CZ" sz="1200" b="0" i="0" noProof="0" dirty="0">
                <a:latin typeface="Arial"/>
              </a:rPr>
              <a:t> škál. V českých materiálech se pro něj objevuje i název vážený skór.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Pro z = 1,5 dostaneme T = 50 + 10 × 1,5 = 65, IQ-skór 122,5 a </a:t>
            </a:r>
            <a:r>
              <a:rPr lang="cs-CZ" altLang="cs-CZ" sz="1200" b="0" i="0" noProof="0" dirty="0" err="1">
                <a:latin typeface="Arial"/>
              </a:rPr>
              <a:t>subtestový</a:t>
            </a:r>
            <a:r>
              <a:rPr lang="cs-CZ" altLang="cs-CZ" sz="1200" b="0" i="0" noProof="0" dirty="0">
                <a:latin typeface="Arial"/>
              </a:rPr>
              <a:t> skór 14,5. Převody lze obrátit: T-skór 65 má z = (65 − 50) / 10 = 1,5.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1" noProof="0" dirty="0">
                <a:latin typeface="Arial"/>
              </a:rPr>
              <a:t>Převod na škálu IQ nemění, co test měří</a:t>
            </a:r>
            <a:r>
              <a:rPr lang="cs-CZ" altLang="cs-CZ" sz="1200" b="0" i="0" noProof="0" dirty="0">
                <a:latin typeface="Arial"/>
              </a:rPr>
              <a:t>: u testu pozornosti píšeme „výsledek vyjádřený na škále IQ-skórů“, ne „inteligence 122,5“.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K samotnému lineárnímu převodu normální rozdělení nepotřebujeme.</a:t>
            </a:r>
            <a:r>
              <a:rPr lang="cs-CZ" altLang="cs-CZ" sz="1200" b="0" i="0" noProof="0" dirty="0">
                <a:latin typeface="Arial"/>
              </a:rPr>
              <a:t> Teprve přiřazení percentilového pořadí pomocí normální křivky vyžaduje normální model. Poslední řada obrázku to ukazuje: z-skór z 0 na 1 zvýší modelové percentilové pořadí asi o 34,1 bodu, z 1 na 2 jen o 13,6. Percentilové pořadí nemá rovnoměrné rozestupy.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Otázka k zamyšlení:</a:t>
            </a:r>
            <a:r>
              <a:rPr lang="cs-CZ" altLang="cs-CZ" sz="1200" b="0" i="0" noProof="0" dirty="0">
                <a:latin typeface="Arial"/>
              </a:rPr>
              <a:t> Jaký T-skór odpovídá IQ-skóru 85? z = (85 − 100) / 15 = −1, tedy T = 40.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Čas pro vyučujícího: přibližně 2 min.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Podklad: kapitola 4, Normální rozdělení a standardní skóry, příslušný oddíl: https://reckak.github.io/</a:t>
            </a:r>
            <a:r>
              <a:rPr lang="cs-CZ" altLang="cs-CZ" sz="1200" b="0" i="0" noProof="0" dirty="0" err="1">
                <a:latin typeface="Arial"/>
              </a:rPr>
              <a:t>statistics</a:t>
            </a:r>
            <a:r>
              <a:rPr lang="cs-CZ" altLang="cs-CZ" sz="1200" b="0" i="0" noProof="0" dirty="0">
                <a:latin typeface="Arial"/>
              </a:rPr>
              <a:t>-</a:t>
            </a:r>
            <a:r>
              <a:rPr lang="cs-CZ" altLang="cs-CZ" sz="1200" b="0" i="0" noProof="0" dirty="0" err="1">
                <a:latin typeface="Arial"/>
              </a:rPr>
              <a:t>for</a:t>
            </a:r>
            <a:r>
              <a:rPr lang="cs-CZ" altLang="cs-CZ" sz="1200" b="0" i="0" noProof="0" dirty="0">
                <a:latin typeface="Arial"/>
              </a:rPr>
              <a:t>-psychology/</a:t>
            </a:r>
            <a:r>
              <a:rPr lang="cs-CZ" altLang="cs-CZ" sz="1200" b="0" i="0" noProof="0" dirty="0" err="1">
                <a:latin typeface="Arial"/>
              </a:rPr>
              <a:t>quarto</a:t>
            </a:r>
            <a:r>
              <a:rPr lang="cs-CZ" altLang="cs-CZ" sz="1200" b="0" i="0" noProof="0" dirty="0">
                <a:latin typeface="Arial"/>
              </a:rPr>
              <a:t>/kapitola_04.html#sec-prepocty-skoru. Příklady jsou modelové výukové údaje nebo simulace.</a:t>
            </a:r>
            <a:endParaRPr lang="cs-CZ" altLang="cs-CZ" sz="1200" noProof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Sten</a:t>
            </a:r>
            <a:r>
              <a:rPr lang="cs-CZ" altLang="cs-CZ" sz="1200" b="0" i="0" noProof="0">
                <a:latin typeface="Arial"/>
              </a:rPr>
              <a:t> (standard ten) zařazuje výsledek do jedné z deseti kategorií, </a:t>
            </a:r>
            <a:r>
              <a:rPr lang="cs-CZ" altLang="cs-CZ" sz="1200" b="1" i="0" noProof="0">
                <a:latin typeface="Arial"/>
              </a:rPr>
              <a:t>stanin</a:t>
            </a:r>
            <a:r>
              <a:rPr lang="cs-CZ" altLang="cs-CZ" sz="1200" b="0" i="0" noProof="0">
                <a:latin typeface="Arial"/>
              </a:rPr>
              <a:t> (standard nine) do jedné z devíti. Na rozdíl od předchozích škál </a:t>
            </a:r>
            <a:r>
              <a:rPr lang="cs-CZ" altLang="cs-CZ" sz="1200" b="0" i="1" noProof="0">
                <a:latin typeface="Arial"/>
              </a:rPr>
              <a:t>slučují různé hodnoty do společného pásma</a:t>
            </a:r>
            <a:r>
              <a:rPr lang="cs-CZ" altLang="cs-CZ" sz="1200" b="0" i="0" noProof="0">
                <a:latin typeface="Arial"/>
              </a:rPr>
              <a:t>, a tím se ztrácí jemná informace.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Sten získáme ve dvou krocích. Z-skór převedeme pomocným vztahem 5,5 + 2z; pro z = 1,2 vyjde 7,9. Toto desetinné číslo ještě není sten. Zaokrouhlíme je na celé číslo, tedy sten 8. Vyjde-li méně než 1, přiřadíme sten 1, vyjde-li více než 10, sten 10. Staniny vznikají stejně z 5 + 2z v rozsahu 1 až 9; pro z = 1,2 je to 7,4, tedy stanin 7.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Vnitřní pásma mají na škále z šířku 0,5, krajní pokračují neomezeně. Leží-li pomocná hodnota přesně v polovině, zaokrouhlujeme dolů; přesné z = 0 je proto sten 5. </a:t>
            </a:r>
            <a:r>
              <a:rPr lang="cs-CZ" altLang="cs-CZ" sz="1200" b="0" i="1" noProof="0">
                <a:latin typeface="Arial"/>
              </a:rPr>
              <a:t>V manuálu konkrétního testu může být pravidlo jiné a má přednost.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ukazuje, že </a:t>
            </a:r>
            <a:r>
              <a:rPr lang="cs-CZ" altLang="cs-CZ" sz="1200" b="1" i="0" noProof="0">
                <a:latin typeface="Arial"/>
              </a:rPr>
              <a:t>stejně široká pásma neobsahují stejné podíly</a:t>
            </a:r>
            <a:r>
              <a:rPr lang="cs-CZ" altLang="cs-CZ" sz="1200" b="0" i="0" noProof="0">
                <a:latin typeface="Arial"/>
              </a:rPr>
              <a:t>: u stenů od 2,3 % na okrajích po 19,1 % uprostřed, u staninů od 4 % po 19,7 %. Steny nejsou stejně početné desetiny. Procenta nad mezemi jsou kumulativní podíly; podle nich lze pásmo určit i z percentilového pořadí. Meze pásem se nemusíte učit, stačí umět použít tabulku.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Ze stenu 8 už přesný z-skór nezjistíme; z = 1,1 i z = 1,4 patří do téhož pásma. Vyšší pásmo znamená vyšší skór ve zvoleném směru škály, ne automaticky lepší stav.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Do kterého stenu patří z = −0,3? Pomocná hodnota 5,5 − 0,6 = 4,9, tedy sten 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https://reckak.github.io/statistics-for-psychology/quarto/kapitola_04.html#sec-steny-staniny.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testových normách se nepoužívá jen lineární převod. </a:t>
            </a:r>
            <a:r>
              <a:rPr lang="cs-CZ" altLang="cs-CZ" sz="1200" b="1" i="0" noProof="0">
                <a:latin typeface="Arial"/>
              </a:rPr>
              <a:t>Normalizace rozdělení</a:t>
            </a:r>
            <a:r>
              <a:rPr lang="cs-CZ" altLang="cs-CZ" sz="1200" b="0" i="0" noProof="0">
                <a:latin typeface="Arial"/>
              </a:rPr>
              <a:t> (rank-based normal-score transformation) přiřadí každé poloze v souboru odpovídající kvantil normálního modelu: z pořadí spočítáme podíl a funkcí NORM.S.INV jej převedeme na z-skór.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ukazuje patnáct dob řešení úlohy od 11 do 52 sekund s dlouhým pravým chvostem. Spojnice uprostřed vedou od každé doby k jejímu z-skóru po normalizaci. Nikde se nekříží, pořadí zůstává. </a:t>
            </a:r>
            <a:r>
              <a:rPr lang="cs-CZ" altLang="cs-CZ" sz="1200" b="0" i="1" noProof="0">
                <a:latin typeface="Arial"/>
              </a:rPr>
              <a:t>Rozestupy se ale mění:</a:t>
            </a:r>
            <a:r>
              <a:rPr lang="cs-CZ" altLang="cs-CZ" sz="1200" b="0" i="0" noProof="0">
                <a:latin typeface="Arial"/>
              </a:rPr>
              <a:t> jediná sekunda mezi 11 a 12 s odpovídá kroku z-skóru 0,72, zatímco třináct sekund mezi 39 a 52 s jen kroku 0,55.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Pravý histogram je proto souměrnější. Přesně normální není: shodné doby mají stejný z-skór a u 15 hodnot nemůže z přesáhnout ±1,83. </a:t>
            </a:r>
            <a:r>
              <a:rPr lang="cs-CZ" altLang="cs-CZ" sz="1200" b="1" i="0" noProof="0">
                <a:latin typeface="Arial"/>
              </a:rPr>
              <a:t>Standardizace by tvar nezměnila</a:t>
            </a:r>
            <a:r>
              <a:rPr lang="cs-CZ" altLang="cs-CZ" sz="1200" b="0" i="0" noProof="0">
                <a:latin typeface="Arial"/>
              </a:rPr>
              <a:t>, normalizace jej mění záměrně.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Normálně vypadající normalizované skóry proto nedokazují, že normální rozdělení mají hrubé skóry</a:t>
            </a:r>
            <a:r>
              <a:rPr lang="cs-CZ" altLang="cs-CZ" sz="1200" b="0" i="0" noProof="0">
                <a:latin typeface="Arial"/>
              </a:rPr>
              <a:t>; normální tvar jim dal až převod přes pořadí. Ani u lineárních skóru nevíme, jak je rozložena samotná měřená vlastnost; tvar ovlivňuje i konstrukce testu.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Rozdíl je důležitý i u pásem: přiřadíme-li steny či staniny lineárně podle z, u zešikmených dat se mnoho lidí nahromadí v několika pásmech; přes percentilové pořadí se rozloží v poměru, s jakým pásma počítají.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normalizace zachová pořadí, ale ne vzdálenosti? Protože využívá jen pořadí hodnot; o kolik se sousední hodnoty liší, do výpočtu nevstupuje.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https://reckak.github.io/statistics-for-psychology/quarto/kapitola_04.html#sec-normalizace.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Všechny dosavadní výpočty platí přesně pro zadaný model. Pátá část odpovídá na otázku, kdy je normální model pro skutečná data přiměřený.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Výpočty podílů dávají přesnou odpověď pro zadaný model. Pro skutečná data jsou užitečné jen tehdy, když model vystihuje podstatné vlastnosti jejich rozdělení. Nejprve si proto ujasníme, </a:t>
            </a:r>
            <a:r>
              <a:rPr lang="cs-CZ" altLang="cs-CZ" sz="1200" b="1" i="0" noProof="0">
                <a:latin typeface="Arial"/>
              </a:rPr>
              <a:t>kterou proměnnou, kterou skupinu a kterou otázku</a:t>
            </a:r>
            <a:r>
              <a:rPr lang="cs-CZ" altLang="cs-CZ" sz="1200" b="0" i="0" noProof="0">
                <a:latin typeface="Arial"/>
              </a:rPr>
              <a:t> posuzujeme.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Zkontrolujeme přípustné hodnoty, chybějící údaje a chyby záznamu. Hromadí se výsledky u nejvyššího skóru? Mohly se smíchat skupiny s různými průměry? Reakční časy nemohou být záporné a mívají dlouhý pravý chvost; </a:t>
            </a:r>
            <a:r>
              <a:rPr lang="cs-CZ" altLang="cs-CZ" sz="1200" b="0" i="1" noProof="0">
                <a:latin typeface="Arial"/>
              </a:rPr>
              <a:t>normální model nelze odůvodnit jen tím, že měříme psychologickou proměnnou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Potom prohlédneme histogram, u malého souboru doplněný jednotlivými body nebo krabicovým grafem. Vyzkoušíme několik šířek intervalů, protože jedna volba může důležité rysy zakrýt.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Histogram lze proložit normální křivkou s průměrem a směrodatnou odchylkou dat. Obrázek ukazuje, proč histogram musí mít na svislé ose </a:t>
            </a:r>
            <a:r>
              <a:rPr lang="cs-CZ" altLang="cs-CZ" sz="1200" b="1" i="0" noProof="0">
                <a:latin typeface="Arial"/>
              </a:rPr>
              <a:t>hustotu</a:t>
            </a:r>
            <a:r>
              <a:rPr lang="cs-CZ" altLang="cs-CZ" sz="1200" b="0" i="0" noProof="0">
                <a:latin typeface="Arial"/>
              </a:rPr>
              <a:t>: vlevo s četnostmi křivka splývá s osou, vpravo s hustotou ji lze se sloupci přímo porovnat.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Zvonovitý histogram je užitečná indicie, ale nezaručuje shodu chvostů. </a:t>
            </a:r>
            <a:r>
              <a:rPr lang="cs-CZ" altLang="cs-CZ" sz="1200" b="0" i="1" noProof="0">
                <a:latin typeface="Arial"/>
              </a:rPr>
              <a:t>Pro odhad podílu velmi vysokých skórů potřebujeme věrný pravý chvost; shoda ve středu nestačí.</a:t>
            </a:r>
            <a:r>
              <a:rPr lang="cs-CZ" altLang="cs-CZ" sz="1200" b="0" i="0" noProof="0">
                <a:latin typeface="Arial"/>
              </a:rPr>
              <a:t> Šikmost a exces z kapitoly 3 popis doplní, univerzální práh ale neexistuje.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může být normální model vhodný pro odhad mediánu, ale nevhodný pro odhad horního 1 %? Střed může sedět dobře a chvost špatně; každá otázka využívá jinou část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https://reckak.github.io/statistics-for-psychology/quarto/kapitola_04.html#sec-primerenost-modelu.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Normální Q–Q graf</a:t>
            </a:r>
            <a:r>
              <a:rPr lang="cs-CZ" altLang="cs-CZ" sz="1200" b="0" i="0" noProof="0">
                <a:latin typeface="Arial"/>
              </a:rPr>
              <a:t> (normal Q–Q plot) porovnává seřazené hodnoty s odpovídajícími kvantily normálního modelu; Q–Q znamená quantile–quantile. Na rozdíl od histogramu pracuje s jednotlivými pořadími, a odhalí proto i odchylky, které volba intervalů histogramu zakryje.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obrázku je </a:t>
            </a:r>
            <a:r>
              <a:rPr lang="cs-CZ" altLang="cs-CZ" sz="1200" b="1" i="0" noProof="0">
                <a:latin typeface="Arial"/>
              </a:rPr>
              <a:t>vodorovně teoretický kvantil normovaného normálního rozdělení</a:t>
            </a:r>
            <a:r>
              <a:rPr lang="cs-CZ" altLang="cs-CZ" sz="1200" b="0" i="0" noProof="0">
                <a:latin typeface="Arial"/>
              </a:rPr>
              <a:t>, vyjádřený z-skórem, a </a:t>
            </a:r>
            <a:r>
              <a:rPr lang="cs-CZ" altLang="cs-CZ" sz="1200" b="1" i="0" noProof="0">
                <a:latin typeface="Arial"/>
              </a:rPr>
              <a:t>svisle seřazená pozorovaná hodnota</a:t>
            </a:r>
            <a:r>
              <a:rPr lang="cs-CZ" altLang="cs-CZ" sz="1200" b="0" i="0" noProof="0">
                <a:latin typeface="Arial"/>
              </a:rPr>
              <a:t> v bodech. Nejnižší skór 35 je vlevo dole, nejvyšší 65 vpravo nahoře. </a:t>
            </a:r>
            <a:r>
              <a:rPr lang="cs-CZ" altLang="cs-CZ" sz="1200" b="0" i="1" noProof="0">
                <a:latin typeface="Arial"/>
              </a:rPr>
              <a:t>Nejde o dvojice měření dvou vlastností u stejných lidí.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každého pozorování se ptáme: jakou hodnotu by mělo pozorování s tímto pořadím, kdyby data pocházela z normálního rozdělení? Přímka </a:t>
            </a:r>
            <a:r>
              <a:rPr lang="cs-CZ" altLang="cs-CZ" sz="1200" b="1" i="0" noProof="0">
                <a:latin typeface="Arial"/>
              </a:rPr>
              <a:t>m + s z</a:t>
            </a:r>
            <a:r>
              <a:rPr lang="cs-CZ" altLang="cs-CZ" sz="1200" b="0" i="0" noProof="0">
                <a:latin typeface="Arial"/>
              </a:rPr>
              <a:t> tuto modelovou srovnávací hodnotu převádí do bodů. Při dobré shodě leží body přibližně na přímce, ne nutně pod úhlem 45 stupňů; úhel závisí na jednotkách os.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Zde body kolísají kolem přímky bez výrazného oblouku. Pro tento malý soubor je normální tvar rozumným pracovním popisem, ale dvanáct bodů o chvostech populace mnoho neřekne.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Body na přímce znamenají, že data jsou s normálním modelem slučitelná, ne že je normalita dokázána.</a:t>
            </a:r>
            <a:r>
              <a:rPr lang="cs-CZ" altLang="cs-CZ" sz="1200" b="0" i="0" noProof="0">
                <a:latin typeface="Arial"/>
              </a:rPr>
              <a:t> Populační rozdělení známe jen v simulaci. Programy používají různé konvence os a přímek, proto vždy nejprve čtěte popisky.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bod vpravo nahoře nepředstavuje člověka s vysokou hodnotou „na obou osách“? Vodorovná souřadnice není měření, ale modelový kvantil přiřazený nejvyššímu pořadí.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3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https://reckak.github.io/statistics-for-psychology/quarto/kapitola_04.html#sec-qq-graf.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Postup v Excelu má tři sloupce výpočtů. Hodnoty nejprve </a:t>
            </a:r>
            <a:r>
              <a:rPr lang="cs-CZ" altLang="cs-CZ" sz="1200" b="1" i="0" noProof="0">
                <a:latin typeface="Arial"/>
              </a:rPr>
              <a:t>seřadíme vzestupně</a:t>
            </a:r>
            <a:r>
              <a:rPr lang="cs-CZ" altLang="cs-CZ" sz="1200" b="0" i="0" noProof="0">
                <a:latin typeface="Arial"/>
              </a:rPr>
              <a:t> a očíslujeme pořadím </a:t>
            </a:r>
            <a:r>
              <a:rPr lang="cs-CZ" altLang="cs-CZ" sz="1200" b="0" i="1" noProof="0">
                <a:latin typeface="Arial"/>
              </a:rPr>
              <a:t>i</a:t>
            </a:r>
            <a:r>
              <a:rPr lang="cs-CZ" altLang="cs-CZ" sz="1200" b="0" i="0" noProof="0">
                <a:latin typeface="Arial"/>
              </a:rPr>
              <a:t> od 1 do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Každému pořadí přiřadíme podíl uprostřed jeho dílku: </a:t>
            </a:r>
            <a:r>
              <a:rPr lang="cs-CZ" altLang="cs-CZ" sz="1200" b="1" i="0" noProof="0">
                <a:latin typeface="Arial"/>
              </a:rPr>
              <a:t>p = (i − 0,5) / n</a:t>
            </a:r>
            <a:r>
              <a:rPr lang="cs-CZ" altLang="cs-CZ" sz="1200" b="0" i="0" noProof="0">
                <a:latin typeface="Arial"/>
              </a:rPr>
              <a:t>. Pro první z dvanácti hodnot je to 0,5 / 12 ≈ 0,042, pro poslední 11,5 / 12 ≈ 0,958. Vyhneme se tak podílům 0 a 1, pro něž normální kvantil neexistuje.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Funkcí </a:t>
            </a:r>
            <a:r>
              <a:rPr lang="cs-CZ" altLang="cs-CZ" sz="1200" b="1" i="0" noProof="0">
                <a:latin typeface="Arial"/>
              </a:rPr>
              <a:t>NORM.S.INV</a:t>
            </a:r>
            <a:r>
              <a:rPr lang="cs-CZ" altLang="cs-CZ" sz="1200" b="0" i="0" noProof="0">
                <a:latin typeface="Arial"/>
              </a:rPr>
              <a:t> podíl převedeme na teoretický kvantil: pro první pořadí přibližně −1,73. Referenční přímku spočítáme jako </a:t>
            </a:r>
            <a:r>
              <a:rPr lang="cs-CZ" altLang="cs-CZ" sz="1200" b="0" i="1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 + </a:t>
            </a:r>
            <a:r>
              <a:rPr lang="cs-CZ" altLang="cs-CZ" sz="1200" b="0" i="1" noProof="0">
                <a:latin typeface="Arial"/>
              </a:rPr>
              <a:t>s</a:t>
            </a:r>
            <a:r>
              <a:rPr lang="cs-CZ" altLang="cs-CZ" sz="1200" b="0" i="0" noProof="0">
                <a:latin typeface="Arial"/>
              </a:rPr>
              <a:t> × </a:t>
            </a:r>
            <a:r>
              <a:rPr lang="cs-CZ" altLang="cs-CZ" sz="1200" b="0" i="1" noProof="0">
                <a:latin typeface="Arial"/>
              </a:rPr>
              <a:t>z</a:t>
            </a:r>
            <a:r>
              <a:rPr lang="cs-CZ" altLang="cs-CZ" sz="1200" b="0" i="0" noProof="0">
                <a:latin typeface="Arial"/>
              </a:rPr>
              <a:t> s průměrem a směrodatnou odchylkou dat, zde 50 a 8,99 bodu.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ukazuje obě větve: levá jen přečte seřazený skór 35, pravá najde kvantil −1,73. Bod má souřadnice (−1,73; 35). </a:t>
            </a:r>
            <a:r>
              <a:rPr lang="cs-CZ" altLang="cs-CZ" sz="1200" b="0" i="1" noProof="0">
                <a:latin typeface="Arial"/>
              </a:rPr>
              <a:t>Hodnota −1,73 není z-skór skóru 35 vypočtený standardizací</a:t>
            </a:r>
            <a:r>
              <a:rPr lang="cs-CZ" altLang="cs-CZ" sz="1200" b="0" i="0" noProof="0">
                <a:latin typeface="Arial"/>
              </a:rPr>
              <a:t>, je to kvantil modelu přiřazený prvnímu pořadí.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Graf vložíme jako </a:t>
            </a:r>
            <a:r>
              <a:rPr lang="cs-CZ" altLang="cs-CZ" sz="1200" b="1" i="0" noProof="0">
                <a:latin typeface="Arial"/>
              </a:rPr>
              <a:t>bodový graf (XY)</a:t>
            </a:r>
            <a:r>
              <a:rPr lang="cs-CZ" altLang="cs-CZ" sz="1200" b="0" i="0" noProof="0">
                <a:latin typeface="Arial"/>
              </a:rPr>
              <a:t>: první řada má X z kvantilů a Y ze seřazených skórů, druhá řada má stejné X a Y z přímky a zobrazí se jako čára bez značek. Spojnicový graf s kategoriemi se nehodí. Postup si vyzkoušíte v doprovodném sešitu na listu U8_QQ.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nepoužijeme p = i / n? U posledního pořadí by vyšlo p = 1 a NORM.S.INV(1) není definováno.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https://reckak.github.io/statistics-for-psychology/quarto/kapitola_04.html#sec-excel-qq.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Jak vypadá Q–Q graf, když data modelu odpovídají, a jak, když ne? Na tomto a dalších pěti slidech jsou vždy vedle sebe </a:t>
            </a:r>
            <a:r>
              <a:rPr lang="cs-CZ" altLang="cs-CZ" sz="1200" b="1" i="0" noProof="0">
                <a:latin typeface="Arial"/>
              </a:rPr>
              <a:t>histogram s normální křivkou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1" i="0" noProof="0">
                <a:latin typeface="Arial"/>
              </a:rPr>
              <a:t>Q–Q graf</a:t>
            </a:r>
            <a:r>
              <a:rPr lang="cs-CZ" altLang="cs-CZ" sz="1200" b="0" i="0" noProof="0">
                <a:latin typeface="Arial"/>
              </a:rPr>
              <a:t> týchž </a:t>
            </a:r>
            <a:r>
              <a:rPr lang="cs-CZ" altLang="cs-CZ" sz="1200" b="1" i="0" noProof="0">
                <a:latin typeface="Arial"/>
              </a:rPr>
              <a:t>simulovaných dat</a:t>
            </a:r>
            <a:r>
              <a:rPr lang="cs-CZ" altLang="cs-CZ" sz="1200" b="0" i="0" noProof="0">
                <a:latin typeface="Arial"/>
              </a:rPr>
              <a:t> (200 hodnot). Křivka i přímka používají průměr a směrodatnou odchylku souboru.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Jen tento první soubor jsme vygenerovali z normálního modelu. Histogram přesto křivku nekopíruje dokonale a body Q–Q grafu kolísají kolem přímky, hlavně na krajích. </a:t>
            </a:r>
            <a:r>
              <a:rPr lang="cs-CZ" altLang="cs-CZ" sz="1200" b="0" i="1" noProof="0">
                <a:latin typeface="Arial"/>
              </a:rPr>
              <a:t>Drobné nepravidelné odchylky nejsou důvodem model odmítnout.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Rozdělení s excesem blízkým nule, tedy s chvosty podobnými normálnímu modelu, nazýváme </a:t>
            </a:r>
            <a:r>
              <a:rPr lang="cs-CZ" altLang="cs-CZ" sz="1200" b="1" i="0" noProof="0">
                <a:latin typeface="Arial"/>
              </a:rPr>
              <a:t>mezokurtické</a:t>
            </a:r>
            <a:r>
              <a:rPr lang="cs-CZ" altLang="cs-CZ" sz="1200" b="0" i="0" noProof="0">
                <a:latin typeface="Arial"/>
              </a:rPr>
              <a:t>. I tento soubor má exces −0,41, což je běžné výběrové kolísání.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ani data z normálního modelu neleží přesně na přímce? Protože jde o náhodný výběr; krajní pořadí kolísají nejvíc.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https://reckak.github.io/statistics-for-psychology/quarto/kapitola_04.html#sec-qq-odchylky.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Histogram ukazuje hodnoty nahromaděné vlevo a dlouhý pravý chvost; normální křivka je posunutá a vpravo končí příliš brzy.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Q–Q grafu tvoří body </a:t>
            </a:r>
            <a:r>
              <a:rPr lang="cs-CZ" altLang="cs-CZ" sz="1200" b="1" i="0" noProof="0">
                <a:latin typeface="Arial"/>
              </a:rPr>
              <a:t>oblouk</a:t>
            </a:r>
            <a:r>
              <a:rPr lang="cs-CZ" altLang="cs-CZ" sz="1200" b="0" i="0" noProof="0">
                <a:latin typeface="Arial"/>
              </a:rPr>
              <a:t>: dolní část je stlačená a nejvyšší hodnoty leží vysoko nad přímkou. </a:t>
            </a:r>
            <a:r>
              <a:rPr lang="cs-CZ" altLang="cs-CZ" sz="1200" b="0" i="1" noProof="0">
                <a:latin typeface="Arial"/>
              </a:rPr>
              <a:t>Výška přímky je hodnota, kterou by pro dané pořadí předpověděl model; bod nad přímkou znamená, že model hodnotu podhodnocuje.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Model by zde 99. percentil odhadl na 78,5 bodu, v datech je 92,5; 1. percentil by umístil na 12,5 místo 30,3 bodu. Šikmost souboru je 2,01.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Který typ psychologických dat takto často vypadá? Například reakční časy nebo počty symptomů v běžné populaci.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https://reckak.github.io/statistics-for-psychology/quarto/kapitola_04.html#sec-qq-odchylky.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Zrcadlový případ: skóry nemohou přesáhnout 70 bodů a většina se nahromadila těsně pod touto hodnotou, jako u příliš snadného testu s </a:t>
            </a:r>
            <a:r>
              <a:rPr lang="cs-CZ" altLang="cs-CZ" sz="1200" b="1" i="0" noProof="0">
                <a:latin typeface="Arial"/>
              </a:rPr>
              <a:t>efektem stropu</a:t>
            </a:r>
            <a:r>
              <a:rPr lang="cs-CZ" altLang="cs-CZ" sz="1200" b="0" i="0" noProof="0">
                <a:latin typeface="Arial"/>
              </a:rPr>
              <a:t>. Histogram má dlouhý levý chvost a normální křivka pokračuje i za strop.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Q–Q grafu tvoří body opačný oblouk: nejnižší hodnoty leží hluboko pod přímkou a horní část se pod stropem zplošťuje.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Model by umístil 99. percentil na 84,7 bodu, tedy na skór, kterého nelze dosáhnout</a:t>
            </a:r>
            <a:r>
              <a:rPr lang="cs-CZ" altLang="cs-CZ" sz="1200" b="0" i="0" noProof="0">
                <a:latin typeface="Arial"/>
              </a:rPr>
              <a:t>; 1. percentil by odhadl na 35,9 místo 21,8 bodu. Šikmost je −2,05.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Co by se stalo s tvarem rozdělení, kdyby byl test těžší? Výsledky by se od stropu vzdálily a zešikmení by se zmenšilo.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https://reckak.github.io/statistics-for-psychology/quarto/kapitola_04.html#sec-qq-odchylky.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Histogram je přibližně souměrný, a přesto normálnímu modelu neodpovídá: </a:t>
            </a:r>
            <a:r>
              <a:rPr lang="cs-CZ" altLang="cs-CZ" sz="1200" b="1" i="0" noProof="0">
                <a:latin typeface="Arial"/>
              </a:rPr>
              <a:t>velmi vzdálené hodnoty jsou častější</a:t>
            </a:r>
            <a:r>
              <a:rPr lang="cs-CZ" altLang="cs-CZ" sz="1200" b="0" i="0" noProof="0">
                <a:latin typeface="Arial"/>
              </a:rPr>
              <a:t>, než model se stejnou směrodatnou odchylkou předpokládá. </a:t>
            </a:r>
            <a:r>
              <a:rPr lang="cs-CZ" altLang="cs-CZ" sz="1200" b="0" i="1" noProof="0">
                <a:latin typeface="Arial"/>
              </a:rPr>
              <a:t>Souměrnost tedy nestačí.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Q–Q grafu se oba konce vzdalují od středu: levý leží pod přímkou, pravý nad ní. Rozdělení s takovými </a:t>
            </a:r>
            <a:r>
              <a:rPr lang="cs-CZ" altLang="cs-CZ" sz="1200" b="1" i="0" noProof="0">
                <a:latin typeface="Arial"/>
              </a:rPr>
              <a:t>těžšími chvosty</a:t>
            </a:r>
            <a:r>
              <a:rPr lang="cs-CZ" altLang="cs-CZ" sz="1200" b="0" i="0" noProof="0">
                <a:latin typeface="Arial"/>
              </a:rPr>
              <a:t> a kladným excesem (zde 5,01) nazýváme </a:t>
            </a:r>
            <a:r>
              <a:rPr lang="cs-CZ" altLang="cs-CZ" sz="1200" b="1" i="0" noProof="0">
                <a:latin typeface="Arial"/>
              </a:rPr>
              <a:t>leptokurtické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Model by podcenil krajní výsledky: 99. percentil 79,9 bodu místo 88,6. Kvartily by naopak umístil dál od středu (39,5 a 57,6 místo 42,1 a 55,1), protože většina hodnot leží blíž středu.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je u takových dat riskantní odhadovat podíl extrémních výsledků z normálního modelu? Model je předpovídá vzácnější, než skutečně jsou.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https://reckak.github.io/statistics-for-psychology/quarto/kapitola_04.html#sec-qq-odchylky.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Hodnoty jsou rozložené přibližně rovnoměrně mezi 30 a 70 body; velmi vzdálené hodnoty chybějí a normální křivka přesahuje rozsah dat na obou stranách.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Q–Q grafu se konce stáčejí obráceně než u těžších chvostů: levý nad přímku, pravý pod ni. Rozdělení s </a:t>
            </a:r>
            <a:r>
              <a:rPr lang="cs-CZ" altLang="cs-CZ" sz="1200" b="1" i="0" noProof="0">
                <a:latin typeface="Arial"/>
              </a:rPr>
              <a:t>lehčími chvosty</a:t>
            </a:r>
            <a:r>
              <a:rPr lang="cs-CZ" altLang="cs-CZ" sz="1200" b="0" i="0" noProof="0">
                <a:latin typeface="Arial"/>
              </a:rPr>
              <a:t> a záporným excesem (zde −1,06) nazýváme </a:t>
            </a:r>
            <a:r>
              <a:rPr lang="cs-CZ" altLang="cs-CZ" sz="1200" b="1" i="0" noProof="0">
                <a:latin typeface="Arial"/>
              </a:rPr>
              <a:t>platykurtické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Názvy leptokurtické a platykurtické svádějí k představě úzkého či plochého vrcholu, rozhoduje ale tíha chvostů.</a:t>
            </a:r>
            <a:r>
              <a:rPr lang="cs-CZ" altLang="cs-CZ" sz="1200" b="0" i="0" noProof="0">
                <a:latin typeface="Arial"/>
              </a:rPr>
              <a:t> Model by tu předpověděl 1. a 99. percentil 24,8 a 77,0 bodu, tedy mimo rozsah dat.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 poznáte z Q–Q grafu, zda jsou chvosty těžší, nebo lehčí? Podle toho, zda se konce od středu vzdalují (těžší), nebo k němu přibližují (lehčí).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https://reckak.github.io/statistics-for-psychology/quarto/kapitola_04.html#sec-qq-odchylky.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Data pocházejí ze dvou skupin s odlišnými průměry, histogram má </a:t>
            </a:r>
            <a:r>
              <a:rPr lang="cs-CZ" altLang="cs-CZ" sz="1200" b="1" i="0" noProof="0">
                <a:latin typeface="Arial"/>
              </a:rPr>
              <a:t>dva vrcholy</a:t>
            </a:r>
            <a:r>
              <a:rPr lang="cs-CZ" altLang="cs-CZ" sz="1200" b="0" i="0" noProof="0">
                <a:latin typeface="Arial"/>
              </a:rPr>
              <a:t>. Jedna společná normální křivka očekává mnoho hodnot uprostřed, kde jich je málo.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Q–Q grafu jsou konce blíže středu, než model předpokládá, a uprostřed je strmý přechod mezi shluky. Kvartily by model umístil příliš blízko středu (40,3 a 59,7 místo 36,8 a 63,7), 99. percentil příliš daleko (83,5 místo 72,0).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Šikmost (−0,04) a exces (−1,55) dva vrcholy neodhalí; ukáže je až histogram nebo zlom v Q–Q grafu.</a:t>
            </a:r>
            <a:r>
              <a:rPr lang="cs-CZ" altLang="cs-CZ" sz="1200" b="0" i="0" noProof="0">
                <a:latin typeface="Arial"/>
              </a:rPr>
              <a:t> Mají-li skupiny věcný význam, popíšeme je zvlášť; netvoříme je ale dodatečně jen kvůli hezčímu grafu.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Jaká psychologická data by mohla být směsí? Například skóry pozornosti lidí s diagnózou a bez ní, zpracované dohromady.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https://reckak.github.io/statistics-for-psychology/quarto/kapitola_04.html#sec-qq-odchylky.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posouzení spojíme význam měření, histogram a Q–Q graf. Napíšeme, </a:t>
            </a:r>
            <a:r>
              <a:rPr lang="cs-CZ" altLang="cs-CZ" sz="1200" b="1" i="0" noProof="0">
                <a:latin typeface="Arial"/>
              </a:rPr>
              <a:t>pro jaký účel</a:t>
            </a:r>
            <a:r>
              <a:rPr lang="cs-CZ" altLang="cs-CZ" sz="1200" b="0" i="0" noProof="0">
                <a:latin typeface="Arial"/>
              </a:rPr>
              <a:t> model přijímáme a kde vidíme omezení.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Například: </a:t>
            </a:r>
            <a:r>
              <a:rPr lang="cs-CZ" altLang="cs-CZ" sz="1200" b="0" i="1" noProof="0">
                <a:latin typeface="Arial"/>
              </a:rPr>
              <a:t>„Ve středu rozdělení seřazené skóry přibližně sledují přímku; nejvyšší hodnoty jsou však větší, než odpovídá normálnímu modelu. Model proto zatím nepoužijeme k odhadu podílu velmi vysokých skórů.“</a:t>
            </a:r>
            <a:r>
              <a:rPr lang="cs-CZ" altLang="cs-CZ" sz="1200" b="0" i="0" noProof="0">
                <a:latin typeface="Arial"/>
              </a:rPr>
              <a:t> Takový závěr sdělí víc než výrok „data jsou normálně rozdělena“.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Větší soubor umožní tvar posoudit podrobněji, </a:t>
            </a:r>
            <a:r>
              <a:rPr lang="cs-CZ" altLang="cs-CZ" sz="1200" b="1" i="0" noProof="0">
                <a:latin typeface="Arial"/>
              </a:rPr>
              <a:t>nepřibližuje však rozdělení původních hodnot normálnímu modelu</a:t>
            </a:r>
            <a:r>
              <a:rPr lang="cs-CZ" altLang="cs-CZ" sz="1200" b="0" i="0" noProof="0">
                <a:latin typeface="Arial"/>
              </a:rPr>
              <a:t>. Malý soubor naopak může vypadat přijatelně jen proto, že o okrajích nemáme informace.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Žádný z grafů neověřuje reprezentativnost výběru, kvalitu měření ani nezávislost pozorování. Deset opakovaných výsledků téhož člověka nejsou údaje o deseti lidech.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Pokud model nevyhovuje, použijeme pro popis souboru pozorované četnosti a empirické kvantily, případně popíšeme věcně odůvodněné skupiny zvlášť. </a:t>
            </a:r>
            <a:r>
              <a:rPr lang="cs-CZ" altLang="cs-CZ" sz="1200" b="0" i="1" noProof="0">
                <a:latin typeface="Arial"/>
              </a:rPr>
              <a:t>Správně zaznamenaná pozorování neodstraňujeme kvůli hezčímu grafu.</a:t>
            </a:r>
            <a:r>
              <a:rPr lang="cs-CZ" altLang="cs-CZ" sz="1200" b="0" i="0" noProof="0">
                <a:latin typeface="Arial"/>
              </a:rPr>
              <a:t> Formální testy normality zatím nepotřebujeme.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Statisticky neobvyklý výsledek, například z = 2,8, je chybný, nebo klinicky závažný? Ani jedno automaticky; neobvyklost není sama důkazem chyby ani závažnosti.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4, Normální rozdělení a standardní skóry, příslušný oddíl: https://reckak.github.io/statistics-for-psychology/quarto/kapitola_04.html#sec-primerenost-modelu. Příklady jsou modelové výukové údaje nebo simulace.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Poslední část je věnována procvičení. Úlohy v prezentaci řešíme úvahou a hodnotami z, které známe zpaměti; početní úlohy jsou v doprovodném excelovém sešitu.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První úloha propojuje z-skór s hodnotami, které známe zpaměti. Kontext je převzatý z Howella: zkoumají se chyby při jednoduchém úkolu, počítání lidí.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Řešení:</a:t>
            </a:r>
            <a:r>
              <a:rPr lang="cs-CZ" altLang="cs-CZ" sz="1200" b="0" i="0" noProof="0">
                <a:latin typeface="Arial"/>
              </a:rPr>
              <a:t> z = (950 − 975) / 15 = −25 / 15 ≈ </a:t>
            </a:r>
            <a:r>
              <a:rPr lang="cs-CZ" altLang="cs-CZ" sz="1200" b="1" i="0" noProof="0">
                <a:latin typeface="Arial"/>
              </a:rPr>
              <a:t>−1,67</a:t>
            </a:r>
            <a:r>
              <a:rPr lang="cs-CZ" altLang="cs-CZ" sz="1200" b="0" i="0" noProof="0">
                <a:latin typeface="Arial"/>
              </a:rPr>
              <a:t>. Výsledek leží asi 1,67 směrodatné odchylky pod průměrem.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Prostředních 95 % modelu leží mezi z = −1,96 a 1,96, tedy mezi 975 − 29,4 = 945,6 a 975 + 29,4 = 1004,4 zákazníka. </a:t>
            </a:r>
            <a:r>
              <a:rPr lang="cs-CZ" altLang="cs-CZ" sz="1200" b="0" i="1" noProof="0">
                <a:latin typeface="Arial"/>
              </a:rPr>
              <a:t>Počet 950 leží uvnitř tohoto intervalu</a:t>
            </a:r>
            <a:r>
              <a:rPr lang="cs-CZ" altLang="cs-CZ" sz="1200" b="0" i="0" noProof="0">
                <a:latin typeface="Arial"/>
              </a:rPr>
              <a:t>; je neobvykle nízký, ale ne výjimečný. Přesněji: podíl počtů nejvýše 950 je v modelu asi 4,8 %, tedy zhruba jeden posuzovatel z dvaceti.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Odpověď proto zní: </a:t>
            </a:r>
            <a:r>
              <a:rPr lang="cs-CZ" altLang="cs-CZ" sz="1200" b="1" i="0" noProof="0">
                <a:latin typeface="Arial"/>
              </a:rPr>
              <a:t>ano, je to přijatelný výsledek</a:t>
            </a:r>
            <a:r>
              <a:rPr lang="cs-CZ" altLang="cs-CZ" sz="1200" b="0" i="0" noProof="0">
                <a:latin typeface="Arial"/>
              </a:rPr>
              <a:t> svědomitého počítání; samotné číslo nedokazuje nedbalost. Rozumné je doplnit, že jde o model a že počet lidí je diskrétní; při směrodatné odchylce 15 je ale spojité přiblížení přiměřené.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Přijatelné jsou i odpovědi s orientačním pravidlem: 950 leží mezi jednou a dvěma směrodatnými odchylkami pod průměrem, tedy mimo 68 %, ale uvnitř 95 % výsledků. Vyžadujte výpočet z-skóru a interpretaci podílu.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79, úlohy 3.3 a 3.5. Výpočty podílů k úloze 3.3 jsou v sešitu na listech U2_podily a U3_hranice.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Druhá úloha je úvahou o tom, co určuje z-skór. Výpočet obou podílů najdete v sešitu na listu U4_dve_skupiny: podíl A je 15,9 % (z = 1), podíl B 30,9 % (z = −0,5).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Podíl A závisí na tom, o kolik směrodatných odchylek čtvrťáků leží nad jejich průměrem průměr deváťáků: (30 − 25) / 5 = 1. Podíl B závisí na tom, o kolik směrodatných odchylek deváťáků leží pod jejich průměrem průměr čtvrťáků: (25 − 30) / 10 = −0,5.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Rozdíl průměrů je v obou případech stejný, 5 bodů, ale dělíme jinou směrodatnou odchylkou. </a:t>
            </a:r>
            <a:r>
              <a:rPr lang="cs-CZ" altLang="cs-CZ" sz="1200" b="1" i="0" noProof="0">
                <a:latin typeface="Arial"/>
              </a:rPr>
              <a:t>Podíly se rovnají, když mají obě skupiny stejnou směrodatnou odchylku</a:t>
            </a:r>
            <a:r>
              <a:rPr lang="cs-CZ" altLang="cs-CZ" sz="1200" b="0" i="0" noProof="0">
                <a:latin typeface="Arial"/>
              </a:rPr>
              <a:t> (a obě rozdělení jsou normální). Pak je vzdálenost v z-skórech stejná, jen s opačným znaménkem, a díky souměrnosti je stejný i podíl v chvostu.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Stejný rozdíl průměrů tedy nemusí znamenat stejné překrývání rozdělení, záleží na variabilitě.</a:t>
            </a:r>
            <a:r>
              <a:rPr lang="cs-CZ" altLang="cs-CZ" sz="1200" b="0" i="0" noProof="0">
                <a:latin typeface="Arial"/>
              </a:rPr>
              <a:t> Howell u úlohy 3.6 upozorňuje, že k této myšlence se vrací při statistické síle.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Přijatelné je i obecné zdůvodnění bez čísel, pokud student jmenuje směrodatné odchylky a vysvětlí souměrnost.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79–80, úlohy 3.6–3.7; formulace podílů upřesněna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 úloha procvičuje interpretaci neobvyklého výsledku.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Výpočet:</a:t>
            </a:r>
            <a:r>
              <a:rPr lang="cs-CZ" altLang="cs-CZ" sz="1200" b="0" i="0" noProof="0">
                <a:latin typeface="Arial"/>
              </a:rPr>
              <a:t> z = (62 − 44) / 7 = 18 / 7 ≈ </a:t>
            </a:r>
            <a:r>
              <a:rPr lang="cs-CZ" altLang="cs-CZ" sz="1200" b="1" i="0" noProof="0">
                <a:latin typeface="Arial"/>
              </a:rPr>
              <a:t>2,57</a:t>
            </a:r>
            <a:r>
              <a:rPr lang="cs-CZ" altLang="cs-CZ" sz="1200" b="0" i="0" noProof="0">
                <a:latin typeface="Arial"/>
              </a:rPr>
              <a:t>. To je téměř přesně hodnota 2,576 z tabulky k zapamatování: nad ní leží v modelu jen asi </a:t>
            </a:r>
            <a:r>
              <a:rPr lang="cs-CZ" altLang="cs-CZ" sz="1200" b="1" i="0" noProof="0">
                <a:latin typeface="Arial"/>
              </a:rPr>
              <a:t>0,5 %</a:t>
            </a:r>
            <a:r>
              <a:rPr lang="cs-CZ" altLang="cs-CZ" sz="1200" b="0" i="0" noProof="0">
                <a:latin typeface="Arial"/>
              </a:rPr>
              <a:t> výsledků, tedy zhruba jeden ze dvou set.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Výsledek je tedy </a:t>
            </a:r>
            <a:r>
              <a:rPr lang="cs-CZ" altLang="cs-CZ" sz="1200" b="1" i="0" noProof="0">
                <a:latin typeface="Arial"/>
              </a:rPr>
              <a:t>velmi neobvyklý</a:t>
            </a:r>
            <a:r>
              <a:rPr lang="cs-CZ" altLang="cs-CZ" sz="1200" b="0" i="0" noProof="0">
                <a:latin typeface="Arial"/>
              </a:rPr>
              <a:t>, a pokud model platí, je rozumné se u něj zastavit. </a:t>
            </a:r>
            <a:r>
              <a:rPr lang="cs-CZ" altLang="cs-CZ" sz="1200" b="0" i="1" noProof="0">
                <a:latin typeface="Arial"/>
              </a:rPr>
              <a:t>Z výpočtu ale neplyne, že si student číslo vymyslel.</a:t>
            </a:r>
            <a:r>
              <a:rPr lang="cs-CZ" altLang="cs-CZ" sz="1200" b="0" i="0" noProof="0">
                <a:latin typeface="Arial"/>
              </a:rPr>
              <a:t> Neobvyklé výsledky se občas vyskytnou i při poctivé práci, například na místě, kde se lidé poutají častěji.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Pověst studenta je informace mimo data; výpočet ji nemůže potvrdit ani vyvrátit. Rozumný postup je ověřit, kde a kdy pozoroval, nebo pozorování zopakovat. Přijatelné jsou odpovědi, které odliší statistickou neobvyklost od důkazu podvodu.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pokročilejší studenty: počet připoutaných je diskrétní. Podíl výsledků 62 a více odpovídá ploše nad 61,5, tedy asi 0,6 %; závěr se nemění.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80, úloha 3.10.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Čtvrtá úloha spojuje lineární převod s posouzením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</a:t>
            </a:r>
            <a:r>
              <a:rPr lang="cs-CZ" altLang="cs-CZ" sz="1200" b="0" i="0" noProof="0">
                <a:latin typeface="Arial"/>
              </a:rPr>
              <a:t> Nejprve standardizujeme, potom převedeme na novou škálu: nový skór = 80 + 10 × (hrubý skór − 48) / 7. Dítě se 34 body má z = (34 − 48) / 7 = −2 a nový skór 80 + 10 × (−2) = </a:t>
            </a:r>
            <a:r>
              <a:rPr lang="cs-CZ" altLang="cs-CZ" sz="1200" b="1" i="0" noProof="0">
                <a:latin typeface="Arial"/>
              </a:rPr>
              <a:t>60</a:t>
            </a:r>
            <a:r>
              <a:rPr lang="cs-CZ" altLang="cs-CZ" sz="1200" b="0" i="0" noProof="0">
                <a:latin typeface="Arial"/>
              </a:rPr>
              <a:t>. Jde o lineární převod, který zachová pořadí i tvar rozdělení a nepotřebuje normalitu.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</a:t>
            </a:r>
            <a:r>
              <a:rPr lang="cs-CZ" altLang="cs-CZ" sz="1200" b="0" i="0" noProof="0">
                <a:latin typeface="Arial"/>
              </a:rPr>
              <a:t> Většina dětí utvoří všechny nebo téměř všechny konstrukce správně, takže se skóry hromadí u maxima a rozdělení má dlouhý levý chvost. </a:t>
            </a:r>
            <a:r>
              <a:rPr lang="cs-CZ" altLang="cs-CZ" sz="1200" b="0" i="1" noProof="0">
                <a:latin typeface="Arial"/>
              </a:rPr>
              <a:t>Hranici dolních 10 % proto nebereme z normálního modelu</a:t>
            </a:r>
            <a:r>
              <a:rPr lang="cs-CZ" altLang="cs-CZ" sz="1200" b="0" i="0" noProof="0">
                <a:latin typeface="Arial"/>
              </a:rPr>
              <a:t> (48 − 1,282 × 7 ≈ 39,0 bodu by mohlo být hodně mimo).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Správný postup je určit </a:t>
            </a:r>
            <a:r>
              <a:rPr lang="cs-CZ" altLang="cs-CZ" sz="1200" b="1" i="0" noProof="0">
                <a:latin typeface="Arial"/>
              </a:rPr>
              <a:t>empirický 10. percentil</a:t>
            </a:r>
            <a:r>
              <a:rPr lang="cs-CZ" altLang="cs-CZ" sz="1200" b="0" i="0" noProof="0">
                <a:latin typeface="Arial"/>
              </a:rPr>
              <a:t> z dat dostatečně velkého a vhodného normativního souboru, například funkcí PERCENTIL.INC, nebo použít percentilové pořadí. Převod na škálu 80/10 tvar nezmění; z převedených skórů tedy podíl také nelze číst z normální křivky.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Přijatelné jsou i odpovědi navrhující normalizaci přes pořadí, pokud student vysvětlí, že změní rozestupy. Upozorněte, že u diagnostického prahu rozhoduje také účel a kvalita normativního souboru.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80, úlohy 3.11–3.12; skór 34 bodů je doplněn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Pátá úloha se vrací k referenční skupině.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Průměr 50 a směrodatnou odchylku 10 mají T-skóry v normativním souboru</a:t>
            </a:r>
            <a:r>
              <a:rPr lang="cs-CZ" altLang="cs-CZ" sz="1200" b="0" i="0" noProof="0">
                <a:latin typeface="Arial"/>
              </a:rPr>
              <a:t>, z jehož výsledků byly normy vytvořeny. Náš vzorek je jiná skupina.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Možná vysvětlení: (1) </a:t>
            </a:r>
            <a:r>
              <a:rPr lang="cs-CZ" altLang="cs-CZ" sz="1200" b="0" i="1" noProof="0">
                <a:latin typeface="Arial"/>
              </a:rPr>
              <a:t>vzorek se od normativního souboru liší</a:t>
            </a:r>
            <a:r>
              <a:rPr lang="cs-CZ" altLang="cs-CZ" sz="1200" b="0" i="0" noProof="0">
                <a:latin typeface="Arial"/>
              </a:rPr>
              <a:t>, například věkem, způsobem výběru nebo tím, že jde o děti doporučené k vyšetření, které mívají více obtíží; (2) i náhodný výběr z normativní populace má průměr a směrodatnou odchylku jen přibližně 50 a 10 kvůli výběrovému kolísání; (3) normy mohly vzniknout normalizací přes pořadí nebo jsou zastaralé.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Nejde tedy o chybu výpočtu. Z-skóry počítané podle norem jiné skupiny popisují polohu vůči této skupině; v našem souboru mají průměr 0 a směrodatnou odchylku 1 jen tehdy, když se soubor s normami shoduje. </a:t>
            </a:r>
            <a:r>
              <a:rPr lang="cs-CZ" altLang="cs-CZ" sz="1200" b="0" i="1" noProof="0">
                <a:latin typeface="Arial"/>
              </a:rPr>
              <a:t>Průměr 53,4 říká, že náš vzorek je v průměru o 0,34 směrodatné odchylky nad normativním souborem.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Přijatelné jsou odpovědi, které uvedou alespoň rozdíl skupin a výběrové kolísání.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80, úloha 3.19; Howell odkazuje na T-skóry dotazníku Achenbach Youth Self-Report ve svém obrázku 3.3. Čísla 53,4 a 11,2 jsou zvolena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Poslední úloha shrnuje část o přiměřenosti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Normální model by zkreslil kvantily:</a:t>
            </a:r>
            <a:r>
              <a:rPr lang="cs-CZ" altLang="cs-CZ" sz="1200" b="0" i="0" noProof="0">
                <a:latin typeface="Arial"/>
              </a:rPr>
              <a:t> horní kvantily by podcenil (vysoké platy by předpověděl jako vzácnější a nižší, než jsou), dolní kvantily by naopak umístil příliš nízko, případně i pod nejnižší skutečné platy. Model by také posunul střed: průměr je vlivem vysokých platů vyšší než medián, ale model počítá se shodou obou.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Q–Q graf</a:t>
            </a:r>
            <a:r>
              <a:rPr lang="cs-CZ" altLang="cs-CZ" sz="1200" b="0" i="0" noProof="0">
                <a:latin typeface="Arial"/>
              </a:rPr>
              <a:t> by tvořil oblouk jako u zešikmení doprava: dolní část stlačená, nejvyšší platy vysoko nad přímkou.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Možná vysvětlení vysokých hodnot:</a:t>
            </a:r>
            <a:r>
              <a:rPr lang="cs-CZ" altLang="cs-CZ" sz="1200" b="0" i="0" noProof="0">
                <a:latin typeface="Arial"/>
              </a:rPr>
              <a:t> například mimořádné funkce, vedení pracoviště, práce na prestižních institucích nebo v dražších regionech, případně chyba záznamu. Jde o hypotézy; ověřují se v datech, ne odstraněním hodnot.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Rozumný popis takových dat používá medián a empirické kvantily.</a:t>
            </a:r>
            <a:r>
              <a:rPr lang="cs-CZ" altLang="cs-CZ" sz="1200" b="0" i="0" noProof="0">
                <a:latin typeface="Arial"/>
              </a:rPr>
              <a:t> Howell se ptá také na logaritmickou transformaci; tu v této kapitole nevyžadujeme.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81, úloha 3.24; data a graf z originálu nejsou převzaty, zadání je popsáno slovně.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Početní úlohy jsou v doprovodném sešitu </a:t>
            </a:r>
            <a:r>
              <a:rPr lang="cs-CZ" altLang="cs-CZ" sz="1200" b="1" i="0" noProof="0">
                <a:latin typeface="Arial"/>
              </a:rPr>
              <a:t>kapitola_04_normalni_rozdeleni_cviceni.xlsx</a:t>
            </a:r>
            <a:r>
              <a:rPr lang="cs-CZ" altLang="cs-CZ" sz="1200" b="0" i="0" noProof="0">
                <a:latin typeface="Arial"/>
              </a:rPr>
              <a:t>. Sešit obsahuje úplná zadání, vstupní údaje, potřebné vztahy i řešení, takže jej lze použít i samostatně.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List </a:t>
            </a:r>
            <a:r>
              <a:rPr lang="cs-CZ" altLang="cs-CZ" sz="1200" b="1" i="0" noProof="0">
                <a:latin typeface="Arial"/>
              </a:rPr>
              <a:t>U1_z_skor</a:t>
            </a:r>
            <a:r>
              <a:rPr lang="cs-CZ" altLang="cs-CZ" sz="1200" b="0" i="0" noProof="0">
                <a:latin typeface="Arial"/>
              </a:rPr>
              <a:t> obsahuje šestnáct hodnot z Howellovy úlohy 3.1; úkolem je spočítat průměr, směrodatnou odchylku a z-skóry. List </a:t>
            </a:r>
            <a:r>
              <a:rPr lang="cs-CZ" altLang="cs-CZ" sz="1200" b="1" i="0" noProof="0">
                <a:latin typeface="Arial"/>
              </a:rPr>
              <a:t>U8_QQ</a:t>
            </a:r>
            <a:r>
              <a:rPr lang="cs-CZ" altLang="cs-CZ" sz="1200" b="0" i="0" noProof="0">
                <a:latin typeface="Arial"/>
              </a:rPr>
              <a:t> z týchž hodnot sestaví normální Q–Q graf.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Listy </a:t>
            </a:r>
            <a:r>
              <a:rPr lang="cs-CZ" altLang="cs-CZ" sz="1200" b="1" i="0" noProof="0">
                <a:latin typeface="Arial"/>
              </a:rPr>
              <a:t>U2_podily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1" i="0" noProof="0">
                <a:latin typeface="Arial"/>
              </a:rPr>
              <a:t>U3_hranice</a:t>
            </a:r>
            <a:r>
              <a:rPr lang="cs-CZ" altLang="cs-CZ" sz="1200" b="0" i="0" noProof="0">
                <a:latin typeface="Arial"/>
              </a:rPr>
              <a:t> pracují s modelem počtu zákazníků N(975, 15): podíly pod, nad a mezi hranicemi a hranice prostředních 50 % a 95 %. </a:t>
            </a:r>
            <a:r>
              <a:rPr lang="cs-CZ" altLang="cs-CZ" sz="1200" b="1" i="0" noProof="0">
                <a:latin typeface="Arial"/>
              </a:rPr>
              <a:t>U4_dve_skupiny</a:t>
            </a:r>
            <a:r>
              <a:rPr lang="cs-CZ" altLang="cs-CZ" sz="1200" b="0" i="0" noProof="0">
                <a:latin typeface="Arial"/>
              </a:rPr>
              <a:t> porovnává čtenářské skóry dvou ročníků, </a:t>
            </a:r>
            <a:r>
              <a:rPr lang="cs-CZ" altLang="cs-CZ" sz="1200" b="1" i="0" noProof="0">
                <a:latin typeface="Arial"/>
              </a:rPr>
              <a:t>U5_diagnostika</a:t>
            </a:r>
            <a:r>
              <a:rPr lang="cs-CZ" altLang="cs-CZ" sz="1200" b="0" i="0" noProof="0">
                <a:latin typeface="Arial"/>
              </a:rPr>
              <a:t> hledá diagnostickou hranici dolních 10 % a </a:t>
            </a:r>
            <a:r>
              <a:rPr lang="cs-CZ" altLang="cs-CZ" sz="1200" b="1" i="0" noProof="0">
                <a:latin typeface="Arial"/>
              </a:rPr>
              <a:t>U6_referencni</a:t>
            </a:r>
            <a:r>
              <a:rPr lang="cs-CZ" altLang="cs-CZ" sz="1200" b="0" i="0" noProof="0">
                <a:latin typeface="Arial"/>
              </a:rPr>
              <a:t> porovnává percentilové pořadí a 75. percentil ve dvou referenčních skupinách historických výsledků GRE. </a:t>
            </a:r>
            <a:r>
              <a:rPr lang="cs-CZ" altLang="cs-CZ" sz="1200" b="1" i="0" noProof="0">
                <a:latin typeface="Arial"/>
              </a:rPr>
              <a:t>U7_T_skory</a:t>
            </a:r>
            <a:r>
              <a:rPr lang="cs-CZ" altLang="cs-CZ" sz="1200" b="0" i="0" noProof="0">
                <a:latin typeface="Arial"/>
              </a:rPr>
              <a:t> převádí T-skóry na jiné škály, steny a staniny.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Řešení je rozepsané po krocích: standardizace a převody základními operacemi, plocha nebo kvantil funkcí NORM.S.DIST či NORM.S.INV. Přímé funkce NORM.DIST a NORM.INV slouží jako kontrola.</a:t>
            </a:r>
            <a:r>
              <a:rPr lang="cs-CZ" altLang="cs-CZ" sz="1200" b="0" i="0" noProof="0">
                <a:latin typeface="Arial"/>
              </a:rPr>
              <a:t> Na každém listu je pod zadáním blok „Potřebné vztahy“ s obecnými rovnicemi.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Doporučený postup: přibližně 20 minut samostatné práce nebo práce ve dvojicích, například každá dvojice dva listy, poté společný rozbor listů U6_referencni a U8_QQ, které nejvíce vyžadují interpretaci.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20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lang="cs-CZ" altLang="cs-CZ" sz="4400" noProof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lang="cs-CZ" altLang="cs-CZ" sz="2800" noProof="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lang="cs-CZ" altLang="cs-CZ" sz="2400" noProof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lang="cs-CZ" altLang="cs-CZ" sz="2000" noProof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1952625"/>
            <a:ext cx="13563600" cy="2190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52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Normální rozdělení</a:t>
            </a:r>
            <a:endParaRPr lang="cs-CZ" altLang="cs-CZ" sz="5250" noProof="0"/>
          </a:p>
          <a:p>
            <a:pPr algn="l"/>
            <a:r>
              <a:rPr lang="cs-CZ" altLang="cs-CZ" sz="52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standardní skóry</a:t>
            </a:r>
            <a:endParaRPr lang="cs-CZ" altLang="cs-CZ" sz="525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4953000"/>
            <a:ext cx="135636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700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Kapitola 4</a:t>
            </a:r>
            <a:endParaRPr lang="cs-CZ" altLang="cs-CZ" sz="27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Obsah přednášky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1. Kde leží výsledek: z-skór</a:t>
            </a:r>
            <a:endParaRPr lang="cs-CZ" altLang="cs-CZ" sz="300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57475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2. Normální rozdělení jako model</a:t>
            </a:r>
            <a:endParaRPr lang="cs-CZ" altLang="cs-CZ" sz="30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40995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3. Od hodnoty k podílu a zpět</a:t>
            </a:r>
            <a:endParaRPr lang="cs-CZ" altLang="cs-CZ" sz="30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162425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4. Standardní skóry v psychologii</a:t>
            </a:r>
            <a:endParaRPr lang="cs-CZ" altLang="cs-CZ" sz="30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91490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5. Je normální model přiměřený?</a:t>
            </a:r>
            <a:endParaRPr lang="cs-CZ" altLang="cs-CZ" sz="30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667375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6. Procvičování</a:t>
            </a:r>
            <a:endParaRPr lang="cs-CZ" altLang="cs-CZ" sz="300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Kde leží výsledek: z-skór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03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Výsledek posuzujeme vůči skupině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6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60 bodů: vysoký, nebo nízký výsledek?</a:t>
            </a:r>
            <a:endParaRPr lang="cs-CZ" altLang="cs-CZ" sz="26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982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Hrubý skór: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výsledek před převodem, například počet správných odpovědí</a:t>
            </a:r>
            <a:endParaRPr lang="cs-CZ" altLang="cs-CZ" sz="25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09562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Referenční skupina: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skupina, vůči níž výsledek posuzujeme; u testů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normativní soubor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781425"/>
            <a:ext cx="13563600" cy="790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Ve skupině s průměrem 50 je 60 bodů nad průměrem, ve skupině s průměrem 70 pod ním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85775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Stejná odchylka znamená něco jiného při malé a velké variabilitě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Z-skór: vzdálenost v jednotkách směrodatné odchylky</a:t>
            </a:r>
            <a:endParaRPr lang="cs-CZ" altLang="cs-CZ" sz="3600" noProof="0"/>
          </a:p>
        </p:txBody>
      </p:sp>
      <p:pic>
        <p:nvPicPr>
          <p:cNvPr id="12" name="Obrázek 12" descr="V testu A je výsledek 60 o jeden desetibodový krok nad průměrem 50, z je jedna. V testu B je výsledek 42 o dva šestibodové kroky nad průměrem 30, z jsou dvě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97966"/>
            <a:ext cx="8134350" cy="5481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Vzorec 13" descr="z_i = (x_i − m) / s"/>
              <p:cNvSpPr txBox="1"/>
              <p:nvPr/>
            </p:nvSpPr>
            <p:spPr>
              <a:xfrm>
                <a:off x="838200" y="1714500"/>
                <a:ext cx="49530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3" name="Vzorec 13" descr="z_i = (x_i − m) / s"/>
              <p:cNvSpPr txBox="1"/>
              <p:nvPr/>
            </p:nvSpPr>
            <p:spPr>
              <a:xfrm>
                <a:off x="838200" y="1714500"/>
                <a:ext cx="49530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z_i = (x_i − m) / s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4" name="Text 14"/>
          <p:cNvSpPr txBox="1"/>
          <p:nvPr/>
        </p:nvSpPr>
        <p:spPr>
          <a:xfrm>
            <a:off x="838200" y="2914650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Test A: (60 − 50) / 10 = </a:t>
            </a:r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Test B: (42 − 30) / 6 = </a:t>
            </a:r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133850"/>
            <a:ext cx="4953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Znaménko udává směr, velikost vzdálenost; z nemá jednotku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5105400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Zpět: </a:t>
            </a:r>
            <a:r>
              <a:rPr lang="cs-CZ" altLang="cs-CZ" sz="2325" b="0" i="1" noProof="0" dirty="0" err="1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325" b="0" baseline="-25000" noProof="0" dirty="0" err="1">
                <a:solidFill>
                  <a:srgbClr val="142A3B"/>
                </a:solidFill>
                <a:latin typeface="Arial"/>
                <a:ea typeface="Arial"/>
                <a:cs typeface="Arial"/>
              </a:rPr>
              <a:t>i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</a:t>
            </a:r>
            <a:r>
              <a:rPr lang="cs-CZ" altLang="cs-CZ" sz="232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+ </a:t>
            </a:r>
            <a:r>
              <a:rPr lang="cs-CZ" altLang="cs-CZ" sz="232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 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× </a:t>
            </a:r>
            <a:r>
              <a:rPr lang="cs-CZ" altLang="cs-CZ" sz="2325" b="0" i="1" noProof="0" dirty="0" err="1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325" b="0" baseline="-25000" noProof="0" dirty="0" err="1">
                <a:solidFill>
                  <a:srgbClr val="142A3B"/>
                </a:solidFill>
                <a:latin typeface="Arial"/>
                <a:ea typeface="Arial"/>
                <a:cs typeface="Arial"/>
              </a:rPr>
              <a:t>i</a:t>
            </a:r>
            <a:endParaRPr lang="cs-CZ" altLang="cs-CZ" sz="2325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Ilustrační testy A a B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Standardizace nemění tvar rozdělení</a:t>
            </a:r>
            <a:endParaRPr lang="cs-CZ" altLang="cs-CZ" sz="3600" noProof="0"/>
          </a:p>
        </p:txBody>
      </p:sp>
      <p:pic>
        <p:nvPicPr>
          <p:cNvPr id="12" name="Obrázek 12" descr="Doby 4, 5, 5, 6 a 10 minut a odpovídající z-skóry mají stejné rozmístění bodů při změně měřítka osy. Vzdálená pravá hodnota zůstává vzdálená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04" y="1560430"/>
            <a:ext cx="9057907" cy="5661192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953000" cy="981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Standardizace: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lineární převod na zvolený průměr a směrodatnou odchylku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943225"/>
            <a:ext cx="4953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Z-skóry souboru mají průměr 0 a směrodatnou odchylku 1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848100"/>
            <a:ext cx="4953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Zachová pořadí, poměry rozdílů i tvar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29125"/>
            <a:ext cx="4953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Šikmé rozdělení zůstane šikmé</a:t>
            </a:r>
            <a:endParaRPr lang="cs-CZ" altLang="cs-CZ" sz="21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010150"/>
            <a:ext cx="4953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Z-skór sám neurčuje percentilové pořadí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Doby 4, 5, 5, 6 a 10 minut z kapitoly 3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Normální rozdělení jako model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07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Normální rozdělení je model, ne data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Matematický model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spojité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veličiny: jeden vrchol, souměrnost</a:t>
            </a:r>
            <a:endParaRPr lang="cs-CZ" altLang="cs-CZ" sz="25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03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Průměr, medián a modus se shodují</a:t>
            </a:r>
            <a:endParaRPr lang="cs-CZ" altLang="cs-CZ" sz="25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0861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Čím dál od průměru, tím vzácnější hodnoty;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chvosty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pokračují neomezeně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7719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Skór 0–100 nemůže být přesně normální, střed může model dobře přibližovat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577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„Normální“ = název tvaru, ne zdraví ani žádoucnost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Dva parametry: N(μ, σ)</a:t>
            </a:r>
            <a:endParaRPr lang="cs-CZ" altLang="cs-CZ" sz="3600" noProof="0"/>
          </a:p>
        </p:txBody>
      </p:sp>
      <p:pic>
        <p:nvPicPr>
          <p:cNvPr id="12" name="Obrázek 12" descr="Vlevo posun průměru z 50 na 65 při směrodatné odchylce 10 posouvá křivku doprava. Vpravo změna směrodatné odchylky z 10 na 15 při průměru 50 křivku rozšiřuje a snižuje její vrcho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194" y="2179618"/>
            <a:ext cx="9997806" cy="4499013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191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μ: modelový průměr, poloha středu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19375"/>
            <a:ext cx="4191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σ: modelová směrodatná odchylka, šířka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4191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a </a:t>
            </a:r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počítáme z dat; mohou μ a σ odhadovat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29125"/>
            <a:ext cx="41910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7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N(50, 10)</a:t>
            </a:r>
            <a:endParaRPr lang="cs-CZ" altLang="cs-CZ" sz="217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019675"/>
            <a:ext cx="4191000" cy="981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Druhý údaj je zde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směrodatná odchylka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jinde často rozptyl: N(50, 100)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Podíl výsledků je plocha, ne výška křivky</a:t>
            </a:r>
            <a:endParaRPr lang="cs-CZ" altLang="cs-CZ" sz="3600" noProof="0"/>
          </a:p>
        </p:txBody>
      </p:sp>
      <p:pic>
        <p:nvPicPr>
          <p:cNvPr id="12" name="Obrázek 12" descr="Vlevo má zvýrazněný sloupec šířku 10 bodů a výšku 0,03 na bod, tedy plochu 0,30. Vpravo je pod normální křivkou vyznačen interval 50 až 60 bodů s plochou přibližně 0,341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2562225"/>
            <a:ext cx="8705850" cy="435292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Histogram s plochou: výška = podíl / šířka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19375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30 % v intervalu 10 bodů: výška 0,03 na bod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Výška křivky =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hustota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, není to podíl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29125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Podíl = plocha pod křivkou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nad intervalem; celková plocha 1</a:t>
            </a:r>
            <a:endParaRPr lang="cs-CZ" altLang="cs-CZ" sz="21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33400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Normované normální rozdělení N(0, 1): </a:t>
            </a:r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(</a:t>
            </a:r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− μ) / σ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Jedna přesná hodnota a zaokrouhlený výsledek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Bod má nulovou šířku, ve spojitém modelu tedy nulovou plochu</a:t>
            </a:r>
            <a:endParaRPr lang="cs-CZ" altLang="cs-CZ" sz="25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03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Zaznamenaných 50 bodů ≈ interval 49,5 až 50,5: v </a:t>
            </a:r>
            <a:r>
              <a:rPr lang="cs-CZ" altLang="cs-CZ" sz="25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5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(50, 10) asi </a:t>
            </a:r>
            <a:r>
              <a:rPr lang="cs-CZ" altLang="cs-CZ" sz="255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4,0 %</a:t>
            </a:r>
            <a:endParaRPr lang="cs-CZ" altLang="cs-CZ" sz="2550" noProof="0" dirty="0"/>
          </a:p>
        </p:txBody>
      </p:sp>
      <p:sp>
        <p:nvSpPr>
          <p:cNvPr id="14" name="Text 14"/>
          <p:cNvSpPr txBox="1"/>
          <p:nvPr/>
        </p:nvSpPr>
        <p:spPr>
          <a:xfrm>
            <a:off x="838200" y="30861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 modelu je „méně než 60“ totéž co „nejvýše 60“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7719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 datech se mohou lišit o počet výsledků přesně 60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577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Počet správných odpovědí je diskrétní; model ho jen přibližuje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Orientační pravidlo 68–95–99,7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2763500" cy="2743200"/>
        </p:xfrm>
        <a:graphic>
          <a:graphicData uri="http://schemas.openxmlformats.org/drawingml/2006/table">
            <a:tbl>
              <a:tblPr first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Interval z-skórů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modelu N(50, 10)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Podíl uvnitř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každém chvostu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−1 až 1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40 až 60 bodů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68,3 %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15,9 %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−2 až 2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30 až 70 bodů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95,4 %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2,3 %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−3 až 3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20 až 80 bodů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99,7 %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0,1 %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47815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Přesnějších prostředních 95 % leží mezi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−1,96 a 1,96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55149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Platí jen pro normální model, ne pro libovolná data se známým m a s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Od hodnoty k podílu a zpět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13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Distribuční funkce kumuluje plochu zleva</a:t>
            </a:r>
            <a:endParaRPr lang="cs-CZ" altLang="cs-CZ" sz="3600" noProof="0"/>
          </a:p>
        </p:txBody>
      </p:sp>
      <p:pic>
        <p:nvPicPr>
          <p:cNvPr id="12" name="Obrázek 12" descr="Nahoře je pod zvonovitou hustotou oranžově vybarvena plocha vlevo od 60 bodů s hodnotou 0,841. Dole je distribuční funkce, která roste od 0 k 1; v 60 bodech z ní vystupuje oranžový sloupec vysoký 0,841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0" y="1714271"/>
            <a:ext cx="6419850" cy="6048833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6667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Distribuční funkce: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podíl hodnot nejvýše po zvolenou hranici</a:t>
            </a:r>
            <a:endParaRPr lang="cs-CZ" altLang="cs-CZ" sz="2325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86050"/>
            <a:ext cx="6667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Modelový protějšek kumulativní relativní četnosti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657600"/>
            <a:ext cx="6667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Nahoře plocha, dole výška: obojí </a:t>
            </a:r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0,841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pro 60 bodů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629150"/>
            <a:ext cx="6667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Excel: =NORM.S.DIST(1;PRAVDA) → 0,841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238750"/>
            <a:ext cx="6667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PRAVDA = plocha; NEPRAVDA = výška křivky (hustota)</a:t>
            </a:r>
            <a:endParaRPr lang="cs-CZ" altLang="cs-CZ" sz="2325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 hranicí, nad ní a mezi dvěma mezemi</a:t>
            </a:r>
            <a:endParaRPr lang="cs-CZ" altLang="cs-CZ" sz="3600" noProof="0"/>
          </a:p>
        </p:txBody>
      </p:sp>
      <p:pic>
        <p:nvPicPr>
          <p:cNvPr id="12" name="Obrázek 12" descr="Tři sloupce grafů, nahoře hustota a dole distribuční funkce: nejvýše 60 je plocha 0,841; nad 60 je 1 minus 0,841, tedy 0,159; nad 60 a nejvýše 70 je 0,977 minus 0,841, tedy 0,136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393" y="1408020"/>
            <a:ext cx="11064607" cy="650893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191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Nejvýše 60: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0,841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295525"/>
            <a:ext cx="4191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Nad 60: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1 − 0,841 = 0,159</a:t>
            </a:r>
            <a:endParaRPr lang="cs-CZ" altLang="cs-CZ" sz="2100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2876550"/>
            <a:ext cx="4191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Mezi 60 a 70: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0,977 − 0,841 = 0,136</a:t>
            </a:r>
            <a:endParaRPr lang="cs-CZ" altLang="cs-CZ" sz="2100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3781425"/>
            <a:ext cx="4191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Nejprve načrtněte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hledanou oblast</a:t>
            </a:r>
            <a:endParaRPr lang="cs-CZ" altLang="cs-CZ" sz="210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4686300"/>
            <a:ext cx="4191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Kontrola souměrností: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nad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 je totéž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co pod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−1</a:t>
            </a:r>
            <a:endParaRPr lang="cs-CZ" altLang="cs-CZ" sz="2100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 podílu zpět k hranici: modelový percentil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6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Který skór odděluje dolních 90 %?</a:t>
            </a:r>
            <a:endParaRPr lang="cs-CZ" altLang="cs-CZ" sz="26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982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=NORM.S.INV(0,9) →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≈ 1,282</a:t>
            </a:r>
            <a:endParaRPr lang="cs-CZ" altLang="cs-CZ" sz="255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Vzorec 14" descr="x = μ + σz"/>
              <p:cNvSpPr txBox="1"/>
              <p:nvPr/>
            </p:nvSpPr>
            <p:spPr>
              <a:xfrm>
                <a:off x="838200" y="3095625"/>
                <a:ext cx="13563600" cy="666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4" name="Vzorec 14" descr="x = μ + σz"/>
              <p:cNvSpPr txBox="1"/>
              <p:nvPr/>
            </p:nvSpPr>
            <p:spPr>
              <a:xfrm>
                <a:off x="838200" y="3095625"/>
                <a:ext cx="13563600" cy="666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x = μ + σz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5" name="Text 15"/>
          <p:cNvSpPr txBox="1"/>
          <p:nvPr/>
        </p:nvSpPr>
        <p:spPr>
          <a:xfrm>
            <a:off x="838200" y="391477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50 + 10 × 1,282 ≈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62,82 bodu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60057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Přímo: =NORM.INV(0,9;50;10); podíl zadáváme 0,9, ne 90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28637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Zápis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550" b="0" baseline="-25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: podíl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vlevo, např.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550" b="0" baseline="-25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0,9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≈ 1,282</a:t>
            </a:r>
            <a:endParaRPr lang="cs-CZ" altLang="cs-CZ" sz="255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Prostředních 95 % a horních 5 % jsou různé úlohy</a:t>
            </a:r>
            <a:endParaRPr lang="cs-CZ" altLang="cs-CZ" sz="3600" noProof="0"/>
          </a:p>
        </p:txBody>
      </p:sp>
      <p:pic>
        <p:nvPicPr>
          <p:cNvPr id="12" name="Obrázek 12" descr="Vlevo začíná horních pět procent při 66,45 bodu. Vpravo leží prostředních 95 procent mezi 30,40 a 69,60 body a v každém chvostu zbývá 2,5 procent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630" y="2419349"/>
            <a:ext cx="9753370" cy="487668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Prostředních 95 %: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do chvostů 2,5 % + 2,5 %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19375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Meze pro </a:t>
            </a:r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0,025 a 0,975: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30,40 a 69,60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bodu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Horních 5 %: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jediná hranice, </a:t>
            </a:r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0,95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29125"/>
            <a:ext cx="43815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Hranice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66,45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bodu</a:t>
            </a:r>
            <a:endParaRPr lang="cs-CZ" altLang="cs-CZ" sz="21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01015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Interval jednotlivých výsledků, ne diagnostický práh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Hodnoty z, které je užitečné znát zpaměti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3563600" cy="4000500"/>
        </p:xfrm>
        <a:graphic>
          <a:graphicData uri="http://schemas.openxmlformats.org/drawingml/2006/table">
            <a:tbl>
              <a:tblPr first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Podíl nad +z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Mezi −z a +z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Typické použití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0,674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50 %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kvartily, prostředních 50 %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1,645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90 %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horních 5 %, prostředních 90 %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1,960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prostředních 95 %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2,326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98 %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horní 1 %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2,576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99 %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prostředních 99 %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3,291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0,05 %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99,9 %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02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prostředních 99,9 %</a:t>
                      </a:r>
                      <a:endParaRPr lang="cs-CZ" altLang="cs-CZ" sz="202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60388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Spolu s 1, 2 a 3 z pravidla 68–95–99,7; dolní meze se záporným znaménkem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Standardní skóry v psychologii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19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Stejná poloha, různá čísla: standardní skóry</a:t>
            </a:r>
            <a:endParaRPr lang="cs-CZ" altLang="cs-CZ" sz="3600" noProof="0"/>
          </a:p>
        </p:txBody>
      </p:sp>
      <p:pic>
        <p:nvPicPr>
          <p:cNvPr id="12" name="Obrázek 12" descr="Svisle zarovnané body propojují z-skóry od minus 3 do 3 s T-skóry od 20 do 80, IQ-skóry od 55 do 145 a subtestovými skóry od 1 do 19. Pátá řada platí jen pro normální model: percentilová pořadí mají při stejných krocích z nestejné přírůstk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196" y="1714499"/>
            <a:ext cx="8756803" cy="6338731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Nový skór = nový průměr + nová SD × </a:t>
            </a:r>
            <a:r>
              <a:rPr lang="cs-CZ" altLang="cs-CZ" sz="232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endParaRPr lang="cs-CZ" altLang="cs-CZ" sz="2325" noProof="0" dirty="0"/>
          </a:p>
        </p:txBody>
      </p:sp>
      <p:graphicFrame>
        <p:nvGraphicFramePr>
          <p:cNvPr id="14" name="Tabulk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666800"/>
              </p:ext>
            </p:extLst>
          </p:nvPr>
        </p:nvGraphicFramePr>
        <p:xfrm>
          <a:off x="838200" y="2686050"/>
          <a:ext cx="5334001" cy="2381250"/>
        </p:xfrm>
        <a:graphic>
          <a:graphicData uri="http://schemas.openxmlformats.org/drawingml/2006/table">
            <a:tbl>
              <a:tblPr firstRow="1"/>
              <a:tblGrid>
                <a:gridCol w="183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Škála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Průměr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1" noProof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  <a:endParaRPr lang="cs-CZ" altLang="cs-CZ" sz="1875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 = 1,5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z-skór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lang="cs-CZ" altLang="cs-CZ" sz="1875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1,5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T-skór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65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IQ-skór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122,5</a:t>
                      </a:r>
                      <a:endParaRPr lang="cs-CZ" altLang="cs-CZ" sz="1875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subtest 10/3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lang="cs-CZ" altLang="cs-CZ" sz="18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875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14,5</a:t>
                      </a:r>
                      <a:endParaRPr lang="cs-CZ" altLang="cs-CZ" sz="1875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5"/>
          <p:cNvSpPr txBox="1"/>
          <p:nvPr/>
        </p:nvSpPr>
        <p:spPr>
          <a:xfrm>
            <a:off x="838200" y="5391150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Lineární převod normalitu nepotřebuje; percentilové pořadí ano</a:t>
            </a:r>
            <a:endParaRPr lang="cs-CZ" altLang="cs-CZ" sz="2325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Steny a staniny: </a:t>
            </a:r>
            <a:b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pásma místo jemné škály</a:t>
            </a:r>
            <a:endParaRPr lang="cs-CZ" altLang="cs-CZ" sz="3600" noProof="0" dirty="0"/>
          </a:p>
        </p:txBody>
      </p:sp>
      <p:pic>
        <p:nvPicPr>
          <p:cNvPr id="12" name="Obrázek 12" descr="Dvě normální křivky na shodné z-ose, nahoře rozdělená do deseti stenů, dole do devíti staninů, s modelovými podíly pásem a kumulativními podíly nad mezemi. Zvýrazněné z rovné 1,2 spadá do stenu 8 a staninu 7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471" y="39711"/>
            <a:ext cx="7780722" cy="8047014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69086" y="2538412"/>
            <a:ext cx="6667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Sten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1–10, </a:t>
            </a:r>
            <a:r>
              <a:rPr lang="cs-CZ" altLang="cs-CZ" sz="2325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stanin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1–9</a:t>
            </a:r>
            <a:endParaRPr lang="cs-CZ" altLang="cs-CZ" sz="2325" noProof="0" dirty="0"/>
          </a:p>
        </p:txBody>
      </p:sp>
      <p:sp>
        <p:nvSpPr>
          <p:cNvPr id="14" name="Text 14"/>
          <p:cNvSpPr txBox="1"/>
          <p:nvPr/>
        </p:nvSpPr>
        <p:spPr>
          <a:xfrm>
            <a:off x="769086" y="3148012"/>
            <a:ext cx="6667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Pomocná hodnota 5,5 + 2</a:t>
            </a:r>
            <a:r>
              <a:rPr lang="cs-CZ" altLang="cs-CZ" sz="232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(sten), 5 + 2</a:t>
            </a:r>
            <a:r>
              <a:rPr lang="cs-CZ" altLang="cs-CZ" sz="232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(stanin)</a:t>
            </a:r>
            <a:endParaRPr lang="cs-CZ" altLang="cs-CZ" sz="2325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769086" y="4119562"/>
            <a:ext cx="6667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1,2: 7,9 → </a:t>
            </a:r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sten 8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7,4 → </a:t>
            </a:r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stanin 7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769086" y="4729162"/>
            <a:ext cx="6667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Krajní pásma slučují vše za mezemi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769086" y="5338762"/>
            <a:ext cx="6667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Pásma nejsou stejně početná; přesný skór z pásma nezjistíme</a:t>
            </a:r>
            <a:endParaRPr lang="cs-CZ" altLang="cs-CZ" sz="2325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Standardizace není normalizace</a:t>
            </a:r>
            <a:endParaRPr lang="cs-CZ" altLang="cs-CZ" sz="3600" noProof="0"/>
          </a:p>
        </p:txBody>
      </p:sp>
      <p:pic>
        <p:nvPicPr>
          <p:cNvPr id="12" name="Obrázek 12" descr="Zrcadlový histogram patnácti dob: vlevo původní doby s dlouhým pravým chvostem, vpravo z-skóry po normalizaci se souměrnějším rozložením. Spojnice hodnot se u krátkých dob rozbíhají a u dlouhých sbíhají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280" y="1555729"/>
            <a:ext cx="8956719" cy="626461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Normalizace: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pořadí → normální kvantil (NORM.S.INV)</a:t>
            </a:r>
            <a:endParaRPr lang="cs-CZ" altLang="cs-CZ" sz="2325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86050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Zachová pořadí, </a:t>
            </a:r>
            <a:r>
              <a:rPr lang="cs-CZ" altLang="cs-CZ" sz="2325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změní rozestupy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i tvar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657600"/>
            <a:ext cx="5334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Standardizace tvar zachová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267200"/>
            <a:ext cx="5334000" cy="1085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Normálně vypadající normalizované skóry nedokazují normalitu hrubých skórů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Patnáct dob řešení úlohy v sekundách</a:t>
            </a:r>
            <a:endParaRPr lang="cs-CZ" altLang="cs-CZ" sz="165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Je normální model přiměřený?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23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Začínáme významem měření a histogramem</a:t>
            </a:r>
            <a:endParaRPr lang="cs-CZ" altLang="cs-CZ" sz="3600" noProof="0"/>
          </a:p>
        </p:txBody>
      </p:sp>
      <p:pic>
        <p:nvPicPr>
          <p:cNvPr id="12" name="Obrázek 12" descr="Dva histogramy týchž dvou set simulovaných hodnot s normální křivkou. Vlevo s četnostmi na svislé ose leží křivka téměř na ose, vpravo s hustotou prochází přibližně vrcholy sloupců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67" y="2217549"/>
            <a:ext cx="9748582" cy="4756127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Která proměnná, skupina a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otázka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?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19375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Meze škály, strop, chyby, směs skupin?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Histogram s několika šířkami intervalů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29125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Křivku porovnáváme s histogramem </a:t>
            </a:r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hustoty</a:t>
            </a:r>
            <a:endParaRPr lang="cs-CZ" altLang="cs-CZ" sz="210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5334000"/>
            <a:ext cx="4381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Pro odhad vysokých skórů potřebujeme věrný pravý chvost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Normální Q–Q graf: data proti kvantilům modelu</a:t>
            </a:r>
            <a:endParaRPr lang="cs-CZ" altLang="cs-CZ" sz="3600" noProof="0"/>
          </a:p>
        </p:txBody>
      </p:sp>
      <p:pic>
        <p:nvPicPr>
          <p:cNvPr id="12" name="Obrázek 12" descr="Dvanáct seřazených skórů od 35 do 65 bodů vynesených proti normálním kvantilům přibližně od minus 1,73 do 1,73; body leží blízko přímky určené průměrem 50 a směrodatnou odchylkou 8,99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124075"/>
            <a:ext cx="8134350" cy="522922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953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Vodorovně: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teoretický kvantil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N(0, 1)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295525"/>
            <a:ext cx="4953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Svisle: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seřazená pozorovaná hodnota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2876550"/>
            <a:ext cx="4953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Přímka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+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 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×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: modelová srovnávací hodnota</a:t>
            </a:r>
            <a:endParaRPr lang="cs-CZ" altLang="cs-CZ" sz="2100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3781425"/>
            <a:ext cx="4953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Přibližně přímka = data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slučitelná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s modelem</a:t>
            </a:r>
            <a:endParaRPr lang="cs-CZ" altLang="cs-CZ" sz="21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4686300"/>
            <a:ext cx="4953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Není to důkaz normality; malý soubor říká málo o chvostech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Dvanáct skórů pozornosti (body)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Jak vzniká bod Q–Q grafu</a:t>
            </a:r>
            <a:endParaRPr lang="cs-CZ" altLang="cs-CZ" sz="3600" noProof="0"/>
          </a:p>
        </p:txBody>
      </p:sp>
      <p:pic>
        <p:nvPicPr>
          <p:cNvPr id="12" name="Obrázek 12" descr="První pořadí ze dvanácti hodnot propojí pozorovaný skór 35 se z-skórem normálního kvantilu přibližně minus 1,73, který vznikne z podílu (1 minus 0,5) děleno 12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086" y="1524000"/>
            <a:ext cx="7682077" cy="642937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334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Seřadit hodnoty, pořadí </a:t>
            </a:r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i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 až </a:t>
            </a:r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endParaRPr lang="cs-CZ" altLang="cs-CZ" sz="2325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Vzorec 14" descr="p = (i − 0,5) / n"/>
              <p:cNvSpPr txBox="1"/>
              <p:nvPr/>
            </p:nvSpPr>
            <p:spPr>
              <a:xfrm>
                <a:off x="838200" y="2324100"/>
                <a:ext cx="53340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− 0,5</m:t>
                          </m:r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4" name="Vzorec 14" descr="p = (i − 0,5) / n"/>
              <p:cNvSpPr txBox="1"/>
              <p:nvPr/>
            </p:nvSpPr>
            <p:spPr>
              <a:xfrm>
                <a:off x="838200" y="2324100"/>
                <a:ext cx="53340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 = (i − 0,5) / n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5" name="Text 15"/>
          <p:cNvSpPr txBox="1"/>
          <p:nvPr/>
        </p:nvSpPr>
        <p:spPr>
          <a:xfrm>
            <a:off x="838200" y="3429000"/>
            <a:ext cx="5334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NORM.S.INV(</a:t>
            </a:r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); přímka </a:t>
            </a:r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+ </a:t>
            </a:r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325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038600"/>
            <a:ext cx="5334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První bod: (−1,73; 35)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4648200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Bodový graf XY: řada bodů a řada přímky</a:t>
            </a:r>
            <a:endParaRPr lang="cs-CZ" altLang="cs-CZ" sz="2325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Normální model: body kolísají kolem přímky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Jen tento soubor je z normálního modelu · Drobné odchylky na krajích jsou běžné</a:t>
            </a:r>
            <a:endParaRPr lang="cs-CZ" altLang="cs-CZ" sz="2250" noProof="0"/>
          </a:p>
        </p:txBody>
      </p:sp>
      <p:pic>
        <p:nvPicPr>
          <p:cNvPr id="13" name="Obrázek 13" descr="Vlevo histogram dvou set simulovaných hodnot z normálního modelu s proloženou normální křivkou, vpravo Q–Q graf, v němž body sledují přímku s drobnými odchylkami na krajích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11" y="2381250"/>
            <a:ext cx="10542578" cy="514350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data, 200 hodnot; křivka a přímka s průměrem a směrodatnou odchylkou souboru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Zešikmení doprava: oblouk a vysoký pravý konec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Body nad přímkou: model hodnotu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podhodnocuje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· 99. percentil: model 78,5, data 92,5</a:t>
            </a:r>
            <a:endParaRPr lang="cs-CZ" altLang="cs-CZ" sz="2250" noProof="0"/>
          </a:p>
        </p:txBody>
      </p:sp>
      <p:pic>
        <p:nvPicPr>
          <p:cNvPr id="13" name="Obrázek 13" descr="Vlevo histogram s hodnotami nahromaděnými vlevo a dlouhým pravým chvostem, normální křivka mu neodpovídá; vpravo Q–Q graf, jehož body tvoří oblouk a nejvyšší hodnoty leží vysoko nad přímkou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11" y="2381250"/>
            <a:ext cx="10542578" cy="514350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data, 200 hodnot; křivka a přímka s průměrem a směrodatnou odchylkou souboru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Zešikmení doleva: opačný oblouk pod stropem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Strop 70 bodů, dlouhý levý chvost · 99. percentil modelu 84,7: nad stropem, nedosažitelný</a:t>
            </a:r>
            <a:endParaRPr lang="cs-CZ" altLang="cs-CZ" sz="2250" noProof="0"/>
          </a:p>
        </p:txBody>
      </p:sp>
      <p:pic>
        <p:nvPicPr>
          <p:cNvPr id="13" name="Obrázek 13" descr="Vlevo histogram s hodnotami nahromaděnými těsně pod 70 body a dlouhým levým chvostem, normální křivka pokračuje i za 70; vpravo Q–Q graf, v němž nejnižší hodnoty leží hluboko pod přímkou a nejvyšší se zplošťují pod 7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11" y="2381250"/>
            <a:ext cx="10542578" cy="514350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data, 200 hodnot; křivka a přímka s průměrem a směrodatnou odchylkou souboru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Těžší chvosty: leptokurtické rozdělení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Souměrné, ale vzdálené hodnoty jsou častější · Levý konec pod přímkou, pravý nad ní; exces kladný</a:t>
            </a:r>
            <a:endParaRPr lang="cs-CZ" altLang="cs-CZ" sz="2250" noProof="0"/>
          </a:p>
        </p:txBody>
      </p:sp>
      <p:pic>
        <p:nvPicPr>
          <p:cNvPr id="13" name="Obrázek 13" descr="Vlevo přibližně souměrný histogram s více velmi vzdálenými hodnotami, než odpovídá normální křivce; vpravo Q–Q graf, v němž se levý konec stáčí pod přímku a pravý nad ni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07" y="2705100"/>
            <a:ext cx="9878786" cy="481965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data, 200 hodnot; křivka a přímka s průměrem a směrodatnou odchylkou souboru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Lehčí chvosty: platykurtické rozdělení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Rovnoměrně 30 až 70, vzdálené hodnoty chybějí · Levý konec nad přímkou, exces záporný</a:t>
            </a:r>
            <a:endParaRPr lang="cs-CZ" altLang="cs-CZ" sz="2250" noProof="0"/>
          </a:p>
        </p:txBody>
      </p:sp>
      <p:pic>
        <p:nvPicPr>
          <p:cNvPr id="13" name="Obrázek 13" descr="Vlevo histogram hodnot rozložených přibližně rovnoměrně mezi 30 a 70 body, normální křivka přesahuje rozsah dat; vpravo Q–Q graf, v němž levý konec leží nad přímkou a pravý pod ní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11" y="2381250"/>
            <a:ext cx="10542578" cy="514350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data, 200 hodnot; křivka a přímka s průměrem a směrodatnou odchylkou souboru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Směs dvou skupin: dva vrcholy a zlom uprostřed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Jeden model čeká hodnoty uprostřed, kde nejsou · Věcně odlišné skupiny popíšeme zvlášť</a:t>
            </a:r>
            <a:endParaRPr lang="cs-CZ" altLang="cs-CZ" sz="2250" noProof="0"/>
          </a:p>
        </p:txBody>
      </p:sp>
      <p:pic>
        <p:nvPicPr>
          <p:cNvPr id="13" name="Obrázek 13" descr="Vlevo histogram směsi dvou skupin se dvěma vrcholy, jedna normální křivka mu neodpovídá; vpravo Q–Q graf s konci blíže středu a strmým přechodem mezi dvěma shluky uprostře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11" y="2381250"/>
            <a:ext cx="10542578" cy="514350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data, 200 hodnot; křivka a přímka s průměrem a směrodatnou odchylkou souboru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Přiměřenost modelu je závěr s omezeními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Spojíme význam měření, histogram a Q–Q graf</a:t>
            </a:r>
            <a:endParaRPr lang="cs-CZ" altLang="cs-CZ" sz="25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03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Uvedeme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účel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, pro který model přijímáme, a omezení</a:t>
            </a:r>
            <a:endParaRPr lang="cs-CZ" altLang="cs-CZ" sz="25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0861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Větší soubor ukáže tvar přesněji, ale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nenormalizuje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data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7719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Grafy neověřují reprezentativnost, měření ani nezávislost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577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Nevyhovuje-li model: empirické kvantily, případně skupiny zvlášť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Procvičování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34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1: Je 950 zákazníků rozumný výsledek?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Mnoho posuzovatelů počítalo zákazníky, kteří ráno vešli do obchodního domu. Počty mají přibližně normální rozdělení s průměrem 975 a směrodatnou odchylkou 15.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5242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Vedoucí projektu napočítal jen 950 zákazníků. Je to rozumný výsledek, pokud počítal svědomitě? Zdůvodněte bez Excelu.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79, úlohy 3.3 a 3.5. Česká adaptace.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2: Kdy se dva podíly rovnají?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Čtenářské skóry žáků 4. třídy mají rozdělení N(25, 5), žáků 9. třídy N(30, 10).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38425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Podíl A: kolik procent čtvrťáků má lepší výsledek než průměrný deváťák? Podíl B: kolik procent deváťáků má horší výsledek než průměrný čtvrťák?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2576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 jakých podmínek by se podíly A a B rovnaly?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79–80, úlohy 3.6 a 3.7. Česká adaptace.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3: Vymyslel si student výsledek?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Studenti pozorovali vždy 100 aut a zaznamenali, kolik lidí bylo připoutaných. Průměr třídy je 44, směrodatná odchylka 7; předpokládejte normální rozdělení.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5242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Student, který celý rok téměř nepracoval, odevzdal 62. Máme důvod podezírat, že si číslo vymyslel? Co z výpočtu plyne a co ne?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80, úloha 3.10. Česká adaptace s doplňující otázkou.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4: Převod škály a zešikmený test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Test jazykových obtíží počítá správně utvořené jazykové konstrukce. Má průměr 48 a směrodatnou odchylku 7. Autorka chce skóry převést na škálu s průměrem 80 a směrodatnou odchylkou 10.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5242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Jak převod provést? Jaký nový skór dostane dítě se 34 body?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2576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Skutečné rozdělení je silně zešikmené, protože většina dětí obtíže nemá. Jak najít hranici dolních 10 %?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80, úlohy 3.11 a 3.12. Česká adaptace s doplněným příkladem.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5: Proč T-skóry ve vzorku nemají přesně 50 a 10?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Dotazník problémového chování vykazuje T-skóry, které mají mít průměr 50 a směrodatnou odchylku 10.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Ve vzorku dětí, které jsme vyšetřili, vyšel průměr T-skórů 53,4 a směrodatná odchylka 11,2. Čím to může být? Je to chyba výpočtu?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80, úloha 3.19. Česká adaptace, čísla vzorku doplněna.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6: Zešikmené platy a normální model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Roční platy profesorů psychologie se 7–11 lety praxe mají rozdělení výrazně zešikmené doprava: většina platů je blízko sebe, několik je mnohem vyšších.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52425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Co by se stalo, kdybychom s nimi zacházeli, jako by měly normální rozdělení? Jak by vypadal jejich Q–Q graf? Čím mohou být vysoké hodnoty způsobeny?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81, úloha 3.24. Česká adaptace bez logaritmické transformace.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Práce v Excelu: doprovodný sešit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kapitola_04_normalni_rozdeleni_cviceni.xlsx</a:t>
            </a:r>
            <a:endParaRPr lang="cs-CZ" altLang="cs-CZ" sz="29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479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U1_z_skor: šestnáct hodnot, z-skóry po krocích; U8_QQ: Q–Q graf týchž dat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3813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U2_podily, U3_hranice: počty zákazníků N(975, 15)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1148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U4_dve_skupiny, U5_diagnostika, U6_referencni: další modely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8482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U7_T_skory: T-skóry, IQ, subtestová škála, steny a staniny</a:t>
            </a:r>
            <a:endParaRPr lang="cs-CZ" altLang="cs-CZ" sz="28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79–81, úlohy 3.1–3.4, 3.6, 3.8, 3.13–3.15, 3.18 a 3.20–3.21. Česká adaptace.</a:t>
            </a:r>
            <a:endParaRPr lang="cs-CZ" altLang="cs-CZ" sz="165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v Excelu · přibližně 20 minut</a:t>
            </a:r>
            <a:endParaRPr lang="cs-CZ" altLang="cs-CZ" sz="1575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41</a:t>
            </a:r>
            <a:endParaRPr lang="cs-CZ" altLang="cs-CZ" sz="1575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11015</Words>
  <Application>Microsoft Office PowerPoint</Application>
  <PresentationFormat>Vlastní</PresentationFormat>
  <Paragraphs>552</Paragraphs>
  <Slides>41</Slides>
  <Notes>41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41</vt:i4>
      </vt:variant>
    </vt:vector>
  </HeadingPairs>
  <TitlesOfParts>
    <vt:vector size="45" baseType="lpstr">
      <vt:lpstr>Arial</vt:lpstr>
      <vt:lpstr>Calibri</vt:lpstr>
      <vt:lpstr>Cambria Math</vt:lpstr>
      <vt:lpstr>ChatGPT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Normální rozdělení a standardní skóry</dc:title>
  <dc:creator>Karel Rečka</dc:creator>
  <cp:lastModifiedBy>Rečka Karel</cp:lastModifiedBy>
  <cp:revision>5</cp:revision>
  <dcterms:created xsi:type="dcterms:W3CDTF">2026-10-20T14:57:45Z</dcterms:created>
  <dcterms:modified xsi:type="dcterms:W3CDTF">2026-10-20T17:30:16Z</dcterms:modified>
  <dc:language>cs-CZ</dc:language>
</cp:coreProperties>
</file>