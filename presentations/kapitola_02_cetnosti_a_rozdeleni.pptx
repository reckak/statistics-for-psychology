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Lst>
  <p:sldSz cx="15240000" cy="8572500"/>
  <p:notesSz cx="6858000" cy="9144000"/>
  <p:defaultTextStyle>
    <a:defPPr>
      <a:defRPr lang="cs-CZ" altLang="cs-CZ" noProof="0"/>
    </a:defPPr>
    <a:lvl1pPr marL="0" algn="l" defTabSz="914400" rtl="0" eaLnBrk="1" latinLnBrk="0" hangingPunct="1">
      <a:defRPr lang="cs-CZ" altLang="cs-CZ" sz="1800" kern="1200" noProof="0">
        <a:solidFill>
          <a:schemeClr val="tx1"/>
        </a:solidFill>
        <a:latin typeface="+mn-lt"/>
        <a:ea typeface="+mn-ea"/>
        <a:cs typeface="+mn-cs"/>
      </a:defRPr>
    </a:lvl1pPr>
    <a:lvl2pPr marL="457200" algn="l" defTabSz="914400" rtl="0" eaLnBrk="1" latinLnBrk="0" hangingPunct="1">
      <a:defRPr lang="cs-CZ" altLang="cs-CZ" sz="1800" kern="1200" noProof="0">
        <a:solidFill>
          <a:schemeClr val="tx1"/>
        </a:solidFill>
        <a:latin typeface="+mn-lt"/>
        <a:ea typeface="+mn-ea"/>
        <a:cs typeface="+mn-cs"/>
      </a:defRPr>
    </a:lvl2pPr>
    <a:lvl3pPr marL="914400" algn="l" defTabSz="914400" rtl="0" eaLnBrk="1" latinLnBrk="0" hangingPunct="1">
      <a:defRPr lang="cs-CZ" altLang="cs-CZ" sz="1800" kern="1200" noProof="0">
        <a:solidFill>
          <a:schemeClr val="tx1"/>
        </a:solidFill>
        <a:latin typeface="+mn-lt"/>
        <a:ea typeface="+mn-ea"/>
        <a:cs typeface="+mn-cs"/>
      </a:defRPr>
    </a:lvl3pPr>
    <a:lvl4pPr marL="1371600" algn="l" defTabSz="914400" rtl="0" eaLnBrk="1" latinLnBrk="0" hangingPunct="1">
      <a:defRPr lang="cs-CZ" altLang="cs-CZ" sz="1800" kern="1200" noProof="0">
        <a:solidFill>
          <a:schemeClr val="tx1"/>
        </a:solidFill>
        <a:latin typeface="+mn-lt"/>
        <a:ea typeface="+mn-ea"/>
        <a:cs typeface="+mn-cs"/>
      </a:defRPr>
    </a:lvl4pPr>
    <a:lvl5pPr marL="1828800" algn="l" defTabSz="914400" rtl="0" eaLnBrk="1" latinLnBrk="0" hangingPunct="1">
      <a:defRPr lang="cs-CZ" altLang="cs-CZ" sz="1800" kern="1200" noProof="0">
        <a:solidFill>
          <a:schemeClr val="tx1"/>
        </a:solidFill>
        <a:latin typeface="+mn-lt"/>
        <a:ea typeface="+mn-ea"/>
        <a:cs typeface="+mn-cs"/>
      </a:defRPr>
    </a:lvl5pPr>
    <a:lvl6pPr marL="2286000" algn="l" defTabSz="914400" rtl="0" eaLnBrk="1" latinLnBrk="0" hangingPunct="1">
      <a:defRPr lang="cs-CZ" altLang="cs-CZ" sz="1800" kern="1200" noProof="0">
        <a:solidFill>
          <a:schemeClr val="tx1"/>
        </a:solidFill>
        <a:latin typeface="+mn-lt"/>
        <a:ea typeface="+mn-ea"/>
        <a:cs typeface="+mn-cs"/>
      </a:defRPr>
    </a:lvl6pPr>
    <a:lvl7pPr marL="2743200" algn="l" defTabSz="914400" rtl="0" eaLnBrk="1" latinLnBrk="0" hangingPunct="1">
      <a:defRPr lang="cs-CZ" altLang="cs-CZ" sz="1800" kern="1200" noProof="0">
        <a:solidFill>
          <a:schemeClr val="tx1"/>
        </a:solidFill>
        <a:latin typeface="+mn-lt"/>
        <a:ea typeface="+mn-ea"/>
        <a:cs typeface="+mn-cs"/>
      </a:defRPr>
    </a:lvl7pPr>
    <a:lvl8pPr marL="3200400" algn="l" defTabSz="914400" rtl="0" eaLnBrk="1" latinLnBrk="0" hangingPunct="1">
      <a:defRPr lang="cs-CZ" altLang="cs-CZ" sz="1800" kern="1200" noProof="0">
        <a:solidFill>
          <a:schemeClr val="tx1"/>
        </a:solidFill>
        <a:latin typeface="+mn-lt"/>
        <a:ea typeface="+mn-ea"/>
        <a:cs typeface="+mn-cs"/>
      </a:defRPr>
    </a:lvl8pPr>
    <a:lvl9pPr marL="3657600" algn="l" defTabSz="914400" rtl="0" eaLnBrk="1" latinLnBrk="0" hangingPunct="1">
      <a:defRPr lang="cs-CZ" altLang="cs-CZ" sz="1800" kern="1200" noProof="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30" y="1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cs-CZ"/>
  <c:roundedCorners val="1"/>
  <c:style val="2"/>
  <c:chart>
    <c:title>
      <c:tx>
        <c:rich>
          <a:bodyPr/>
          <a:lstStyle/>
          <a:p>
            <a:r>
              <a:rPr lang="cs-CZ" altLang="cs-CZ" sz="2250" b="1" noProof="0">
                <a:solidFill>
                  <a:srgbClr val="142A3B"/>
                </a:solidFill>
                <a:latin typeface="Arial"/>
                <a:ea typeface="Arial"/>
                <a:cs typeface="Arial"/>
              </a:rPr>
              <a:t>Možný efekt podlahy</a:t>
            </a:r>
          </a:p>
        </c:rich>
      </c:tx>
      <c:overlay val="0"/>
    </c:title>
    <c:autoTitleDeleted val="0"/>
    <c:plotArea>
      <c:layout/>
      <c:barChart>
        <c:barDir val="col"/>
        <c:grouping val="clustered"/>
        <c:varyColors val="0"/>
        <c:ser>
          <c:idx val="0"/>
          <c:order val="0"/>
          <c:tx>
            <c:v>Počet účastníků</c:v>
          </c:tx>
          <c:spPr>
            <a:solidFill>
              <a:srgbClr val="267888"/>
            </a:solidFill>
          </c:spPr>
          <c:invertIfNegative val="1"/>
          <c:cat>
            <c:numRef>
              <c:f>'Chart Data'!$A$2:$A$14</c:f>
              <c:numCache>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'Chart Data'!$B$2:$B$14</c:f>
              <c:numCache>
                <c:formatCode>0</c:formatCode>
                <c:ptCount val="13"/>
                <c:pt idx="0">
                  <c:v>15</c:v>
                </c:pt>
                <c:pt idx="1">
                  <c:v>7</c:v>
                </c:pt>
                <c:pt idx="2">
                  <c:v>4</c:v>
                </c:pt>
                <c:pt idx="3">
                  <c:v>3</c:v>
                </c:pt>
                <c:pt idx="4">
                  <c:v>2</c:v>
                </c:pt>
                <c:pt idx="5">
                  <c:v>1</c:v>
                </c:pt>
                <c:pt idx="6">
                  <c:v>1</c:v>
                </c:pt>
                <c:pt idx="7">
                  <c:v>1</c:v>
                </c:pt>
                <c:pt idx="8">
                  <c:v>1</c:v>
                </c:pt>
                <c:pt idx="9">
                  <c:v>1</c:v>
                </c:pt>
                <c:pt idx="10">
                  <c:v>0</c:v>
                </c:pt>
                <c:pt idx="11">
                  <c:v>0</c:v>
                </c:pt>
                <c:pt idx="12">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D88-49E4-B275-5B131EF94103}"/>
            </c:ext>
          </c:extLst>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title>
          <c:tx>
            <c:rich>
              <a:bodyPr/>
              <a:lstStyle/>
              <a:p>
                <a:r>
                  <a:rPr lang="cs-CZ" altLang="cs-CZ" sz="1650" noProof="0">
                    <a:solidFill>
                      <a:srgbClr val="142A3B"/>
                    </a:solidFill>
                    <a:latin typeface="Arial"/>
                    <a:ea typeface="Arial"/>
                    <a:cs typeface="Arial"/>
                  </a:rPr>
                  <a:t>Počet správných odpovědí (0–12)</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72768"/>
        <c:crosses val="autoZero"/>
        <c:auto val="1"/>
        <c:lblAlgn val="ctr"/>
        <c:lblOffset val="100"/>
        <c:noMultiLvlLbl val="1"/>
      </c:catAx>
      <c:valAx>
        <c:axId val="48672768"/>
        <c:scaling>
          <c:orientation val="minMax"/>
          <c:max val="16"/>
          <c:min val="0"/>
        </c:scaling>
        <c:delete val="0"/>
        <c:axPos val="l"/>
        <c:title>
          <c:tx>
            <c:rich>
              <a:bodyPr/>
              <a:lstStyle/>
              <a:p>
                <a:r>
                  <a:rPr lang="cs-CZ" altLang="cs-CZ" sz="1650" noProof="0">
                    <a:solidFill>
                      <a:srgbClr val="142A3B"/>
                    </a:solidFill>
                    <a:latin typeface="Arial"/>
                    <a:ea typeface="Arial"/>
                    <a:cs typeface="Arial"/>
                  </a:rPr>
                  <a:t>Počet účastníků</a:t>
                </a:r>
              </a:p>
            </c:rich>
          </c:tx>
          <c:overlay val="0"/>
        </c:title>
        <c:numFmt formatCode="0"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50112"/>
        <c:crosses val="autoZero"/>
        <c:crossBetween val="between"/>
        <c:majorUnit val="4"/>
      </c:valAx>
      <c:spPr>
        <a:solidFill>
          <a:srgbClr val="FAFAF7"/>
        </a:solidFill>
      </c:spPr>
    </c:plotArea>
    <c:plotVisOnly val="1"/>
    <c:dispBlanksAs val="zero"/>
    <c:showDLblsOverMax val="1"/>
  </c:chart>
  <c:spPr>
    <a:solidFill>
      <a:srgbClr val="FAFAF7"/>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cs-CZ"/>
  <c:roundedCorners val="1"/>
  <c:style val="2"/>
  <c:chart>
    <c:title>
      <c:tx>
        <c:rich>
          <a:bodyPr/>
          <a:lstStyle/>
          <a:p>
            <a:r>
              <a:rPr lang="cs-CZ" altLang="cs-CZ" sz="2250" b="1" noProof="0">
                <a:solidFill>
                  <a:srgbClr val="142A3B"/>
                </a:solidFill>
                <a:latin typeface="Arial"/>
                <a:ea typeface="Arial"/>
                <a:cs typeface="Arial"/>
              </a:rPr>
              <a:t>Možný efekt stropu</a:t>
            </a:r>
          </a:p>
        </c:rich>
      </c:tx>
      <c:overlay val="0"/>
    </c:title>
    <c:autoTitleDeleted val="0"/>
    <c:plotArea>
      <c:layout/>
      <c:barChart>
        <c:barDir val="col"/>
        <c:grouping val="clustered"/>
        <c:varyColors val="0"/>
        <c:ser>
          <c:idx val="0"/>
          <c:order val="0"/>
          <c:tx>
            <c:v>Počet účastníků</c:v>
          </c:tx>
          <c:spPr>
            <a:solidFill>
              <a:srgbClr val="267888"/>
            </a:solidFill>
          </c:spPr>
          <c:invertIfNegative val="1"/>
          <c:cat>
            <c:numRef>
              <c:f>'Chart Data'!$A$2:$A$14</c:f>
              <c:numCache>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'Chart Data'!$B$2:$B$14</c:f>
              <c:numCache>
                <c:formatCode>0</c:formatCode>
                <c:ptCount val="13"/>
                <c:pt idx="0">
                  <c:v>0</c:v>
                </c:pt>
                <c:pt idx="1">
                  <c:v>0</c:v>
                </c:pt>
                <c:pt idx="2">
                  <c:v>0</c:v>
                </c:pt>
                <c:pt idx="3">
                  <c:v>1</c:v>
                </c:pt>
                <c:pt idx="4">
                  <c:v>1</c:v>
                </c:pt>
                <c:pt idx="5">
                  <c:v>1</c:v>
                </c:pt>
                <c:pt idx="6">
                  <c:v>1</c:v>
                </c:pt>
                <c:pt idx="7">
                  <c:v>1</c:v>
                </c:pt>
                <c:pt idx="8">
                  <c:v>2</c:v>
                </c:pt>
                <c:pt idx="9">
                  <c:v>3</c:v>
                </c:pt>
                <c:pt idx="10">
                  <c:v>4</c:v>
                </c:pt>
                <c:pt idx="11">
                  <c:v>7</c:v>
                </c:pt>
                <c:pt idx="12">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953-4C20-A2E8-E9370544AE17}"/>
            </c:ext>
          </c:extLst>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title>
          <c:tx>
            <c:rich>
              <a:bodyPr/>
              <a:lstStyle/>
              <a:p>
                <a:r>
                  <a:rPr lang="cs-CZ" altLang="cs-CZ" sz="1650" noProof="0">
                    <a:solidFill>
                      <a:srgbClr val="142A3B"/>
                    </a:solidFill>
                    <a:latin typeface="Arial"/>
                    <a:ea typeface="Arial"/>
                    <a:cs typeface="Arial"/>
                  </a:rPr>
                  <a:t>Počet správných odpovědí (0–12)</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72768"/>
        <c:crosses val="autoZero"/>
        <c:auto val="1"/>
        <c:lblAlgn val="ctr"/>
        <c:lblOffset val="100"/>
        <c:noMultiLvlLbl val="1"/>
      </c:catAx>
      <c:valAx>
        <c:axId val="48672768"/>
        <c:scaling>
          <c:orientation val="minMax"/>
          <c:max val="16"/>
          <c:min val="0"/>
        </c:scaling>
        <c:delete val="0"/>
        <c:axPos val="l"/>
        <c:title>
          <c:tx>
            <c:rich>
              <a:bodyPr/>
              <a:lstStyle/>
              <a:p>
                <a:r>
                  <a:rPr lang="cs-CZ" altLang="cs-CZ" sz="1650" noProof="0">
                    <a:solidFill>
                      <a:srgbClr val="142A3B"/>
                    </a:solidFill>
                    <a:latin typeface="Arial"/>
                    <a:ea typeface="Arial"/>
                    <a:cs typeface="Arial"/>
                  </a:rPr>
                  <a:t>Počet účastníků</a:t>
                </a:r>
              </a:p>
            </c:rich>
          </c:tx>
          <c:overlay val="0"/>
        </c:title>
        <c:numFmt formatCode="0"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50112"/>
        <c:crosses val="autoZero"/>
        <c:crossBetween val="between"/>
        <c:majorUnit val="4"/>
      </c:valAx>
      <c:spPr>
        <a:solidFill>
          <a:srgbClr val="FAFAF7"/>
        </a:solidFill>
      </c:spPr>
    </c:plotArea>
    <c:plotVisOnly val="1"/>
    <c:dispBlanksAs val="zero"/>
    <c:showDLblsOverMax val="1"/>
  </c:chart>
  <c:spPr>
    <a:solidFill>
      <a:srgbClr val="FAFAF7"/>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cs-CZ"/>
  <c:roundedCorners val="1"/>
  <c:style val="2"/>
  <c:chart>
    <c:title>
      <c:tx>
        <c:rich>
          <a:bodyPr/>
          <a:lstStyle/>
          <a:p>
            <a:r>
              <a:rPr lang="cs-CZ" altLang="cs-CZ" sz="2250" b="1" noProof="0">
                <a:solidFill>
                  <a:srgbClr val="142A3B"/>
                </a:solidFill>
                <a:latin typeface="Arial"/>
                <a:ea typeface="Arial"/>
                <a:cs typeface="Arial"/>
              </a:rPr>
              <a:t>Osa od nuly</a:t>
            </a:r>
          </a:p>
        </c:rich>
      </c:tx>
      <c:overlay val="0"/>
    </c:title>
    <c:autoTitleDeleted val="0"/>
    <c:plotArea>
      <c:layout/>
      <c:barChart>
        <c:barDir val="col"/>
        <c:grouping val="clustered"/>
        <c:varyColors val="0"/>
        <c:ser>
          <c:idx val="0"/>
          <c:order val="0"/>
          <c:tx>
            <c:v>Počet účastníků</c:v>
          </c:tx>
          <c:spPr>
            <a:solidFill>
              <a:srgbClr val="267888"/>
            </a:solidFill>
          </c:spPr>
          <c:invertIfNegative val="1"/>
          <c:dLbls>
            <c:spPr>
              <a:noFill/>
              <a:ln>
                <a:noFill/>
              </a:ln>
              <a:effectLst/>
            </c:spPr>
            <c:txPr>
              <a:bodyPr anchorCtr="1"/>
              <a:lstStyle/>
              <a:p>
                <a:pPr>
                  <a:defRPr lang="cs-CZ" altLang="cs-CZ" sz="2175" noProof="0">
                    <a:solidFill>
                      <a:srgbClr val="142A3B"/>
                    </a:solidFill>
                    <a:latin typeface="Arial"/>
                    <a:ea typeface="Arial"/>
                    <a:cs typeface="Arial"/>
                  </a:defRPr>
                </a:pPr>
                <a:endParaRPr lang="cs-CZ"/>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c:v>
                </c:pt>
                <c:pt idx="1">
                  <c:v>B</c:v>
                </c:pt>
              </c:strCache>
            </c:strRef>
          </c:cat>
          <c:val>
            <c:numRef>
              <c:f>'Chart Data'!$B$2:$B$3</c:f>
              <c:numCache>
                <c:formatCode>0</c:formatCode>
                <c:ptCount val="2"/>
                <c:pt idx="0">
                  <c:v>30</c:v>
                </c:pt>
                <c:pt idx="1">
                  <c:v>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9CF-4A0E-9468-AE3B0873851E}"/>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title>
          <c:tx>
            <c:rich>
              <a:bodyPr/>
              <a:lstStyle/>
              <a:p>
                <a:r>
                  <a:rPr lang="cs-CZ" altLang="cs-CZ" sz="1650" noProof="0">
                    <a:solidFill>
                      <a:srgbClr val="142A3B"/>
                    </a:solidFill>
                    <a:latin typeface="Arial"/>
                    <a:ea typeface="Arial"/>
                    <a:cs typeface="Arial"/>
                  </a:rPr>
                  <a:t>Soubor</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72768"/>
        <c:crosses val="autoZero"/>
        <c:auto val="1"/>
        <c:lblAlgn val="ctr"/>
        <c:lblOffset val="100"/>
        <c:noMultiLvlLbl val="1"/>
      </c:catAx>
      <c:valAx>
        <c:axId val="48672768"/>
        <c:scaling>
          <c:orientation val="minMax"/>
          <c:max val="36"/>
          <c:min val="0"/>
        </c:scaling>
        <c:delete val="0"/>
        <c:axPos val="l"/>
        <c:title>
          <c:tx>
            <c:rich>
              <a:bodyPr/>
              <a:lstStyle/>
              <a:p>
                <a:r>
                  <a:rPr lang="cs-CZ" altLang="cs-CZ" sz="1650" noProof="0">
                    <a:solidFill>
                      <a:srgbClr val="142A3B"/>
                    </a:solidFill>
                    <a:latin typeface="Arial"/>
                    <a:ea typeface="Arial"/>
                    <a:cs typeface="Arial"/>
                  </a:rPr>
                  <a:t>Počet odpovědí ano</a:t>
                </a:r>
              </a:p>
            </c:rich>
          </c:tx>
          <c:overlay val="0"/>
        </c:title>
        <c:numFmt formatCode="0"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50112"/>
        <c:crosses val="autoZero"/>
        <c:crossBetween val="between"/>
        <c:majorUnit val="5"/>
      </c:valAx>
      <c:spPr>
        <a:solidFill>
          <a:srgbClr val="FAFAF7"/>
        </a:solidFill>
      </c:spPr>
    </c:plotArea>
    <c:plotVisOnly val="1"/>
    <c:dispBlanksAs val="zero"/>
    <c:showDLblsOverMax val="1"/>
  </c:chart>
  <c:spPr>
    <a:solidFill>
      <a:srgbClr val="FAFAF7"/>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cs-CZ"/>
  <c:roundedCorners val="1"/>
  <c:style val="2"/>
  <c:chart>
    <c:title>
      <c:tx>
        <c:rich>
          <a:bodyPr/>
          <a:lstStyle/>
          <a:p>
            <a:r>
              <a:rPr lang="cs-CZ" altLang="cs-CZ" sz="2250" b="1" noProof="0">
                <a:solidFill>
                  <a:srgbClr val="142A3B"/>
                </a:solidFill>
                <a:latin typeface="Arial"/>
                <a:ea typeface="Arial"/>
                <a:cs typeface="Arial"/>
              </a:rPr>
              <a:t>Osa začíná na 27</a:t>
            </a:r>
          </a:p>
        </c:rich>
      </c:tx>
      <c:overlay val="0"/>
    </c:title>
    <c:autoTitleDeleted val="0"/>
    <c:plotArea>
      <c:layout/>
      <c:barChart>
        <c:barDir val="col"/>
        <c:grouping val="clustered"/>
        <c:varyColors val="0"/>
        <c:ser>
          <c:idx val="0"/>
          <c:order val="0"/>
          <c:tx>
            <c:v>Počet účastníků</c:v>
          </c:tx>
          <c:spPr>
            <a:solidFill>
              <a:srgbClr val="267888"/>
            </a:solidFill>
          </c:spPr>
          <c:invertIfNegative val="1"/>
          <c:dLbls>
            <c:spPr>
              <a:noFill/>
              <a:ln>
                <a:noFill/>
              </a:ln>
              <a:effectLst/>
            </c:spPr>
            <c:txPr>
              <a:bodyPr anchorCtr="1"/>
              <a:lstStyle/>
              <a:p>
                <a:pPr>
                  <a:defRPr lang="cs-CZ" altLang="cs-CZ" sz="2175" noProof="0">
                    <a:solidFill>
                      <a:srgbClr val="142A3B"/>
                    </a:solidFill>
                    <a:latin typeface="Arial"/>
                    <a:ea typeface="Arial"/>
                    <a:cs typeface="Arial"/>
                  </a:defRPr>
                </a:pPr>
                <a:endParaRPr lang="cs-CZ"/>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c:v>
                </c:pt>
                <c:pt idx="1">
                  <c:v>B</c:v>
                </c:pt>
              </c:strCache>
            </c:strRef>
          </c:cat>
          <c:val>
            <c:numRef>
              <c:f>'Chart Data'!$B$2:$B$3</c:f>
              <c:numCache>
                <c:formatCode>0</c:formatCode>
                <c:ptCount val="2"/>
                <c:pt idx="0">
                  <c:v>30</c:v>
                </c:pt>
                <c:pt idx="1">
                  <c:v>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451-49DA-8CAA-A7B00160A830}"/>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title>
          <c:tx>
            <c:rich>
              <a:bodyPr/>
              <a:lstStyle/>
              <a:p>
                <a:r>
                  <a:rPr lang="cs-CZ" altLang="cs-CZ" sz="1650" noProof="0">
                    <a:solidFill>
                      <a:srgbClr val="142A3B"/>
                    </a:solidFill>
                    <a:latin typeface="Arial"/>
                    <a:ea typeface="Arial"/>
                    <a:cs typeface="Arial"/>
                  </a:rPr>
                  <a:t>Soubor</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72768"/>
        <c:crosses val="autoZero"/>
        <c:auto val="1"/>
        <c:lblAlgn val="ctr"/>
        <c:lblOffset val="100"/>
        <c:noMultiLvlLbl val="1"/>
      </c:catAx>
      <c:valAx>
        <c:axId val="48672768"/>
        <c:scaling>
          <c:orientation val="minMax"/>
          <c:max val="33.6"/>
          <c:min val="27"/>
        </c:scaling>
        <c:delete val="0"/>
        <c:axPos val="l"/>
        <c:title>
          <c:tx>
            <c:rich>
              <a:bodyPr/>
              <a:lstStyle/>
              <a:p>
                <a:r>
                  <a:rPr lang="cs-CZ" altLang="cs-CZ" sz="1650" noProof="0">
                    <a:solidFill>
                      <a:srgbClr val="142A3B"/>
                    </a:solidFill>
                    <a:latin typeface="Arial"/>
                    <a:ea typeface="Arial"/>
                    <a:cs typeface="Arial"/>
                  </a:rPr>
                  <a:t>Počet odpovědí ano</a:t>
                </a:r>
              </a:p>
            </c:rich>
          </c:tx>
          <c:overlay val="0"/>
        </c:title>
        <c:numFmt formatCode="0" sourceLinked="1"/>
        <c:majorTickMark val="none"/>
        <c:minorTickMark val="none"/>
        <c:tickLblPos val="nextTo"/>
        <c:spPr>
          <a:ln w="9525">
            <a:solidFill>
              <a:srgbClr val="D4D4D4"/>
            </a:solidFill>
            <a:prstDash val="solid"/>
          </a:ln>
        </c:spPr>
        <c:txPr>
          <a:bodyPr anchorCtr="1"/>
          <a:lstStyle/>
          <a:p>
            <a:pPr>
              <a:defRPr lang="cs-CZ" altLang="cs-CZ" sz="1650" noProof="0">
                <a:solidFill>
                  <a:srgbClr val="142A3B"/>
                </a:solidFill>
                <a:latin typeface="Arial"/>
                <a:ea typeface="Arial"/>
                <a:cs typeface="Arial"/>
              </a:defRPr>
            </a:pPr>
            <a:endParaRPr lang="cs-CZ"/>
          </a:p>
        </c:txPr>
        <c:crossAx val="48650112"/>
        <c:crosses val="autoZero"/>
        <c:crossBetween val="between"/>
        <c:majorUnit val="1"/>
      </c:valAx>
      <c:spPr>
        <a:solidFill>
          <a:srgbClr val="FAFAF7"/>
        </a:solidFill>
      </c:spPr>
    </c:plotArea>
    <c:plotVisOnly val="1"/>
    <c:dispBlanksAs val="zero"/>
    <c:showDLblsOverMax val="1"/>
  </c:chart>
  <c:spPr>
    <a:solidFill>
      <a:srgbClr val="FAFAF7"/>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lang="cs-CZ" altLang="cs-CZ" noProof="0"/>
          </a:p>
        </p:txBody>
      </p:sp>
      <p:sp>
        <p:nvSpPr>
          <p:cNvPr id="3" name="Date Placeholder"/>
          <p:cNvSpPr>
            <a:spLocks noGrp="1"/>
          </p:cNvSpPr>
          <p:nvPr>
            <p:ph type="dt" sz="quarter" idx="1"/>
          </p:nvPr>
        </p:nvSpPr>
        <p:spPr>
          <a:prstGeom prst="rect">
            <a:avLst/>
          </a:prstGeom>
        </p:spPr>
        <p:txBody>
          <a:bodyPr/>
          <a:lstStyle/>
          <a:p>
            <a:endParaRPr lang="cs-CZ" altLang="cs-CZ" noProof="0"/>
          </a:p>
        </p:txBody>
      </p:sp>
      <p:sp>
        <p:nvSpPr>
          <p:cNvPr id="4" name="Slide Image Placeholder"/>
          <p:cNvSpPr>
            <a:spLocks noGrp="1" noRot="1" noChangeAspect="1"/>
          </p:cNvSpPr>
          <p:nvPr>
            <p:ph type="sldImg" idx="2"/>
          </p:nvPr>
        </p:nvSpPr>
        <p:spPr>
          <a:prstGeom prst="rect">
            <a:avLst/>
          </a:prstGeom>
        </p:spPr>
        <p:txBody>
          <a:bodyPr/>
          <a:lstStyle/>
          <a:p>
            <a:endParaRPr lang="cs-CZ" altLang="cs-CZ" noProof="0"/>
          </a:p>
        </p:txBody>
      </p:sp>
      <p:sp>
        <p:nvSpPr>
          <p:cNvPr id="5" name="Notes Placeholder"/>
          <p:cNvSpPr>
            <a:spLocks noGrp="1"/>
          </p:cNvSpPr>
          <p:nvPr>
            <p:ph type="body" sz="quarter" idx="3"/>
          </p:nvPr>
        </p:nvSpPr>
        <p:spPr>
          <a:prstGeom prst="rect">
            <a:avLst/>
          </a:prstGeom>
        </p:spPr>
        <p:txBody>
          <a:bodyPr/>
          <a:lstStyle/>
          <a:p>
            <a:endParaRPr lang="cs-CZ" altLang="cs-CZ" noProof="0"/>
          </a:p>
        </p:txBody>
      </p:sp>
      <p:sp>
        <p:nvSpPr>
          <p:cNvPr id="6" name="Footer Placeholder"/>
          <p:cNvSpPr>
            <a:spLocks noGrp="1"/>
          </p:cNvSpPr>
          <p:nvPr>
            <p:ph type="ftr" sz="quarter" idx="4"/>
          </p:nvPr>
        </p:nvSpPr>
        <p:spPr>
          <a:prstGeom prst="rect">
            <a:avLst/>
          </a:prstGeom>
        </p:spPr>
        <p:txBody>
          <a:bodyPr/>
          <a:lstStyle/>
          <a:p>
            <a:endParaRPr lang="cs-CZ" altLang="cs-CZ" noProof="0"/>
          </a:p>
        </p:txBody>
      </p:sp>
      <p:sp>
        <p:nvSpPr>
          <p:cNvPr id="7" name="Slide Number Placeholder"/>
          <p:cNvSpPr>
            <a:spLocks noGrp="1"/>
          </p:cNvSpPr>
          <p:nvPr>
            <p:ph type="sldNum" sz="quarter" idx="5"/>
          </p:nvPr>
        </p:nvSpPr>
        <p:spPr>
          <a:prstGeom prst="rect">
            <a:avLst/>
          </a:prstGeom>
        </p:spPr>
        <p:txBody>
          <a:bodyPr/>
          <a:lstStyle/>
          <a:p>
            <a:endParaRPr lang="cs-CZ" altLang="cs-CZ" noProof="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cs-CZ" altLang="cs-CZ" sz="1200" kern="1200" noProof="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V první kapitole jsme rozlišovali případy, proměnné a způsoby získávání dat. Nyní se ptáme, jak údaje přehledně uspořádat, abychom viděli, které hodnoty jsou časté a jak se rozdělení liší mezi skupinami.</a:t>
            </a:r>
            <a:endParaRPr lang="cs-CZ" altLang="cs-CZ" sz="1200" noProof="0"/>
          </a:p>
          <a:p>
            <a:pPr marL="228600" indent="-171450">
              <a:buChar char="•"/>
            </a:pPr>
            <a:r>
              <a:rPr lang="cs-CZ" altLang="cs-CZ" sz="1200" b="1" i="0" noProof="0">
                <a:latin typeface="Arial"/>
              </a:rPr>
              <a:t>Cílem je sestavit a interpretovat četnostní tabulku, zvolit vhodný graf a vždy určit základ procent.</a:t>
            </a:r>
            <a:r>
              <a:rPr lang="cs-CZ" altLang="cs-CZ" sz="1200" b="0" i="0" noProof="0">
                <a:latin typeface="Arial"/>
              </a:rPr>
              <a:t> Naučíme se zacházet s chybějícími údaji, kumulovat četnosti a rozhodovat o mezích intervalů.</a:t>
            </a:r>
            <a:endParaRPr lang="cs-CZ" altLang="cs-CZ" sz="1200" noProof="0"/>
          </a:p>
          <a:p>
            <a:pPr marL="228600" indent="-171450">
              <a:buChar char="•"/>
            </a:pPr>
            <a:r>
              <a:rPr lang="cs-CZ" altLang="cs-CZ" sz="1200" b="0" i="0" noProof="0">
                <a:latin typeface="Arial"/>
              </a:rPr>
              <a:t>Výkladové grafy přebírají modelové příklady z kapitoly, převážně soubor 36 osob. Pro všechna praktická cvičení použijeme jediný nový excelový soubor se 72 fiktivními účastníky. Tyto dva soubory odlišíme v popiscích. Žádný nedokládá skutečné psychologické účinky.</a:t>
            </a:r>
            <a:endParaRPr lang="cs-CZ" altLang="cs-CZ" sz="1200" noProof="0"/>
          </a:p>
          <a:p>
            <a:pPr marL="228600" indent="-171450">
              <a:buChar char="•"/>
            </a:pPr>
            <a:r>
              <a:rPr lang="cs-CZ" altLang="cs-CZ" sz="1200" b="0" i="0" noProof="0">
                <a:latin typeface="Arial"/>
              </a:rPr>
              <a:t>Organizace výuky: slidy 1–23 tvoří výklad na přibližně 45 minut. Slidy 24–30 tvoří hlavní cvičení na dalších 45 minut včetně společného rozboru. Slidy 31–35 jsou doplňující úlohy pro další čas, práci ve skupinách nebo samostudium. Řešení jsou pouze v poznámkách.</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Kterou otázku o skupině lidí zodpovíme snadněji grafem než prohlížením jednotlivých řádků? Možná odpověď: ve které oblasti se soustřeďuje většina výsledků a zda je rozdělení podobné v obou skupinách.</a:t>
            </a:r>
            <a:endParaRPr lang="cs-CZ" altLang="cs-CZ" sz="1200" noProof="0"/>
          </a:p>
          <a:p>
            <a:pPr marL="228600" indent="-171450">
              <a:buChar char="•"/>
            </a:pPr>
            <a:r>
              <a:rPr lang="cs-CZ" altLang="cs-CZ" sz="1200" b="0" i="0" noProof="0">
                <a:latin typeface="Arial"/>
              </a:rPr>
              <a:t>Čas pro vyučujícího: přibližně 1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https://reckak.github.io/statistics-for-psychology/quarto/kapitola_02.html#sec-kapitola-02.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Nejprve odlišíme </a:t>
            </a:r>
            <a:r>
              <a:rPr lang="cs-CZ" altLang="cs-CZ" sz="1200" b="1" i="0" noProof="0">
                <a:latin typeface="Arial"/>
              </a:rPr>
              <a:t>výkladové příklady a cvičný soubor</a:t>
            </a:r>
            <a:r>
              <a:rPr lang="cs-CZ" altLang="cs-CZ" sz="1200" b="0" i="0" noProof="0">
                <a:latin typeface="Arial"/>
              </a:rPr>
              <a:t>. První tabulky používají šest osob z malé matice kapitoly. Hlavní grafy kapitoly pracují převážně se 36 modelovými osobami; pro spánek mají 33 známých odpovědí. Praktická cvičení používají samostatný soubor 72 fiktivních účastníků, rozdělených do ticha a hluku. Změna velikosti příkladu tedy není postupným vyřazováním osob z jednoho experimentu. Samostatné didaktické příklady mají vlastní uvedené počty.</a:t>
            </a:r>
            <a:endParaRPr lang="cs-CZ" altLang="cs-CZ" sz="1200" noProof="0"/>
          </a:p>
          <a:p>
            <a:pPr marL="228600" indent="-171450">
              <a:buChar char="•"/>
            </a:pPr>
            <a:r>
              <a:rPr lang="cs-CZ" altLang="cs-CZ" sz="1200" b="0" i="0" noProof="0">
                <a:latin typeface="Arial"/>
              </a:rPr>
              <a:t>Začněme společným kontextem cvičení. Ve fiktivní studii účastník nejprve uvede odhad délky spánku předchozí noci, aktuální odpočatost a genderovou identitu. Poté se jednu minutu učí seznam dvanácti slov v tichu nebo při hluku. Následuje minuta vybavování v tichu. Seznam, čas a instrukce jsou stejné.</a:t>
            </a:r>
            <a:endParaRPr lang="cs-CZ" altLang="cs-CZ" sz="1200" noProof="0"/>
          </a:p>
          <a:p>
            <a:pPr marL="228600" indent="-171450">
              <a:buChar char="•"/>
            </a:pPr>
            <a:r>
              <a:rPr lang="cs-CZ" altLang="cs-CZ" sz="1200" b="1" i="0" noProof="0">
                <a:latin typeface="Arial"/>
              </a:rPr>
              <a:t>Experimentální podmínka</a:t>
            </a:r>
            <a:r>
              <a:rPr lang="cs-CZ" altLang="cs-CZ" sz="1200" b="0" i="0" noProof="0">
                <a:latin typeface="Arial"/>
              </a:rPr>
              <a:t> je nominální nezávislá proměnná. Počet správně vybavených různých slov je diskrétní výsledková proměnná. Doba spánku je spojitá veličina zaznamenaná na desetiny hodiny. Odpočatost má uspořádané kategorie. Genderová identita je nominální a zahrnuje i nebinární osoby.</a:t>
            </a:r>
            <a:endParaRPr lang="cs-CZ" altLang="cs-CZ" sz="1200" noProof="0"/>
          </a:p>
          <a:p>
            <a:pPr marL="228600" indent="-171450">
              <a:buChar char="•"/>
            </a:pPr>
            <a:r>
              <a:rPr lang="cs-CZ" altLang="cs-CZ" sz="1200" b="0" i="1" noProof="0">
                <a:latin typeface="Arial"/>
              </a:rPr>
              <a:t>Spánek, odpočatost a gender měříme před zvukovou podmínkou. Přesto je smysluplné porovnat jejich rozdělení mezi skupinami a popsat odlišnosti ve výchozím složení.</a:t>
            </a:r>
            <a:r>
              <a:rPr lang="cs-CZ" altLang="cs-CZ" sz="1200" b="0" i="0" noProof="0">
                <a:latin typeface="Arial"/>
              </a:rPr>
              <a:t> Tyto odlišnosti nemohou být následkem pozdějšího hluku.</a:t>
            </a:r>
            <a:endParaRPr lang="cs-CZ" altLang="cs-CZ" sz="1200" noProof="0"/>
          </a:p>
          <a:p>
            <a:pPr marL="228600" indent="-171450">
              <a:buChar char="•"/>
            </a:pPr>
            <a:r>
              <a:rPr lang="cs-CZ" altLang="cs-CZ" sz="1200" b="0" i="0" noProof="0">
                <a:latin typeface="Arial"/>
              </a:rPr>
              <a:t>Data byla záměrně sestavena pro výuku. Okrajové četnosti byly zvoleny didakticky a hodnoty promíchány uvnitř skupin. Nejde o doklad skutečné randomizace, skutečného účinku ani realistických vztahů mezi všemi proměnnými.</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Proč lze porovnávat délku předchozího spánku mezi podmínkami, a přesto rozdíl nevysvětlovat působením hluku? Protože porovnání popisuje složení skupin a spánek předcházel experimentu.</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https://reckak.github.io/statistics-for-psychology/quarto/kapitola_02.html#sec-co-pocitame.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Z jednotlivých záznamů nyní vytvoříme první shrnutí. </a:t>
            </a:r>
            <a:r>
              <a:rPr lang="cs-CZ" altLang="cs-CZ" sz="1200" b="1" i="0" noProof="0">
                <a:latin typeface="Arial"/>
              </a:rPr>
              <a:t>Absolutní četnost</a:t>
            </a:r>
            <a:r>
              <a:rPr lang="cs-CZ" altLang="cs-CZ" sz="1200" b="0" i="0" noProof="0">
                <a:latin typeface="Arial"/>
              </a:rPr>
              <a:t> říká, kolik případů má určitou hodnotu nebo patří do dané kategorie. V tabulce je šest osob: jedna vůbec odpočatá, dvě trochu, dvě dost a jedna zcela. Součet činí šest.</a:t>
            </a:r>
            <a:endParaRPr lang="cs-CZ" altLang="cs-CZ" sz="1200" noProof="0"/>
          </a:p>
          <a:p>
            <a:pPr marL="228600" indent="-171450">
              <a:buChar char="•"/>
            </a:pPr>
            <a:r>
              <a:rPr lang="cs-CZ" altLang="cs-CZ" sz="1200" b="0" i="0" noProof="0">
                <a:latin typeface="Arial"/>
              </a:rPr>
              <a:t>Absolutní četnost zapisujeme </a:t>
            </a:r>
            <a:r>
              <a:rPr lang="cs-CZ" altLang="cs-CZ" sz="1200" b="1" i="0" noProof="0">
                <a:latin typeface="Arial"/>
              </a:rPr>
              <a:t>f_j</a:t>
            </a:r>
            <a:r>
              <a:rPr lang="cs-CZ" altLang="cs-CZ" sz="1200" b="0" i="0" noProof="0">
                <a:latin typeface="Arial"/>
              </a:rPr>
              <a:t>, čteme „ef s indexem j“. Index j označuje pořadí kategorie, nikoli účastníka: první je „vůbec“, druhá „trochu“, třetí „dost“ a čtvrtá „zcela“. Pro druhou kategorii tedy platí f_2 = 2. Značka n označuje počet všech zahrnutých případů, zde n = 6. Tyto značky použijeme při výpočtu podílů.</a:t>
            </a:r>
            <a:endParaRPr lang="cs-CZ" altLang="cs-CZ" sz="1200" noProof="0"/>
          </a:p>
          <a:p>
            <a:pPr marL="228600" indent="-171450">
              <a:buChar char="•"/>
            </a:pPr>
            <a:r>
              <a:rPr lang="cs-CZ" altLang="cs-CZ" sz="1200" b="1" i="0" noProof="0">
                <a:latin typeface="Arial"/>
              </a:rPr>
              <a:t>Rozdělení</a:t>
            </a:r>
            <a:r>
              <a:rPr lang="cs-CZ" altLang="cs-CZ" sz="1200" b="0" i="0" noProof="0">
                <a:latin typeface="Arial"/>
              </a:rPr>
              <a:t> popisuje, jak jsou hodnoty zastoupeny. Tabulka a graf jsou dva způsoby jeho zobrazení. Nejde zde o rozdělování osob do experimentálních skupin.</a:t>
            </a:r>
            <a:endParaRPr lang="cs-CZ" altLang="cs-CZ" sz="1200" noProof="0"/>
          </a:p>
          <a:p>
            <a:pPr marL="228600" indent="-171450">
              <a:buChar char="•"/>
            </a:pPr>
            <a:r>
              <a:rPr lang="cs-CZ" altLang="cs-CZ" sz="1200" b="0" i="0" noProof="0">
                <a:latin typeface="Arial"/>
              </a:rPr>
              <a:t>Jedním započítaným případem je účastník při jedné návštěvě. Kdyby každý absolvoval deset pokusů, museli bychom rozlišit počet osob a počet pokusů. Absolutní četnost je nezáporné celé číslo. Četnost dvě znamená dvě osoby, nikoli dva body odpočatosti.</a:t>
            </a:r>
            <a:endParaRPr lang="cs-CZ" altLang="cs-CZ" sz="1200" noProof="0"/>
          </a:p>
          <a:p>
            <a:pPr marL="228600" indent="-171450">
              <a:buChar char="•"/>
            </a:pPr>
            <a:r>
              <a:rPr lang="cs-CZ" altLang="cs-CZ" sz="1200" b="0" i="1" noProof="0">
                <a:latin typeface="Arial"/>
              </a:rPr>
              <a:t>Shrnutí zachovává zastoupení kategorií, ale ztrácí přiřazení k jednotlivým lidem.</a:t>
            </a:r>
            <a:r>
              <a:rPr lang="cs-CZ" altLang="cs-CZ" sz="1200" b="0" i="0" noProof="0">
                <a:latin typeface="Arial"/>
              </a:rPr>
              <a:t> Z této tabulky už nezjistíme, kdo odpověděl „dost“ ani kolik slov si vybavil. Původní datovou matici proto zachováme.</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Může být nejčetnější kategorie současně menšinová? Ano. V této tabulce má každá ze dvou nejčetnějších kategorií jen dvě ze šesti osob.</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https://reckak.github.io/statistics-for-psychology/quarto/kapitola_02.html#sec-od-zaznamu-k-cetnostem.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Navážeme na </a:t>
            </a:r>
            <a:r>
              <a:rPr lang="cs-CZ" altLang="cs-CZ" sz="1200" b="1" i="0" noProof="0">
                <a:latin typeface="Arial"/>
              </a:rPr>
              <a:t>stejných šest odpovědí na odpočatost</a:t>
            </a:r>
            <a:r>
              <a:rPr lang="cs-CZ" altLang="cs-CZ" sz="1200" b="0" i="0" noProof="0">
                <a:latin typeface="Arial"/>
              </a:rPr>
              <a:t>. Dosud jsme četli počty osob, nyní je vztáhneme k celému souboru. Tabulka proto ponechává absolutní četnosti a doplňuje relativní četnosti a procenta.</a:t>
            </a:r>
            <a:endParaRPr lang="cs-CZ" altLang="cs-CZ" sz="1200" noProof="0"/>
          </a:p>
          <a:p>
            <a:pPr marL="228600" indent="-171450">
              <a:buChar char="•"/>
            </a:pPr>
            <a:r>
              <a:rPr lang="cs-CZ" altLang="cs-CZ" sz="1200" b="1" i="0" noProof="0">
                <a:latin typeface="Arial"/>
              </a:rPr>
              <a:t>Relativní četnost p_j = f_j / n</a:t>
            </a:r>
            <a:r>
              <a:rPr lang="cs-CZ" altLang="cs-CZ" sz="1200" b="0" i="0" noProof="0">
                <a:latin typeface="Arial"/>
              </a:rPr>
              <a:t> je podíl případů dané kategorie. Písmeno p s indexem j označuje její podíl, f s týmž indexem její počet a n počet všech zahrnutých případů. Na tomto slidu jsou známy odpovědi všech šesti osob, takže všechny řádky dělíme šesti.</a:t>
            </a:r>
            <a:endParaRPr lang="cs-CZ" altLang="cs-CZ" sz="1200" noProof="0"/>
          </a:p>
          <a:p>
            <a:pPr marL="228600" indent="-171450">
              <a:buChar char="•"/>
            </a:pPr>
            <a:r>
              <a:rPr lang="cs-CZ" altLang="cs-CZ" sz="1200" b="0" i="0" noProof="0">
                <a:latin typeface="Arial"/>
              </a:rPr>
              <a:t>Zvýrazněný řádek „trochu“ je druhá kategorie. Počet f_2 = 2 vydělíme šesti: p_2 = 2/6 = 0,333… Číslice tři pokračuje bez konce. Při zobrazení na tři desetinná místa dostaneme 0,333. Procentní vyjádření získáme vynásobením přesného podílu stem, tedy přibližně 33,3 %. Procenta vyjadřují tutéž část celku jako podíl.</a:t>
            </a:r>
            <a:endParaRPr lang="cs-CZ" altLang="cs-CZ" sz="1200" noProof="0"/>
          </a:p>
          <a:p>
            <a:pPr marL="228600" indent="-171450">
              <a:buChar char="•"/>
            </a:pPr>
            <a:r>
              <a:rPr lang="cs-CZ" altLang="cs-CZ" sz="1200" b="0" i="0" noProof="0">
                <a:latin typeface="Arial"/>
              </a:rPr>
              <a:t>Odpovědi „vůbec“ a „zcela“ mají každá jednu osobu ze šesti, přibližně 0,167 neboli 16,7 %. Odpověď „dost“ má stejnou četnost jako „trochu“, tedy 0,333 neboli 33,3 %. Součet nezkrácených podílů je jedna a procent 100 %. Podíl vždy leží mezi nulou a jednou včetně.</a:t>
            </a:r>
            <a:endParaRPr lang="cs-CZ" altLang="cs-CZ" sz="1200" noProof="0"/>
          </a:p>
          <a:p>
            <a:pPr marL="228600" indent="-171450">
              <a:buChar char="•"/>
            </a:pPr>
            <a:r>
              <a:rPr lang="cs-CZ" altLang="cs-CZ" sz="1200" b="0" i="1" noProof="0">
                <a:latin typeface="Arial"/>
              </a:rPr>
              <a:t>Zaokrouhlujeme až zobrazený výsledek, nikoli mezivýpočty.</a:t>
            </a:r>
            <a:r>
              <a:rPr lang="cs-CZ" altLang="cs-CZ" sz="1200" b="0" i="0" noProof="0">
                <a:latin typeface="Arial"/>
              </a:rPr>
              <a:t> Zobrazené podíly či procenta se obecně nemusejí sečíst přesně na jedna nebo sto. Například tři stejné podíly mohou být zobrazeny jako 33,3 %, 33,3 % a 33,3 %, dohromady 99,9 %. Nejde o chybějícího účastníka.</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Kdyby ve dvojnásobně velkém souboru odpověděli „trochu“ čtyři lidé, změnil by se podíl? Ne, 4/12 = 2/6. Změnil by se počet, ale zastoupení by zůstalo stejné.</a:t>
            </a:r>
            <a:endParaRPr lang="cs-CZ" altLang="cs-CZ" sz="1200" noProof="0"/>
          </a:p>
          <a:p>
            <a:pPr marL="228600" indent="-171450">
              <a:buChar char="•"/>
            </a:pPr>
            <a:r>
              <a:rPr lang="cs-CZ" altLang="cs-CZ" sz="1200" b="0" i="0" noProof="0">
                <a:latin typeface="Arial"/>
              </a:rPr>
              <a:t>Čas pro vyučujícího: přibližně 4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https://reckak.github.io/statistics-for-psychology/quarto/kapitola_02.html#sec-relativni-cetnost.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Po převodu na podíly můžeme porovnat také různě velké soubory. Zde přecházíme k samostatnému modelovému příkladu potíží se soustředěním: osm osob z dvaceti představuje větší část skupiny než patnáct z padesáti.</a:t>
            </a:r>
            <a:endParaRPr lang="cs-CZ" altLang="cs-CZ" sz="1200" noProof="0"/>
          </a:p>
          <a:p>
            <a:pPr marL="228600" indent="-171450">
              <a:buChar char="•"/>
            </a:pPr>
            <a:r>
              <a:rPr lang="cs-CZ" altLang="cs-CZ" sz="1200" b="0" i="0" noProof="0">
                <a:latin typeface="Arial"/>
              </a:rPr>
              <a:t>První podíl je 8/20 = 0,400, tedy 40,0 %. Druhý je 15/50 = 0,300, tedy 30,0 %. </a:t>
            </a:r>
            <a:r>
              <a:rPr lang="cs-CZ" altLang="cs-CZ" sz="1200" b="1" i="0" noProof="0">
                <a:latin typeface="Arial"/>
              </a:rPr>
              <a:t>Vyšší absolutní četnost nemusí znamenat vyšší relativní četnost.</a:t>
            </a:r>
            <a:r>
              <a:rPr lang="cs-CZ" altLang="cs-CZ" sz="1200" b="0" i="0" noProof="0">
                <a:latin typeface="Arial"/>
              </a:rPr>
              <a:t> Počet osob je větší ve druhé skupině, podíl v první.</a:t>
            </a:r>
            <a:endParaRPr lang="cs-CZ" altLang="cs-CZ" sz="1200" noProof="0"/>
          </a:p>
          <a:p>
            <a:pPr marL="228600" indent="-171450">
              <a:buChar char="•"/>
            </a:pPr>
            <a:r>
              <a:rPr lang="cs-CZ" altLang="cs-CZ" sz="1200" b="0" i="0" noProof="0">
                <a:latin typeface="Arial"/>
              </a:rPr>
              <a:t>Pro oba podíly používáme počet relevantních případů příslušné skupiny. Nepočítáme je ze součtu 70 osob, protože bychom tím odpovídali na jinou otázku: jakou část všech účastníků tvoří případy z dané skupiny.</a:t>
            </a:r>
            <a:endParaRPr lang="cs-CZ" altLang="cs-CZ" sz="1200" noProof="0"/>
          </a:p>
          <a:p>
            <a:pPr marL="228600" indent="-171450">
              <a:buChar char="•"/>
            </a:pPr>
            <a:r>
              <a:rPr lang="cs-CZ" altLang="cs-CZ" sz="1200" b="0" i="1" noProof="0">
                <a:latin typeface="Arial"/>
              </a:rPr>
              <a:t>Při porovnávání vždy pojmenujeme, zda nás zajímá počet, nebo zastoupení.</a:t>
            </a:r>
            <a:r>
              <a:rPr lang="cs-CZ" altLang="cs-CZ" sz="1200" b="0" i="0" noProof="0">
                <a:latin typeface="Arial"/>
              </a:rPr>
              <a:t> Procenta mezi skupinami dávají smysl jen při stejném vymezení sledovaného jevu a odpovídajících jmenovatelích.</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Ve které skupině je více případů a ve které větší zastoupení? Více je jich ve druhé, větší podíl však v první. Je nutné přesně pojmenovat, co porovnáváme.</a:t>
            </a:r>
            <a:endParaRPr lang="cs-CZ" altLang="cs-CZ" sz="1200" noProof="0"/>
          </a:p>
          <a:p>
            <a:pPr marL="228600" indent="-171450">
              <a:buChar char="•"/>
            </a:pPr>
            <a:r>
              <a:rPr lang="cs-CZ" altLang="cs-CZ" sz="1200" b="0" i="0" noProof="0">
                <a:latin typeface="Arial"/>
              </a:rPr>
              <a:t>Čas pro vyučujícího: přibližně 1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https://reckak.github.io/statistics-for-psychology/quarto/kapitola_02.html#sec-relativni-cetnost.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Předchozí příklad předpokládal, že známe všechny relevantní údaje. V malé matici kapitoly však jeden člověk dobu spánku neuvedl. Tři další mají zaznamenáno alespoň sedm hodin.</a:t>
            </a:r>
            <a:endParaRPr lang="cs-CZ" altLang="cs-CZ" sz="1200" noProof="0"/>
          </a:p>
          <a:p>
            <a:pPr marL="228600" indent="-171450">
              <a:buChar char="•"/>
            </a:pPr>
            <a:r>
              <a:rPr lang="cs-CZ" altLang="cs-CZ" sz="1200" b="1" i="0" noProof="0">
                <a:latin typeface="Arial"/>
              </a:rPr>
              <a:t>Základ procent neboli jmenovatel</a:t>
            </a:r>
            <a:r>
              <a:rPr lang="cs-CZ" altLang="cs-CZ" sz="1200" b="0" i="0" noProof="0">
                <a:latin typeface="Arial"/>
              </a:rPr>
              <a:t> určuje otázku, na kterou odpovídáme. Při dělení šesti říkáme, u jaké části všech účastníků máme podmínku zaznamenánu. Při dělení pěti říkáme, jaká část známých odpovědí podmínku splňuje.</a:t>
            </a:r>
            <a:endParaRPr lang="cs-CZ" altLang="cs-CZ" sz="1200" noProof="0"/>
          </a:p>
          <a:p>
            <a:pPr marL="228600" indent="-171450">
              <a:buChar char="•"/>
            </a:pPr>
            <a:r>
              <a:rPr lang="cs-CZ" altLang="cs-CZ" sz="1200" b="0" i="1" noProof="0">
                <a:latin typeface="Arial"/>
              </a:rPr>
              <a:t>Neznámý spánek není nula hodin a nelze jej automaticky zařadit mezi osoby spící méně než sedm hodin.</a:t>
            </a:r>
            <a:r>
              <a:rPr lang="cs-CZ" altLang="cs-CZ" sz="1200" b="0" i="0" noProof="0">
                <a:latin typeface="Arial"/>
              </a:rPr>
              <a:t> O šestém člověku prostě nevíme, zda podmínku splnil. Podíl mezi známými odpověďmi také nemusí odpovídat podílu ve všech osobách, zejména pokud chybění souvisí se samotnou hodnotou.</a:t>
            </a:r>
            <a:endParaRPr lang="cs-CZ" altLang="cs-CZ" sz="1200" noProof="0"/>
          </a:p>
          <a:p>
            <a:pPr marL="228600" indent="-171450">
              <a:buChar char="•"/>
            </a:pPr>
            <a:r>
              <a:rPr lang="cs-CZ" altLang="cs-CZ" sz="1200" b="0" i="0" noProof="0">
                <a:latin typeface="Arial"/>
              </a:rPr>
              <a:t>U každé tabulky proto uvádíme počet všech osob, počet platných údajů a počet chybějících. Při porovnávání skupin je zjišťujeme samostatně pro každou proměnnou a podmínku. Kvůli chybějícímu spánku nemusíme vyřadit známý počet slov téhož člověka.</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Získáme podíl osob spících méně než sedm hodin jako 100 % minus 50 %? Ne, pokud 50 % počítáme ze všech šesti. Doplněk obsahuje i člověka s neznámým spánkem.</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https://reckak.github.io/statistics-for-psychology/quarto/kapitola_02.html#sec-jmenovatel.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Když jsme stanovili základ výpočtu, můžeme zkontrolovat, zda tabulka zahrnuje právě všechny relevantní případy. V příkladu s odpočatostí je </a:t>
            </a:r>
            <a:r>
              <a:rPr lang="cs-CZ" altLang="cs-CZ" sz="1200" b="1" i="0" noProof="0">
                <a:latin typeface="Arial"/>
              </a:rPr>
              <a:t>n = 6 případů</a:t>
            </a:r>
            <a:r>
              <a:rPr lang="cs-CZ" altLang="cs-CZ" sz="1200" b="0" i="0" noProof="0">
                <a:latin typeface="Arial"/>
              </a:rPr>
              <a:t> a </a:t>
            </a:r>
            <a:r>
              <a:rPr lang="cs-CZ" altLang="cs-CZ" sz="1200" b="1" i="0" noProof="0">
                <a:latin typeface="Arial"/>
              </a:rPr>
              <a:t>k = 4 kategorie</a:t>
            </a:r>
            <a:r>
              <a:rPr lang="cs-CZ" altLang="cs-CZ" sz="1200" b="0" i="0" noProof="0">
                <a:latin typeface="Arial"/>
              </a:rPr>
              <a:t>. Tato dvě čísla mají rozdílný význam.</a:t>
            </a:r>
            <a:endParaRPr lang="cs-CZ" altLang="cs-CZ" sz="1200" noProof="0"/>
          </a:p>
          <a:p>
            <a:pPr marL="228600" indent="-171450">
              <a:buChar char="•"/>
            </a:pPr>
            <a:r>
              <a:rPr lang="cs-CZ" altLang="cs-CZ" sz="1200" b="1" i="0" noProof="0">
                <a:latin typeface="Arial"/>
              </a:rPr>
              <a:t>Sumace</a:t>
            </a:r>
            <a:r>
              <a:rPr lang="cs-CZ" altLang="cs-CZ" sz="1200" b="0" i="0" noProof="0">
                <a:latin typeface="Arial"/>
              </a:rPr>
              <a:t> je zkrácený zápis součtu pomocí znaku sigma. V obecném vzorci se pod sigmou píše j = 1 a nad ní k. Čteme jej: „Sečteme četnosti f_j od první kategorie do k-té, tedy poslední.“ Výsledek je n. Sigma zde slouží jako operátor sčítání, nikoli jako značka populačního parametru.</a:t>
            </a:r>
            <a:endParaRPr lang="cs-CZ" altLang="cs-CZ" sz="1200" noProof="0"/>
          </a:p>
          <a:p>
            <a:pPr marL="228600" indent="-171450">
              <a:buChar char="•"/>
            </a:pPr>
            <a:r>
              <a:rPr lang="cs-CZ" altLang="cs-CZ" sz="1200" b="0" i="0" noProof="0">
                <a:latin typeface="Arial"/>
              </a:rPr>
              <a:t>Na druhém řádku dosazujeme k = 4. Součet od j = 1 do 4 se rozepsal jako f_1 + f_2 + f_3 + f_4. Z tabulky dosadíme 1 + 2 + 2 + 1 = 6. </a:t>
            </a:r>
            <a:r>
              <a:rPr lang="cs-CZ" altLang="cs-CZ" sz="1200" b="1" i="0" noProof="0">
                <a:latin typeface="Arial"/>
              </a:rPr>
              <a:t>Index j postupně projde všechny čtyři kategorie</a:t>
            </a:r>
            <a:r>
              <a:rPr lang="cs-CZ" altLang="cs-CZ" sz="1200" b="0" i="0" noProof="0">
                <a:latin typeface="Arial"/>
              </a:rPr>
              <a:t>, ale n počítá šest osob. Počet kategorií a počet osob tedy nezaměňujeme.</a:t>
            </a:r>
            <a:endParaRPr lang="cs-CZ" altLang="cs-CZ" sz="1200" noProof="0"/>
          </a:p>
          <a:p>
            <a:pPr marL="228600" indent="-171450">
              <a:buChar char="•"/>
            </a:pPr>
            <a:r>
              <a:rPr lang="cs-CZ" altLang="cs-CZ" sz="1200" b="0" i="0" noProof="0">
                <a:latin typeface="Arial"/>
              </a:rPr>
              <a:t>Jestliže každý případ patří právě do jedné kategorie a žádný nevynecháme, součet absolutních četností je n a součet nezkrácených relativních četností je jedna. Kategorie tedy musejí být zároveň vzájemně výlučné a úplné a podíly musejí mít stejný jmenovatel.</a:t>
            </a:r>
            <a:endParaRPr lang="cs-CZ" altLang="cs-CZ" sz="1200" noProof="0"/>
          </a:p>
          <a:p>
            <a:pPr marL="228600" indent="-171450">
              <a:buChar char="•"/>
            </a:pPr>
            <a:r>
              <a:rPr lang="cs-CZ" altLang="cs-CZ" sz="1200" b="0" i="1" noProof="0">
                <a:latin typeface="Arial"/>
              </a:rPr>
              <a:t>U otázky umožňující několik odpovědí může součet procent přesáhnout sto.</a:t>
            </a:r>
            <a:r>
              <a:rPr lang="cs-CZ" altLang="cs-CZ" sz="1200" b="0" i="0" noProof="0">
                <a:latin typeface="Arial"/>
              </a:rPr>
              <a:t> Jestliže šest z deseti studentů používá poznámky a pět otázky a jeden používá obojí, dostaneme 60 % plus 50 %. Nepopisujeme rozdělení jedné výlučné volby.</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Zaručuje součet 100 % správnost tabulky? Ne. Může například skrývat chybné přiřazení kategorií nebo vyloučené osoby. Jde o potřebnou kontrolu, nikoli úplný důkaz správnosti.</a:t>
            </a:r>
            <a:endParaRPr lang="cs-CZ" altLang="cs-CZ" sz="1200" noProof="0"/>
          </a:p>
          <a:p>
            <a:pPr marL="228600" indent="-171450">
              <a:buChar char="•"/>
            </a:pPr>
            <a:r>
              <a:rPr lang="cs-CZ" altLang="cs-CZ" sz="1200" b="0" i="0" noProof="0">
                <a:latin typeface="Arial"/>
              </a:rPr>
              <a:t>Čas pro vyučujícího: přibližně 3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https://reckak.github.io/statistics-for-psychology/quarto/kapitola_02.html#sec-sumace.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Dosud jsme počítali jednu kategorii. </a:t>
            </a:r>
            <a:r>
              <a:rPr lang="cs-CZ" altLang="cs-CZ" sz="1200" b="1" i="0" noProof="0">
                <a:latin typeface="Arial"/>
              </a:rPr>
              <a:t>Kumulativní četnost</a:t>
            </a:r>
            <a:r>
              <a:rPr lang="cs-CZ" altLang="cs-CZ" sz="1200" b="0" i="0" noProof="0">
                <a:latin typeface="Arial"/>
              </a:rPr>
              <a:t> postupně sčítá kategorie od nejnižší až po zvolenou mez. Pro „nejvýše trochu“ sečteme jednu osobu vůbec odpočatou a dvě trochu odpočaté, tedy tři ze šesti.</a:t>
            </a:r>
            <a:endParaRPr lang="cs-CZ" altLang="cs-CZ" sz="1200" noProof="0"/>
          </a:p>
          <a:p>
            <a:pPr marL="228600" indent="-171450">
              <a:buChar char="•"/>
            </a:pPr>
            <a:r>
              <a:rPr lang="cs-CZ" altLang="cs-CZ" sz="1200" b="0" i="0" noProof="0">
                <a:latin typeface="Arial"/>
              </a:rPr>
              <a:t>Obecný zápis </a:t>
            </a:r>
            <a:r>
              <a:rPr lang="cs-CZ" altLang="cs-CZ" sz="1200" b="1" i="0" noProof="0">
                <a:latin typeface="Arial"/>
              </a:rPr>
              <a:t>f_{kum,j} = f_1 + … + f_j</a:t>
            </a:r>
            <a:r>
              <a:rPr lang="cs-CZ" altLang="cs-CZ" sz="1200" b="0" i="0" noProof="0">
                <a:latin typeface="Arial"/>
              </a:rPr>
              <a:t> vyjadřuje součet od první kategorie po kategorii j včetně. Dolní index „kum“ připomíná kumulaci a j označuje poslední zahrnutou kategorii. </a:t>
            </a:r>
            <a:r>
              <a:rPr lang="cs-CZ" altLang="cs-CZ" sz="1200" b="1" i="0" noProof="0">
                <a:latin typeface="Arial"/>
              </a:rPr>
              <a:t>p_{kum,j} = f_{kum,j} / n</a:t>
            </a:r>
            <a:r>
              <a:rPr lang="cs-CZ" altLang="cs-CZ" sz="1200" b="0" i="0" noProof="0">
                <a:latin typeface="Arial"/>
              </a:rPr>
              <a:t> převede tento součet na podíl všech zahrnutých případů. Tři tečky znamenají pokračování přes všechny mezilehlé kategorie.</a:t>
            </a:r>
            <a:endParaRPr lang="cs-CZ" altLang="cs-CZ" sz="1200" noProof="0"/>
          </a:p>
          <a:p>
            <a:pPr marL="228600" indent="-171450">
              <a:buChar char="•"/>
            </a:pPr>
            <a:r>
              <a:rPr lang="cs-CZ" altLang="cs-CZ" sz="1200" b="0" i="0" noProof="0">
                <a:latin typeface="Arial"/>
              </a:rPr>
              <a:t>V tabulce roste kumulativní počet z jedné na tři, pět a šest. Kumulativní procenta jsou přibližně 16,7 %, 50,0 %, 83,3 % a 100,0 %. Absolutní kumulativní četnost dělíme stejným počtem platných odpovědí jako běžnou četnost.</a:t>
            </a:r>
            <a:endParaRPr lang="cs-CZ" altLang="cs-CZ" sz="1200" noProof="0"/>
          </a:p>
          <a:p>
            <a:pPr marL="228600" indent="-171450">
              <a:buChar char="•"/>
            </a:pPr>
            <a:r>
              <a:rPr lang="cs-CZ" altLang="cs-CZ" sz="1200" b="0" i="0" noProof="0">
                <a:latin typeface="Arial"/>
              </a:rPr>
              <a:t>Ve zvýrazněném řádku „trochu“ počítáme f_{kum,2} = 1 + 2 = 3 a p_{kum,2} = 3/6 = 0,500. </a:t>
            </a:r>
            <a:r>
              <a:rPr lang="cs-CZ" altLang="cs-CZ" sz="1200" b="1" i="0" noProof="0">
                <a:latin typeface="Arial"/>
              </a:rPr>
              <a:t>Nejvýše trochu odpočatá je polovina účastníků.</a:t>
            </a:r>
            <a:r>
              <a:rPr lang="cs-CZ" altLang="cs-CZ" sz="1200" b="0" i="0" noProof="0">
                <a:latin typeface="Arial"/>
              </a:rPr>
              <a:t> Poslední řádek zahrnuje všech šest osob: kumulativní počet je n = 6, podíl 1,000 a procentní vyjádření 100,0 %. Poslední řádek není dodatečným součtem kumulativního sloupce.</a:t>
            </a:r>
            <a:endParaRPr lang="cs-CZ" altLang="cs-CZ" sz="1200" noProof="0"/>
          </a:p>
          <a:p>
            <a:pPr marL="228600" indent="-171450">
              <a:buChar char="•"/>
            </a:pPr>
            <a:r>
              <a:rPr lang="cs-CZ" altLang="cs-CZ" sz="1200" b="0" i="1" noProof="0">
                <a:latin typeface="Arial"/>
              </a:rPr>
              <a:t>Kumulativní sloupec nesčítáme.</a:t>
            </a:r>
            <a:r>
              <a:rPr lang="cs-CZ" altLang="cs-CZ" sz="1200" b="0" i="0" noProof="0">
                <a:latin typeface="Arial"/>
              </a:rPr>
              <a:t> Tatáž osoba je obsažena ve více průběžných součtech. Poslední hodnota má být n, respektive 100 %. Sloupec nemůže klesat, protože přidáváme nezáporné četnosti.</a:t>
            </a:r>
            <a:endParaRPr lang="cs-CZ" altLang="cs-CZ" sz="1200" noProof="0"/>
          </a:p>
          <a:p>
            <a:pPr marL="228600" indent="-171450">
              <a:buChar char="•"/>
            </a:pPr>
            <a:r>
              <a:rPr lang="cs-CZ" altLang="cs-CZ" sz="1200" b="0" i="0" noProof="0">
                <a:latin typeface="Arial"/>
              </a:rPr>
              <a:t>Kumulování dává věcný smysl u uspořádaných kategorií nebo čísel. U genderové identity závisí průběžné součty jen na námi zvoleném pořadí. Výrok „nejvýše muž“ nemá přirozený význam.</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Je „méně než 7 slov“ totéž jako „nejvýše 7 slov“? Ne. Druhá otázka zahrnuje i osoby se sedmi slovy. Pro „alespoň 7“ odečítáme od celku osoby s méně než sedmi.</a:t>
            </a:r>
            <a:endParaRPr lang="cs-CZ" altLang="cs-CZ" sz="1200" noProof="0"/>
          </a:p>
          <a:p>
            <a:pPr marL="228600" indent="-171450">
              <a:buChar char="•"/>
            </a:pPr>
            <a:r>
              <a:rPr lang="cs-CZ" altLang="cs-CZ" sz="1200" b="0" i="0" noProof="0">
                <a:latin typeface="Arial"/>
              </a:rPr>
              <a:t>Čas pro vyučujícího: přibližně 4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https://reckak.github.io/statistics-for-psychology/quarto/kapitola_02.html#sec-kumulativni-cetnosti.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Číselná proměnná může mít tolik různých hodnot, že tabulka jednotlivých hodnot není přehledná. </a:t>
            </a:r>
            <a:r>
              <a:rPr lang="cs-CZ" altLang="cs-CZ" sz="1200" b="1" i="0" noProof="0">
                <a:latin typeface="Arial"/>
              </a:rPr>
              <a:t>Intervalové třídění</a:t>
            </a:r>
            <a:r>
              <a:rPr lang="cs-CZ" altLang="cs-CZ" sz="1200" b="0" i="0" noProof="0">
                <a:latin typeface="Arial"/>
              </a:rPr>
              <a:t> spojí sousední hodnoty do třídních intervalů. Tím získáme přehled, ale ztratíme část podrobností.</a:t>
            </a:r>
            <a:endParaRPr lang="cs-CZ" altLang="cs-CZ" sz="1200" noProof="0"/>
          </a:p>
          <a:p>
            <a:pPr marL="228600" indent="-171450">
              <a:buChar char="•"/>
            </a:pPr>
            <a:r>
              <a:rPr lang="cs-CZ" altLang="cs-CZ" sz="1200" b="0" i="0" noProof="0">
                <a:latin typeface="Arial"/>
              </a:rPr>
              <a:t>Zvolíme pravidlo: </a:t>
            </a:r>
            <a:r>
              <a:rPr lang="cs-CZ" altLang="cs-CZ" sz="1200" b="1" i="0" noProof="0">
                <a:latin typeface="Arial"/>
              </a:rPr>
              <a:t>dolní mez do intervalu nepatří, horní ano</a:t>
            </a:r>
            <a:r>
              <a:rPr lang="cs-CZ" altLang="cs-CZ" sz="1200" b="0" i="0" noProof="0">
                <a:latin typeface="Arial"/>
              </a:rPr>
              <a:t>. Interval více než šest až sedm hodin včetně obsahuje 6,2, 6,8 i 7,0, nikoli 6,0. Šířka je 7 minus 6, tedy jedna hodina. Střed leží na 6,5 hodiny, ale nemusí být hodnotou žádného člověka. Součet četností až po horní mez pak znamená „nejvýše“ tato mez.</a:t>
            </a:r>
            <a:endParaRPr lang="cs-CZ" altLang="cs-CZ" sz="1200" noProof="0"/>
          </a:p>
          <a:p>
            <a:pPr marL="228600" indent="-171450">
              <a:buChar char="•"/>
            </a:pPr>
            <a:r>
              <a:rPr lang="cs-CZ" altLang="cs-CZ" sz="1200" b="0" i="0" noProof="0">
                <a:latin typeface="Arial"/>
              </a:rPr>
              <a:t>Číselná osa ukazuje interval jako zvýrazněný úsek od šesti do sedmi. </a:t>
            </a:r>
            <a:r>
              <a:rPr lang="cs-CZ" altLang="cs-CZ" sz="1200" b="1" i="0" noProof="0">
                <a:latin typeface="Arial"/>
              </a:rPr>
              <a:t>Prázdné kolečko u 6,0</a:t>
            </a:r>
            <a:r>
              <a:rPr lang="cs-CZ" altLang="cs-CZ" sz="1200" b="0" i="0" noProof="0">
                <a:latin typeface="Arial"/>
              </a:rPr>
              <a:t> znamená, že dolní mez do tohoto intervalu nepatří. </a:t>
            </a:r>
            <a:r>
              <a:rPr lang="cs-CZ" altLang="cs-CZ" sz="1200" b="1" i="0" noProof="0">
                <a:latin typeface="Arial"/>
              </a:rPr>
              <a:t>Plné kolečko u 7,0</a:t>
            </a:r>
            <a:r>
              <a:rPr lang="cs-CZ" altLang="cs-CZ" sz="1200" b="0" i="0" noProof="0">
                <a:latin typeface="Arial"/>
              </a:rPr>
              <a:t> znamená, že horní mez zahrnujeme. Vnitřní body 6,2 a 6,8 leží ve stejném intervalu. Hodnota 6,0 patří do předchozího intervalu více než pět až šest včetně. Každou hodnotu započítáme právě jednou.</a:t>
            </a:r>
            <a:endParaRPr lang="cs-CZ" altLang="cs-CZ" sz="1200" noProof="0"/>
          </a:p>
          <a:p>
            <a:pPr marL="228600" indent="-171450">
              <a:buChar char="•"/>
            </a:pPr>
            <a:r>
              <a:rPr lang="cs-CZ" altLang="cs-CZ" sz="1200" b="0" i="0" noProof="0">
                <a:latin typeface="Arial"/>
              </a:rPr>
              <a:t>Možné je i opačné pravidlo, tedy dolní mez včetně a horní bez. Obě konvence jsou přípustné, ale změna vyžaduje přepočítat četnosti. U našeho pravidla musíme začít pod minimem dat, nebo výslovně zahrnout dolní mez prvního intervalu. V cvičných datech se vyskytují přesně čtyři hodiny, proto první interval zahrne čtyři i pět hodin. Další interval zahrne více než pět až šest včetně. Žádný platný údaj nesmí vypadnout.</a:t>
            </a:r>
            <a:endParaRPr lang="cs-CZ" altLang="cs-CZ" sz="1200" noProof="0"/>
          </a:p>
          <a:p>
            <a:pPr marL="228600" indent="-171450">
              <a:buChar char="•"/>
            </a:pPr>
            <a:r>
              <a:rPr lang="cs-CZ" altLang="cs-CZ" sz="1200" b="0" i="1" noProof="0">
                <a:latin typeface="Arial"/>
              </a:rPr>
              <a:t>Z intervalové tabulky neznáme přesné rozložení uvnitř intervalu.</a:t>
            </a:r>
            <a:r>
              <a:rPr lang="cs-CZ" altLang="cs-CZ" sz="1200" b="0" i="0" noProof="0">
                <a:latin typeface="Arial"/>
              </a:rPr>
              <a:t> Víme-li, že více než šest až sedm hodin včetně uvedlo osm lidí, nevíme, kolik z nich spalo nejvýše 6,5 hodiny. K přesné odpovědi potřebujeme původní data.</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Do kterého intervalu patří 7,0 a proč? Do intervalu více než 6 až 7 včetně, protože horní mez zahrnujeme. Následující interval začíná až hodnotami většími než 7.</a:t>
            </a:r>
            <a:endParaRPr lang="cs-CZ" altLang="cs-CZ" sz="1200" noProof="0"/>
          </a:p>
          <a:p>
            <a:pPr marL="228600" indent="-171450">
              <a:buChar char="•"/>
            </a:pPr>
            <a:r>
              <a:rPr lang="cs-CZ" altLang="cs-CZ" sz="1200" b="0" i="0" noProof="0">
                <a:latin typeface="Arial"/>
              </a:rPr>
              <a:t>Čas pro vyučujícího: přibližně 3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https://reckak.github.io/statistics-for-psychology/quarto/kapitola_02.html#sec-tridni-intervaly.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První skupina grafů zobrazuje samostatné kategorie. </a:t>
            </a:r>
            <a:r>
              <a:rPr lang="cs-CZ" altLang="cs-CZ" sz="1200" b="1" i="0" noProof="0">
                <a:latin typeface="Arial"/>
              </a:rPr>
              <a:t>Sloupcový graf</a:t>
            </a:r>
            <a:r>
              <a:rPr lang="cs-CZ" altLang="cs-CZ" sz="1200" b="0" i="0" noProof="0">
                <a:latin typeface="Arial"/>
              </a:rPr>
              <a:t> vyjadřuje jejich četnosti výškou sloupců od společné základny. </a:t>
            </a:r>
            <a:r>
              <a:rPr lang="cs-CZ" altLang="cs-CZ" sz="1200" b="1" i="0" noProof="0">
                <a:latin typeface="Arial"/>
              </a:rPr>
              <a:t>Výsečový graf</a:t>
            </a:r>
            <a:r>
              <a:rPr lang="cs-CZ" altLang="cs-CZ" sz="1200" b="0" i="0" noProof="0">
                <a:latin typeface="Arial"/>
              </a:rPr>
              <a:t> vyjadřuje podíly částmi kruhu.</a:t>
            </a:r>
            <a:endParaRPr lang="cs-CZ" altLang="cs-CZ" sz="1200" noProof="0"/>
          </a:p>
          <a:p>
            <a:pPr marL="228600" indent="-171450">
              <a:buChar char="•"/>
            </a:pPr>
            <a:r>
              <a:rPr lang="cs-CZ" altLang="cs-CZ" sz="1200" b="0" i="0" noProof="0">
                <a:latin typeface="Arial"/>
              </a:rPr>
              <a:t>Obrázek z kapitoly zobrazuje jediný hlavní způsob přípravy u 36 modelových studentů: čtrnáct procvičuje otázky, dvanáct čte a deset vysvětluje látku. To je přibližně 38,9 %, 33,3 % a 27,8 %. V obou zobrazeních jsou tatáž čísla. Délky sloupců na společné stupnici umožňují podobné četnosti porovnat snáze než výseče.</a:t>
            </a:r>
            <a:endParaRPr lang="cs-CZ" altLang="cs-CZ" sz="1200" noProof="0"/>
          </a:p>
          <a:p>
            <a:pPr marL="228600" indent="-171450">
              <a:buChar char="•"/>
            </a:pPr>
            <a:r>
              <a:rPr lang="cs-CZ" altLang="cs-CZ" sz="1200" b="0" i="0" noProof="0">
                <a:latin typeface="Arial"/>
              </a:rPr>
              <a:t>U ordinální odpočatosti zachováme pořadí vůbec, trochu, dost, zcela. Nominální kategorie můžeme seřadit například podle četností. Sloupce začínají na nule. Oddělené kategorie nevyjadřují číselné intervaly.</a:t>
            </a:r>
            <a:endParaRPr lang="cs-CZ" altLang="cs-CZ" sz="1200" noProof="0"/>
          </a:p>
          <a:p>
            <a:pPr marL="228600" indent="-171450">
              <a:buChar char="•"/>
            </a:pPr>
            <a:r>
              <a:rPr lang="cs-CZ" altLang="cs-CZ" sz="1200" b="0" i="1" noProof="0">
                <a:latin typeface="Arial"/>
              </a:rPr>
              <a:t>Výsečový graf je vhodný pouze tehdy, když části dohromady tvoří vymezený celek.</a:t>
            </a:r>
            <a:r>
              <a:rPr lang="cs-CZ" altLang="cs-CZ" sz="1200" b="0" i="0" noProof="0">
                <a:latin typeface="Arial"/>
              </a:rPr>
              <a:t> Vícečetné odpovědi s překrývajícími se procenty do jednoho koláče nepatří. Pro skupiny různých velikostí lze porovnávat podíly, ale vždy uvedeme i příslušné počty osob.</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Proč by dvě stejné výseče nemusely představovat stejný počet osob? Protože mohou tvořit stejný podíl dvou různě velkých skupin.</a:t>
            </a:r>
            <a:endParaRPr lang="cs-CZ" altLang="cs-CZ" sz="1200" noProof="0"/>
          </a:p>
          <a:p>
            <a:pPr marL="228600" indent="-171450">
              <a:buChar char="•"/>
            </a:pPr>
            <a:r>
              <a:rPr lang="cs-CZ" altLang="cs-CZ" sz="1200" b="0" i="0" noProof="0">
                <a:latin typeface="Arial"/>
              </a:rPr>
              <a:t>Čas pro vyučujícího: přibližně 1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https://reckak.github.io/statistics-for-psychology/quarto/kapitola_02.html#sec-vysecovy-graf.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Vedle souhrnných četností můžeme zachovat jednotlivá číselná pozorování. V </a:t>
            </a:r>
            <a:r>
              <a:rPr lang="cs-CZ" altLang="cs-CZ" sz="1200" b="1" i="0" noProof="0">
                <a:latin typeface="Arial"/>
              </a:rPr>
              <a:t>tečkovém grafu</a:t>
            </a:r>
            <a:r>
              <a:rPr lang="cs-CZ" altLang="cs-CZ" sz="1200" b="0" i="0" noProof="0">
                <a:latin typeface="Arial"/>
              </a:rPr>
              <a:t> umístíme jednu tečku za každého účastníka nad jeho hodnotu. Opakované výsledky skládáme nad sebe. Svislá poloha pouze uvolňuje místo, nepředstavuje druhou měřenou proměnnou.</a:t>
            </a:r>
            <a:endParaRPr lang="cs-CZ" altLang="cs-CZ" sz="1200" noProof="0"/>
          </a:p>
          <a:p>
            <a:pPr marL="228600" indent="-171450">
              <a:buChar char="•"/>
            </a:pPr>
            <a:r>
              <a:rPr lang="cs-CZ" altLang="cs-CZ" sz="1200" b="0" i="0" noProof="0">
                <a:latin typeface="Arial"/>
              </a:rPr>
              <a:t>Graf z kapitoly obsahuje 36 výsledků úlohy s dvanácti slovy. Nejvíce teček je nad hodnotami sedm a osm. Nad nulou je jedna tečka a nad jedničkou žádná. Nulový výkon jednoho člověka a nulová četnost jedničky jsou různé informace.</a:t>
            </a:r>
            <a:endParaRPr lang="cs-CZ" altLang="cs-CZ" sz="1200" noProof="0"/>
          </a:p>
          <a:p>
            <a:pPr marL="228600" indent="-171450">
              <a:buChar char="•"/>
            </a:pPr>
            <a:r>
              <a:rPr lang="cs-CZ" altLang="cs-CZ" noProof="0" sz="1200" b="0" i="0">
                <a:latin typeface="Arial"/>
              </a:rPr>
              <a:t>Vpravo jsou </a:t>
            </a:r>
            <a:r>
              <a:rPr lang="cs-CZ" altLang="cs-CZ" noProof="0" sz="1200" b="1" i="0">
                <a:latin typeface="Arial"/>
              </a:rPr>
              <a:t>stejná data jako v tečkovém grafu</a:t>
            </a:r>
            <a:r>
              <a:rPr lang="cs-CZ" altLang="cs-CZ" noProof="0" sz="1200" b="0" i="0">
                <a:latin typeface="Arial"/>
              </a:rPr>
              <a:t>, nyní ve zobrazení stonek a list. </a:t>
            </a:r>
            <a:r>
              <a:rPr lang="cs-CZ" altLang="cs-CZ" noProof="0" sz="1200" b="1" i="0">
                <a:latin typeface="Arial"/>
              </a:rPr>
              <a:t>Stonek označuje desítky a list jednotky.</a:t>
            </a:r>
            <a:r>
              <a:rPr lang="cs-CZ" altLang="cs-CZ" noProof="0" sz="1200" b="0" i="0">
                <a:latin typeface="Arial"/>
              </a:rPr>
              <a:t> Klíč „1 | 2 = 12 slov“ říká, jak obě části spojíme. Řádek se stonkem 0 zachycuje výsledky od nuly do devíti slov. Řádek „1 | 0 0 0 1 1 2“ znamená 10, 10, 10, 11, 11 a 12 slov. Tři nuly za stonkem 1 tedy odpovídají třem tečkám nad desítkou. Každý list představuje jednoho účastníka; opakované listy ponecháváme a řadíme je vzestupně. </a:t>
            </a:r>
            <a:r>
              <a:rPr lang="cs-CZ" altLang="cs-CZ" noProof="0" sz="1200" b="0" i="1">
                <a:latin typeface="Arial"/>
              </a:rPr>
              <a:t>Celkem je zde 36 listů stejně jako 36 teček.</a:t>
            </a:r>
            <a:endParaRPr lang="cs-CZ" sz="1200"/>
          </a:p>
          <a:p>
            <a:pPr marL="228600" indent="-171450">
              <a:buChar char="•"/>
            </a:pPr>
            <a:r>
              <a:rPr lang="cs-CZ" altLang="cs-CZ" sz="1200" b="0" i="1" noProof="0">
                <a:latin typeface="Arial"/>
              </a:rPr>
              <a:t>Obě zobrazení mohou zachovat všechny zaznamenané hodnoty, nikoli však jejich původní pořadí a přiřazení lidem.</a:t>
            </a:r>
            <a:r>
              <a:rPr lang="cs-CZ" altLang="cs-CZ" sz="1200" b="0" i="0" noProof="0">
                <a:latin typeface="Arial"/>
              </a:rPr>
              <a:t> U velkých souborů mohou být rozměrná. Pro malou podmnožinu dat se hodí i k ruční práci.</a:t>
            </a:r>
            <a:endParaRPr lang="cs-CZ" altLang="cs-CZ" sz="1200" noProof="0"/>
          </a:p>
          <a:p>
            <a:pPr marL="228600" indent="-171450">
              <a:buChar char="•"/>
            </a:pPr>
            <a:r>
              <a:rPr lang="cs-CZ" altLang="cs-CZ" noProof="0" sz="1200" b="1" i="0">
                <a:latin typeface="Arial"/>
              </a:rPr>
              <a:t>Otázka k zamyšlení:</a:t>
            </a:r>
            <a:r>
              <a:rPr lang="cs-CZ" altLang="cs-CZ" noProof="0" sz="1200" b="0" i="0">
                <a:latin typeface="Arial"/>
              </a:rPr>
              <a:t> Znamenají tři nuly za stonkem 1 tři nulové výsledky? Ne, jsou to tři účastníci, z nichž každý vybavil deset slov. Hodnotu listu vždy čteme společně se stonkem a podle klíče.</a:t>
            </a:r>
            <a:endParaRPr lang="cs-CZ" sz="120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https://reckak.github.io/statistics-for-psychology/quarto/kapitola_02.html#sec-teckovy-graf.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Když máme mnoho různých časových údajů, použijeme </a:t>
            </a:r>
            <a:r>
              <a:rPr lang="cs-CZ" altLang="cs-CZ" sz="1200" b="1" i="0" noProof="0">
                <a:latin typeface="Arial"/>
              </a:rPr>
              <a:t>histogram</a:t>
            </a:r>
            <a:r>
              <a:rPr lang="cs-CZ" altLang="cs-CZ" sz="1200" b="0" i="0" noProof="0">
                <a:latin typeface="Arial"/>
              </a:rPr>
              <a:t>. Každý obdélník zabírá skutečnou šířku intervalu na číselné ose. Vodorovná poloha tedy odpovídá hodinám, nikoli libovolnému pořadí kategorií.</a:t>
            </a:r>
            <a:endParaRPr lang="cs-CZ" altLang="cs-CZ" sz="1200" noProof="0"/>
          </a:p>
          <a:p>
            <a:pPr marL="228600" indent="-171450">
              <a:buChar char="•"/>
            </a:pPr>
            <a:r>
              <a:rPr lang="cs-CZ" altLang="cs-CZ" sz="1200" b="0" i="0" noProof="0">
                <a:latin typeface="Arial"/>
              </a:rPr>
              <a:t>Histogram z kapitoly zahrnuje 33 známých dob spánku, tři údaje chybí. Jednohodinové intervaly od čtyř do deseti mají četnosti 3, 5, 8, 10, 5 a 2. Horní mez zahrnujeme. Nejčetnější je interval více než sedm až osm hodin včetně. Neznamená to, že všech deset lidí spalo přesně 7,5 hodiny.</a:t>
            </a:r>
            <a:endParaRPr lang="cs-CZ" altLang="cs-CZ" sz="1200" noProof="0"/>
          </a:p>
          <a:p>
            <a:pPr marL="228600" indent="-171450">
              <a:buChar char="•"/>
            </a:pPr>
            <a:r>
              <a:rPr lang="cs-CZ" altLang="cs-CZ" sz="1200" b="0" i="0" noProof="0">
                <a:latin typeface="Arial"/>
              </a:rPr>
              <a:t>Rozdíl oproti sloupcovému grafu nespočívá jen v mezerách. Rozhodující je význam vodorovné osy. Prázdný interval ponecháme na jeho číselném místě, aby se vzdálenosti nezkreslily. Histogram lze vytvořit i pro seskupené diskrétní počty, ačkoli několik možných celých hodnot často lépe ukážou tečky.</a:t>
            </a:r>
            <a:endParaRPr lang="cs-CZ" altLang="cs-CZ" sz="1200" noProof="0"/>
          </a:p>
          <a:p>
            <a:pPr marL="228600" indent="-171450">
              <a:buChar char="•"/>
            </a:pPr>
            <a:r>
              <a:rPr lang="cs-CZ" altLang="cs-CZ" sz="1200" b="0" i="1" noProof="0">
                <a:latin typeface="Arial"/>
              </a:rPr>
              <a:t>V hlavních úlohách používáme stejně široké intervaly.</a:t>
            </a:r>
            <a:r>
              <a:rPr lang="cs-CZ" altLang="cs-CZ" sz="1200" b="0" i="0" noProof="0">
                <a:latin typeface="Arial"/>
              </a:rPr>
              <a:t> Při nestejných šířkách musí četnosti odpovídat plocha obdélníku. Výšku bychom získali dělením četnosti šířkou intervalu. Prosté výšky podle četností by takové zobrazení zkreslily.</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Mohou se v histogramu objevit mezery? Ano, pokud interval obsahuje nula případů. Jeho šířku na číselné ose musíme zachovat.</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https://reckak.github.io/statistics-for-psychology/quarto/kapitola_02.html#sec-histogram.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Histogram je výsledkem volby intervalů. Nyní vidíme stejných 33 dob spánku ve dvou členěních. Vlevo mají intervaly šířku půl hodiny, vpravo dvě hodiny. Větší výšky vpravo neznamenají více účastníků, ale širší rozsah hodnot v jednom sloupci.</a:t>
            </a:r>
            <a:endParaRPr lang="cs-CZ" altLang="cs-CZ" sz="1200" noProof="0"/>
          </a:p>
          <a:p>
            <a:pPr marL="228600" indent="-171450">
              <a:buChar char="•"/>
            </a:pPr>
            <a:r>
              <a:rPr lang="cs-CZ" altLang="cs-CZ" sz="1200" b="1" i="0" noProof="0">
                <a:latin typeface="Arial"/>
              </a:rPr>
              <a:t>Šířka i poloha mezí</a:t>
            </a:r>
            <a:r>
              <a:rPr lang="cs-CZ" altLang="cs-CZ" sz="1200" b="0" i="0" noProof="0">
                <a:latin typeface="Arial"/>
              </a:rPr>
              <a:t> ovlivňují dojem z tvaru rozdělení. Úzké intervaly ukazují více detailů, mohou však zvýraznit nepravidelnosti několika pozorování. Široké intervaly mohou sloučit odlišné části rozdělení. Jediná univerzálně správná šířka neexistuje.</a:t>
            </a:r>
            <a:endParaRPr lang="cs-CZ" altLang="cs-CZ" sz="1200" noProof="0"/>
          </a:p>
          <a:p>
            <a:pPr marL="228600" indent="-171450">
              <a:buChar char="•"/>
            </a:pPr>
            <a:r>
              <a:rPr lang="cs-CZ" altLang="cs-CZ" sz="1200" b="0" i="0" noProof="0">
                <a:latin typeface="Arial"/>
              </a:rPr>
              <a:t>Volbu odůvodníme otázkou, přesností měření, rozsahem hodnot a počtem případů. Pro spánek bývají celé hodiny srozumitelné. Desetinný zápis přitom neznamená dokonale přesné měření: jde o odhad účastníka.</a:t>
            </a:r>
            <a:endParaRPr lang="cs-CZ" altLang="cs-CZ" sz="1200" noProof="0"/>
          </a:p>
          <a:p>
            <a:pPr marL="228600" indent="-171450">
              <a:buChar char="•"/>
            </a:pPr>
            <a:r>
              <a:rPr lang="cs-CZ" altLang="cs-CZ" sz="1200" b="0" i="1" noProof="0">
                <a:latin typeface="Arial"/>
              </a:rPr>
              <a:t>Za stabilnější rys dat považujeme takový, který zůstává patrný při několika přiměřených členěních.</a:t>
            </a:r>
            <a:r>
              <a:rPr lang="cs-CZ" altLang="cs-CZ" sz="1200" b="0" i="0" noProof="0">
                <a:latin typeface="Arial"/>
              </a:rPr>
              <a:t> Dva vrcholy, které po malém posunu mezí zmizí, samy nedokládají dva psychologické typy. Pro srovnání skupin vždy zachováme totožné meze.</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Je vyšší sloupec v pravém grafu důkazem silnějšího soustředění hodnot? Bez zohlednění šířky nikoli. Jeden široký sloupec slučuje několik úzkých.</a:t>
            </a:r>
            <a:endParaRPr lang="cs-CZ" altLang="cs-CZ" sz="1200" noProof="0"/>
          </a:p>
          <a:p>
            <a:pPr marL="228600" indent="-171450">
              <a:buChar char="•"/>
            </a:pPr>
            <a:r>
              <a:rPr lang="cs-CZ" altLang="cs-CZ" sz="1200" b="0" i="0" noProof="0">
                <a:latin typeface="Arial"/>
              </a:rPr>
              <a:t>Čas pro vyučujícího: přibližně 1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https://reckak.github.io/statistics-for-psychology/quarto/kapitola_02.html#sec-volba-intervalu.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Vrátíme se k otázce, jaká část osob dosahuje výsledku nejvýše na zvolené mezi. </a:t>
            </a:r>
            <a:r>
              <a:rPr lang="cs-CZ" altLang="cs-CZ" sz="1200" b="1" i="0" noProof="0">
                <a:latin typeface="Arial"/>
              </a:rPr>
              <a:t>Kumulativní graf jednotlivých hodnot</a:t>
            </a:r>
            <a:r>
              <a:rPr lang="cs-CZ" altLang="cs-CZ" sz="1200" b="0" i="0" noProof="0">
                <a:latin typeface="Arial"/>
              </a:rPr>
              <a:t> postupně zahrnuje všechny výsledky až po tuto mez včetně.</a:t>
            </a:r>
            <a:endParaRPr lang="cs-CZ" altLang="cs-CZ" sz="1200" noProof="0"/>
          </a:p>
          <a:p>
            <a:pPr marL="228600" indent="-171450">
              <a:buChar char="•"/>
            </a:pPr>
            <a:r>
              <a:rPr lang="cs-CZ" altLang="cs-CZ" sz="1200" b="0" i="0" noProof="0">
                <a:latin typeface="Arial"/>
              </a:rPr>
              <a:t>Na vodorovné ose je počet slov, na svislé podíl lidí s nejvýše tímto výsledkem. V modelovém souboru z kapitoly má nejvýše šest slov čtrnáct z šestatřiceti lidí, tedy 38,9 %. Nejvýše osm má šestadvacet lidí, tedy 72,2 %. U dvanácti dosáhneme 100,0 %.</a:t>
            </a:r>
            <a:endParaRPr lang="cs-CZ" altLang="cs-CZ" sz="1200" noProof="0"/>
          </a:p>
          <a:p>
            <a:pPr marL="228600" indent="-171450">
              <a:buChar char="•"/>
            </a:pPr>
            <a:r>
              <a:rPr lang="cs-CZ" altLang="cs-CZ" sz="1200" b="0" i="0" noProof="0">
                <a:latin typeface="Arial"/>
              </a:rPr>
              <a:t>Graf má schody. Mezi pozorovanými hodnotami se počet nemění. Plný bod značí hodnotu včetně dané meze, prázdný úroveň před skokem. U jedničky skok nevzniká, protože právě jedno slovo nemá nikdo. Kumulativní počet tam ale není nula: zahrnuje člověka s nulovým výkonem. Velikost každého skoku odpovídá relativní četnosti příslušné hodnoty, protože svislá osa ukazuje podíly. Při ose v počtech by výška skoku odpovídala absolutní četnosti.</a:t>
            </a:r>
            <a:endParaRPr lang="cs-CZ" altLang="cs-CZ" sz="1200" noProof="0"/>
          </a:p>
          <a:p>
            <a:pPr marL="228600" indent="-171450">
              <a:buChar char="•"/>
            </a:pPr>
            <a:r>
              <a:rPr lang="cs-CZ" altLang="cs-CZ" sz="1200" b="0" i="1" noProof="0">
                <a:latin typeface="Arial"/>
              </a:rPr>
              <a:t>Kumulativní graf nemůže klesat.</a:t>
            </a:r>
            <a:r>
              <a:rPr lang="cs-CZ" altLang="cs-CZ" sz="1200" b="0" i="0" noProof="0">
                <a:latin typeface="Arial"/>
              </a:rPr>
              <a:t> Pokud nás zajímá alespoň osm slov, odečteme od celku případy s méně než osmi, tedy u celočíselných výsledků nejvýše sedm. Neodečítáme kumulativní hodnotu u osmi.</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Co znamená vodorovná část grafu? V daném rozsahu nebyla zaznamenána další hodnota, která by zvýšila kumulativní počet.</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https://reckak.github.io/statistics-for-psychology/quarto/kapitola_02.html#sec-kumulativni-graf.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U jednotlivých výsledků jsme znali přesné hodnoty. Jestliže máme pouze intervalovou tabulku, zakreslíme kumulativní četnosti na </a:t>
            </a:r>
            <a:r>
              <a:rPr lang="cs-CZ" altLang="cs-CZ" sz="1200" b="1" i="0" noProof="0">
                <a:latin typeface="Arial"/>
              </a:rPr>
              <a:t>horních mezích intervalů</a:t>
            </a:r>
            <a:r>
              <a:rPr lang="cs-CZ" altLang="cs-CZ" sz="1200" b="0" i="0" noProof="0">
                <a:latin typeface="Arial"/>
              </a:rPr>
              <a:t>. Protože horní mez zahrnujeme, bod vyjadřuje počet nebo podíl údajů nejvýše rovných této mezi. Význam je stejný jako u grafu jednotlivých hodnot.</a:t>
            </a:r>
            <a:endParaRPr lang="cs-CZ" altLang="cs-CZ" sz="1200" noProof="0"/>
          </a:p>
          <a:p>
            <a:pPr marL="228600" indent="-171450">
              <a:buChar char="•"/>
            </a:pPr>
            <a:r>
              <a:rPr lang="cs-CZ" altLang="cs-CZ" sz="1200" b="0" i="0" noProof="0">
                <a:latin typeface="Arial"/>
              </a:rPr>
              <a:t>Graf z kapitoly začíná u čtyř hodin nulou, protože žádný známý údaj není menší nebo roven čtyřem. U sedmi hodin zahrnuje první tři intervaly: 3 + 5 + 8 = 16 osob. Podíl je 16 / 33, tedy přibližně 48,5 %. U osmi jde o 26 / 33, tedy 78,8 %. U deseti jsou zahrnuty všechny známé údaje.</a:t>
            </a:r>
            <a:endParaRPr lang="cs-CZ" altLang="cs-CZ" sz="1200" noProof="0"/>
          </a:p>
          <a:p>
            <a:pPr marL="228600" indent="-171450">
              <a:buChar char="•"/>
            </a:pPr>
            <a:r>
              <a:rPr lang="cs-CZ" altLang="cs-CZ" sz="1200" b="0" i="1" noProof="0">
                <a:latin typeface="Arial"/>
              </a:rPr>
              <a:t>Spojnice mezi body neurčuje přesné rozdělení uvnitř intervalu.</a:t>
            </a:r>
            <a:r>
              <a:rPr lang="cs-CZ" altLang="cs-CZ" sz="1200" b="0" i="0" noProof="0">
                <a:latin typeface="Arial"/>
              </a:rPr>
              <a:t> Ze seskupené tabulky nemůžeme přesně odečíst podíl lidí se spánkem nejvýše 6,5 hodiny. Lineární odhad by vyžadoval další předpoklad. Proto obrázek používá přerušované spojnice.</a:t>
            </a:r>
            <a:endParaRPr lang="cs-CZ" altLang="cs-CZ" sz="1200" noProof="0"/>
          </a:p>
          <a:p>
            <a:pPr marL="228600" indent="-171450">
              <a:buChar char="•"/>
            </a:pPr>
            <a:r>
              <a:rPr lang="cs-CZ" altLang="cs-CZ" sz="1200" b="0" i="0" noProof="0">
                <a:latin typeface="Arial"/>
              </a:rPr>
              <a:t>Při opačném pravidle, kdy horní mez do intervalu nepatří, by součet na horní mezi vyjadřoval „méně než“. V našich příkladech používáme jednotně „nejvýše“. Pozor také na počáteční bod: nulu smíme zakreslit jen na mezi, pro kterou opravdu žádný údaj není menší nebo roven této mezi. V cvičných datech jsou i čtyři hodiny, takže bod u čtyř hodin nemůže mít nulovou četnost.</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Zahrnuje bod u sedmi hodin také lidi, kteří uvedli přesně 7,0? Ano, protože horní mez intervalu zahrnujeme a kumulativní součet zde znamená nejvýše sedm hodin.</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https://reckak.github.io/statistics-for-psychology/quarto/kapitola_02.html#sec-kumulativni-graf.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Další zobrazení používá stejné intervalové četnosti jako histogram. </a:t>
            </a:r>
            <a:r>
              <a:rPr lang="cs-CZ" altLang="cs-CZ" sz="1200" b="1" i="0" noProof="0">
                <a:latin typeface="Arial"/>
              </a:rPr>
              <a:t>Polygon četností</a:t>
            </a:r>
            <a:r>
              <a:rPr lang="cs-CZ" altLang="cs-CZ" sz="1200" b="0" i="0" noProof="0">
                <a:latin typeface="Arial"/>
              </a:rPr>
              <a:t> umístí bod nad střed každého intervalu a sousední body spojí. Na rozdíl od kumulativního grafu zde každý bod vyjadřuje pouze jeden interval.</a:t>
            </a:r>
            <a:endParaRPr lang="cs-CZ" altLang="cs-CZ" sz="1200" noProof="0"/>
          </a:p>
          <a:p>
            <a:pPr marL="228600" indent="-171450">
              <a:buChar char="•"/>
            </a:pPr>
            <a:r>
              <a:rPr lang="cs-CZ" altLang="cs-CZ" sz="1200" b="0" i="0" noProof="0">
                <a:latin typeface="Arial"/>
              </a:rPr>
              <a:t>Střed intervalu šest až sedm hodin je 6 + (7 − 6) / 2 = 6,5 hodiny. Nejprve zjistíme šířku, vydělíme ji dvěma a přičteme k dolní mezi. Pravidlo zahrnutí mezí polohu středu nemění.</a:t>
            </a:r>
            <a:endParaRPr lang="cs-CZ" altLang="cs-CZ" sz="1200" noProof="0"/>
          </a:p>
          <a:p>
            <a:pPr marL="228600" indent="-171450">
              <a:buChar char="•"/>
            </a:pPr>
            <a:r>
              <a:rPr lang="cs-CZ" altLang="cs-CZ" sz="1200" b="0" i="0" noProof="0">
                <a:latin typeface="Arial"/>
              </a:rPr>
              <a:t>Na obrázku leží body nad středy 4,5 až 9,5 hodiny a výšky jsou 3, 5, 8, 10, 5 a 2. Bod nad 7,5 tedy zastupuje deset lidí v intervalu více než sedm až osm hodin včetně. Netvrdí, že všech deset uvedlo 7,5 hodiny.</a:t>
            </a:r>
            <a:endParaRPr lang="cs-CZ" altLang="cs-CZ" sz="1200" noProof="0"/>
          </a:p>
          <a:p>
            <a:pPr marL="228600" indent="-171450">
              <a:buChar char="•"/>
            </a:pPr>
            <a:r>
              <a:rPr lang="cs-CZ" altLang="cs-CZ" sz="1200" b="0" i="1" noProof="0">
                <a:latin typeface="Arial"/>
              </a:rPr>
              <a:t>Spojnice nezobrazuje vývoj spánku v čase.</a:t>
            </a:r>
            <a:r>
              <a:rPr lang="cs-CZ" altLang="cs-CZ" sz="1200" b="0" i="0" noProof="0">
                <a:latin typeface="Arial"/>
              </a:rPr>
              <a:t> Vodorovná osa obsahuje různé hodnoty jedné proměnné. Pro porovnání různě velkých skupin použijeme stejné středy a raději podíly počítané zvlášť v každé skupině.</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Jak poznáte polygon od kumulativního grafu? Polygon popisuje jednotlivé intervaly a může klesat, kumulativní graf zahrnuje všechny předchozí intervaly a neklesá.</a:t>
            </a:r>
            <a:endParaRPr lang="cs-CZ" altLang="cs-CZ" sz="1200" noProof="0"/>
          </a:p>
          <a:p>
            <a:pPr marL="228600" indent="-171450">
              <a:buChar char="•"/>
            </a:pPr>
            <a:r>
              <a:rPr lang="cs-CZ" altLang="cs-CZ" sz="1200" b="0" i="0" noProof="0">
                <a:latin typeface="Arial"/>
              </a:rPr>
              <a:t>Čas pro vyučujícího: přibližně 1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https://reckak.github.io/statistics-for-psychology/quarto/kapitola_02.html#sec-polygon-cetnosti.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Graf slouží nejen k odečítání četností, ale také k popisu rozdělení jako celku. Sledujeme, kde se hodnoty soustřeďují, jak široce jsou rozloženy, zda jsou přibližně souměrné a kolik výrazných vrcholů vidíme.</a:t>
            </a:r>
            <a:endParaRPr lang="cs-CZ" altLang="cs-CZ" sz="1200" noProof="0"/>
          </a:p>
          <a:p>
            <a:pPr marL="228600" indent="-171450">
              <a:buChar char="•"/>
            </a:pPr>
            <a:r>
              <a:rPr lang="cs-CZ" altLang="cs-CZ" sz="1200" b="1" i="0" noProof="0">
                <a:latin typeface="Arial"/>
              </a:rPr>
              <a:t>Souměrné rozdělení</a:t>
            </a:r>
            <a:r>
              <a:rPr lang="cs-CZ" altLang="cs-CZ" sz="1200" b="0" i="0" noProof="0">
                <a:latin typeface="Arial"/>
              </a:rPr>
              <a:t> má přibližně zrcadlovou podobu kolem středu. </a:t>
            </a:r>
            <a:r>
              <a:rPr lang="cs-CZ" altLang="cs-CZ" sz="1200" b="1" i="0" noProof="0">
                <a:latin typeface="Arial"/>
              </a:rPr>
              <a:t>Zešikmení doprava</a:t>
            </a:r>
            <a:r>
              <a:rPr lang="cs-CZ" altLang="cs-CZ" sz="1200" b="0" i="0" noProof="0">
                <a:latin typeface="Arial"/>
              </a:rPr>
              <a:t> znamená delší chvost směrem k vysokým hodnotám, zešikmení doleva směrem k nízkým. Strana s většinou údajů směr zešikmení neurčuje.</a:t>
            </a:r>
            <a:endParaRPr lang="cs-CZ" altLang="cs-CZ" sz="1200" noProof="0"/>
          </a:p>
          <a:p>
            <a:pPr marL="228600" indent="-171450">
              <a:buChar char="•"/>
            </a:pPr>
            <a:r>
              <a:rPr lang="cs-CZ" altLang="cs-CZ" sz="1200" b="0" i="0" noProof="0">
                <a:latin typeface="Arial"/>
              </a:rPr>
              <a:t>Jednovrcholové rozdělení má jednu výraznou oblast vysokého zastoupení, dvouvrcholové dvě. Vícevrcholové má několik vrcholů. U přibližně rovnoměrného rozdělení mají srovnatelně široké části vymezeného rozsahu podobné četnosti. V malých souborech očekáváme nepravidelnosti.</a:t>
            </a:r>
            <a:endParaRPr lang="cs-CZ" altLang="cs-CZ" sz="1200" noProof="0"/>
          </a:p>
          <a:p>
            <a:pPr marL="228600" indent="-171450">
              <a:buChar char="•"/>
            </a:pPr>
            <a:r>
              <a:rPr lang="cs-CZ" altLang="cs-CZ" sz="1200" b="0" i="1" noProof="0">
                <a:latin typeface="Arial"/>
              </a:rPr>
              <a:t>Tvar je popis dat, nikoli vysvětlení jejich vzniku.</a:t>
            </a:r>
            <a:r>
              <a:rPr lang="cs-CZ" altLang="cs-CZ" sz="1200" b="0" i="0" noProof="0">
                <a:latin typeface="Arial"/>
              </a:rPr>
              <a:t> Dva vrcholy mohou vést k otázce po různých skupinách, ale mohou také vzniknout volbou intervalů. Schematické obrázky z kapitoly ukazují pojmy, nikoli odhady vlastností skutečné populace.</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Většina časů je mezi 20 a 35 sekundami, několik je 60 až 90. Kam je rozdělení zešikmené? Doprava, protože dlouhý chvost směřuje k vysokým časům.</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https://reckak.github.io/statistics-for-psychology/quarto/kapitola_02.html#sec-tvar-rozdeleni.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Při popisu tvaru můžeme narazit na neobvyklý výsledek nebo hromadění na krajích stupnice. </a:t>
            </a:r>
            <a:r>
              <a:rPr lang="cs-CZ" altLang="cs-CZ" sz="1200" b="1" i="0" noProof="0">
                <a:latin typeface="Arial"/>
              </a:rPr>
              <a:t>Odlehlé pozorování</a:t>
            </a:r>
            <a:r>
              <a:rPr lang="cs-CZ" altLang="cs-CZ" sz="1200" b="0" i="0" noProof="0">
                <a:latin typeface="Arial"/>
              </a:rPr>
              <a:t> je údaj nápadně vzdálený od ostatních v daném kontextu. Jeho vzdálenost však sama neznamená chybu.</a:t>
            </a:r>
            <a:endParaRPr lang="cs-CZ" altLang="cs-CZ" sz="1200" noProof="0"/>
          </a:p>
          <a:p>
            <a:pPr marL="228600" indent="-171450">
              <a:buChar char="•"/>
            </a:pPr>
            <a:r>
              <a:rPr lang="cs-CZ" altLang="cs-CZ" sz="1200" b="0" i="0" noProof="0">
                <a:latin typeface="Arial"/>
              </a:rPr>
              <a:t>Nulový počet zapamatovaných slov může být platný výsledek. Nejprve prověříme původní záznam a podmínky měření. Prokazatelnou chybu opravíme, pokud to jde. Případné vyřazení zdůvodníme a zaznamenáme. Hodnotu nemažeme pouze kvůli hezčímu histogramu.</a:t>
            </a:r>
            <a:endParaRPr lang="cs-CZ" altLang="cs-CZ" sz="1200" noProof="0"/>
          </a:p>
          <a:p>
            <a:pPr marL="228600" indent="-171450">
              <a:buChar char="•"/>
            </a:pPr>
            <a:r>
              <a:rPr lang="cs-CZ" altLang="cs-CZ" sz="1200" b="0" i="0" noProof="0">
                <a:latin typeface="Arial"/>
              </a:rPr>
              <a:t>Při kontrole rozlišíme překlep, nesprávnou jednotku, odchylku od podmínek měření a platnou neobvyklou hodnotu. Například nula vybavených slov může být skutečný výsledek. O tom, zda je údaj platný, nerozhoduje pouze jeho vzdálenost od ostatních.</a:t>
            </a:r>
            <a:endParaRPr lang="cs-CZ" altLang="cs-CZ" sz="1200" noProof="0"/>
          </a:p>
          <a:p>
            <a:pPr marL="228600" indent="-171450">
              <a:buChar char="•"/>
            </a:pPr>
            <a:r>
              <a:rPr lang="cs-CZ" altLang="cs-CZ" sz="1200" b="0" i="1" noProof="0">
                <a:latin typeface="Arial"/>
              </a:rPr>
              <a:t>Odlehlost sama není důvodem k vyřazení.</a:t>
            </a:r>
            <a:r>
              <a:rPr lang="cs-CZ" altLang="cs-CZ" sz="1200" b="0" i="0" noProof="0">
                <a:latin typeface="Arial"/>
              </a:rPr>
              <a:t> Případné odstranění údaje potřebuje věcné zdůvodnění a transparentní záznam. Rozhodnutí nemá sloužit pouze k získání hezčího grafu.</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Stačí dlouhý čas reakce k tomu, abychom údaj smazali? Ne. Nejprve ověříme záznam a okolnosti, protože může jít o chybu i o platnou pomalou reakci.</a:t>
            </a:r>
            <a:endParaRPr lang="cs-CZ" altLang="cs-CZ" sz="1200" noProof="0"/>
          </a:p>
          <a:p>
            <a:pPr marL="228600" indent="-171450">
              <a:buChar char="•"/>
            </a:pPr>
            <a:r>
              <a:rPr lang="cs-CZ" altLang="cs-CZ" sz="1200" b="0" i="0" noProof="0">
                <a:latin typeface="Arial"/>
              </a:rPr>
              <a:t>Čas pro vyučujícího: přibližně 1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https://reckak.github.io/statistics-for-psychology/quarto/kapitola_02.html#sec-tvar-rozdeleni.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Vedle jednotlivých vzdálených pozorování můžeme narazit na omezení samotného měřicího nástroje. Dva grafy ukazují </a:t>
            </a:r>
            <a:r>
              <a:rPr lang="cs-CZ" altLang="cs-CZ" sz="1200" b="1" i="0" noProof="0">
                <a:latin typeface="Arial"/>
              </a:rPr>
              <a:t>modelové příklady z kapitoly</a:t>
            </a:r>
            <a:r>
              <a:rPr lang="cs-CZ" altLang="cs-CZ" sz="1200" b="0" i="0" noProof="0">
                <a:latin typeface="Arial"/>
              </a:rPr>
              <a:t>, každý pro 36 osob. Vodorovná osa má v obou grafech stejný rozsah od nuly do dvanácti správných odpovědí a svislá osa stejné měřítko počtu účastníků.</a:t>
            </a:r>
            <a:endParaRPr lang="cs-CZ" altLang="cs-CZ" sz="1200" noProof="0"/>
          </a:p>
          <a:p>
            <a:pPr marL="228600" indent="-171450">
              <a:buChar char="•"/>
            </a:pPr>
            <a:r>
              <a:rPr lang="cs-CZ" altLang="cs-CZ" sz="1200" b="0" i="0" noProof="0">
                <a:latin typeface="Arial"/>
              </a:rPr>
              <a:t>V levém grafu je patnáct osob na nule a s rostoucím počtem správných odpovědí četnosti klesají. To může odpovídat </a:t>
            </a:r>
            <a:r>
              <a:rPr lang="cs-CZ" altLang="cs-CZ" sz="1200" b="1" i="0" noProof="0">
                <a:latin typeface="Arial"/>
              </a:rPr>
              <a:t>efektu podlahy</a:t>
            </a:r>
            <a:r>
              <a:rPr lang="cs-CZ" altLang="cs-CZ" sz="1200" b="0" i="0" noProof="0">
                <a:latin typeface="Arial"/>
              </a:rPr>
              <a:t>: příliš obtížná úloha nedostatečně rozliší lidi s nízkou úrovní měřené vlastnosti. Několik lidí může získat nulu, přestože se jejich schopnosti liší.</a:t>
            </a:r>
            <a:endParaRPr lang="cs-CZ" altLang="cs-CZ" sz="1200" noProof="0"/>
          </a:p>
          <a:p>
            <a:pPr marL="228600" indent="-171450">
              <a:buChar char="•"/>
            </a:pPr>
            <a:r>
              <a:rPr lang="cs-CZ" altLang="cs-CZ" sz="1200" b="0" i="0" noProof="0">
                <a:latin typeface="Arial"/>
              </a:rPr>
              <a:t>V pravém grafu se patnáct osob soustřeďuje na maximálních dvanácti bodech. To může odpovídat </a:t>
            </a:r>
            <a:r>
              <a:rPr lang="cs-CZ" altLang="cs-CZ" sz="1200" b="1" i="0" noProof="0">
                <a:latin typeface="Arial"/>
              </a:rPr>
              <a:t>efektu stropu</a:t>
            </a:r>
            <a:r>
              <a:rPr lang="cs-CZ" altLang="cs-CZ" sz="1200" b="0" i="0" noProof="0">
                <a:latin typeface="Arial"/>
              </a:rPr>
              <a:t>: příliš snadná úloha nedostatečně rozliší vysoké úrovně. Člověk s lepším výkonem už nemůže získat více než dvanáct bodů, a rozdíl se proto v této úloze neprojeví.</a:t>
            </a:r>
            <a:endParaRPr lang="cs-CZ" altLang="cs-CZ" sz="1200" noProof="0"/>
          </a:p>
          <a:p>
            <a:pPr marL="228600" indent="-171450">
              <a:buChar char="•"/>
            </a:pPr>
            <a:r>
              <a:rPr lang="cs-CZ" altLang="cs-CZ" sz="1200" b="0" i="1" noProof="0">
                <a:latin typeface="Arial"/>
              </a:rPr>
              <a:t>Samotné hromadění u krajní hodnoty efekt podlahy či stropu nedokazuje.</a:t>
            </a:r>
            <a:r>
              <a:rPr lang="cs-CZ" altLang="cs-CZ" sz="1200" b="0" i="0" noProof="0">
                <a:latin typeface="Arial"/>
              </a:rPr>
              <a:t> Potřebujeme znát nástroj a posoudit, zda omezuje rozlišení v daném souboru. Ani jedna nula nebo jedno maximum tento závěr neopravňuje. Také ne každé zešikmené rozdělení vzniká omezením stupnice.</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Jestliže dva lidé získali všech dvanáct bodů, prokázali stejnou schopnost? Ne. Test jim už neumožnil vyšší výsledek, který by případný rozdíl ukázal.</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https://reckak.github.io/statistics-for-psychology/quarto/kapitola_02.html#sec-podlaha-strop.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Správná čísla mohou být zobrazena zavádějícím způsobem. V obou grafech jsou četnosti třicet a dvaatřicet. Vlevo začíná osa nulou, vpravo dvaceti sedmi. Viditelné délky vpravo jsou proto tři a pět a nepoměr působí mnohem větší.</a:t>
            </a:r>
            <a:endParaRPr lang="cs-CZ" altLang="cs-CZ" sz="1200" noProof="0"/>
          </a:p>
          <a:p>
            <a:pPr marL="228600" indent="-171450">
              <a:buChar char="•"/>
            </a:pPr>
            <a:r>
              <a:rPr lang="cs-CZ" altLang="cs-CZ" sz="1200" b="0" i="0" noProof="0">
                <a:latin typeface="Arial"/>
              </a:rPr>
              <a:t>Zkrácená osa ponechá z hodnot 30 a 32 pouze viditelné úseky od 27: 30 − 27 = 3 a 32 − 27 = 5. Viditelná délka druhého sloupce je tak 5/3 délky prvního, přibližně o dvě třetiny větší. Skutečný rozdíl počtů přitom zůstává dvě odpovědi. </a:t>
            </a:r>
            <a:r>
              <a:rPr lang="cs-CZ" altLang="cs-CZ" sz="1200" b="1" i="0" noProof="0">
                <a:latin typeface="Arial"/>
              </a:rPr>
              <a:t>Problém vzniká tím, že velikost čteme z délky sloupce.</a:t>
            </a:r>
            <a:r>
              <a:rPr lang="cs-CZ" altLang="cs-CZ" sz="1200" b="0" i="0" noProof="0">
                <a:latin typeface="Arial"/>
              </a:rPr>
              <a:t> Popisky 30 a 32 ukazují původní hodnoty, nikoli délky zkrácených úseků.</a:t>
            </a:r>
            <a:endParaRPr lang="cs-CZ" altLang="cs-CZ" sz="1200" noProof="0"/>
          </a:p>
          <a:p>
            <a:pPr marL="228600" indent="-171450">
              <a:buChar char="•"/>
            </a:pPr>
            <a:r>
              <a:rPr lang="cs-CZ" altLang="cs-CZ" sz="1200" b="1" i="0" noProof="0">
                <a:latin typeface="Arial"/>
              </a:rPr>
              <a:t>Výška sloupce četnosti se čte od nulové základny.</a:t>
            </a:r>
            <a:r>
              <a:rPr lang="cs-CZ" altLang="cs-CZ" sz="1200" b="0" i="0" noProof="0">
                <a:latin typeface="Arial"/>
              </a:rPr>
              <a:t> U histogramů navíc zachováme číselné pořadí a prázdné intervaly. Když porovnáváme skupiny, použijeme stejné meze, rozsahy os a stejný význam svislé osy.</a:t>
            </a:r>
            <a:endParaRPr lang="cs-CZ" altLang="cs-CZ" sz="1200" noProof="0"/>
          </a:p>
          <a:p>
            <a:pPr marL="228600" indent="-171450">
              <a:buChar char="•"/>
            </a:pPr>
            <a:r>
              <a:rPr lang="cs-CZ" altLang="cs-CZ" sz="1200" b="0" i="0" noProof="0">
                <a:latin typeface="Arial"/>
              </a:rPr>
              <a:t>Požadavek nulové základny vztahujeme ke sloupcům, jejichž délka kóduje velikost. </a:t>
            </a:r>
            <a:r>
              <a:rPr lang="cs-CZ" altLang="cs-CZ" sz="1200" b="1" i="0" noProof="0">
                <a:latin typeface="Arial"/>
              </a:rPr>
              <a:t>Není to automatické pravidlo pro každý graf.</a:t>
            </a:r>
            <a:r>
              <a:rPr lang="cs-CZ" altLang="cs-CZ" sz="1200" b="0" i="0" noProof="0">
                <a:latin typeface="Arial"/>
              </a:rPr>
              <a:t> Například bodový graf může používat vhodně zvolený a jasně označený rozsah osy, protože hodnotu vyjadřuje polohou bodu, nikoli délkou sloupce od základny.</a:t>
            </a:r>
            <a:endParaRPr lang="cs-CZ" altLang="cs-CZ" sz="1200" noProof="0"/>
          </a:p>
          <a:p>
            <a:pPr marL="228600" indent="-171450">
              <a:buChar char="•"/>
            </a:pPr>
            <a:r>
              <a:rPr lang="cs-CZ" altLang="cs-CZ" sz="1200" b="0" i="0" noProof="0">
                <a:latin typeface="Arial"/>
              </a:rPr>
              <a:t>Před interpretací si vždy ujasníme, co představuje případ, která proměnná je na ose a zda jde o počty, podíly či procenta. Zjistíme počet platných a chybějících údajů. Popisky typu „četnost“ bez dalšího určení mohou být nedostatečné.</a:t>
            </a:r>
            <a:endParaRPr lang="cs-CZ" altLang="cs-CZ" sz="1200" noProof="0"/>
          </a:p>
          <a:p>
            <a:pPr marL="228600" indent="-171450">
              <a:buChar char="•"/>
            </a:pPr>
            <a:r>
              <a:rPr lang="cs-CZ" altLang="cs-CZ" sz="1200" b="0" i="1" noProof="0">
                <a:latin typeface="Arial"/>
              </a:rPr>
              <a:t>Ani přesný graf výběru automaticky nepopisuje populaci a sám neprokazuje příčinu.</a:t>
            </a:r>
            <a:r>
              <a:rPr lang="cs-CZ" altLang="cs-CZ" sz="1200" b="0" i="0" noProof="0">
                <a:latin typeface="Arial"/>
              </a:rPr>
              <a:t> Při interpretaci různě velkých skupin jsou potřebné jejich jmenovatele. Dvakrát větší plocha symbolu také neznamená automaticky dvakrát větší výšku a šířku.</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Co potřebujeme kromě počtů 30 a 32 pro srovnání zastoupení? Počet relevantních případů v každé skupině a informaci o chybění, abychom mohli vypočítat srovnatelné podíly.</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https://reckak.github.io/statistics-for-psychology/quarto/kapitola_02.html#sec-zavadejici-grafy.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171450">
              <a:buChar char="•"/>
            </a:pPr>
            <a:r>
              <a:rPr lang="cs-CZ" altLang="cs-CZ" sz="1200" b="0" i="0" noProof="0">
                <a:latin typeface="Arial"/>
              </a:rPr>
              <a:t>Přechod k praktické práci usnadní tři funkce z kapitoly. </a:t>
            </a:r>
            <a:r>
              <a:rPr lang="cs-CZ" altLang="cs-CZ" sz="1200" b="1" i="0" noProof="0">
                <a:latin typeface="Arial"/>
              </a:rPr>
              <a:t>POČET</a:t>
            </a:r>
            <a:r>
              <a:rPr lang="cs-CZ" altLang="cs-CZ" sz="1200" b="0" i="0" noProof="0">
                <a:latin typeface="Arial"/>
              </a:rPr>
              <a:t>, anglicky COUNT, počítá číselné buňky v oblasti. Ignoruje prázdné a textové buňky, ale zahrnuje skutečnou nulu. Pro textový gender tedy sama vhodná není.</a:t>
            </a:r>
            <a:endParaRPr lang="cs-CZ" altLang="cs-CZ" sz="1200" noProof="0"/>
          </a:p>
          <a:p>
            <a:pPr marL="228600" indent="-171450">
              <a:buChar char="•"/>
            </a:pPr>
            <a:r>
              <a:rPr lang="cs-CZ" altLang="cs-CZ" sz="1200" b="1" i="0" noProof="0">
                <a:latin typeface="Arial"/>
              </a:rPr>
              <a:t>COUNTIFS</a:t>
            </a:r>
            <a:r>
              <a:rPr lang="cs-CZ" altLang="cs-CZ" sz="1200" b="0" i="0" noProof="0">
                <a:latin typeface="Arial"/>
              </a:rPr>
              <a:t>, se stejným anglickým názvem, počítá případy splňující jednu nebo více podmínek. </a:t>
            </a:r>
            <a:r>
              <a:rPr lang="cs-CZ" altLang="cs-CZ" sz="1200" b="1" i="0" noProof="0">
                <a:latin typeface="Arial"/>
              </a:rPr>
              <a:t>SUMA</a:t>
            </a:r>
            <a:r>
              <a:rPr lang="cs-CZ" altLang="cs-CZ" sz="1200" b="0" i="0" noProof="0">
                <a:latin typeface="Arial"/>
              </a:rPr>
              <a:t>, anglicky SUM, sčítá. V českém Excelu oddělujeme argumenty středníky. Dolar v odkazu zafixuje příslušný sloupec nebo řádek při kopírování.</a:t>
            </a:r>
            <a:endParaRPr lang="cs-CZ" altLang="cs-CZ" sz="1200" noProof="0"/>
          </a:p>
          <a:p>
            <a:pPr marL="228600" indent="-171450">
              <a:buChar char="•"/>
            </a:pPr>
            <a:r>
              <a:rPr lang="cs-CZ" altLang="cs-CZ" sz="1200" b="0" i="0" noProof="0">
                <a:latin typeface="Arial"/>
              </a:rPr>
              <a:t>Například v novém sešitu lze počet platných odpovědí odpočatosti získat jako =POČET(Data!E2:E73). Pro četnost kódu v A5 použijeme =COUNTIFS(Data!$E$2:$E$73;A5). Podíl je četnost dělená odpovídajícím platným počtem. Kumulaci vytvoří =SUMA($B$5:B5), pokud jsou četnosti v B5 a níže.</a:t>
            </a:r>
            <a:endParaRPr lang="cs-CZ" altLang="cs-CZ" sz="1200" noProof="0"/>
          </a:p>
          <a:p>
            <a:pPr marL="228600" indent="-171450">
              <a:buChar char="•"/>
            </a:pPr>
            <a:r>
              <a:rPr lang="cs-CZ" altLang="cs-CZ" sz="1200" b="0" i="1" noProof="0">
                <a:latin typeface="Arial"/>
              </a:rPr>
              <a:t>Je-li buňka zformátována jako procento, podíl už nenásobíme stem.</a:t>
            </a:r>
            <a:r>
              <a:rPr lang="cs-CZ" altLang="cs-CZ" sz="1200" b="0" i="0" noProof="0">
                <a:latin typeface="Arial"/>
              </a:rPr>
              <a:t> Hodnota 0,4 se zobrazí jako 40,0 %. Při kontingenční tabulce musíme pečlivě vybrat, zda se procenta počítají ze skupiny, řádku nebo celku, a jak se zachází s prázdnými údaji.</a:t>
            </a:r>
            <a:endParaRPr lang="cs-CZ" altLang="cs-CZ" sz="1200" noProof="0"/>
          </a:p>
          <a:p>
            <a:pPr marL="228600" indent="-171450">
              <a:buChar char="•"/>
            </a:pPr>
            <a:r>
              <a:rPr lang="cs-CZ" altLang="cs-CZ" sz="1200" b="0" i="0" noProof="0">
                <a:latin typeface="Arial"/>
              </a:rPr>
              <a:t>Použité základní funkce odpovídají postupům kapitoly pro Excel 2016 a novější. Důležité je kontrolovat rozsahy a vynechání prázdných buněk. V úlohách uvádíme konkrétní rozložení sloupců a řešení v poznámkách.</a:t>
            </a:r>
            <a:endParaRPr lang="cs-CZ" altLang="cs-CZ" sz="1200" noProof="0"/>
          </a:p>
          <a:p>
            <a:pPr marL="228600" indent="-171450">
              <a:buChar char="•"/>
            </a:pPr>
            <a:r>
              <a:rPr lang="cs-CZ" altLang="cs-CZ" sz="1200" b="1" i="0" noProof="0">
                <a:latin typeface="Arial"/>
              </a:rPr>
              <a:t>Otázka k zamyšlení:</a:t>
            </a:r>
            <a:r>
              <a:rPr lang="cs-CZ" altLang="cs-CZ" sz="1200" b="0" i="0" noProof="0">
                <a:latin typeface="Arial"/>
              </a:rPr>
              <a:t> Proč POČET pro slova započte nulu, ale ne prázdnou buňku? Nula je zaznamenané číslo, prázdná buňka číslo neobsahuje.</a:t>
            </a:r>
            <a:endParaRPr lang="cs-CZ" altLang="cs-CZ" sz="1200" noProof="0"/>
          </a:p>
          <a:p>
            <a:pPr marL="228600" indent="-171450">
              <a:buChar char="•"/>
            </a:pPr>
            <a:r>
              <a:rPr lang="cs-CZ" altLang="cs-CZ" sz="1200" b="0" i="0" noProof="0">
                <a:latin typeface="Arial"/>
              </a:rPr>
              <a:t>Čas pro vyučujícího: přibližně 2 min.</a:t>
            </a:r>
            <a:endParaRPr lang="cs-CZ" altLang="cs-CZ" sz="1200" noProof="0"/>
          </a:p>
          <a:p>
            <a:pPr marL="228600" indent="-171450">
              <a:buChar char="•"/>
            </a:pPr>
            <a:r>
              <a:rPr lang="cs-CZ" altLang="cs-CZ" sz="1200" b="0" i="0" noProof="0">
                <a:latin typeface="Arial"/>
              </a:rPr>
              <a:t>Podklad: kapitola 2, Četnosti, rozdělení dat a jejich zobrazení, příslušný oddíl: https://reckak.github.io/statistics-for-psychology/quarto/kapitola_02.html#sec-excel-cetnosti. Příklady jsou modelové výukové údaje.</a:t>
            </a:r>
            <a:endParaRPr lang="cs-CZ" altLang="cs-CZ" sz="1200" noProof="0"/>
          </a:p>
        </p:txBody>
      </p:sp>
      <p:sp>
        <p:nvSpPr>
          <p:cNvPr id="4" name="Slide Number Placeholder 3"/>
          <p:cNvSpPr>
            <a:spLocks noGrp="1"/>
          </p:cNvSpPr>
          <p:nvPr>
            <p:ph type="sldNum" idx="5"/>
          </p:nvPr>
        </p:nvSpPr>
        <p:spPr/>
        <p:txBody>
          <a:bodyPr/>
          <a:lstStyle/>
          <a:p>
            <a:endParaRPr lang="cs-CZ" altLang="cs-CZ" noProof="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lang="cs-CZ" altLang="cs-CZ" sz="4400" noProof="0">
          <a:solidFill>
            <a:schemeClr val="tx1"/>
          </a:solidFill>
          <a:latin typeface="+mj-lt"/>
          <a:ea typeface="+mj-lt"/>
          <a:cs typeface="+mj-lt"/>
        </a:defRPr>
      </a:lvl1pPr>
    </p:titleStyle>
    <p:bodyStyle>
      <a:lvl1pPr marL="228600" indent="-228600" algn="l">
        <a:lnSpc>
          <a:spcPct val="90000"/>
        </a:lnSpc>
        <a:spcBef>
          <a:spcPts val="1000"/>
        </a:spcBef>
        <a:buChar char="•"/>
        <a:defRPr lang="cs-CZ" altLang="cs-CZ" sz="2800" noProof="0">
          <a:solidFill>
            <a:schemeClr val="tx1"/>
          </a:solidFill>
          <a:latin typeface="+mn-lt"/>
          <a:ea typeface="+mn-lt"/>
          <a:cs typeface="+mn-lt"/>
        </a:defRPr>
      </a:lvl1pPr>
      <a:lvl2pPr marL="685800" indent="-228600" algn="l">
        <a:lnSpc>
          <a:spcPct val="90000"/>
        </a:lnSpc>
        <a:spcBef>
          <a:spcPts val="500"/>
        </a:spcBef>
        <a:buChar char="•"/>
        <a:defRPr lang="cs-CZ" altLang="cs-CZ" sz="2400" noProof="0">
          <a:solidFill>
            <a:schemeClr val="tx1"/>
          </a:solidFill>
          <a:latin typeface="+mn-lt"/>
          <a:ea typeface="+mn-lt"/>
          <a:cs typeface="+mn-lt"/>
        </a:defRPr>
      </a:lvl2pPr>
      <a:lvl3pPr marL="1143000" indent="-228600" algn="l">
        <a:lnSpc>
          <a:spcPct val="90000"/>
        </a:lnSpc>
        <a:spcBef>
          <a:spcPts val="500"/>
        </a:spcBef>
        <a:buChar char="•"/>
        <a:defRPr lang="cs-CZ" altLang="cs-CZ" sz="2000" noProof="0">
          <a:solidFill>
            <a:schemeClr val="tx1"/>
          </a:solidFill>
          <a:latin typeface="+mn-lt"/>
          <a:ea typeface="+mn-lt"/>
          <a:cs typeface="+mn-lt"/>
        </a:defRPr>
      </a:lvl3pPr>
      <a:lvl4pPr marL="1600200" indent="-228600" algn="l">
        <a:lnSpc>
          <a:spcPct val="90000"/>
        </a:lnSpc>
        <a:spcBef>
          <a:spcPts val="500"/>
        </a:spcBef>
        <a:buChar char="•"/>
        <a:defRPr lang="cs-CZ" altLang="cs-CZ" sz="1800" noProof="0">
          <a:solidFill>
            <a:schemeClr val="tx1"/>
          </a:solidFill>
          <a:latin typeface="+mn-lt"/>
          <a:ea typeface="+mn-lt"/>
          <a:cs typeface="+mn-lt"/>
        </a:defRPr>
      </a:lvl4pPr>
      <a:lvl5pPr marL="2057400" indent="-228600" algn="l">
        <a:lnSpc>
          <a:spcPct val="90000"/>
        </a:lnSpc>
        <a:spcBef>
          <a:spcPts val="500"/>
        </a:spcBef>
        <a:buChar char="•"/>
        <a:defRPr lang="cs-CZ" altLang="cs-CZ" sz="1800" noProof="0">
          <a:solidFill>
            <a:schemeClr val="tx1"/>
          </a:solidFill>
          <a:latin typeface="+mn-lt"/>
          <a:ea typeface="+mn-lt"/>
          <a:cs typeface="+mn-lt"/>
        </a:defRPr>
      </a:lvl5pPr>
      <a:lvl6pPr marL="2514600" indent="-228600" algn="l">
        <a:lnSpc>
          <a:spcPct val="90000"/>
        </a:lnSpc>
        <a:spcBef>
          <a:spcPts val="500"/>
        </a:spcBef>
        <a:buChar char="•"/>
        <a:defRPr lang="cs-CZ" altLang="cs-CZ" sz="1800" noProof="0">
          <a:solidFill>
            <a:schemeClr val="tx1"/>
          </a:solidFill>
          <a:latin typeface="+mn-lt"/>
          <a:ea typeface="+mn-lt"/>
          <a:cs typeface="+mn-lt"/>
        </a:defRPr>
      </a:lvl6pPr>
      <a:lvl7pPr marL="2971800" indent="-228600" algn="l">
        <a:lnSpc>
          <a:spcPct val="90000"/>
        </a:lnSpc>
        <a:spcBef>
          <a:spcPts val="500"/>
        </a:spcBef>
        <a:buChar char="•"/>
        <a:defRPr lang="cs-CZ" altLang="cs-CZ" sz="1800" noProof="0">
          <a:solidFill>
            <a:schemeClr val="tx1"/>
          </a:solidFill>
          <a:latin typeface="+mn-lt"/>
          <a:ea typeface="+mn-lt"/>
          <a:cs typeface="+mn-lt"/>
        </a:defRPr>
      </a:lvl7pPr>
      <a:lvl8pPr marL="3429000" indent="-228600" algn="l">
        <a:lnSpc>
          <a:spcPct val="90000"/>
        </a:lnSpc>
        <a:spcBef>
          <a:spcPts val="500"/>
        </a:spcBef>
        <a:buChar char="•"/>
        <a:defRPr lang="cs-CZ" altLang="cs-CZ" sz="1800" noProof="0">
          <a:solidFill>
            <a:schemeClr val="tx1"/>
          </a:solidFill>
          <a:latin typeface="+mn-lt"/>
          <a:ea typeface="+mn-lt"/>
          <a:cs typeface="+mn-lt"/>
        </a:defRPr>
      </a:lvl8pPr>
      <a:lvl9pPr marL="3886200" indent="-228600" algn="l">
        <a:lnSpc>
          <a:spcPct val="90000"/>
        </a:lnSpc>
        <a:spcBef>
          <a:spcPts val="500"/>
        </a:spcBef>
        <a:buChar char="•"/>
        <a:defRPr lang="cs-CZ" altLang="cs-CZ" sz="1800" noProof="0">
          <a:solidFill>
            <a:schemeClr val="tx1"/>
          </a:solidFill>
          <a:latin typeface="+mn-lt"/>
          <a:ea typeface="+mn-lt"/>
          <a:cs typeface="+mn-lt"/>
        </a:defRPr>
      </a:lvl9pPr>
    </p:bodyStyle>
    <p:otherStyle>
      <a:lvl1pPr marL="0" algn="l">
        <a:buNone/>
        <a:defRPr lang="cs-CZ" altLang="cs-CZ" sz="1800" noProof="0">
          <a:solidFill>
            <a:schemeClr val="tx1"/>
          </a:solidFill>
          <a:latin typeface="+mn-lt"/>
          <a:ea typeface="+mn-lt"/>
          <a:cs typeface="+mn-lt"/>
        </a:defRPr>
      </a:lvl1pPr>
      <a:lvl2pPr marL="457200" algn="l">
        <a:buNone/>
        <a:defRPr lang="cs-CZ" altLang="cs-CZ" sz="1800" noProof="0">
          <a:solidFill>
            <a:schemeClr val="tx1"/>
          </a:solidFill>
          <a:latin typeface="+mn-lt"/>
          <a:ea typeface="+mn-lt"/>
          <a:cs typeface="+mn-lt"/>
        </a:defRPr>
      </a:lvl2pPr>
      <a:lvl3pPr marL="914400" algn="l">
        <a:buNone/>
        <a:defRPr lang="cs-CZ" altLang="cs-CZ" sz="1800" noProof="0">
          <a:solidFill>
            <a:schemeClr val="tx1"/>
          </a:solidFill>
          <a:latin typeface="+mn-lt"/>
          <a:ea typeface="+mn-lt"/>
          <a:cs typeface="+mn-lt"/>
        </a:defRPr>
      </a:lvl3pPr>
      <a:lvl4pPr marL="1371600" algn="l">
        <a:buNone/>
        <a:defRPr lang="cs-CZ" altLang="cs-CZ" sz="1800" noProof="0">
          <a:solidFill>
            <a:schemeClr val="tx1"/>
          </a:solidFill>
          <a:latin typeface="+mn-lt"/>
          <a:ea typeface="+mn-lt"/>
          <a:cs typeface="+mn-lt"/>
        </a:defRPr>
      </a:lvl4pPr>
      <a:lvl5pPr marL="1828800" algn="l">
        <a:buNone/>
        <a:defRPr lang="cs-CZ" altLang="cs-CZ" sz="1800" noProof="0">
          <a:solidFill>
            <a:schemeClr val="tx1"/>
          </a:solidFill>
          <a:latin typeface="+mn-lt"/>
          <a:ea typeface="+mn-lt"/>
          <a:cs typeface="+mn-lt"/>
        </a:defRPr>
      </a:lvl5pPr>
      <a:lvl6pPr marL="2286000" algn="l">
        <a:buNone/>
        <a:defRPr lang="cs-CZ" altLang="cs-CZ" sz="1800" noProof="0">
          <a:solidFill>
            <a:schemeClr val="tx1"/>
          </a:solidFill>
          <a:latin typeface="+mn-lt"/>
          <a:ea typeface="+mn-lt"/>
          <a:cs typeface="+mn-lt"/>
        </a:defRPr>
      </a:lvl6pPr>
      <a:lvl7pPr marL="2743200" algn="l">
        <a:buNone/>
        <a:defRPr lang="cs-CZ" altLang="cs-CZ" sz="1800" noProof="0">
          <a:solidFill>
            <a:schemeClr val="tx1"/>
          </a:solidFill>
          <a:latin typeface="+mn-lt"/>
          <a:ea typeface="+mn-lt"/>
          <a:cs typeface="+mn-lt"/>
        </a:defRPr>
      </a:lvl7pPr>
      <a:lvl8pPr marL="3200400" algn="l">
        <a:buNone/>
        <a:defRPr lang="cs-CZ" altLang="cs-CZ" sz="1800" noProof="0">
          <a:solidFill>
            <a:schemeClr val="tx1"/>
          </a:solidFill>
          <a:latin typeface="+mn-lt"/>
          <a:ea typeface="+mn-lt"/>
          <a:cs typeface="+mn-lt"/>
        </a:defRPr>
      </a:lvl8pPr>
      <a:lvl9pPr marL="3657600" algn="l">
        <a:buNone/>
        <a:defRPr lang="cs-CZ" altLang="cs-CZ" sz="1800" noProof="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A3B"/>
        </a:solidFill>
        <a:effectLst/>
      </p:bgPr>
    </p:bg>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C1B739AE-DC8A-4045-A6F7-16916E57B213}"/>
              </a:ext>
            </a:extLst>
          </p:cNvPr>
          <p:cNvSpPr>
            <a:spLocks noGrp="1"/>
          </p:cNvSpPr>
          <p:nvPr/>
        </p:nvSpPr>
        <p:spPr>
          <a:xfrm>
            <a:off x="838200" y="1952625"/>
            <a:ext cx="13563600" cy="2190750"/>
          </a:xfrm>
          <a:prstGeom prst="rect">
            <a:avLst/>
          </a:prstGeom>
          <a:noFill/>
          <a:ln w="0">
            <a:noFill/>
          </a:ln>
        </p:spPr>
        <p:txBody>
          <a:bodyPr wrap="square" lIns="0" tIns="0" rIns="0" bIns="0" anchor="t">
            <a:noAutofit/>
          </a:bodyPr>
          <a:lstStyle/>
          <a:p>
            <a:pPr>
              <a:defRPr lang="cs-CZ" altLang="cs-CZ" sz="5250" b="1" noProof="0">
                <a:solidFill>
                  <a:srgbClr val="FFFFFF"/>
                </a:solidFill>
                <a:latin typeface="Arial"/>
                <a:ea typeface="Arial"/>
                <a:cs typeface="Arial"/>
              </a:defRPr>
            </a:pPr>
            <a:r>
              <a:rPr lang="cs-CZ" altLang="cs-CZ" sz="5250" b="1" noProof="0">
                <a:solidFill>
                  <a:srgbClr val="FFFFFF"/>
                </a:solidFill>
                <a:latin typeface="Arial"/>
                <a:ea typeface="Arial"/>
                <a:cs typeface="Arial"/>
              </a:rPr>
              <a:t>Četnosti, rozdělení dat</a:t>
            </a:r>
            <a:endParaRPr lang="cs-CZ" altLang="cs-CZ" noProof="0"/>
          </a:p>
          <a:p>
            <a:pPr>
              <a:defRPr lang="cs-CZ" altLang="cs-CZ" sz="5250" b="1" noProof="0">
                <a:solidFill>
                  <a:srgbClr val="FFFFFF"/>
                </a:solidFill>
                <a:latin typeface="Arial"/>
                <a:ea typeface="Arial"/>
                <a:cs typeface="Arial"/>
              </a:defRPr>
            </a:pPr>
            <a:r>
              <a:rPr lang="cs-CZ" altLang="cs-CZ" sz="5250" b="1" noProof="0">
                <a:solidFill>
                  <a:srgbClr val="FFFFFF"/>
                </a:solidFill>
                <a:latin typeface="Arial"/>
                <a:ea typeface="Arial"/>
                <a:cs typeface="Arial"/>
              </a:rPr>
              <a:t>a jejich zobrazení</a:t>
            </a:r>
            <a:endParaRPr lang="cs-CZ" altLang="cs-CZ" noProof="0"/>
          </a:p>
        </p:txBody>
      </p:sp>
      <p:sp>
        <p:nvSpPr>
          <p:cNvPr id="2" name="Obdélník 1">
            <a:extLst>
              <a:ext uri="{FF2B5EF4-FFF2-40B4-BE49-F238E27FC236}">
                <a16:creationId xmlns:a16="http://schemas.microsoft.com/office/drawing/2014/main" id="{016EF27C-C3CA-48A3-BA19-7F02FC99AEB5}"/>
              </a:ext>
            </a:extLst>
          </p:cNvPr>
          <p:cNvSpPr>
            <a:spLocks noGrp="1"/>
          </p:cNvSpPr>
          <p:nvPr/>
        </p:nvSpPr>
        <p:spPr>
          <a:xfrm>
            <a:off x="838200" y="4953000"/>
            <a:ext cx="13563600" cy="571500"/>
          </a:xfrm>
          <a:prstGeom prst="rect">
            <a:avLst/>
          </a:prstGeom>
          <a:noFill/>
          <a:ln w="0">
            <a:noFill/>
          </a:ln>
        </p:spPr>
        <p:txBody>
          <a:bodyPr wrap="square" lIns="0" tIns="0" rIns="0" bIns="0" anchor="t">
            <a:noAutofit/>
          </a:bodyPr>
          <a:lstStyle/>
          <a:p>
            <a:pPr>
              <a:defRPr lang="cs-CZ" altLang="cs-CZ" sz="2700" b="0" noProof="0">
                <a:solidFill>
                  <a:srgbClr val="C9DFE6"/>
                </a:solidFill>
                <a:latin typeface="Arial"/>
                <a:ea typeface="Arial"/>
                <a:cs typeface="Arial"/>
              </a:defRPr>
            </a:pPr>
            <a:r>
              <a:rPr lang="cs-CZ" altLang="cs-CZ" sz="2700" b="0" noProof="0">
                <a:solidFill>
                  <a:srgbClr val="C9DFE6"/>
                </a:solidFill>
                <a:latin typeface="Arial"/>
                <a:ea typeface="Arial"/>
                <a:cs typeface="Arial"/>
              </a:rPr>
              <a:t>Kapitola 2</a:t>
            </a:r>
            <a:endParaRPr lang="cs-CZ" altLang="cs-CZ" noProof="0"/>
          </a:p>
        </p:txBody>
      </p:sp>
      <p:sp>
        <p:nvSpPr>
          <p:cNvPr id="3" name="Obdélník 2">
            <a:extLst>
              <a:ext uri="{FF2B5EF4-FFF2-40B4-BE49-F238E27FC236}">
                <a16:creationId xmlns:a16="http://schemas.microsoft.com/office/drawing/2014/main" id="{B74AC69D-FAB5-49BC-BFF1-416E5D67D85C}"/>
              </a:ext>
            </a:extLst>
          </p:cNvPr>
          <p:cNvSpPr>
            <a:spLocks noGrp="1"/>
          </p:cNvSpPr>
          <p:nvPr/>
        </p:nvSpPr>
        <p:spPr>
          <a:xfrm>
            <a:off x="838200" y="5781675"/>
            <a:ext cx="13563600" cy="571500"/>
          </a:xfrm>
          <a:prstGeom prst="rect">
            <a:avLst/>
          </a:prstGeom>
          <a:noFill/>
          <a:ln w="0">
            <a:noFill/>
          </a:ln>
        </p:spPr>
        <p:txBody>
          <a:bodyPr wrap="square" lIns="0" tIns="0" rIns="0" bIns="0" anchor="t">
            <a:noAutofit/>
          </a:bodyPr>
          <a:lstStyle/>
          <a:p>
            <a:pPr>
              <a:defRPr lang="cs-CZ" altLang="cs-CZ" sz="2400" b="0" noProof="0">
                <a:solidFill>
                  <a:srgbClr val="C9DFE6"/>
                </a:solidFill>
                <a:latin typeface="Arial"/>
                <a:ea typeface="Arial"/>
                <a:cs typeface="Arial"/>
              </a:defRPr>
            </a:pPr>
            <a:endParaRPr lang="cs-CZ" altLang="cs-CZ" noProof="0" dirty="0"/>
          </a:p>
        </p:txBody>
      </p:sp>
    </p:spTree>
    <p:extLst>
      <p:ext uri="{BB962C8B-B14F-4D97-AF65-F5344CB8AC3E}">
        <p14:creationId xmlns:p14="http://schemas.microsoft.com/office/powerpoint/2010/main" val="264698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D454F809-BCB4-4C2C-BCC8-E62712EC94B6}"/>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Příklady z kapitoly a cvičná studie</a:t>
            </a:r>
          </a:p>
        </p:txBody>
      </p:sp>
      <p:sp>
        <p:nvSpPr>
          <p:cNvPr id="2" name="page">
            <a:extLst>
              <a:ext uri="{FF2B5EF4-FFF2-40B4-BE49-F238E27FC236}">
                <a16:creationId xmlns:a16="http://schemas.microsoft.com/office/drawing/2014/main" id="{F855DAC0-FE82-493E-92D4-E0FE90C65505}"/>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02</a:t>
            </a:r>
          </a:p>
        </p:txBody>
      </p:sp>
      <p:sp>
        <p:nvSpPr>
          <p:cNvPr id="3" name="Obdélník 2">
            <a:extLst>
              <a:ext uri="{FF2B5EF4-FFF2-40B4-BE49-F238E27FC236}">
                <a16:creationId xmlns:a16="http://schemas.microsoft.com/office/drawing/2014/main" id="{15D2B123-E8EC-40B2-BA43-CCA91EB5BE02}"/>
              </a:ext>
            </a:extLst>
          </p:cNvPr>
          <p:cNvSpPr>
            <a:spLocks noGrp="1"/>
          </p:cNvSpPr>
          <p:nvPr/>
        </p:nvSpPr>
        <p:spPr>
          <a:xfrm>
            <a:off x="838200" y="1857375"/>
            <a:ext cx="13563600" cy="809625"/>
          </a:xfrm>
          <a:prstGeom prst="rect">
            <a:avLst/>
          </a:prstGeom>
          <a:noFill/>
          <a:ln w="0">
            <a:noFill/>
          </a:ln>
        </p:spPr>
        <p:txBody>
          <a:bodyPr wrap="square" lIns="0" tIns="0" rIns="0" bIns="0">
            <a:noAutofit/>
          </a:bodyPr>
          <a:lstStyle/>
          <a:p>
            <a:pPr>
              <a:defRPr lang="cs-CZ" altLang="cs-CZ" sz="2700" b="1" noProof="0">
                <a:solidFill>
                  <a:srgbClr val="176A83"/>
                </a:solidFill>
                <a:latin typeface="Arial"/>
                <a:ea typeface="Arial"/>
                <a:cs typeface="Arial"/>
              </a:defRPr>
            </a:pPr>
            <a:r>
              <a:rPr lang="cs-CZ" altLang="cs-CZ" sz="2700" b="1" noProof="0">
                <a:solidFill>
                  <a:srgbClr val="176A83"/>
                </a:solidFill>
                <a:latin typeface="Arial"/>
                <a:ea typeface="Arial"/>
                <a:cs typeface="Arial"/>
              </a:rPr>
              <a:t>Výklad: 6 osob pro první tabulky, 36 pro hlavní grafy</a:t>
            </a:r>
          </a:p>
        </p:txBody>
      </p:sp>
      <p:sp>
        <p:nvSpPr>
          <p:cNvPr id="4" name="Obdélník 3">
            <a:extLst>
              <a:ext uri="{FF2B5EF4-FFF2-40B4-BE49-F238E27FC236}">
                <a16:creationId xmlns:a16="http://schemas.microsoft.com/office/drawing/2014/main" id="{0DE0FE25-59BE-4924-B3AA-CF7B33CC1EA8}"/>
              </a:ext>
            </a:extLst>
          </p:cNvPr>
          <p:cNvSpPr>
            <a:spLocks noGrp="1"/>
          </p:cNvSpPr>
          <p:nvPr/>
        </p:nvSpPr>
        <p:spPr>
          <a:xfrm>
            <a:off x="838200" y="2905125"/>
            <a:ext cx="13563600" cy="809625"/>
          </a:xfrm>
          <a:prstGeom prst="rect">
            <a:avLst/>
          </a:prstGeom>
          <a:noFill/>
          <a:ln w="0">
            <a:noFill/>
          </a:ln>
        </p:spPr>
        <p:txBody>
          <a:bodyPr wrap="square" lIns="0" tIns="0" rIns="0" bIns="0">
            <a:noAutofit/>
          </a:bodyPr>
          <a:lstStyle/>
          <a:p>
            <a:pPr>
              <a:defRPr lang="cs-CZ" altLang="cs-CZ" sz="2700" b="1" noProof="0">
                <a:solidFill>
                  <a:srgbClr val="176A83"/>
                </a:solidFill>
                <a:latin typeface="Arial"/>
                <a:ea typeface="Arial"/>
                <a:cs typeface="Arial"/>
              </a:defRPr>
            </a:pPr>
            <a:r>
              <a:rPr lang="cs-CZ" altLang="cs-CZ" sz="2700" b="1" noProof="0">
                <a:solidFill>
                  <a:srgbClr val="176A83"/>
                </a:solidFill>
                <a:latin typeface="Arial"/>
                <a:ea typeface="Arial"/>
                <a:cs typeface="Arial"/>
              </a:rPr>
              <a:t>Cvičení: samostatný soubor 72 modelových účastníků</a:t>
            </a:r>
          </a:p>
        </p:txBody>
      </p:sp>
      <p:sp>
        <p:nvSpPr>
          <p:cNvPr id="5" name="Obdélník 4">
            <a:extLst>
              <a:ext uri="{FF2B5EF4-FFF2-40B4-BE49-F238E27FC236}">
                <a16:creationId xmlns:a16="http://schemas.microsoft.com/office/drawing/2014/main" id="{089C3847-FB93-4E9B-9A5D-5319FE186303}"/>
              </a:ext>
            </a:extLst>
          </p:cNvPr>
          <p:cNvSpPr>
            <a:spLocks noGrp="1"/>
          </p:cNvSpPr>
          <p:nvPr/>
        </p:nvSpPr>
        <p:spPr>
          <a:xfrm>
            <a:off x="838200" y="4143375"/>
            <a:ext cx="13563600" cy="2095500"/>
          </a:xfrm>
          <a:prstGeom prst="rect">
            <a:avLst/>
          </a:prstGeom>
          <a:noFill/>
          <a:ln w="0">
            <a:noFill/>
          </a:ln>
        </p:spPr>
        <p:txBody>
          <a:bodyPr wrap="square" lIns="0" tIns="0" rIns="0" bIns="0">
            <a:noAutofit/>
          </a:bodyPr>
          <a:lstStyle/>
          <a:p>
            <a:pPr>
              <a:defRPr lang="cs-CZ" altLang="cs-CZ" sz="2625" b="0" noProof="0">
                <a:solidFill>
                  <a:srgbClr val="142A3B"/>
                </a:solidFill>
                <a:latin typeface="Arial"/>
                <a:ea typeface="Arial"/>
                <a:cs typeface="Arial"/>
              </a:defRPr>
            </a:pPr>
            <a:r>
              <a:rPr lang="cs-CZ" altLang="cs-CZ" sz="2625" b="0" noProof="0">
                <a:solidFill>
                  <a:srgbClr val="142A3B"/>
                </a:solidFill>
                <a:latin typeface="Arial"/>
                <a:ea typeface="Arial"/>
                <a:cs typeface="Arial"/>
              </a:rPr>
              <a:t>Před úlohou: spánek, odpočatost a genderová identita</a:t>
            </a:r>
          </a:p>
          <a:p>
            <a:pPr>
              <a:defRPr lang="cs-CZ" altLang="cs-CZ" sz="2625" b="0" noProof="0">
                <a:solidFill>
                  <a:srgbClr val="142A3B"/>
                </a:solidFill>
                <a:latin typeface="Arial"/>
                <a:ea typeface="Arial"/>
                <a:cs typeface="Arial"/>
              </a:defRPr>
            </a:pPr>
            <a:r>
              <a:rPr lang="cs-CZ" altLang="cs-CZ" sz="2625" b="0" noProof="0">
                <a:solidFill>
                  <a:srgbClr val="142A3B"/>
                </a:solidFill>
                <a:latin typeface="Arial"/>
                <a:ea typeface="Arial"/>
                <a:cs typeface="Arial"/>
              </a:rPr>
              <a:t>Při učení: ticho nebo hluk</a:t>
            </a:r>
          </a:p>
          <a:p>
            <a:pPr>
              <a:defRPr lang="cs-CZ" altLang="cs-CZ" sz="2625" b="0" noProof="0">
                <a:solidFill>
                  <a:srgbClr val="142A3B"/>
                </a:solidFill>
                <a:latin typeface="Arial"/>
                <a:ea typeface="Arial"/>
                <a:cs typeface="Arial"/>
              </a:defRPr>
            </a:pPr>
            <a:r>
              <a:rPr lang="cs-CZ" altLang="cs-CZ" sz="2625" b="0" noProof="0">
                <a:solidFill>
                  <a:srgbClr val="142A3B"/>
                </a:solidFill>
                <a:latin typeface="Arial"/>
                <a:ea typeface="Arial"/>
                <a:cs typeface="Arial"/>
              </a:rPr>
              <a:t>Výsledek: počet vybavených slov z 12</a:t>
            </a:r>
          </a:p>
        </p:txBody>
      </p:sp>
      <p:sp>
        <p:nvSpPr>
          <p:cNvPr id="6" name="Obdélník 5">
            <a:extLst>
              <a:ext uri="{FF2B5EF4-FFF2-40B4-BE49-F238E27FC236}">
                <a16:creationId xmlns:a16="http://schemas.microsoft.com/office/drawing/2014/main" id="{9E734AAE-6B1B-4AA3-B65D-A9A591889DB8}"/>
              </a:ext>
            </a:extLst>
          </p:cNvPr>
          <p:cNvSpPr>
            <a:spLocks noGrp="1"/>
          </p:cNvSpPr>
          <p:nvPr/>
        </p:nvSpPr>
        <p:spPr>
          <a:xfrm>
            <a:off x="838200" y="7096125"/>
            <a:ext cx="13563600" cy="523875"/>
          </a:xfrm>
          <a:prstGeom prst="rect">
            <a:avLst/>
          </a:prstGeom>
          <a:noFill/>
          <a:ln w="0">
            <a:noFill/>
          </a:ln>
        </p:spPr>
        <p:txBody>
          <a:bodyPr wrap="square" lIns="0" tIns="0" rIns="0" bIns="0">
            <a:noAutofit/>
          </a:bodyPr>
          <a:lstStyle/>
          <a:p>
            <a:pPr>
              <a:defRPr lang="cs-CZ" altLang="cs-CZ" sz="2175" b="0" noProof="0">
                <a:solidFill>
                  <a:srgbClr val="576574"/>
                </a:solidFill>
                <a:latin typeface="Arial"/>
                <a:ea typeface="Arial"/>
                <a:cs typeface="Arial"/>
              </a:defRPr>
            </a:pPr>
            <a:r>
              <a:rPr lang="cs-CZ" altLang="cs-CZ" sz="2175" b="0" noProof="0">
                <a:solidFill>
                  <a:srgbClr val="576574"/>
                </a:solidFill>
                <a:latin typeface="Arial"/>
                <a:ea typeface="Arial"/>
                <a:cs typeface="Arial"/>
              </a:rPr>
              <a:t>Jeden řádek = jeden účastník. Všechna data jsou výuková.</a:t>
            </a:r>
          </a:p>
        </p:txBody>
      </p:sp>
    </p:spTree>
    <p:extLst>
      <p:ext uri="{BB962C8B-B14F-4D97-AF65-F5344CB8AC3E}">
        <p14:creationId xmlns:p14="http://schemas.microsoft.com/office/powerpoint/2010/main" val="155913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8EC30740-F442-4140-A3FC-5C59B131A152}"/>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Absolutní četnost</a:t>
            </a:r>
          </a:p>
        </p:txBody>
      </p:sp>
      <p:sp>
        <p:nvSpPr>
          <p:cNvPr id="2" name="page">
            <a:extLst>
              <a:ext uri="{FF2B5EF4-FFF2-40B4-BE49-F238E27FC236}">
                <a16:creationId xmlns:a16="http://schemas.microsoft.com/office/drawing/2014/main" id="{8802F971-4E58-4633-AD0C-037092CC4132}"/>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03</a:t>
            </a:r>
          </a:p>
        </p:txBody>
      </p:sp>
      <p:sp>
        <p:nvSpPr>
          <p:cNvPr id="3" name="Obdélník 2">
            <a:extLst>
              <a:ext uri="{FF2B5EF4-FFF2-40B4-BE49-F238E27FC236}">
                <a16:creationId xmlns:a16="http://schemas.microsoft.com/office/drawing/2014/main" id="{55925A55-3F1F-40F1-BBA0-532040AA5FE5}"/>
              </a:ext>
            </a:extLst>
          </p:cNvPr>
          <p:cNvSpPr>
            <a:spLocks noGrp="1"/>
          </p:cNvSpPr>
          <p:nvPr/>
        </p:nvSpPr>
        <p:spPr>
          <a:xfrm>
            <a:off x="838200" y="1714500"/>
            <a:ext cx="13563600" cy="571500"/>
          </a:xfrm>
          <a:prstGeom prst="rect">
            <a:avLst/>
          </a:prstGeom>
          <a:noFill/>
          <a:ln w="0">
            <a:noFill/>
          </a:ln>
        </p:spPr>
        <p:txBody>
          <a:bodyPr wrap="square" lIns="0" tIns="0" rIns="0" bIns="0">
            <a:noAutofit/>
          </a:bodyPr>
          <a:lstStyle/>
          <a:p>
            <a:pPr>
              <a:defRPr lang="cs-CZ" altLang="cs-CZ" sz="2550" b="0" noProof="0">
                <a:solidFill>
                  <a:srgbClr val="176A83"/>
                </a:solidFill>
                <a:latin typeface="Arial"/>
                <a:ea typeface="Arial"/>
                <a:cs typeface="Arial"/>
              </a:defRPr>
            </a:pPr>
            <a:r>
              <a:rPr lang="cs-CZ" altLang="cs-CZ" sz="2550" b="0" noProof="0">
                <a:solidFill>
                  <a:srgbClr val="176A83"/>
                </a:solidFill>
                <a:latin typeface="Arial"/>
                <a:ea typeface="Arial"/>
                <a:cs typeface="Arial"/>
              </a:rPr>
              <a:t>Počet případů v dané kategorii</a:t>
            </a:r>
          </a:p>
        </p:txBody>
      </p:sp>
      <p:graphicFrame>
        <p:nvGraphicFramePr>
          <p:cNvPr id="10" name="Tabulka 9"/>
          <p:cNvGraphicFramePr/>
          <p:nvPr/>
        </p:nvGraphicFramePr>
        <p:xfrm>
          <a:off x="838200" y="2571750"/>
          <a:ext cx="13563600" cy="3190875"/>
        </p:xfrm>
        <a:graphic>
          <a:graphicData uri="http://schemas.openxmlformats.org/drawingml/2006/table">
            <a:tbl>
              <a:tblPr/>
              <a:tblGrid>
                <a:gridCol w="8572500">
                  <a:extLst>
                    <a:ext uri="{9D8B030D-6E8A-4147-A177-3AD203B41FA5}">
                      <a16:colId xmlns:a16="http://schemas.microsoft.com/office/drawing/2014/main" val="20000"/>
                    </a:ext>
                  </a:extLst>
                </a:gridCol>
                <a:gridCol w="4991100">
                  <a:extLst>
                    <a:ext uri="{9D8B030D-6E8A-4147-A177-3AD203B41FA5}">
                      <a16:colId xmlns:a16="http://schemas.microsoft.com/office/drawing/2014/main" val="20001"/>
                    </a:ext>
                  </a:extLst>
                </a:gridCol>
              </a:tblGrid>
              <a:tr h="638175">
                <a:tc>
                  <a:txBody>
                    <a:bodyPr/>
                    <a:lstStyle/>
                    <a:p>
                      <a:pPr algn="l"/>
                      <a:r>
                        <a:rPr lang="cs-CZ" altLang="cs-CZ" sz="2250" b="1" noProof="0">
                          <a:solidFill>
                            <a:srgbClr val="FFFFFF"/>
                          </a:solidFill>
                          <a:latin typeface="Arial"/>
                          <a:ea typeface="Arial"/>
                          <a:cs typeface="Arial"/>
                        </a:rPr>
                        <a:t>Odpočatost</a:t>
                      </a:r>
                    </a:p>
                  </a:txBody>
                  <a:tcPr anchor="ctr">
                    <a:solidFill>
                      <a:srgbClr val="142A3B"/>
                    </a:solidFill>
                  </a:tcPr>
                </a:tc>
                <a:tc>
                  <a:txBody>
                    <a:bodyPr/>
                    <a:lstStyle/>
                    <a:p>
                      <a:pPr algn="l"/>
                      <a:r>
                        <a:rPr lang="cs-CZ" altLang="cs-CZ" sz="2250" b="1" noProof="0">
                          <a:solidFill>
                            <a:srgbClr val="FFFFFF"/>
                          </a:solidFill>
                          <a:latin typeface="Arial"/>
                          <a:ea typeface="Arial"/>
                          <a:cs typeface="Arial"/>
                        </a:rPr>
                        <a:t>Absolutní četnost</a:t>
                      </a:r>
                    </a:p>
                  </a:txBody>
                  <a:tcPr anchor="ctr">
                    <a:solidFill>
                      <a:srgbClr val="142A3B"/>
                    </a:solidFill>
                  </a:tcPr>
                </a:tc>
                <a:extLst>
                  <a:ext uri="{0D108BD9-81ED-4DB2-BD59-A6C34878D82A}">
                    <a16:rowId xmlns:a16="http://schemas.microsoft.com/office/drawing/2014/main" val="10000"/>
                  </a:ext>
                </a:extLst>
              </a:tr>
              <a:tr h="638175">
                <a:tc>
                  <a:txBody>
                    <a:bodyPr/>
                    <a:lstStyle/>
                    <a:p>
                      <a:pPr algn="l"/>
                      <a:r>
                        <a:rPr lang="cs-CZ" altLang="cs-CZ" sz="2250" b="0" noProof="0">
                          <a:solidFill>
                            <a:srgbClr val="142A3B"/>
                          </a:solidFill>
                          <a:latin typeface="Arial"/>
                          <a:ea typeface="Arial"/>
                          <a:cs typeface="Arial"/>
                        </a:rPr>
                        <a:t>Vůbec</a:t>
                      </a:r>
                    </a:p>
                  </a:txBody>
                  <a:tcPr anchor="ctr">
                    <a:solidFill>
                      <a:srgbClr val="FFFFFF"/>
                    </a:solidFill>
                  </a:tcPr>
                </a:tc>
                <a:tc>
                  <a:txBody>
                    <a:bodyPr/>
                    <a:lstStyle/>
                    <a:p>
                      <a:pPr algn="l"/>
                      <a:r>
                        <a:rPr lang="cs-CZ" altLang="cs-CZ" sz="2250" b="0" noProof="0">
                          <a:solidFill>
                            <a:srgbClr val="142A3B"/>
                          </a:solidFill>
                          <a:latin typeface="Arial"/>
                          <a:ea typeface="Arial"/>
                          <a:cs typeface="Arial"/>
                        </a:rPr>
                        <a:t>1</a:t>
                      </a:r>
                    </a:p>
                  </a:txBody>
                  <a:tcPr anchor="ctr">
                    <a:solidFill>
                      <a:srgbClr val="FFFFFF"/>
                    </a:solidFill>
                  </a:tcPr>
                </a:tc>
                <a:extLst>
                  <a:ext uri="{0D108BD9-81ED-4DB2-BD59-A6C34878D82A}">
                    <a16:rowId xmlns:a16="http://schemas.microsoft.com/office/drawing/2014/main" val="10001"/>
                  </a:ext>
                </a:extLst>
              </a:tr>
              <a:tr h="638175">
                <a:tc>
                  <a:txBody>
                    <a:bodyPr/>
                    <a:lstStyle/>
                    <a:p>
                      <a:pPr algn="l"/>
                      <a:r>
                        <a:rPr lang="cs-CZ" altLang="cs-CZ" sz="2250" b="0" noProof="0">
                          <a:solidFill>
                            <a:srgbClr val="142A3B"/>
                          </a:solidFill>
                          <a:latin typeface="Arial"/>
                          <a:ea typeface="Arial"/>
                          <a:cs typeface="Arial"/>
                        </a:rPr>
                        <a:t>Trochu</a:t>
                      </a:r>
                    </a:p>
                  </a:txBody>
                  <a:tcPr anchor="ctr">
                    <a:solidFill>
                      <a:srgbClr val="DCEEF2"/>
                    </a:solidFill>
                  </a:tcPr>
                </a:tc>
                <a:tc>
                  <a:txBody>
                    <a:bodyPr/>
                    <a:lstStyle/>
                    <a:p>
                      <a:pPr algn="l"/>
                      <a:r>
                        <a:rPr lang="cs-CZ" altLang="cs-CZ" sz="2250" b="0" noProof="0">
                          <a:solidFill>
                            <a:srgbClr val="142A3B"/>
                          </a:solidFill>
                          <a:latin typeface="Arial"/>
                          <a:ea typeface="Arial"/>
                          <a:cs typeface="Arial"/>
                        </a:rPr>
                        <a:t>2</a:t>
                      </a:r>
                    </a:p>
                  </a:txBody>
                  <a:tcPr anchor="ctr">
                    <a:solidFill>
                      <a:srgbClr val="DCEEF2"/>
                    </a:solidFill>
                  </a:tcPr>
                </a:tc>
                <a:extLst>
                  <a:ext uri="{0D108BD9-81ED-4DB2-BD59-A6C34878D82A}">
                    <a16:rowId xmlns:a16="http://schemas.microsoft.com/office/drawing/2014/main" val="10002"/>
                  </a:ext>
                </a:extLst>
              </a:tr>
              <a:tr h="638175">
                <a:tc>
                  <a:txBody>
                    <a:bodyPr/>
                    <a:lstStyle/>
                    <a:p>
                      <a:pPr algn="l"/>
                      <a:r>
                        <a:rPr lang="cs-CZ" altLang="cs-CZ" sz="2250" b="0" noProof="0">
                          <a:solidFill>
                            <a:srgbClr val="142A3B"/>
                          </a:solidFill>
                          <a:latin typeface="Arial"/>
                          <a:ea typeface="Arial"/>
                          <a:cs typeface="Arial"/>
                        </a:rPr>
                        <a:t>Dost</a:t>
                      </a:r>
                    </a:p>
                  </a:txBody>
                  <a:tcPr anchor="ctr">
                    <a:solidFill>
                      <a:srgbClr val="FFFFFF"/>
                    </a:solidFill>
                  </a:tcPr>
                </a:tc>
                <a:tc>
                  <a:txBody>
                    <a:bodyPr/>
                    <a:lstStyle/>
                    <a:p>
                      <a:pPr algn="l"/>
                      <a:r>
                        <a:rPr lang="cs-CZ" altLang="cs-CZ" sz="2250" b="0" noProof="0">
                          <a:solidFill>
                            <a:srgbClr val="142A3B"/>
                          </a:solidFill>
                          <a:latin typeface="Arial"/>
                          <a:ea typeface="Arial"/>
                          <a:cs typeface="Arial"/>
                        </a:rPr>
                        <a:t>2</a:t>
                      </a:r>
                    </a:p>
                  </a:txBody>
                  <a:tcPr anchor="ctr">
                    <a:solidFill>
                      <a:srgbClr val="FFFFFF"/>
                    </a:solidFill>
                  </a:tcPr>
                </a:tc>
                <a:extLst>
                  <a:ext uri="{0D108BD9-81ED-4DB2-BD59-A6C34878D82A}">
                    <a16:rowId xmlns:a16="http://schemas.microsoft.com/office/drawing/2014/main" val="10003"/>
                  </a:ext>
                </a:extLst>
              </a:tr>
              <a:tr h="638175">
                <a:tc>
                  <a:txBody>
                    <a:bodyPr/>
                    <a:lstStyle/>
                    <a:p>
                      <a:pPr algn="l"/>
                      <a:r>
                        <a:rPr lang="cs-CZ" altLang="cs-CZ" sz="2250" b="0" noProof="0">
                          <a:solidFill>
                            <a:srgbClr val="142A3B"/>
                          </a:solidFill>
                          <a:latin typeface="Arial"/>
                          <a:ea typeface="Arial"/>
                          <a:cs typeface="Arial"/>
                        </a:rPr>
                        <a:t>Zcela</a:t>
                      </a:r>
                    </a:p>
                  </a:txBody>
                  <a:tcPr anchor="ctr">
                    <a:solidFill>
                      <a:srgbClr val="EDF2F3"/>
                    </a:solidFill>
                  </a:tcPr>
                </a:tc>
                <a:tc>
                  <a:txBody>
                    <a:bodyPr/>
                    <a:lstStyle/>
                    <a:p>
                      <a:pPr algn="l"/>
                      <a:r>
                        <a:rPr lang="cs-CZ" altLang="cs-CZ" sz="2250" b="0" noProof="0">
                          <a:solidFill>
                            <a:srgbClr val="142A3B"/>
                          </a:solidFill>
                          <a:latin typeface="Arial"/>
                          <a:ea typeface="Arial"/>
                          <a:cs typeface="Arial"/>
                        </a:rPr>
                        <a:t>1</a:t>
                      </a:r>
                    </a:p>
                  </a:txBody>
                  <a:tcPr anchor="ctr">
                    <a:solidFill>
                      <a:srgbClr val="EDF2F3"/>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5" name="formula_absolute">
                <a:extLst>
                  <a:ext uri="{FF2B5EF4-FFF2-40B4-BE49-F238E27FC236}">
                    <a16:creationId xmlns:a16="http://schemas.microsoft.com/office/drawing/2014/main" id="{2738133D-F0EF-4B5C-AE77-7055BAD0D922}"/>
                  </a:ext>
                </a:extLst>
              </p:cNvPr>
              <p:cNvSpPr>
                <a:spLocks noGrp="1"/>
              </p:cNvSpPr>
              <p:nvPr/>
            </p:nvSpPr>
            <p:spPr>
              <a:xfrm>
                <a:off x="838200" y="6191250"/>
                <a:ext cx="5715000" cy="762000"/>
              </a:xfrm>
              <a:prstGeom prst="rect">
                <a:avLst/>
              </a:prstGeom>
              <a:noFill/>
              <a:ln w="0">
                <a:noFill/>
              </a:ln>
            </p:spPr>
            <p:txBody>
              <a:bodyPr wrap="square" lIns="0" tIns="0" rIns="0" bIns="0">
                <a:noAutofit/>
              </a:bodyPr>
              <a:lstStyle/>
              <a:p>
                <a:pPr algn="l">
                  <a:defRPr lang="cs-CZ" altLang="cs-CZ" sz="2925" noProof="0"/>
                </a:pPr>
                <a14:m>
                  <m:oMathPara xmlns:m="http://schemas.openxmlformats.org/officeDocument/2006/math">
                    <m:oMathParaPr>
                      <m:jc m:val="left"/>
                    </m:oMathParaPr>
                    <m:oMath>
                      <m:sSub>
                        <m:sSubPr>
                          <m:ctrlPr>
                            <a:rPr lang="cs-CZ" altLang="cs-CZ" sz="2925" noProof="0">
                              <a:solidFill>
                                <a:srgbClr val="142A3B"/>
                              </a:solidFill>
                              <a:latin typeface="Cambria Math"/>
                            </a:rPr>
                          </m:ctrlPr>
                        </m:sSubPr>
                        <m:e>
                          <m:r>
                            <a:rPr lang="cs-CZ" altLang="cs-CZ" sz="2925" noProof="0">
                              <a:solidFill>
                                <a:srgbClr val="142A3B"/>
                              </a:solidFill>
                              <a:latin typeface="Cambria Math"/>
                            </a:rPr>
                            <m:t>𝑓</m:t>
                          </m:r>
                        </m:e>
                        <m:sub>
                          <m:r>
                            <a:rPr lang="cs-CZ" altLang="cs-CZ" sz="2925" noProof="0">
                              <a:solidFill>
                                <a:srgbClr val="142A3B"/>
                              </a:solidFill>
                              <a:latin typeface="Cambria Math"/>
                            </a:rPr>
                            <m:t>2</m:t>
                          </m:r>
                        </m:sub>
                      </m:sSub>
                      <m:r>
                        <a:rPr lang="cs-CZ" altLang="cs-CZ" sz="2925" noProof="0">
                          <a:solidFill>
                            <a:srgbClr val="142A3B"/>
                          </a:solidFill>
                          <a:latin typeface="Cambria Math"/>
                        </a:rPr>
                        <m:t> = 2,     </m:t>
                      </m:r>
                      <m:r>
                        <a:rPr lang="cs-CZ" altLang="cs-CZ" sz="2925" noProof="0">
                          <a:solidFill>
                            <a:srgbClr val="142A3B"/>
                          </a:solidFill>
                          <a:latin typeface="Cambria Math"/>
                        </a:rPr>
                        <m:t>𝑛</m:t>
                      </m:r>
                      <m:r>
                        <a:rPr lang="cs-CZ" altLang="cs-CZ" sz="2925" noProof="0">
                          <a:solidFill>
                            <a:srgbClr val="142A3B"/>
                          </a:solidFill>
                          <a:latin typeface="Cambria Math"/>
                        </a:rPr>
                        <m:t> = 6</m:t>
                      </m:r>
                    </m:oMath>
                  </m:oMathPara>
                </a14:m>
                <a:endParaRPr lang="cs-CZ" altLang="cs-CZ" sz="2925" noProof="0"/>
              </a:p>
            </p:txBody>
          </p:sp>
        </mc:Choice>
        <mc:Fallback xmlns="">
          <p:sp>
            <p:nvSpPr>
              <p:cNvPr id="5" name="formula_absolute">
                <a:extLst>
                  <a:ext uri="{FF2B5EF4-FFF2-40B4-BE49-F238E27FC236}">
                    <a16:creationId xmlns:a16="http://schemas.microsoft.com/office/drawing/2014/main" id="{2738133D-F0EF-4B5C-AE77-7055BAD0D922}"/>
                  </a:ext>
                </a:extLst>
              </p:cNvPr>
              <p:cNvSpPr>
                <a:spLocks noGrp="1" noRot="1" noChangeAspect="1" noMove="1" noResize="1" noEditPoints="1" noAdjustHandles="1" noChangeArrowheads="1" noChangeShapeType="1" noTextEdit="1"/>
              </p:cNvSpPr>
              <p:nvPr/>
            </p:nvSpPr>
            <p:spPr>
              <a:xfrm>
                <a:off x="838200" y="6191250"/>
                <a:ext cx="5715000" cy="762000"/>
              </a:xfrm>
              <a:prstGeom prst="rect">
                <a:avLst/>
              </a:prstGeom>
              <a:blipFill>
                <a:blip r:embed="rId3"/>
                <a:stretch>
                  <a:fillRect l="-107"/>
                </a:stretch>
              </a:blipFill>
              <a:ln w="0">
                <a:noFill/>
              </a:ln>
            </p:spPr>
            <p:txBody>
              <a:bodyPr/>
              <a:lstStyle/>
              <a:p>
                <a:r>
                  <a:rPr lang="cs-CZ">
                    <a:noFill/>
                  </a:rPr>
                  <a:t> </a:t>
                </a:r>
              </a:p>
            </p:txBody>
          </p:sp>
        </mc:Fallback>
      </mc:AlternateContent>
      <p:sp>
        <p:nvSpPr>
          <p:cNvPr id="6" name="Obdélník 5">
            <a:extLst>
              <a:ext uri="{FF2B5EF4-FFF2-40B4-BE49-F238E27FC236}">
                <a16:creationId xmlns:a16="http://schemas.microsoft.com/office/drawing/2014/main" id="{DDB58156-AFF5-4A8B-9545-B735473F09F9}"/>
              </a:ext>
            </a:extLst>
          </p:cNvPr>
          <p:cNvSpPr>
            <a:spLocks noGrp="1"/>
          </p:cNvSpPr>
          <p:nvPr/>
        </p:nvSpPr>
        <p:spPr>
          <a:xfrm>
            <a:off x="838200" y="7229475"/>
            <a:ext cx="13563600" cy="476250"/>
          </a:xfrm>
          <a:prstGeom prst="rect">
            <a:avLst/>
          </a:prstGeom>
          <a:noFill/>
          <a:ln w="0">
            <a:noFill/>
          </a:ln>
        </p:spPr>
        <p:txBody>
          <a:bodyPr wrap="square" lIns="0" tIns="0" rIns="0" bIns="0">
            <a:noAutofit/>
          </a:bodyPr>
          <a:lstStyle/>
          <a:p>
            <a:pPr>
              <a:defRPr lang="cs-CZ" altLang="cs-CZ" sz="2100" b="0" noProof="0">
                <a:solidFill>
                  <a:srgbClr val="576574"/>
                </a:solidFill>
                <a:latin typeface="Arial"/>
                <a:ea typeface="Arial"/>
                <a:cs typeface="Arial"/>
              </a:defRPr>
            </a:pPr>
            <a:r>
              <a:rPr lang="cs-CZ" altLang="cs-CZ" sz="2100" b="0" noProof="0">
                <a:solidFill>
                  <a:srgbClr val="576574"/>
                </a:solidFill>
                <a:latin typeface="Arial"/>
                <a:ea typeface="Arial"/>
                <a:cs typeface="Arial"/>
              </a:rPr>
              <a:t>j = číslo kategorie, n = počet zahrnutých případů</a:t>
            </a:r>
          </a:p>
        </p:txBody>
      </p:sp>
    </p:spTree>
    <p:extLst>
      <p:ext uri="{BB962C8B-B14F-4D97-AF65-F5344CB8AC3E}">
        <p14:creationId xmlns:p14="http://schemas.microsoft.com/office/powerpoint/2010/main" val="414488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D3494FDC-5E16-49EA-B2DD-81E8E3184BA6}"/>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Relativní četnost a procenta</a:t>
            </a:r>
          </a:p>
        </p:txBody>
      </p:sp>
      <p:sp>
        <p:nvSpPr>
          <p:cNvPr id="2" name="page">
            <a:extLst>
              <a:ext uri="{FF2B5EF4-FFF2-40B4-BE49-F238E27FC236}">
                <a16:creationId xmlns:a16="http://schemas.microsoft.com/office/drawing/2014/main" id="{B1484968-EB70-4E56-A352-30CB4BA7A4DA}"/>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04</a:t>
            </a:r>
          </a:p>
        </p:txBody>
      </p:sp>
      <mc:AlternateContent xmlns:mc="http://schemas.openxmlformats.org/markup-compatibility/2006" xmlns:a14="http://schemas.microsoft.com/office/drawing/2010/main">
        <mc:Choice Requires="a14">
          <p:sp>
            <p:nvSpPr>
              <p:cNvPr id="3" name="formula_relative">
                <a:extLst>
                  <a:ext uri="{FF2B5EF4-FFF2-40B4-BE49-F238E27FC236}">
                    <a16:creationId xmlns:a16="http://schemas.microsoft.com/office/drawing/2014/main" id="{1E0CD2D2-250F-4816-A009-29674BEA1D32}"/>
                  </a:ext>
                </a:extLst>
              </p:cNvPr>
              <p:cNvSpPr>
                <a:spLocks noGrp="1"/>
              </p:cNvSpPr>
              <p:nvPr/>
            </p:nvSpPr>
            <p:spPr>
              <a:xfrm>
                <a:off x="838200" y="1638300"/>
                <a:ext cx="6191250" cy="914400"/>
              </a:xfrm>
              <a:prstGeom prst="rect">
                <a:avLst/>
              </a:prstGeom>
              <a:noFill/>
              <a:ln w="0">
                <a:noFill/>
              </a:ln>
            </p:spPr>
            <p:txBody>
              <a:bodyPr wrap="square" lIns="0" tIns="0" rIns="0" bIns="0">
                <a:noAutofit/>
              </a:bodyPr>
              <a:lstStyle/>
              <a:p>
                <a:pPr algn="l">
                  <a:defRPr lang="cs-CZ" altLang="cs-CZ" sz="2925" noProof="0"/>
                </a:pPr>
                <a14:m>
                  <m:oMathPara xmlns:m="http://schemas.openxmlformats.org/officeDocument/2006/math">
                    <m:oMathParaPr>
                      <m:jc m:val="left"/>
                    </m:oMathParaPr>
                    <m:oMath>
                      <m:sSub>
                        <m:sSubPr>
                          <m:ctrlPr>
                            <a:rPr lang="cs-CZ" altLang="cs-CZ" sz="2925" noProof="0">
                              <a:solidFill>
                                <a:srgbClr val="142A3B"/>
                              </a:solidFill>
                              <a:latin typeface="Cambria Math"/>
                            </a:rPr>
                          </m:ctrlPr>
                        </m:sSubPr>
                        <m:e>
                          <m:r>
                            <a:rPr lang="cs-CZ" altLang="cs-CZ" sz="2925" noProof="0">
                              <a:solidFill>
                                <a:srgbClr val="142A3B"/>
                              </a:solidFill>
                              <a:latin typeface="Cambria Math"/>
                            </a:rPr>
                            <m:t>𝑝</m:t>
                          </m:r>
                        </m:e>
                        <m:sub>
                          <m:r>
                            <a:rPr lang="cs-CZ" altLang="cs-CZ" sz="2925" noProof="0">
                              <a:solidFill>
                                <a:srgbClr val="142A3B"/>
                              </a:solidFill>
                              <a:latin typeface="Cambria Math"/>
                            </a:rPr>
                            <m:t>𝑗</m:t>
                          </m:r>
                        </m:sub>
                      </m:sSub>
                      <m:r>
                        <a:rPr lang="cs-CZ" altLang="cs-CZ" sz="2925" noProof="0">
                          <a:solidFill>
                            <a:srgbClr val="142A3B"/>
                          </a:solidFill>
                          <a:latin typeface="Cambria Math"/>
                        </a:rPr>
                        <m:t> = </m:t>
                      </m:r>
                      <m:f>
                        <m:fPr>
                          <m:ctrlPr>
                            <a:rPr lang="cs-CZ" altLang="cs-CZ" sz="2925" i="1" noProof="0">
                              <a:solidFill>
                                <a:srgbClr val="142A3B"/>
                              </a:solidFill>
                              <a:latin typeface="Cambria Math" panose="02040503050406030204" pitchFamily="18" charset="0"/>
                            </a:rPr>
                          </m:ctrlPr>
                        </m:fPr>
                        <m:num>
                          <m:sSub>
                            <m:sSubPr>
                              <m:ctrlPr>
                                <a:rPr lang="cs-CZ" altLang="cs-CZ" sz="2925" noProof="0">
                                  <a:solidFill>
                                    <a:srgbClr val="142A3B"/>
                                  </a:solidFill>
                                  <a:latin typeface="Cambria Math"/>
                                </a:rPr>
                              </m:ctrlPr>
                            </m:sSubPr>
                            <m:e>
                              <m:r>
                                <a:rPr lang="cs-CZ" altLang="cs-CZ" sz="2925" noProof="0">
                                  <a:solidFill>
                                    <a:srgbClr val="142A3B"/>
                                  </a:solidFill>
                                  <a:latin typeface="Cambria Math"/>
                                </a:rPr>
                                <m:t>𝑓</m:t>
                              </m:r>
                            </m:e>
                            <m:sub>
                              <m:r>
                                <a:rPr lang="cs-CZ" altLang="cs-CZ" sz="2925" noProof="0">
                                  <a:solidFill>
                                    <a:srgbClr val="142A3B"/>
                                  </a:solidFill>
                                  <a:latin typeface="Cambria Math"/>
                                </a:rPr>
                                <m:t>𝑗</m:t>
                              </m:r>
                            </m:sub>
                          </m:sSub>
                        </m:num>
                        <m:den>
                          <m:r>
                            <a:rPr lang="cs-CZ" altLang="cs-CZ" sz="2925" noProof="0">
                              <a:solidFill>
                                <a:srgbClr val="142A3B"/>
                              </a:solidFill>
                              <a:latin typeface="Cambria Math"/>
                            </a:rPr>
                            <m:t>𝑛</m:t>
                          </m:r>
                        </m:den>
                      </m:f>
                    </m:oMath>
                  </m:oMathPara>
                </a14:m>
                <a:endParaRPr lang="cs-CZ" altLang="cs-CZ" sz="2925" noProof="0"/>
              </a:p>
            </p:txBody>
          </p:sp>
        </mc:Choice>
        <mc:Fallback xmlns="">
          <p:sp>
            <p:nvSpPr>
              <p:cNvPr id="3" name="formula_relative">
                <a:extLst>
                  <a:ext uri="{FF2B5EF4-FFF2-40B4-BE49-F238E27FC236}">
                    <a16:creationId xmlns:a16="http://schemas.microsoft.com/office/drawing/2014/main" id="{1E0CD2D2-250F-4816-A009-29674BEA1D32}"/>
                  </a:ext>
                </a:extLst>
              </p:cNvPr>
              <p:cNvSpPr>
                <a:spLocks noGrp="1" noRot="1" noChangeAspect="1" noMove="1" noResize="1" noEditPoints="1" noAdjustHandles="1" noChangeArrowheads="1" noChangeShapeType="1" noTextEdit="1"/>
              </p:cNvSpPr>
              <p:nvPr/>
            </p:nvSpPr>
            <p:spPr>
              <a:xfrm>
                <a:off x="838200" y="1638300"/>
                <a:ext cx="6191250" cy="914400"/>
              </a:xfrm>
              <a:prstGeom prst="rect">
                <a:avLst/>
              </a:prstGeom>
              <a:blipFill>
                <a:blip r:embed="rId3"/>
                <a:stretch>
                  <a:fillRect/>
                </a:stretch>
              </a:blipFill>
              <a:ln w="0">
                <a:noFill/>
              </a:ln>
            </p:spPr>
            <p:txBody>
              <a:bodyPr/>
              <a:lstStyle/>
              <a:p>
                <a:r>
                  <a:rPr lang="cs-CZ">
                    <a:noFill/>
                  </a:rPr>
                  <a:t> </a:t>
                </a:r>
              </a:p>
            </p:txBody>
          </p:sp>
        </mc:Fallback>
      </mc:AlternateContent>
      <p:sp>
        <p:nvSpPr>
          <p:cNvPr id="4" name="Obdélník 3">
            <a:extLst>
              <a:ext uri="{FF2B5EF4-FFF2-40B4-BE49-F238E27FC236}">
                <a16:creationId xmlns:a16="http://schemas.microsoft.com/office/drawing/2014/main" id="{1C5BBAD4-8FB5-4F5E-A903-47C74BBA6393}"/>
              </a:ext>
            </a:extLst>
          </p:cNvPr>
          <p:cNvSpPr>
            <a:spLocks noGrp="1"/>
          </p:cNvSpPr>
          <p:nvPr/>
        </p:nvSpPr>
        <p:spPr>
          <a:xfrm>
            <a:off x="7429500" y="1847850"/>
            <a:ext cx="6953250" cy="571500"/>
          </a:xfrm>
          <a:prstGeom prst="rect">
            <a:avLst/>
          </a:prstGeom>
          <a:noFill/>
          <a:ln w="0">
            <a:noFill/>
          </a:ln>
        </p:spPr>
        <p:txBody>
          <a:bodyPr wrap="square" lIns="0" tIns="0" rIns="0" bIns="0">
            <a:noAutofit/>
          </a:bodyPr>
          <a:lstStyle/>
          <a:p>
            <a:pPr>
              <a:defRPr lang="cs-CZ" altLang="cs-CZ" sz="2250" b="0" noProof="0">
                <a:solidFill>
                  <a:srgbClr val="176A83"/>
                </a:solidFill>
                <a:latin typeface="Arial"/>
                <a:ea typeface="Arial"/>
                <a:cs typeface="Arial"/>
              </a:defRPr>
            </a:pPr>
            <a:r>
              <a:rPr lang="cs-CZ" altLang="cs-CZ" sz="2250" b="0" noProof="0">
                <a:solidFill>
                  <a:srgbClr val="176A83"/>
                </a:solidFill>
                <a:latin typeface="Arial"/>
                <a:ea typeface="Arial"/>
                <a:cs typeface="Arial"/>
              </a:rPr>
              <a:t>Stejných šest odpovědí na odpočatost</a:t>
            </a:r>
          </a:p>
        </p:txBody>
      </p:sp>
      <p:graphicFrame>
        <p:nvGraphicFramePr>
          <p:cNvPr id="11" name="Tabulka 10"/>
          <p:cNvGraphicFramePr/>
          <p:nvPr/>
        </p:nvGraphicFramePr>
        <p:xfrm>
          <a:off x="838200" y="2809875"/>
          <a:ext cx="13563600" cy="3429000"/>
        </p:xfrm>
        <a:graphic>
          <a:graphicData uri="http://schemas.openxmlformats.org/drawingml/2006/table">
            <a:tbl>
              <a:tblPr/>
              <a:tblGrid>
                <a:gridCol w="5048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95600">
                  <a:extLst>
                    <a:ext uri="{9D8B030D-6E8A-4147-A177-3AD203B41FA5}">
                      <a16:colId xmlns:a16="http://schemas.microsoft.com/office/drawing/2014/main" val="20003"/>
                    </a:ext>
                  </a:extLst>
                </a:gridCol>
              </a:tblGrid>
              <a:tr h="571500">
                <a:tc>
                  <a:txBody>
                    <a:bodyPr/>
                    <a:lstStyle/>
                    <a:p>
                      <a:pPr algn="l"/>
                      <a:r>
                        <a:rPr lang="cs-CZ" altLang="cs-CZ" sz="2175" b="1" noProof="0">
                          <a:solidFill>
                            <a:srgbClr val="FFFFFF"/>
                          </a:solidFill>
                          <a:latin typeface="Arial"/>
                          <a:ea typeface="Arial"/>
                          <a:cs typeface="Arial"/>
                        </a:rPr>
                        <a:t>Odpočatost</a:t>
                      </a:r>
                    </a:p>
                  </a:txBody>
                  <a:tcPr anchor="ctr">
                    <a:solidFill>
                      <a:srgbClr val="142A3B"/>
                    </a:solidFill>
                  </a:tcPr>
                </a:tc>
                <a:tc>
                  <a:txBody>
                    <a:bodyPr/>
                    <a:lstStyle/>
                    <a:p>
                      <a:pPr algn="l"/>
                      <a:r>
                        <a:rPr lang="cs-CZ" altLang="cs-CZ" sz="2175" b="1" noProof="0">
                          <a:solidFill>
                            <a:srgbClr val="FFFFFF"/>
                          </a:solidFill>
                          <a:latin typeface="Arial"/>
                          <a:ea typeface="Arial"/>
                          <a:cs typeface="Arial"/>
                        </a:rPr>
                        <a:t>Absolutní</a:t>
                      </a:r>
                    </a:p>
                  </a:txBody>
                  <a:tcPr anchor="ctr">
                    <a:solidFill>
                      <a:srgbClr val="142A3B"/>
                    </a:solidFill>
                  </a:tcPr>
                </a:tc>
                <a:tc>
                  <a:txBody>
                    <a:bodyPr/>
                    <a:lstStyle/>
                    <a:p>
                      <a:pPr algn="l"/>
                      <a:r>
                        <a:rPr lang="cs-CZ" altLang="cs-CZ" sz="2175" b="1" noProof="0">
                          <a:solidFill>
                            <a:srgbClr val="FFFFFF"/>
                          </a:solidFill>
                          <a:latin typeface="Arial"/>
                          <a:ea typeface="Arial"/>
                          <a:cs typeface="Arial"/>
                        </a:rPr>
                        <a:t>Relativní</a:t>
                      </a:r>
                    </a:p>
                  </a:txBody>
                  <a:tcPr anchor="ctr">
                    <a:solidFill>
                      <a:srgbClr val="142A3B"/>
                    </a:solidFill>
                  </a:tcPr>
                </a:tc>
                <a:tc>
                  <a:txBody>
                    <a:bodyPr/>
                    <a:lstStyle/>
                    <a:p>
                      <a:pPr algn="l"/>
                      <a:r>
                        <a:rPr lang="cs-CZ" altLang="cs-CZ" sz="2175" b="1" noProof="0">
                          <a:solidFill>
                            <a:srgbClr val="FFFFFF"/>
                          </a:solidFill>
                          <a:latin typeface="Arial"/>
                          <a:ea typeface="Arial"/>
                          <a:cs typeface="Arial"/>
                        </a:rPr>
                        <a:t>Procenta</a:t>
                      </a:r>
                    </a:p>
                  </a:txBody>
                  <a:tcPr anchor="ctr">
                    <a:solidFill>
                      <a:srgbClr val="142A3B"/>
                    </a:solidFill>
                  </a:tcPr>
                </a:tc>
                <a:extLst>
                  <a:ext uri="{0D108BD9-81ED-4DB2-BD59-A6C34878D82A}">
                    <a16:rowId xmlns:a16="http://schemas.microsoft.com/office/drawing/2014/main" val="10000"/>
                  </a:ext>
                </a:extLst>
              </a:tr>
              <a:tr h="571500">
                <a:tc>
                  <a:txBody>
                    <a:bodyPr/>
                    <a:lstStyle/>
                    <a:p>
                      <a:pPr algn="l"/>
                      <a:r>
                        <a:rPr lang="cs-CZ" altLang="cs-CZ" sz="2175" b="0" noProof="0">
                          <a:solidFill>
                            <a:srgbClr val="142A3B"/>
                          </a:solidFill>
                          <a:latin typeface="Arial"/>
                          <a:ea typeface="Arial"/>
                          <a:cs typeface="Arial"/>
                        </a:rPr>
                        <a:t>Vůbec</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1</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0,167</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16,7 %</a:t>
                      </a:r>
                    </a:p>
                  </a:txBody>
                  <a:tcPr anchor="ctr">
                    <a:solidFill>
                      <a:srgbClr val="FFFFFF"/>
                    </a:solidFill>
                  </a:tcPr>
                </a:tc>
                <a:extLst>
                  <a:ext uri="{0D108BD9-81ED-4DB2-BD59-A6C34878D82A}">
                    <a16:rowId xmlns:a16="http://schemas.microsoft.com/office/drawing/2014/main" val="10001"/>
                  </a:ext>
                </a:extLst>
              </a:tr>
              <a:tr h="571500">
                <a:tc>
                  <a:txBody>
                    <a:bodyPr/>
                    <a:lstStyle/>
                    <a:p>
                      <a:pPr algn="l"/>
                      <a:r>
                        <a:rPr lang="cs-CZ" altLang="cs-CZ" sz="2175" b="0" noProof="0">
                          <a:solidFill>
                            <a:srgbClr val="142A3B"/>
                          </a:solidFill>
                          <a:latin typeface="Arial"/>
                          <a:ea typeface="Arial"/>
                          <a:cs typeface="Arial"/>
                        </a:rPr>
                        <a:t>Trochu</a:t>
                      </a:r>
                    </a:p>
                  </a:txBody>
                  <a:tcPr anchor="ctr">
                    <a:solidFill>
                      <a:srgbClr val="DCEEF2"/>
                    </a:solidFill>
                  </a:tcPr>
                </a:tc>
                <a:tc>
                  <a:txBody>
                    <a:bodyPr/>
                    <a:lstStyle/>
                    <a:p>
                      <a:pPr algn="l"/>
                      <a:r>
                        <a:rPr lang="cs-CZ" altLang="cs-CZ" sz="2175" b="0" noProof="0">
                          <a:solidFill>
                            <a:srgbClr val="142A3B"/>
                          </a:solidFill>
                          <a:latin typeface="Arial"/>
                          <a:ea typeface="Arial"/>
                          <a:cs typeface="Arial"/>
                        </a:rPr>
                        <a:t>2</a:t>
                      </a:r>
                    </a:p>
                  </a:txBody>
                  <a:tcPr anchor="ctr">
                    <a:solidFill>
                      <a:srgbClr val="DCEEF2"/>
                    </a:solidFill>
                  </a:tcPr>
                </a:tc>
                <a:tc>
                  <a:txBody>
                    <a:bodyPr/>
                    <a:lstStyle/>
                    <a:p>
                      <a:pPr algn="l"/>
                      <a:r>
                        <a:rPr lang="cs-CZ" altLang="cs-CZ" sz="2175" b="0" noProof="0">
                          <a:solidFill>
                            <a:srgbClr val="142A3B"/>
                          </a:solidFill>
                          <a:latin typeface="Arial"/>
                          <a:ea typeface="Arial"/>
                          <a:cs typeface="Arial"/>
                        </a:rPr>
                        <a:t>0,333</a:t>
                      </a:r>
                    </a:p>
                  </a:txBody>
                  <a:tcPr anchor="ctr">
                    <a:solidFill>
                      <a:srgbClr val="DCEEF2"/>
                    </a:solidFill>
                  </a:tcPr>
                </a:tc>
                <a:tc>
                  <a:txBody>
                    <a:bodyPr/>
                    <a:lstStyle/>
                    <a:p>
                      <a:pPr algn="l"/>
                      <a:r>
                        <a:rPr lang="cs-CZ" altLang="cs-CZ" sz="2175" b="0" noProof="0">
                          <a:solidFill>
                            <a:srgbClr val="142A3B"/>
                          </a:solidFill>
                          <a:latin typeface="Arial"/>
                          <a:ea typeface="Arial"/>
                          <a:cs typeface="Arial"/>
                        </a:rPr>
                        <a:t>33,3 %</a:t>
                      </a:r>
                    </a:p>
                  </a:txBody>
                  <a:tcPr anchor="ctr">
                    <a:solidFill>
                      <a:srgbClr val="DCEEF2"/>
                    </a:solidFill>
                  </a:tcPr>
                </a:tc>
                <a:extLst>
                  <a:ext uri="{0D108BD9-81ED-4DB2-BD59-A6C34878D82A}">
                    <a16:rowId xmlns:a16="http://schemas.microsoft.com/office/drawing/2014/main" val="10002"/>
                  </a:ext>
                </a:extLst>
              </a:tr>
              <a:tr h="571500">
                <a:tc>
                  <a:txBody>
                    <a:bodyPr/>
                    <a:lstStyle/>
                    <a:p>
                      <a:pPr algn="l"/>
                      <a:r>
                        <a:rPr lang="cs-CZ" altLang="cs-CZ" sz="2175" b="0" noProof="0">
                          <a:solidFill>
                            <a:srgbClr val="142A3B"/>
                          </a:solidFill>
                          <a:latin typeface="Arial"/>
                          <a:ea typeface="Arial"/>
                          <a:cs typeface="Arial"/>
                        </a:rPr>
                        <a:t>Dost</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2</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0,333</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33,3 %</a:t>
                      </a:r>
                    </a:p>
                  </a:txBody>
                  <a:tcPr anchor="ctr">
                    <a:solidFill>
                      <a:srgbClr val="FFFFFF"/>
                    </a:solidFill>
                  </a:tcPr>
                </a:tc>
                <a:extLst>
                  <a:ext uri="{0D108BD9-81ED-4DB2-BD59-A6C34878D82A}">
                    <a16:rowId xmlns:a16="http://schemas.microsoft.com/office/drawing/2014/main" val="10003"/>
                  </a:ext>
                </a:extLst>
              </a:tr>
              <a:tr h="571500">
                <a:tc>
                  <a:txBody>
                    <a:bodyPr/>
                    <a:lstStyle/>
                    <a:p>
                      <a:pPr algn="l"/>
                      <a:r>
                        <a:rPr lang="cs-CZ" altLang="cs-CZ" sz="2175" b="0" noProof="0">
                          <a:solidFill>
                            <a:srgbClr val="142A3B"/>
                          </a:solidFill>
                          <a:latin typeface="Arial"/>
                          <a:ea typeface="Arial"/>
                          <a:cs typeface="Arial"/>
                        </a:rPr>
                        <a:t>Zcela</a:t>
                      </a:r>
                    </a:p>
                  </a:txBody>
                  <a:tcPr anchor="ctr">
                    <a:solidFill>
                      <a:srgbClr val="EDF2F3"/>
                    </a:solidFill>
                  </a:tcPr>
                </a:tc>
                <a:tc>
                  <a:txBody>
                    <a:bodyPr/>
                    <a:lstStyle/>
                    <a:p>
                      <a:pPr algn="l"/>
                      <a:r>
                        <a:rPr lang="cs-CZ" altLang="cs-CZ" sz="2175" b="0" noProof="0">
                          <a:solidFill>
                            <a:srgbClr val="142A3B"/>
                          </a:solidFill>
                          <a:latin typeface="Arial"/>
                          <a:ea typeface="Arial"/>
                          <a:cs typeface="Arial"/>
                        </a:rPr>
                        <a:t>1</a:t>
                      </a:r>
                    </a:p>
                  </a:txBody>
                  <a:tcPr anchor="ctr">
                    <a:solidFill>
                      <a:srgbClr val="EDF2F3"/>
                    </a:solidFill>
                  </a:tcPr>
                </a:tc>
                <a:tc>
                  <a:txBody>
                    <a:bodyPr/>
                    <a:lstStyle/>
                    <a:p>
                      <a:pPr algn="l"/>
                      <a:r>
                        <a:rPr lang="cs-CZ" altLang="cs-CZ" sz="2175" b="0" noProof="0">
                          <a:solidFill>
                            <a:srgbClr val="142A3B"/>
                          </a:solidFill>
                          <a:latin typeface="Arial"/>
                          <a:ea typeface="Arial"/>
                          <a:cs typeface="Arial"/>
                        </a:rPr>
                        <a:t>0,167</a:t>
                      </a:r>
                    </a:p>
                  </a:txBody>
                  <a:tcPr anchor="ctr">
                    <a:solidFill>
                      <a:srgbClr val="EDF2F3"/>
                    </a:solidFill>
                  </a:tcPr>
                </a:tc>
                <a:tc>
                  <a:txBody>
                    <a:bodyPr/>
                    <a:lstStyle/>
                    <a:p>
                      <a:pPr algn="l"/>
                      <a:r>
                        <a:rPr lang="cs-CZ" altLang="cs-CZ" sz="2175" b="0" noProof="0">
                          <a:solidFill>
                            <a:srgbClr val="142A3B"/>
                          </a:solidFill>
                          <a:latin typeface="Arial"/>
                          <a:ea typeface="Arial"/>
                          <a:cs typeface="Arial"/>
                        </a:rPr>
                        <a:t>16,7 %</a:t>
                      </a:r>
                    </a:p>
                  </a:txBody>
                  <a:tcPr anchor="ctr">
                    <a:solidFill>
                      <a:srgbClr val="EDF2F3"/>
                    </a:solidFill>
                  </a:tcPr>
                </a:tc>
                <a:extLst>
                  <a:ext uri="{0D108BD9-81ED-4DB2-BD59-A6C34878D82A}">
                    <a16:rowId xmlns:a16="http://schemas.microsoft.com/office/drawing/2014/main" val="10004"/>
                  </a:ext>
                </a:extLst>
              </a:tr>
              <a:tr h="571500">
                <a:tc>
                  <a:txBody>
                    <a:bodyPr/>
                    <a:lstStyle/>
                    <a:p>
                      <a:pPr algn="l"/>
                      <a:r>
                        <a:rPr lang="cs-CZ" altLang="cs-CZ" sz="2175" b="0" noProof="0">
                          <a:solidFill>
                            <a:srgbClr val="142A3B"/>
                          </a:solidFill>
                          <a:latin typeface="Arial"/>
                          <a:ea typeface="Arial"/>
                          <a:cs typeface="Arial"/>
                        </a:rPr>
                        <a:t>Celkem</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6</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1,000</a:t>
                      </a:r>
                    </a:p>
                  </a:txBody>
                  <a:tcPr anchor="ctr">
                    <a:solidFill>
                      <a:srgbClr val="FFFFFF"/>
                    </a:solidFill>
                  </a:tcPr>
                </a:tc>
                <a:tc>
                  <a:txBody>
                    <a:bodyPr/>
                    <a:lstStyle/>
                    <a:p>
                      <a:pPr algn="l"/>
                      <a:r>
                        <a:rPr lang="cs-CZ" altLang="cs-CZ" sz="2175" b="0" noProof="0">
                          <a:solidFill>
                            <a:srgbClr val="142A3B"/>
                          </a:solidFill>
                          <a:latin typeface="Arial"/>
                          <a:ea typeface="Arial"/>
                          <a:cs typeface="Arial"/>
                        </a:rPr>
                        <a:t>100,0 %</a:t>
                      </a:r>
                    </a:p>
                  </a:txBody>
                  <a:tcPr anchor="ctr">
                    <a:solidFill>
                      <a:srgbClr val="FFFFFF"/>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6" name="formula_relative_example">
                <a:extLst>
                  <a:ext uri="{FF2B5EF4-FFF2-40B4-BE49-F238E27FC236}">
                    <a16:creationId xmlns:a16="http://schemas.microsoft.com/office/drawing/2014/main" id="{35D4A5F8-A195-45EE-9FEE-FFA15D71693A}"/>
                  </a:ext>
                </a:extLst>
              </p:cNvPr>
              <p:cNvSpPr>
                <a:spLocks noGrp="1"/>
              </p:cNvSpPr>
              <p:nvPr/>
            </p:nvSpPr>
            <p:spPr>
              <a:xfrm>
                <a:off x="838200" y="6581775"/>
                <a:ext cx="13563600" cy="990600"/>
              </a:xfrm>
              <a:prstGeom prst="rect">
                <a:avLst/>
              </a:prstGeom>
              <a:noFill/>
              <a:ln w="0">
                <a:noFill/>
              </a:ln>
            </p:spPr>
            <p:txBody>
              <a:bodyPr wrap="square" lIns="0" tIns="0" rIns="0" bIns="0">
                <a:noAutofit/>
              </a:bodyPr>
              <a:lstStyle/>
              <a:p>
                <a:pPr algn="l">
                  <a:defRPr lang="cs-CZ" altLang="cs-CZ" sz="2850" noProof="0"/>
                </a:pPr>
                <a14:m>
                  <m:oMathPara xmlns:m="http://schemas.openxmlformats.org/officeDocument/2006/math">
                    <m:oMathParaPr>
                      <m:jc m:val="left"/>
                    </m:oMathParaPr>
                    <m:oMath>
                      <m:sSub>
                        <m:sSubPr>
                          <m:ctrlPr>
                            <a:rPr lang="cs-CZ" altLang="cs-CZ" sz="2850" noProof="0">
                              <a:solidFill>
                                <a:srgbClr val="142A3B"/>
                              </a:solidFill>
                              <a:latin typeface="Cambria Math"/>
                            </a:rPr>
                          </m:ctrlPr>
                        </m:sSubPr>
                        <m:e>
                          <m:r>
                            <a:rPr lang="cs-CZ" altLang="cs-CZ" sz="2850" noProof="0">
                              <a:solidFill>
                                <a:srgbClr val="142A3B"/>
                              </a:solidFill>
                              <a:latin typeface="Cambria Math"/>
                            </a:rPr>
                            <m:t>𝑝</m:t>
                          </m:r>
                        </m:e>
                        <m:sub>
                          <m:r>
                            <a:rPr lang="cs-CZ" altLang="cs-CZ" sz="2850" noProof="0">
                              <a:solidFill>
                                <a:srgbClr val="142A3B"/>
                              </a:solidFill>
                              <a:latin typeface="Cambria Math"/>
                            </a:rPr>
                            <m:t>2</m:t>
                          </m:r>
                        </m:sub>
                      </m:sSub>
                      <m:r>
                        <a:rPr lang="cs-CZ" altLang="cs-CZ" sz="2850" noProof="0">
                          <a:solidFill>
                            <a:srgbClr val="142A3B"/>
                          </a:solidFill>
                          <a:latin typeface="Cambria Math"/>
                        </a:rPr>
                        <m:t> = </m:t>
                      </m:r>
                      <m:f>
                        <m:fPr>
                          <m:ctrlPr>
                            <a:rPr lang="cs-CZ" altLang="cs-CZ" sz="2850" noProof="0">
                              <a:solidFill>
                                <a:srgbClr val="142A3B"/>
                              </a:solidFill>
                              <a:latin typeface="Cambria Math"/>
                            </a:rPr>
                          </m:ctrlPr>
                        </m:fPr>
                        <m:num>
                          <m:r>
                            <a:rPr lang="cs-CZ" altLang="cs-CZ" sz="2850" noProof="0">
                              <a:solidFill>
                                <a:srgbClr val="142A3B"/>
                              </a:solidFill>
                              <a:latin typeface="Cambria Math"/>
                            </a:rPr>
                            <m:t>2</m:t>
                          </m:r>
                        </m:num>
                        <m:den>
                          <m:r>
                            <a:rPr lang="cs-CZ" altLang="cs-CZ" sz="2850" noProof="0">
                              <a:solidFill>
                                <a:srgbClr val="142A3B"/>
                              </a:solidFill>
                              <a:latin typeface="Cambria Math"/>
                            </a:rPr>
                            <m:t>6</m:t>
                          </m:r>
                        </m:den>
                      </m:f>
                      <m:r>
                        <a:rPr lang="cs-CZ" altLang="cs-CZ" sz="2850" noProof="0">
                          <a:solidFill>
                            <a:srgbClr val="142A3B"/>
                          </a:solidFill>
                          <a:latin typeface="Cambria Math"/>
                        </a:rPr>
                        <m:t> ≈ 0,333 = 33,3 %</m:t>
                      </m:r>
                    </m:oMath>
                  </m:oMathPara>
                </a14:m>
                <a:endParaRPr lang="cs-CZ" altLang="cs-CZ" sz="2850" noProof="0"/>
              </a:p>
            </p:txBody>
          </p:sp>
        </mc:Choice>
        <mc:Fallback xmlns="">
          <p:sp>
            <p:nvSpPr>
              <p:cNvPr id="6" name="formula_relative_example">
                <a:extLst>
                  <a:ext uri="{FF2B5EF4-FFF2-40B4-BE49-F238E27FC236}">
                    <a16:creationId xmlns:a16="http://schemas.microsoft.com/office/drawing/2014/main" id="{35D4A5F8-A195-45EE-9FEE-FFA15D71693A}"/>
                  </a:ext>
                </a:extLst>
              </p:cNvPr>
              <p:cNvSpPr>
                <a:spLocks noGrp="1" noRot="1" noChangeAspect="1" noMove="1" noResize="1" noEditPoints="1" noAdjustHandles="1" noChangeArrowheads="1" noChangeShapeType="1" noTextEdit="1"/>
              </p:cNvSpPr>
              <p:nvPr/>
            </p:nvSpPr>
            <p:spPr>
              <a:xfrm>
                <a:off x="838200" y="6581775"/>
                <a:ext cx="13563600" cy="990600"/>
              </a:xfrm>
              <a:prstGeom prst="rect">
                <a:avLst/>
              </a:prstGeom>
              <a:blipFill>
                <a:blip r:embed="rId4"/>
                <a:stretch>
                  <a:fillRect/>
                </a:stretch>
              </a:blipFill>
              <a:ln w="0">
                <a:noFill/>
              </a:ln>
            </p:spPr>
            <p:txBody>
              <a:bodyPr/>
              <a:lstStyle/>
              <a:p>
                <a:r>
                  <a:rPr lang="cs-CZ">
                    <a:noFill/>
                  </a:rPr>
                  <a:t> </a:t>
                </a:r>
              </a:p>
            </p:txBody>
          </p:sp>
        </mc:Fallback>
      </mc:AlternateContent>
    </p:spTree>
    <p:extLst>
      <p:ext uri="{BB962C8B-B14F-4D97-AF65-F5344CB8AC3E}">
        <p14:creationId xmlns:p14="http://schemas.microsoft.com/office/powerpoint/2010/main" val="219297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06CA802B-9F43-41BE-95FD-791D352C06F7}"/>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Porovnání různě velkých skupin</a:t>
            </a:r>
            <a:endParaRPr lang="cs-CZ" altLang="cs-CZ" noProof="0"/>
          </a:p>
        </p:txBody>
      </p:sp>
      <p:sp>
        <p:nvSpPr>
          <p:cNvPr id="2" name="Obdélník 1">
            <a:extLst>
              <a:ext uri="{FF2B5EF4-FFF2-40B4-BE49-F238E27FC236}">
                <a16:creationId xmlns:a16="http://schemas.microsoft.com/office/drawing/2014/main" id="{327F11EC-20B9-44F1-8F1D-6884D6B42466}"/>
              </a:ext>
            </a:extLst>
          </p:cNvPr>
          <p:cNvSpPr>
            <a:spLocks noGrp="1"/>
          </p:cNvSpPr>
          <p:nvPr/>
        </p:nvSpPr>
        <p:spPr>
          <a:xfrm>
            <a:off x="838200" y="2047875"/>
            <a:ext cx="13563600" cy="116205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8 z 20 = 0,400 = 40,0 %</a:t>
            </a:r>
            <a:endParaRPr lang="cs-CZ" altLang="cs-CZ" noProof="0"/>
          </a:p>
        </p:txBody>
      </p:sp>
      <p:sp>
        <p:nvSpPr>
          <p:cNvPr id="3" name="Obdélník 2">
            <a:extLst>
              <a:ext uri="{FF2B5EF4-FFF2-40B4-BE49-F238E27FC236}">
                <a16:creationId xmlns:a16="http://schemas.microsoft.com/office/drawing/2014/main" id="{9F44FA85-C66B-4A35-A118-6752EC9CC8A3}"/>
              </a:ext>
            </a:extLst>
          </p:cNvPr>
          <p:cNvSpPr>
            <a:spLocks noGrp="1"/>
          </p:cNvSpPr>
          <p:nvPr/>
        </p:nvSpPr>
        <p:spPr>
          <a:xfrm>
            <a:off x="838200" y="33813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15 z 50 = 0,300 = 30,0 %</a:t>
            </a:r>
            <a:endParaRPr lang="cs-CZ" altLang="cs-CZ" noProof="0"/>
          </a:p>
        </p:txBody>
      </p:sp>
      <p:sp>
        <p:nvSpPr>
          <p:cNvPr id="4" name="Obdélník 3">
            <a:extLst>
              <a:ext uri="{FF2B5EF4-FFF2-40B4-BE49-F238E27FC236}">
                <a16:creationId xmlns:a16="http://schemas.microsoft.com/office/drawing/2014/main" id="{09AD3A36-741A-417F-9D48-1E5FA0A275D3}"/>
              </a:ext>
            </a:extLst>
          </p:cNvPr>
          <p:cNvSpPr>
            <a:spLocks noGrp="1"/>
          </p:cNvSpPr>
          <p:nvPr/>
        </p:nvSpPr>
        <p:spPr>
          <a:xfrm>
            <a:off x="838200" y="47148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Podíl = četnost / počet zahrnutých případů</a:t>
            </a:r>
            <a:endParaRPr lang="cs-CZ" altLang="cs-CZ" noProof="0"/>
          </a:p>
        </p:txBody>
      </p:sp>
      <p:sp>
        <p:nvSpPr>
          <p:cNvPr id="5" name="Obdélník 4">
            <a:extLst>
              <a:ext uri="{FF2B5EF4-FFF2-40B4-BE49-F238E27FC236}">
                <a16:creationId xmlns:a16="http://schemas.microsoft.com/office/drawing/2014/main" id="{167FB108-6923-43FB-803D-AEA147FF5A20}"/>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05</a:t>
            </a:r>
            <a:endParaRPr lang="cs-CZ" altLang="cs-CZ" noProof="0"/>
          </a:p>
        </p:txBody>
      </p:sp>
    </p:spTree>
    <p:extLst>
      <p:ext uri="{BB962C8B-B14F-4D97-AF65-F5344CB8AC3E}">
        <p14:creationId xmlns:p14="http://schemas.microsoft.com/office/powerpoint/2010/main" val="250780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87934568-76F8-4C3A-8DFD-B6F25EDBA3C8}"/>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Chybějící údaj mění základ procent</a:t>
            </a:r>
            <a:endParaRPr lang="cs-CZ" altLang="cs-CZ" noProof="0"/>
          </a:p>
        </p:txBody>
      </p:sp>
      <p:sp>
        <p:nvSpPr>
          <p:cNvPr id="2" name="Obdélník 1">
            <a:extLst>
              <a:ext uri="{FF2B5EF4-FFF2-40B4-BE49-F238E27FC236}">
                <a16:creationId xmlns:a16="http://schemas.microsoft.com/office/drawing/2014/main" id="{4D5CE0E0-1C0D-4DA2-B31F-8020C9675242}"/>
              </a:ext>
            </a:extLst>
          </p:cNvPr>
          <p:cNvSpPr>
            <a:spLocks noGrp="1"/>
          </p:cNvSpPr>
          <p:nvPr/>
        </p:nvSpPr>
        <p:spPr>
          <a:xfrm>
            <a:off x="838200" y="2047875"/>
            <a:ext cx="13563600" cy="116205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dirty="0">
                <a:solidFill>
                  <a:srgbClr val="176A83"/>
                </a:solidFill>
                <a:latin typeface="Arial"/>
                <a:ea typeface="Arial"/>
                <a:cs typeface="Arial"/>
              </a:rPr>
              <a:t>6 účastníků: 5 známých dob spánku a 1 chybějící hodnota</a:t>
            </a:r>
            <a:endParaRPr lang="cs-CZ" altLang="cs-CZ" noProof="0" dirty="0"/>
          </a:p>
        </p:txBody>
      </p:sp>
      <p:sp>
        <p:nvSpPr>
          <p:cNvPr id="3" name="Obdélník 2">
            <a:extLst>
              <a:ext uri="{FF2B5EF4-FFF2-40B4-BE49-F238E27FC236}">
                <a16:creationId xmlns:a16="http://schemas.microsoft.com/office/drawing/2014/main" id="{E9E15B88-BCD8-4C84-9BA0-FAB87CEADEEA}"/>
              </a:ext>
            </a:extLst>
          </p:cNvPr>
          <p:cNvSpPr>
            <a:spLocks noGrp="1"/>
          </p:cNvSpPr>
          <p:nvPr/>
        </p:nvSpPr>
        <p:spPr>
          <a:xfrm>
            <a:off x="838200" y="33813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3 osoby mají zaznamenáno alespoň 7 hodin</a:t>
            </a:r>
            <a:endParaRPr lang="cs-CZ" altLang="cs-CZ" noProof="0"/>
          </a:p>
        </p:txBody>
      </p:sp>
      <p:sp>
        <p:nvSpPr>
          <p:cNvPr id="4" name="Obdélník 3">
            <a:extLst>
              <a:ext uri="{FF2B5EF4-FFF2-40B4-BE49-F238E27FC236}">
                <a16:creationId xmlns:a16="http://schemas.microsoft.com/office/drawing/2014/main" id="{9D5864FF-DA02-4B94-94CA-1C19FB8FF9C8}"/>
              </a:ext>
            </a:extLst>
          </p:cNvPr>
          <p:cNvSpPr>
            <a:spLocks noGrp="1"/>
          </p:cNvSpPr>
          <p:nvPr/>
        </p:nvSpPr>
        <p:spPr>
          <a:xfrm>
            <a:off x="838200" y="47148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Ze všech: 3 / 6 = 50,0 %</a:t>
            </a:r>
            <a:endParaRPr lang="cs-CZ" altLang="cs-CZ" noProof="0"/>
          </a:p>
        </p:txBody>
      </p:sp>
      <p:sp>
        <p:nvSpPr>
          <p:cNvPr id="5" name="Obdélník 4">
            <a:extLst>
              <a:ext uri="{FF2B5EF4-FFF2-40B4-BE49-F238E27FC236}">
                <a16:creationId xmlns:a16="http://schemas.microsoft.com/office/drawing/2014/main" id="{E124AD93-3CC1-47AA-A213-F5C94A7F53A8}"/>
              </a:ext>
            </a:extLst>
          </p:cNvPr>
          <p:cNvSpPr>
            <a:spLocks noGrp="1"/>
          </p:cNvSpPr>
          <p:nvPr/>
        </p:nvSpPr>
        <p:spPr>
          <a:xfrm>
            <a:off x="838200" y="60483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Ze známých: 3 / 5 = 60,0 %</a:t>
            </a:r>
            <a:endParaRPr lang="cs-CZ" altLang="cs-CZ" noProof="0"/>
          </a:p>
        </p:txBody>
      </p:sp>
      <p:sp>
        <p:nvSpPr>
          <p:cNvPr id="6" name="Obdélník 5">
            <a:extLst>
              <a:ext uri="{FF2B5EF4-FFF2-40B4-BE49-F238E27FC236}">
                <a16:creationId xmlns:a16="http://schemas.microsoft.com/office/drawing/2014/main" id="{ED000E09-6DD0-4385-8275-464397B0FD6B}"/>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06</a:t>
            </a:r>
            <a:endParaRPr lang="cs-CZ" altLang="cs-CZ" noProof="0"/>
          </a:p>
        </p:txBody>
      </p:sp>
    </p:spTree>
    <p:extLst>
      <p:ext uri="{BB962C8B-B14F-4D97-AF65-F5344CB8AC3E}">
        <p14:creationId xmlns:p14="http://schemas.microsoft.com/office/powerpoint/2010/main" val="1763812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DCA957C0-48E4-4D12-9091-D870F67F36E7}"/>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Součet četností jako kontrola</a:t>
            </a:r>
          </a:p>
        </p:txBody>
      </p:sp>
      <p:sp>
        <p:nvSpPr>
          <p:cNvPr id="2" name="page">
            <a:extLst>
              <a:ext uri="{FF2B5EF4-FFF2-40B4-BE49-F238E27FC236}">
                <a16:creationId xmlns:a16="http://schemas.microsoft.com/office/drawing/2014/main" id="{097B7643-EA23-424C-B92F-B7124E12B851}"/>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07</a:t>
            </a:r>
          </a:p>
        </p:txBody>
      </p:sp>
      <p:sp>
        <p:nvSpPr>
          <p:cNvPr id="3" name="Obdélník 2">
            <a:extLst>
              <a:ext uri="{FF2B5EF4-FFF2-40B4-BE49-F238E27FC236}">
                <a16:creationId xmlns:a16="http://schemas.microsoft.com/office/drawing/2014/main" id="{225EAD23-830C-4294-A25E-4A381E243A7C}"/>
              </a:ext>
            </a:extLst>
          </p:cNvPr>
          <p:cNvSpPr>
            <a:spLocks noGrp="1"/>
          </p:cNvSpPr>
          <p:nvPr/>
        </p:nvSpPr>
        <p:spPr>
          <a:xfrm>
            <a:off x="838200" y="1762125"/>
            <a:ext cx="13563600" cy="619125"/>
          </a:xfrm>
          <a:prstGeom prst="rect">
            <a:avLst/>
          </a:prstGeom>
          <a:noFill/>
          <a:ln w="0">
            <a:noFill/>
          </a:ln>
        </p:spPr>
        <p:txBody>
          <a:bodyPr wrap="square" lIns="0" tIns="0" rIns="0" bIns="0">
            <a:noAutofit/>
          </a:bodyPr>
          <a:lstStyle/>
          <a:p>
            <a:pPr>
              <a:defRPr lang="cs-CZ" altLang="cs-CZ" sz="2700" b="1" noProof="0">
                <a:solidFill>
                  <a:srgbClr val="176A83"/>
                </a:solidFill>
                <a:latin typeface="Arial"/>
                <a:ea typeface="Arial"/>
                <a:cs typeface="Arial"/>
              </a:defRPr>
            </a:pPr>
            <a:r>
              <a:rPr lang="cs-CZ" altLang="cs-CZ" sz="2700" b="1" noProof="0">
                <a:solidFill>
                  <a:srgbClr val="176A83"/>
                </a:solidFill>
                <a:latin typeface="Arial"/>
                <a:ea typeface="Arial"/>
                <a:cs typeface="Arial"/>
              </a:rPr>
              <a:t>n = 6 případů, k = 4 kategorie</a:t>
            </a:r>
          </a:p>
        </p:txBody>
      </p:sp>
      <mc:AlternateContent xmlns:mc="http://schemas.openxmlformats.org/markup-compatibility/2006" xmlns:a14="http://schemas.microsoft.com/office/drawing/2010/main">
        <mc:Choice Requires="a14">
          <p:sp>
            <p:nvSpPr>
              <p:cNvPr id="4" name="formula_sum_general">
                <a:extLst>
                  <a:ext uri="{FF2B5EF4-FFF2-40B4-BE49-F238E27FC236}">
                    <a16:creationId xmlns:a16="http://schemas.microsoft.com/office/drawing/2014/main" id="{A641BD7E-11AB-444B-9780-2B884B9B06CB}"/>
                  </a:ext>
                </a:extLst>
              </p:cNvPr>
              <p:cNvSpPr>
                <a:spLocks noGrp="1"/>
              </p:cNvSpPr>
              <p:nvPr/>
            </p:nvSpPr>
            <p:spPr>
              <a:xfrm>
                <a:off x="838200" y="2667000"/>
                <a:ext cx="12858750" cy="1428750"/>
              </a:xfrm>
              <a:prstGeom prst="rect">
                <a:avLst/>
              </a:prstGeom>
              <a:noFill/>
              <a:ln w="0">
                <a:noFill/>
              </a:ln>
            </p:spPr>
            <p:txBody>
              <a:bodyPr wrap="square" lIns="0" tIns="0" rIns="0" bIns="0">
                <a:noAutofit/>
              </a:bodyPr>
              <a:lstStyle/>
              <a:p>
                <a:pPr algn="l">
                  <a:defRPr lang="cs-CZ" altLang="cs-CZ" sz="3225" noProof="0"/>
                </a:pPr>
                <a14:m>
                  <m:oMathPara xmlns:m="http://schemas.openxmlformats.org/officeDocument/2006/math">
                    <m:oMathParaPr>
                      <m:jc m:val="left"/>
                    </m:oMathParaPr>
                    <m:oMath>
                      <m:nary>
                        <m:naryPr>
                          <m:chr m:val="∑"/>
                          <m:limLoc m:val="undOvr"/>
                          <m:ctrlPr>
                            <a:rPr lang="cs-CZ" altLang="cs-CZ" sz="3225" noProof="0">
                              <a:solidFill>
                                <a:srgbClr val="142A3B"/>
                              </a:solidFill>
                              <a:latin typeface="Cambria Math"/>
                            </a:rPr>
                          </m:ctrlPr>
                        </m:naryPr>
                        <m:sub>
                          <m:r>
                            <a:rPr lang="cs-CZ" altLang="cs-CZ" sz="3225" noProof="0">
                              <a:solidFill>
                                <a:srgbClr val="142A3B"/>
                              </a:solidFill>
                              <a:latin typeface="Cambria Math"/>
                            </a:rPr>
                            <m:t>𝑗</m:t>
                          </m:r>
                          <m:r>
                            <a:rPr lang="cs-CZ" altLang="cs-CZ" sz="3225" noProof="0">
                              <a:solidFill>
                                <a:srgbClr val="142A3B"/>
                              </a:solidFill>
                              <a:latin typeface="Cambria Math"/>
                            </a:rPr>
                            <m:t>=1</m:t>
                          </m:r>
                        </m:sub>
                        <m:sup>
                          <m:r>
                            <a:rPr lang="cs-CZ" altLang="cs-CZ" sz="3225" noProof="0">
                              <a:solidFill>
                                <a:srgbClr val="142A3B"/>
                              </a:solidFill>
                              <a:latin typeface="Cambria Math"/>
                            </a:rPr>
                            <m:t>𝑘</m:t>
                          </m:r>
                        </m:sup>
                        <m:e>
                          <m:sSub>
                            <m:sSubPr>
                              <m:ctrlPr>
                                <a:rPr lang="cs-CZ" altLang="cs-CZ" sz="3225" noProof="0">
                                  <a:solidFill>
                                    <a:srgbClr val="142A3B"/>
                                  </a:solidFill>
                                  <a:latin typeface="Cambria Math"/>
                                </a:rPr>
                              </m:ctrlPr>
                            </m:sSubPr>
                            <m:e>
                              <m:r>
                                <a:rPr lang="cs-CZ" altLang="cs-CZ" sz="3225" noProof="0">
                                  <a:solidFill>
                                    <a:srgbClr val="142A3B"/>
                                  </a:solidFill>
                                  <a:latin typeface="Cambria Math"/>
                                </a:rPr>
                                <m:t>𝑓</m:t>
                              </m:r>
                            </m:e>
                            <m:sub>
                              <m:r>
                                <a:rPr lang="cs-CZ" altLang="cs-CZ" sz="3225" noProof="0">
                                  <a:solidFill>
                                    <a:srgbClr val="142A3B"/>
                                  </a:solidFill>
                                  <a:latin typeface="Cambria Math"/>
                                </a:rPr>
                                <m:t>𝑗</m:t>
                              </m:r>
                            </m:sub>
                          </m:sSub>
                        </m:e>
                      </m:nary>
                      <m:r>
                        <a:rPr lang="cs-CZ" altLang="cs-CZ" sz="3225" noProof="0">
                          <a:solidFill>
                            <a:srgbClr val="142A3B"/>
                          </a:solidFill>
                          <a:latin typeface="Cambria Math"/>
                        </a:rPr>
                        <m:t> = </m:t>
                      </m:r>
                      <m:r>
                        <a:rPr lang="cs-CZ" altLang="cs-CZ" sz="3225" noProof="0">
                          <a:solidFill>
                            <a:srgbClr val="142A3B"/>
                          </a:solidFill>
                          <a:latin typeface="Cambria Math"/>
                        </a:rPr>
                        <m:t>𝑛</m:t>
                      </m:r>
                    </m:oMath>
                  </m:oMathPara>
                </a14:m>
                <a:endParaRPr lang="cs-CZ" altLang="cs-CZ" sz="3225" noProof="0"/>
              </a:p>
            </p:txBody>
          </p:sp>
        </mc:Choice>
        <mc:Fallback xmlns="">
          <p:sp>
            <p:nvSpPr>
              <p:cNvPr id="4" name="formula_sum_general">
                <a:extLst>
                  <a:ext uri="{FF2B5EF4-FFF2-40B4-BE49-F238E27FC236}">
                    <a16:creationId xmlns:a16="http://schemas.microsoft.com/office/drawing/2014/main" id="{A641BD7E-11AB-444B-9780-2B884B9B06CB}"/>
                  </a:ext>
                </a:extLst>
              </p:cNvPr>
              <p:cNvSpPr>
                <a:spLocks noGrp="1" noRot="1" noChangeAspect="1" noMove="1" noResize="1" noEditPoints="1" noAdjustHandles="1" noChangeArrowheads="1" noChangeShapeType="1" noTextEdit="1"/>
              </p:cNvSpPr>
              <p:nvPr/>
            </p:nvSpPr>
            <p:spPr>
              <a:xfrm>
                <a:off x="838200" y="2667000"/>
                <a:ext cx="12858750" cy="1428750"/>
              </a:xfrm>
              <a:prstGeom prst="rect">
                <a:avLst/>
              </a:prstGeom>
              <a:blipFill>
                <a:blip r:embed="rId3"/>
                <a:stretch>
                  <a:fillRect b="-1709"/>
                </a:stretch>
              </a:blipFill>
              <a:ln w="0">
                <a:noFill/>
              </a:ln>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5" name="formula_sum_example">
                <a:extLst>
                  <a:ext uri="{FF2B5EF4-FFF2-40B4-BE49-F238E27FC236}">
                    <a16:creationId xmlns:a16="http://schemas.microsoft.com/office/drawing/2014/main" id="{5D0D1FA9-659C-4E6A-8F8B-7E803BDF2F4A}"/>
                  </a:ext>
                </a:extLst>
              </p:cNvPr>
              <p:cNvSpPr>
                <a:spLocks noGrp="1"/>
              </p:cNvSpPr>
              <p:nvPr/>
            </p:nvSpPr>
            <p:spPr>
              <a:xfrm>
                <a:off x="838200" y="4333875"/>
                <a:ext cx="13563600" cy="1476375"/>
              </a:xfrm>
              <a:prstGeom prst="rect">
                <a:avLst/>
              </a:prstGeom>
              <a:noFill/>
              <a:ln w="0">
                <a:noFill/>
              </a:ln>
            </p:spPr>
            <p:txBody>
              <a:bodyPr wrap="square" lIns="0" tIns="0" rIns="0" bIns="0">
                <a:noAutofit/>
              </a:bodyPr>
              <a:lstStyle/>
              <a:p>
                <a:pPr algn="l">
                  <a:defRPr lang="cs-CZ" altLang="cs-CZ" sz="2850" noProof="0"/>
                </a:pPr>
                <a14:m>
                  <m:oMathPara xmlns:m="http://schemas.openxmlformats.org/officeDocument/2006/math">
                    <m:oMathParaPr>
                      <m:jc m:val="left"/>
                    </m:oMathParaPr>
                    <m:oMath>
                      <m:nary>
                        <m:naryPr>
                          <m:chr m:val="∑"/>
                          <m:limLoc m:val="undOvr"/>
                          <m:ctrlPr>
                            <a:rPr lang="cs-CZ" altLang="cs-CZ" sz="2850" noProof="0">
                              <a:solidFill>
                                <a:srgbClr val="142A3B"/>
                              </a:solidFill>
                              <a:latin typeface="Cambria Math"/>
                            </a:rPr>
                          </m:ctrlPr>
                        </m:naryPr>
                        <m:sub>
                          <m:r>
                            <a:rPr lang="cs-CZ" altLang="cs-CZ" sz="2850" noProof="0">
                              <a:solidFill>
                                <a:srgbClr val="142A3B"/>
                              </a:solidFill>
                              <a:latin typeface="Cambria Math"/>
                            </a:rPr>
                            <m:t>𝑗</m:t>
                          </m:r>
                          <m:r>
                            <a:rPr lang="cs-CZ" altLang="cs-CZ" sz="2850" noProof="0">
                              <a:solidFill>
                                <a:srgbClr val="142A3B"/>
                              </a:solidFill>
                              <a:latin typeface="Cambria Math"/>
                            </a:rPr>
                            <m:t>=1</m:t>
                          </m:r>
                        </m:sub>
                        <m:sup>
                          <m:r>
                            <a:rPr lang="cs-CZ" altLang="cs-CZ" sz="2850" noProof="0">
                              <a:solidFill>
                                <a:srgbClr val="142A3B"/>
                              </a:solidFill>
                              <a:latin typeface="Cambria Math"/>
                            </a:rPr>
                            <m:t>4</m:t>
                          </m:r>
                        </m:sup>
                        <m:e>
                          <m:sSub>
                            <m:sSubPr>
                              <m:ctrlPr>
                                <a:rPr lang="cs-CZ" altLang="cs-CZ" sz="2850" noProof="0">
                                  <a:solidFill>
                                    <a:srgbClr val="142A3B"/>
                                  </a:solidFill>
                                  <a:latin typeface="Cambria Math"/>
                                </a:rPr>
                              </m:ctrlPr>
                            </m:sSubPr>
                            <m:e>
                              <m:r>
                                <a:rPr lang="cs-CZ" altLang="cs-CZ" sz="2850" noProof="0">
                                  <a:solidFill>
                                    <a:srgbClr val="142A3B"/>
                                  </a:solidFill>
                                  <a:latin typeface="Cambria Math"/>
                                </a:rPr>
                                <m:t>𝑓</m:t>
                              </m:r>
                            </m:e>
                            <m:sub>
                              <m:r>
                                <a:rPr lang="cs-CZ" altLang="cs-CZ" sz="2850" noProof="0">
                                  <a:solidFill>
                                    <a:srgbClr val="142A3B"/>
                                  </a:solidFill>
                                  <a:latin typeface="Cambria Math"/>
                                </a:rPr>
                                <m:t>𝑗</m:t>
                              </m:r>
                            </m:sub>
                          </m:sSub>
                        </m:e>
                      </m:nary>
                      <m:r>
                        <a:rPr lang="cs-CZ" altLang="cs-CZ" sz="2850" noProof="0">
                          <a:solidFill>
                            <a:srgbClr val="142A3B"/>
                          </a:solidFill>
                          <a:latin typeface="Cambria Math"/>
                        </a:rPr>
                        <m:t> = </m:t>
                      </m:r>
                      <m:sSub>
                        <m:sSubPr>
                          <m:ctrlPr>
                            <a:rPr lang="cs-CZ" altLang="cs-CZ" sz="2850" noProof="0">
                              <a:solidFill>
                                <a:srgbClr val="142A3B"/>
                              </a:solidFill>
                              <a:latin typeface="Cambria Math"/>
                            </a:rPr>
                          </m:ctrlPr>
                        </m:sSubPr>
                        <m:e>
                          <m:r>
                            <a:rPr lang="cs-CZ" altLang="cs-CZ" sz="2850" noProof="0">
                              <a:solidFill>
                                <a:srgbClr val="142A3B"/>
                              </a:solidFill>
                              <a:latin typeface="Cambria Math"/>
                            </a:rPr>
                            <m:t>𝑓</m:t>
                          </m:r>
                        </m:e>
                        <m:sub>
                          <m:r>
                            <a:rPr lang="cs-CZ" altLang="cs-CZ" sz="2850" noProof="0">
                              <a:solidFill>
                                <a:srgbClr val="142A3B"/>
                              </a:solidFill>
                              <a:latin typeface="Cambria Math"/>
                            </a:rPr>
                            <m:t>1</m:t>
                          </m:r>
                        </m:sub>
                      </m:sSub>
                      <m:r>
                        <a:rPr lang="cs-CZ" altLang="cs-CZ" sz="2850" noProof="0">
                          <a:solidFill>
                            <a:srgbClr val="142A3B"/>
                          </a:solidFill>
                          <a:latin typeface="Cambria Math"/>
                        </a:rPr>
                        <m:t> + </m:t>
                      </m:r>
                      <m:sSub>
                        <m:sSubPr>
                          <m:ctrlPr>
                            <a:rPr lang="cs-CZ" altLang="cs-CZ" sz="2850" noProof="0">
                              <a:solidFill>
                                <a:srgbClr val="142A3B"/>
                              </a:solidFill>
                              <a:latin typeface="Cambria Math"/>
                            </a:rPr>
                          </m:ctrlPr>
                        </m:sSubPr>
                        <m:e>
                          <m:r>
                            <a:rPr lang="cs-CZ" altLang="cs-CZ" sz="2850" noProof="0">
                              <a:solidFill>
                                <a:srgbClr val="142A3B"/>
                              </a:solidFill>
                              <a:latin typeface="Cambria Math"/>
                            </a:rPr>
                            <m:t>𝑓</m:t>
                          </m:r>
                        </m:e>
                        <m:sub>
                          <m:r>
                            <a:rPr lang="cs-CZ" altLang="cs-CZ" sz="2850" noProof="0">
                              <a:solidFill>
                                <a:srgbClr val="142A3B"/>
                              </a:solidFill>
                              <a:latin typeface="Cambria Math"/>
                            </a:rPr>
                            <m:t>2</m:t>
                          </m:r>
                        </m:sub>
                      </m:sSub>
                      <m:r>
                        <a:rPr lang="cs-CZ" altLang="cs-CZ" sz="2850" noProof="0">
                          <a:solidFill>
                            <a:srgbClr val="142A3B"/>
                          </a:solidFill>
                          <a:latin typeface="Cambria Math"/>
                        </a:rPr>
                        <m:t> + </m:t>
                      </m:r>
                      <m:sSub>
                        <m:sSubPr>
                          <m:ctrlPr>
                            <a:rPr lang="cs-CZ" altLang="cs-CZ" sz="2850" noProof="0">
                              <a:solidFill>
                                <a:srgbClr val="142A3B"/>
                              </a:solidFill>
                              <a:latin typeface="Cambria Math"/>
                            </a:rPr>
                          </m:ctrlPr>
                        </m:sSubPr>
                        <m:e>
                          <m:r>
                            <a:rPr lang="cs-CZ" altLang="cs-CZ" sz="2850" noProof="0">
                              <a:solidFill>
                                <a:srgbClr val="142A3B"/>
                              </a:solidFill>
                              <a:latin typeface="Cambria Math"/>
                            </a:rPr>
                            <m:t>𝑓</m:t>
                          </m:r>
                        </m:e>
                        <m:sub>
                          <m:r>
                            <a:rPr lang="cs-CZ" altLang="cs-CZ" sz="2850" noProof="0">
                              <a:solidFill>
                                <a:srgbClr val="142A3B"/>
                              </a:solidFill>
                              <a:latin typeface="Cambria Math"/>
                            </a:rPr>
                            <m:t>3</m:t>
                          </m:r>
                        </m:sub>
                      </m:sSub>
                      <m:r>
                        <a:rPr lang="cs-CZ" altLang="cs-CZ" sz="2850" noProof="0">
                          <a:solidFill>
                            <a:srgbClr val="142A3B"/>
                          </a:solidFill>
                          <a:latin typeface="Cambria Math"/>
                        </a:rPr>
                        <m:t> + </m:t>
                      </m:r>
                      <m:sSub>
                        <m:sSubPr>
                          <m:ctrlPr>
                            <a:rPr lang="cs-CZ" altLang="cs-CZ" sz="2850" noProof="0">
                              <a:solidFill>
                                <a:srgbClr val="142A3B"/>
                              </a:solidFill>
                              <a:latin typeface="Cambria Math"/>
                            </a:rPr>
                          </m:ctrlPr>
                        </m:sSubPr>
                        <m:e>
                          <m:r>
                            <a:rPr lang="cs-CZ" altLang="cs-CZ" sz="2850" noProof="0">
                              <a:solidFill>
                                <a:srgbClr val="142A3B"/>
                              </a:solidFill>
                              <a:latin typeface="Cambria Math"/>
                            </a:rPr>
                            <m:t>𝑓</m:t>
                          </m:r>
                        </m:e>
                        <m:sub>
                          <m:r>
                            <a:rPr lang="cs-CZ" altLang="cs-CZ" sz="2850" noProof="0">
                              <a:solidFill>
                                <a:srgbClr val="142A3B"/>
                              </a:solidFill>
                              <a:latin typeface="Cambria Math"/>
                            </a:rPr>
                            <m:t>4</m:t>
                          </m:r>
                        </m:sub>
                      </m:sSub>
                      <m:r>
                        <a:rPr lang="cs-CZ" altLang="cs-CZ" sz="2850" noProof="0">
                          <a:solidFill>
                            <a:srgbClr val="142A3B"/>
                          </a:solidFill>
                          <a:latin typeface="Cambria Math"/>
                        </a:rPr>
                        <m:t> = 1 + 2 + 2 + 1 = 6</m:t>
                      </m:r>
                    </m:oMath>
                  </m:oMathPara>
                </a14:m>
                <a:endParaRPr lang="cs-CZ" altLang="cs-CZ" sz="2850" noProof="0"/>
              </a:p>
            </p:txBody>
          </p:sp>
        </mc:Choice>
        <mc:Fallback xmlns="">
          <p:sp>
            <p:nvSpPr>
              <p:cNvPr id="5" name="formula_sum_example">
                <a:extLst>
                  <a:ext uri="{FF2B5EF4-FFF2-40B4-BE49-F238E27FC236}">
                    <a16:creationId xmlns:a16="http://schemas.microsoft.com/office/drawing/2014/main" id="{5D0D1FA9-659C-4E6A-8F8B-7E803BDF2F4A}"/>
                  </a:ext>
                </a:extLst>
              </p:cNvPr>
              <p:cNvSpPr>
                <a:spLocks noGrp="1" noRot="1" noChangeAspect="1" noMove="1" noResize="1" noEditPoints="1" noAdjustHandles="1" noChangeArrowheads="1" noChangeShapeType="1" noTextEdit="1"/>
              </p:cNvSpPr>
              <p:nvPr/>
            </p:nvSpPr>
            <p:spPr>
              <a:xfrm>
                <a:off x="838200" y="4333875"/>
                <a:ext cx="13563600" cy="1476375"/>
              </a:xfrm>
              <a:prstGeom prst="rect">
                <a:avLst/>
              </a:prstGeom>
              <a:blipFill>
                <a:blip r:embed="rId4"/>
                <a:stretch>
                  <a:fillRect/>
                </a:stretch>
              </a:blipFill>
              <a:ln w="0">
                <a:noFill/>
              </a:ln>
            </p:spPr>
            <p:txBody>
              <a:bodyPr/>
              <a:lstStyle/>
              <a:p>
                <a:r>
                  <a:rPr lang="cs-CZ">
                    <a:noFill/>
                  </a:rPr>
                  <a:t> </a:t>
                </a:r>
              </a:p>
            </p:txBody>
          </p:sp>
        </mc:Fallback>
      </mc:AlternateContent>
      <p:sp>
        <p:nvSpPr>
          <p:cNvPr id="6" name="Obdélník 5">
            <a:extLst>
              <a:ext uri="{FF2B5EF4-FFF2-40B4-BE49-F238E27FC236}">
                <a16:creationId xmlns:a16="http://schemas.microsoft.com/office/drawing/2014/main" id="{B0D43826-5353-4297-8321-843A42975F1F}"/>
              </a:ext>
            </a:extLst>
          </p:cNvPr>
          <p:cNvSpPr>
            <a:spLocks noGrp="1"/>
          </p:cNvSpPr>
          <p:nvPr/>
        </p:nvSpPr>
        <p:spPr>
          <a:xfrm>
            <a:off x="838200" y="6305550"/>
            <a:ext cx="13563600" cy="619125"/>
          </a:xfrm>
          <a:prstGeom prst="rect">
            <a:avLst/>
          </a:prstGeom>
          <a:noFill/>
          <a:ln w="0">
            <a:noFill/>
          </a:ln>
        </p:spPr>
        <p:txBody>
          <a:bodyPr wrap="square" lIns="0" tIns="0" rIns="0" bIns="0">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Sečteme četnosti od první kategorie po poslední.</a:t>
            </a:r>
          </a:p>
        </p:txBody>
      </p:sp>
      <p:sp>
        <p:nvSpPr>
          <p:cNvPr id="7" name="Obdélník 6">
            <a:extLst>
              <a:ext uri="{FF2B5EF4-FFF2-40B4-BE49-F238E27FC236}">
                <a16:creationId xmlns:a16="http://schemas.microsoft.com/office/drawing/2014/main" id="{2CA60C36-B5F1-4804-9E6E-DBF2EADC0B77}"/>
              </a:ext>
            </a:extLst>
          </p:cNvPr>
          <p:cNvSpPr>
            <a:spLocks noGrp="1"/>
          </p:cNvSpPr>
          <p:nvPr/>
        </p:nvSpPr>
        <p:spPr>
          <a:xfrm>
            <a:off x="838200" y="7239000"/>
            <a:ext cx="13563600" cy="523875"/>
          </a:xfrm>
          <a:prstGeom prst="rect">
            <a:avLst/>
          </a:prstGeom>
          <a:noFill/>
          <a:ln w="0">
            <a:noFill/>
          </a:ln>
        </p:spPr>
        <p:txBody>
          <a:bodyPr wrap="square" lIns="0" tIns="0" rIns="0" bIns="0">
            <a:noAutofit/>
          </a:bodyPr>
          <a:lstStyle/>
          <a:p>
            <a:pPr>
              <a:defRPr lang="cs-CZ" altLang="cs-CZ" sz="2100" b="0" noProof="0">
                <a:solidFill>
                  <a:srgbClr val="176A83"/>
                </a:solidFill>
                <a:latin typeface="Arial"/>
                <a:ea typeface="Arial"/>
                <a:cs typeface="Arial"/>
              </a:defRPr>
            </a:pPr>
            <a:r>
              <a:rPr lang="cs-CZ" altLang="cs-CZ" sz="2100" b="0" noProof="0">
                <a:solidFill>
                  <a:srgbClr val="176A83"/>
                </a:solidFill>
                <a:latin typeface="Arial"/>
                <a:ea typeface="Arial"/>
                <a:cs typeface="Arial"/>
              </a:rPr>
              <a:t>Každý případ musí patřit právě do jedné ze zahrnutých kategorií.</a:t>
            </a:r>
          </a:p>
        </p:txBody>
      </p:sp>
    </p:spTree>
    <p:extLst>
      <p:ext uri="{BB962C8B-B14F-4D97-AF65-F5344CB8AC3E}">
        <p14:creationId xmlns:p14="http://schemas.microsoft.com/office/powerpoint/2010/main" val="892701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697635D6-10FE-4A85-9C0A-59B8D3C9799D}"/>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Kumulativní četnosti</a:t>
            </a:r>
          </a:p>
        </p:txBody>
      </p:sp>
      <p:sp>
        <p:nvSpPr>
          <p:cNvPr id="2" name="page">
            <a:extLst>
              <a:ext uri="{FF2B5EF4-FFF2-40B4-BE49-F238E27FC236}">
                <a16:creationId xmlns:a16="http://schemas.microsoft.com/office/drawing/2014/main" id="{9DD49986-A606-4585-AF99-C9E64BADA3D0}"/>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08</a:t>
            </a:r>
          </a:p>
        </p:txBody>
      </p:sp>
      <mc:AlternateContent xmlns:mc="http://schemas.openxmlformats.org/markup-compatibility/2006" xmlns:a14="http://schemas.microsoft.com/office/drawing/2010/main">
        <mc:Choice Requires="a14">
          <p:sp>
            <p:nvSpPr>
              <p:cNvPr id="3" name="formula_cum_absolute">
                <a:extLst>
                  <a:ext uri="{FF2B5EF4-FFF2-40B4-BE49-F238E27FC236}">
                    <a16:creationId xmlns:a16="http://schemas.microsoft.com/office/drawing/2014/main" id="{6791B22B-5A86-4D77-BB61-022529B7B599}"/>
                  </a:ext>
                </a:extLst>
              </p:cNvPr>
              <p:cNvSpPr>
                <a:spLocks noGrp="1"/>
              </p:cNvSpPr>
              <p:nvPr/>
            </p:nvSpPr>
            <p:spPr>
              <a:xfrm>
                <a:off x="838200" y="1571625"/>
                <a:ext cx="6477000" cy="904875"/>
              </a:xfrm>
              <a:prstGeom prst="rect">
                <a:avLst/>
              </a:prstGeom>
              <a:noFill/>
              <a:ln w="0">
                <a:noFill/>
              </a:ln>
            </p:spPr>
            <p:txBody>
              <a:bodyPr wrap="square" lIns="0" tIns="0" rIns="0" bIns="0">
                <a:noAutofit/>
              </a:bodyPr>
              <a:lstStyle/>
              <a:p>
                <a:pPr algn="l">
                  <a:defRPr lang="cs-CZ" altLang="cs-CZ" sz="2550" noProof="0"/>
                </a:pPr>
                <a14:m>
                  <m:oMathPara xmlns:m="http://schemas.openxmlformats.org/officeDocument/2006/math">
                    <m:oMathParaPr>
                      <m:jc m:val="left"/>
                    </m:oMathParaPr>
                    <m:oMath>
                      <m:sSub>
                        <m:sSubPr>
                          <m:ctrlPr>
                            <a:rPr lang="cs-CZ" altLang="cs-CZ" sz="2550" noProof="0">
                              <a:solidFill>
                                <a:srgbClr val="142A3B"/>
                              </a:solidFill>
                              <a:latin typeface="Cambria Math"/>
                            </a:rPr>
                          </m:ctrlPr>
                        </m:sSubPr>
                        <m:e>
                          <m:r>
                            <a:rPr lang="cs-CZ" altLang="cs-CZ" sz="2550" noProof="0">
                              <a:solidFill>
                                <a:srgbClr val="142A3B"/>
                              </a:solidFill>
                              <a:latin typeface="Cambria Math"/>
                            </a:rPr>
                            <m:t>𝑓</m:t>
                          </m:r>
                        </m:e>
                        <m:sub>
                          <m:r>
                            <m:rPr>
                              <m:sty m:val="p"/>
                            </m:rPr>
                            <a:rPr lang="cs-CZ" altLang="cs-CZ" sz="2550" noProof="0">
                              <a:solidFill>
                                <a:srgbClr val="142A3B"/>
                              </a:solidFill>
                              <a:latin typeface="Cambria Math"/>
                            </a:rPr>
                            <m:t>kum</m:t>
                          </m:r>
                          <m:r>
                            <a:rPr lang="cs-CZ" altLang="cs-CZ" sz="2550" noProof="0">
                              <a:solidFill>
                                <a:srgbClr val="142A3B"/>
                              </a:solidFill>
                              <a:latin typeface="Cambria Math"/>
                            </a:rPr>
                            <m:t>,</m:t>
                          </m:r>
                          <m:r>
                            <a:rPr lang="cs-CZ" altLang="cs-CZ" sz="2550" noProof="0">
                              <a:solidFill>
                                <a:srgbClr val="142A3B"/>
                              </a:solidFill>
                              <a:latin typeface="Cambria Math"/>
                            </a:rPr>
                            <m:t>𝑗</m:t>
                          </m:r>
                        </m:sub>
                      </m:sSub>
                      <m:r>
                        <a:rPr lang="cs-CZ" altLang="cs-CZ" sz="2550" noProof="0">
                          <a:solidFill>
                            <a:srgbClr val="142A3B"/>
                          </a:solidFill>
                          <a:latin typeface="Cambria Math"/>
                        </a:rPr>
                        <m:t> = </m:t>
                      </m:r>
                      <m:sSub>
                        <m:sSubPr>
                          <m:ctrlPr>
                            <a:rPr lang="cs-CZ" altLang="cs-CZ" sz="2550" noProof="0">
                              <a:solidFill>
                                <a:srgbClr val="142A3B"/>
                              </a:solidFill>
                              <a:latin typeface="Cambria Math"/>
                            </a:rPr>
                          </m:ctrlPr>
                        </m:sSubPr>
                        <m:e>
                          <m:r>
                            <a:rPr lang="cs-CZ" altLang="cs-CZ" sz="2550" noProof="0">
                              <a:solidFill>
                                <a:srgbClr val="142A3B"/>
                              </a:solidFill>
                              <a:latin typeface="Cambria Math"/>
                            </a:rPr>
                            <m:t>𝑓</m:t>
                          </m:r>
                        </m:e>
                        <m:sub>
                          <m:r>
                            <a:rPr lang="cs-CZ" altLang="cs-CZ" sz="2550" noProof="0">
                              <a:solidFill>
                                <a:srgbClr val="142A3B"/>
                              </a:solidFill>
                              <a:latin typeface="Cambria Math"/>
                            </a:rPr>
                            <m:t>1</m:t>
                          </m:r>
                        </m:sub>
                      </m:sSub>
                      <m:r>
                        <a:rPr lang="cs-CZ" altLang="cs-CZ" sz="2550" noProof="0">
                          <a:solidFill>
                            <a:srgbClr val="142A3B"/>
                          </a:solidFill>
                          <a:latin typeface="Cambria Math"/>
                        </a:rPr>
                        <m:t> + ⋯ + </m:t>
                      </m:r>
                      <m:sSub>
                        <m:sSubPr>
                          <m:ctrlPr>
                            <a:rPr lang="cs-CZ" altLang="cs-CZ" sz="2550" noProof="0">
                              <a:solidFill>
                                <a:srgbClr val="142A3B"/>
                              </a:solidFill>
                              <a:latin typeface="Cambria Math"/>
                            </a:rPr>
                          </m:ctrlPr>
                        </m:sSubPr>
                        <m:e>
                          <m:r>
                            <a:rPr lang="cs-CZ" altLang="cs-CZ" sz="2550" noProof="0">
                              <a:solidFill>
                                <a:srgbClr val="142A3B"/>
                              </a:solidFill>
                              <a:latin typeface="Cambria Math"/>
                            </a:rPr>
                            <m:t>𝑓</m:t>
                          </m:r>
                        </m:e>
                        <m:sub>
                          <m:r>
                            <a:rPr lang="cs-CZ" altLang="cs-CZ" sz="2550" noProof="0">
                              <a:solidFill>
                                <a:srgbClr val="142A3B"/>
                              </a:solidFill>
                              <a:latin typeface="Cambria Math"/>
                            </a:rPr>
                            <m:t>𝑗</m:t>
                          </m:r>
                        </m:sub>
                      </m:sSub>
                    </m:oMath>
                  </m:oMathPara>
                </a14:m>
                <a:endParaRPr lang="cs-CZ" altLang="cs-CZ" sz="2550" noProof="0"/>
              </a:p>
            </p:txBody>
          </p:sp>
        </mc:Choice>
        <mc:Fallback xmlns="">
          <p:sp>
            <p:nvSpPr>
              <p:cNvPr id="3" name="formula_cum_absolute">
                <a:extLst>
                  <a:ext uri="{FF2B5EF4-FFF2-40B4-BE49-F238E27FC236}">
                    <a16:creationId xmlns:a16="http://schemas.microsoft.com/office/drawing/2014/main" id="{6791B22B-5A86-4D77-BB61-022529B7B599}"/>
                  </a:ext>
                </a:extLst>
              </p:cNvPr>
              <p:cNvSpPr>
                <a:spLocks noGrp="1" noRot="1" noChangeAspect="1" noMove="1" noResize="1" noEditPoints="1" noAdjustHandles="1" noChangeArrowheads="1" noChangeShapeType="1" noTextEdit="1"/>
              </p:cNvSpPr>
              <p:nvPr/>
            </p:nvSpPr>
            <p:spPr>
              <a:xfrm>
                <a:off x="838200" y="1571625"/>
                <a:ext cx="6477000" cy="904875"/>
              </a:xfrm>
              <a:prstGeom prst="rect">
                <a:avLst/>
              </a:prstGeom>
              <a:blipFill>
                <a:blip r:embed="rId3"/>
                <a:stretch>
                  <a:fillRect l="-94"/>
                </a:stretch>
              </a:blipFill>
              <a:ln w="0">
                <a:noFill/>
              </a:ln>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4" name="formula_cum_relative">
                <a:extLst>
                  <a:ext uri="{FF2B5EF4-FFF2-40B4-BE49-F238E27FC236}">
                    <a16:creationId xmlns:a16="http://schemas.microsoft.com/office/drawing/2014/main" id="{EA3E06C4-969A-4337-8A2D-8E8404CD0061}"/>
                  </a:ext>
                </a:extLst>
              </p:cNvPr>
              <p:cNvSpPr>
                <a:spLocks noGrp="1"/>
              </p:cNvSpPr>
              <p:nvPr/>
            </p:nvSpPr>
            <p:spPr>
              <a:xfrm>
                <a:off x="8096250" y="1571625"/>
                <a:ext cx="6286500" cy="904875"/>
              </a:xfrm>
              <a:prstGeom prst="rect">
                <a:avLst/>
              </a:prstGeom>
              <a:noFill/>
              <a:ln w="0">
                <a:noFill/>
              </a:ln>
            </p:spPr>
            <p:txBody>
              <a:bodyPr wrap="square" lIns="0" tIns="0" rIns="0" bIns="0">
                <a:noAutofit/>
              </a:bodyPr>
              <a:lstStyle/>
              <a:p>
                <a:pPr algn="l">
                  <a:defRPr lang="cs-CZ" altLang="cs-CZ" sz="2550" noProof="0"/>
                </a:pPr>
                <a14:m>
                  <m:oMathPara xmlns:m="http://schemas.openxmlformats.org/officeDocument/2006/math">
                    <m:oMathParaPr>
                      <m:jc m:val="left"/>
                    </m:oMathParaPr>
                    <m:oMath>
                      <m:sSub>
                        <m:sSubPr>
                          <m:ctrlPr>
                            <a:rPr lang="cs-CZ" altLang="cs-CZ" sz="2550" noProof="0">
                              <a:solidFill>
                                <a:srgbClr val="142A3B"/>
                              </a:solidFill>
                              <a:latin typeface="Cambria Math"/>
                            </a:rPr>
                          </m:ctrlPr>
                        </m:sSubPr>
                        <m:e>
                          <m:r>
                            <a:rPr lang="cs-CZ" altLang="cs-CZ" sz="2550" noProof="0">
                              <a:solidFill>
                                <a:srgbClr val="142A3B"/>
                              </a:solidFill>
                              <a:latin typeface="Cambria Math"/>
                            </a:rPr>
                            <m:t>𝑝</m:t>
                          </m:r>
                        </m:e>
                        <m:sub>
                          <m:r>
                            <m:rPr>
                              <m:sty m:val="p"/>
                            </m:rPr>
                            <a:rPr lang="cs-CZ" altLang="cs-CZ" sz="2550" noProof="0">
                              <a:solidFill>
                                <a:srgbClr val="142A3B"/>
                              </a:solidFill>
                              <a:latin typeface="Cambria Math"/>
                            </a:rPr>
                            <m:t>kum</m:t>
                          </m:r>
                          <m:r>
                            <a:rPr lang="cs-CZ" altLang="cs-CZ" sz="2550" noProof="0">
                              <a:solidFill>
                                <a:srgbClr val="142A3B"/>
                              </a:solidFill>
                              <a:latin typeface="Cambria Math"/>
                            </a:rPr>
                            <m:t>,</m:t>
                          </m:r>
                          <m:r>
                            <a:rPr lang="cs-CZ" altLang="cs-CZ" sz="2550" noProof="0">
                              <a:solidFill>
                                <a:srgbClr val="142A3B"/>
                              </a:solidFill>
                              <a:latin typeface="Cambria Math"/>
                            </a:rPr>
                            <m:t>𝑗</m:t>
                          </m:r>
                        </m:sub>
                      </m:sSub>
                      <m:r>
                        <a:rPr lang="cs-CZ" altLang="cs-CZ" sz="2550" noProof="0">
                          <a:solidFill>
                            <a:srgbClr val="142A3B"/>
                          </a:solidFill>
                          <a:latin typeface="Cambria Math"/>
                        </a:rPr>
                        <m:t> = </m:t>
                      </m:r>
                      <m:f>
                        <m:fPr>
                          <m:ctrlPr>
                            <a:rPr lang="cs-CZ" altLang="cs-CZ" sz="2550" i="1" noProof="0">
                              <a:solidFill>
                                <a:srgbClr val="142A3B"/>
                              </a:solidFill>
                              <a:latin typeface="Cambria Math" panose="02040503050406030204" pitchFamily="18" charset="0"/>
                            </a:rPr>
                          </m:ctrlPr>
                        </m:fPr>
                        <m:num>
                          <m:sSub>
                            <m:sSubPr>
                              <m:ctrlPr>
                                <a:rPr lang="cs-CZ" altLang="cs-CZ" sz="2550" noProof="0">
                                  <a:solidFill>
                                    <a:srgbClr val="142A3B"/>
                                  </a:solidFill>
                                  <a:latin typeface="Cambria Math"/>
                                </a:rPr>
                              </m:ctrlPr>
                            </m:sSubPr>
                            <m:e>
                              <m:r>
                                <a:rPr lang="cs-CZ" altLang="cs-CZ" sz="2550" noProof="0">
                                  <a:solidFill>
                                    <a:srgbClr val="142A3B"/>
                                  </a:solidFill>
                                  <a:latin typeface="Cambria Math"/>
                                </a:rPr>
                                <m:t>𝑓</m:t>
                              </m:r>
                            </m:e>
                            <m:sub>
                              <m:r>
                                <m:rPr>
                                  <m:sty m:val="p"/>
                                </m:rPr>
                                <a:rPr lang="cs-CZ" altLang="cs-CZ" sz="2550" noProof="0">
                                  <a:solidFill>
                                    <a:srgbClr val="142A3B"/>
                                  </a:solidFill>
                                  <a:latin typeface="Cambria Math"/>
                                </a:rPr>
                                <m:t>kum</m:t>
                              </m:r>
                              <m:r>
                                <a:rPr lang="cs-CZ" altLang="cs-CZ" sz="2550" noProof="0">
                                  <a:solidFill>
                                    <a:srgbClr val="142A3B"/>
                                  </a:solidFill>
                                  <a:latin typeface="Cambria Math"/>
                                </a:rPr>
                                <m:t>,</m:t>
                              </m:r>
                              <m:r>
                                <a:rPr lang="cs-CZ" altLang="cs-CZ" sz="2550" noProof="0">
                                  <a:solidFill>
                                    <a:srgbClr val="142A3B"/>
                                  </a:solidFill>
                                  <a:latin typeface="Cambria Math"/>
                                </a:rPr>
                                <m:t>𝑗</m:t>
                              </m:r>
                            </m:sub>
                          </m:sSub>
                        </m:num>
                        <m:den>
                          <m:r>
                            <a:rPr lang="cs-CZ" altLang="cs-CZ" sz="2550" noProof="0">
                              <a:solidFill>
                                <a:srgbClr val="142A3B"/>
                              </a:solidFill>
                              <a:latin typeface="Cambria Math"/>
                            </a:rPr>
                            <m:t>𝑛</m:t>
                          </m:r>
                        </m:den>
                      </m:f>
                    </m:oMath>
                  </m:oMathPara>
                </a14:m>
                <a:endParaRPr lang="cs-CZ" altLang="cs-CZ" sz="2550" noProof="0"/>
              </a:p>
            </p:txBody>
          </p:sp>
        </mc:Choice>
        <mc:Fallback xmlns="">
          <p:sp>
            <p:nvSpPr>
              <p:cNvPr id="4" name="formula_cum_relative">
                <a:extLst>
                  <a:ext uri="{FF2B5EF4-FFF2-40B4-BE49-F238E27FC236}">
                    <a16:creationId xmlns:a16="http://schemas.microsoft.com/office/drawing/2014/main" id="{EA3E06C4-969A-4337-8A2D-8E8404CD0061}"/>
                  </a:ext>
                </a:extLst>
              </p:cNvPr>
              <p:cNvSpPr>
                <a:spLocks noGrp="1" noRot="1" noChangeAspect="1" noMove="1" noResize="1" noEditPoints="1" noAdjustHandles="1" noChangeArrowheads="1" noChangeShapeType="1" noTextEdit="1"/>
              </p:cNvSpPr>
              <p:nvPr/>
            </p:nvSpPr>
            <p:spPr>
              <a:xfrm>
                <a:off x="8096250" y="1571625"/>
                <a:ext cx="6286500" cy="904875"/>
              </a:xfrm>
              <a:prstGeom prst="rect">
                <a:avLst/>
              </a:prstGeom>
              <a:blipFill>
                <a:blip r:embed="rId4"/>
                <a:stretch>
                  <a:fillRect/>
                </a:stretch>
              </a:blipFill>
              <a:ln w="0">
                <a:noFill/>
              </a:ln>
            </p:spPr>
            <p:txBody>
              <a:bodyPr/>
              <a:lstStyle/>
              <a:p>
                <a:r>
                  <a:rPr lang="cs-CZ">
                    <a:noFill/>
                  </a:rPr>
                  <a:t> </a:t>
                </a:r>
              </a:p>
            </p:txBody>
          </p:sp>
        </mc:Fallback>
      </mc:AlternateContent>
      <p:graphicFrame>
        <p:nvGraphicFramePr>
          <p:cNvPr id="12" name="Tabulka 11"/>
          <p:cNvGraphicFramePr/>
          <p:nvPr>
            <p:extLst>
              <p:ext uri="{D42A27DB-BD31-4B8C-83A1-F6EECF244321}">
                <p14:modId xmlns:p14="http://schemas.microsoft.com/office/powerpoint/2010/main" val="1529914924"/>
              </p:ext>
            </p:extLst>
          </p:nvPr>
        </p:nvGraphicFramePr>
        <p:xfrm>
          <a:off x="838200" y="2686050"/>
          <a:ext cx="13563600" cy="324612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62984571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gridCol w="2712720">
                  <a:extLst>
                    <a:ext uri="{9D8B030D-6E8A-4147-A177-3AD203B41FA5}">
                      <a16:colId xmlns:a16="http://schemas.microsoft.com/office/drawing/2014/main" val="20003"/>
                    </a:ext>
                  </a:extLst>
                </a:gridCol>
              </a:tblGrid>
              <a:tr h="628650">
                <a:tc>
                  <a:txBody>
                    <a:bodyPr/>
                    <a:lstStyle/>
                    <a:p>
                      <a:pPr algn="l"/>
                      <a:r>
                        <a:rPr lang="cs-CZ" altLang="cs-CZ" sz="2100" b="1" noProof="0" dirty="0" err="1">
                          <a:solidFill>
                            <a:srgbClr val="FFFFFF"/>
                          </a:solidFill>
                          <a:latin typeface="Arial"/>
                          <a:ea typeface="Arial"/>
                          <a:cs typeface="Arial"/>
                        </a:rPr>
                        <a:t>Odpočatost</a:t>
                      </a:r>
                      <a:endParaRPr lang="cs-CZ" altLang="cs-CZ" sz="2100" b="1" noProof="0" dirty="0">
                        <a:solidFill>
                          <a:srgbClr val="FFFFFF"/>
                        </a:solidFill>
                        <a:latin typeface="Arial"/>
                        <a:ea typeface="Arial"/>
                        <a:cs typeface="Arial"/>
                      </a:endParaRPr>
                    </a:p>
                  </a:txBody>
                  <a:tcPr anchor="ctr">
                    <a:solidFill>
                      <a:srgbClr val="142A3B"/>
                    </a:solidFill>
                  </a:tcPr>
                </a:tc>
                <a:tc>
                  <a:txBody>
                    <a:bodyPr/>
                    <a:lstStyle/>
                    <a:p>
                      <a:pPr algn="l"/>
                      <a:r>
                        <a:rPr lang="cs-CZ" altLang="cs-CZ" sz="2100" b="1" noProof="0" dirty="0">
                          <a:solidFill>
                            <a:srgbClr val="FFFFFF"/>
                          </a:solidFill>
                          <a:latin typeface="Arial"/>
                          <a:ea typeface="Arial"/>
                          <a:cs typeface="Arial"/>
                        </a:rPr>
                        <a:t>Absolutní </a:t>
                      </a:r>
                      <a:br>
                        <a:rPr lang="cs-CZ" altLang="cs-CZ" sz="2100" b="1" noProof="0" dirty="0">
                          <a:solidFill>
                            <a:srgbClr val="FFFFFF"/>
                          </a:solidFill>
                          <a:latin typeface="Arial"/>
                          <a:ea typeface="Arial"/>
                          <a:cs typeface="Arial"/>
                        </a:rPr>
                      </a:br>
                      <a:r>
                        <a:rPr lang="cs-CZ" altLang="cs-CZ" sz="2100" b="1" noProof="0" dirty="0">
                          <a:solidFill>
                            <a:srgbClr val="FFFFFF"/>
                          </a:solidFill>
                          <a:latin typeface="Arial"/>
                          <a:ea typeface="Arial"/>
                          <a:cs typeface="Arial"/>
                        </a:rPr>
                        <a:t>četnost</a:t>
                      </a:r>
                    </a:p>
                  </a:txBody>
                  <a:tcPr anchor="ctr">
                    <a:solidFill>
                      <a:srgbClr val="142A3B"/>
                    </a:solidFill>
                  </a:tcPr>
                </a:tc>
                <a:tc>
                  <a:txBody>
                    <a:bodyPr/>
                    <a:lstStyle/>
                    <a:p>
                      <a:pPr algn="l"/>
                      <a:r>
                        <a:rPr lang="cs-CZ" altLang="cs-CZ" sz="2100" b="1" noProof="0" dirty="0">
                          <a:solidFill>
                            <a:srgbClr val="FFFFFF"/>
                          </a:solidFill>
                          <a:latin typeface="Arial"/>
                          <a:ea typeface="Arial"/>
                          <a:cs typeface="Arial"/>
                        </a:rPr>
                        <a:t>Kumulativní</a:t>
                      </a:r>
                    </a:p>
                    <a:p>
                      <a:pPr algn="l"/>
                      <a:r>
                        <a:rPr lang="cs-CZ" altLang="cs-CZ" sz="2100" b="1" noProof="0" dirty="0">
                          <a:solidFill>
                            <a:srgbClr val="FFFFFF"/>
                          </a:solidFill>
                          <a:latin typeface="Arial"/>
                          <a:ea typeface="Arial"/>
                          <a:cs typeface="Arial"/>
                        </a:rPr>
                        <a:t>četnost</a:t>
                      </a:r>
                    </a:p>
                  </a:txBody>
                  <a:tcPr anchor="ctr">
                    <a:solidFill>
                      <a:srgbClr val="142A3B"/>
                    </a:solidFill>
                  </a:tcPr>
                </a:tc>
                <a:tc>
                  <a:txBody>
                    <a:bodyPr/>
                    <a:lstStyle/>
                    <a:p>
                      <a:pPr algn="l"/>
                      <a:r>
                        <a:rPr lang="cs-CZ" altLang="cs-CZ" sz="2100" b="1" noProof="0">
                          <a:solidFill>
                            <a:srgbClr val="FFFFFF"/>
                          </a:solidFill>
                          <a:latin typeface="Arial"/>
                          <a:ea typeface="Arial"/>
                          <a:cs typeface="Arial"/>
                        </a:rPr>
                        <a:t>Kumulativní</a:t>
                      </a:r>
                    </a:p>
                    <a:p>
                      <a:pPr algn="l"/>
                      <a:r>
                        <a:rPr lang="cs-CZ" altLang="cs-CZ" sz="2100" b="1" noProof="0">
                          <a:solidFill>
                            <a:srgbClr val="FFFFFF"/>
                          </a:solidFill>
                          <a:latin typeface="Arial"/>
                          <a:ea typeface="Arial"/>
                          <a:cs typeface="Arial"/>
                        </a:rPr>
                        <a:t>podíl</a:t>
                      </a:r>
                    </a:p>
                  </a:txBody>
                  <a:tcPr anchor="ctr">
                    <a:solidFill>
                      <a:srgbClr val="142A3B"/>
                    </a:solidFill>
                  </a:tcPr>
                </a:tc>
                <a:tc>
                  <a:txBody>
                    <a:bodyPr/>
                    <a:lstStyle/>
                    <a:p>
                      <a:pPr algn="l"/>
                      <a:r>
                        <a:rPr lang="cs-CZ" altLang="cs-CZ" sz="2100" b="1" noProof="0">
                          <a:solidFill>
                            <a:srgbClr val="FFFFFF"/>
                          </a:solidFill>
                          <a:latin typeface="Arial"/>
                          <a:ea typeface="Arial"/>
                          <a:cs typeface="Arial"/>
                        </a:rPr>
                        <a:t>Kumulativní</a:t>
                      </a:r>
                    </a:p>
                    <a:p>
                      <a:pPr algn="l"/>
                      <a:r>
                        <a:rPr lang="cs-CZ" altLang="cs-CZ" sz="2100" b="1" noProof="0">
                          <a:solidFill>
                            <a:srgbClr val="FFFFFF"/>
                          </a:solidFill>
                          <a:latin typeface="Arial"/>
                          <a:ea typeface="Arial"/>
                          <a:cs typeface="Arial"/>
                        </a:rPr>
                        <a:t>procenta</a:t>
                      </a:r>
                    </a:p>
                  </a:txBody>
                  <a:tcPr anchor="ctr">
                    <a:solidFill>
                      <a:srgbClr val="142A3B"/>
                    </a:solidFill>
                  </a:tcPr>
                </a:tc>
                <a:extLst>
                  <a:ext uri="{0D108BD9-81ED-4DB2-BD59-A6C34878D82A}">
                    <a16:rowId xmlns:a16="http://schemas.microsoft.com/office/drawing/2014/main" val="10000"/>
                  </a:ext>
                </a:extLst>
              </a:tr>
              <a:tr h="628650">
                <a:tc>
                  <a:txBody>
                    <a:bodyPr/>
                    <a:lstStyle/>
                    <a:p>
                      <a:pPr algn="l"/>
                      <a:r>
                        <a:rPr lang="cs-CZ" altLang="cs-CZ" sz="2100" b="0" noProof="0" dirty="0">
                          <a:solidFill>
                            <a:srgbClr val="142A3B"/>
                          </a:solidFill>
                          <a:latin typeface="Arial"/>
                          <a:ea typeface="Arial"/>
                          <a:cs typeface="Arial"/>
                        </a:rPr>
                        <a:t>Vůbec</a:t>
                      </a:r>
                    </a:p>
                  </a:txBody>
                  <a:tcPr anchor="ctr">
                    <a:solidFill>
                      <a:srgbClr val="FFFFFF"/>
                    </a:solidFill>
                  </a:tcPr>
                </a:tc>
                <a:tc>
                  <a:txBody>
                    <a:bodyPr/>
                    <a:lstStyle/>
                    <a:p>
                      <a:pPr algn="l"/>
                      <a:r>
                        <a:rPr lang="cs-CZ" altLang="cs-CZ" sz="2100" b="0" noProof="0" dirty="0">
                          <a:solidFill>
                            <a:srgbClr val="142A3B"/>
                          </a:solidFill>
                          <a:latin typeface="Arial"/>
                          <a:ea typeface="Arial"/>
                          <a:cs typeface="Arial"/>
                        </a:rPr>
                        <a:t>1</a:t>
                      </a:r>
                    </a:p>
                  </a:txBody>
                  <a:tcPr anchor="ctr">
                    <a:solidFill>
                      <a:srgbClr val="FFFFFF"/>
                    </a:solidFill>
                  </a:tcPr>
                </a:tc>
                <a:tc>
                  <a:txBody>
                    <a:bodyPr/>
                    <a:lstStyle/>
                    <a:p>
                      <a:pPr algn="l"/>
                      <a:r>
                        <a:rPr lang="cs-CZ" altLang="cs-CZ" sz="2100" b="0" noProof="0" dirty="0">
                          <a:solidFill>
                            <a:srgbClr val="142A3B"/>
                          </a:solidFill>
                          <a:latin typeface="Arial"/>
                          <a:ea typeface="Arial"/>
                          <a:cs typeface="Arial"/>
                        </a:rPr>
                        <a:t>1</a:t>
                      </a:r>
                    </a:p>
                  </a:txBody>
                  <a:tcPr anchor="ctr">
                    <a:solidFill>
                      <a:srgbClr val="FFFFFF"/>
                    </a:solidFill>
                  </a:tcPr>
                </a:tc>
                <a:tc>
                  <a:txBody>
                    <a:bodyPr/>
                    <a:lstStyle/>
                    <a:p>
                      <a:pPr algn="l"/>
                      <a:r>
                        <a:rPr lang="cs-CZ" altLang="cs-CZ" sz="2100" b="0" noProof="0">
                          <a:solidFill>
                            <a:srgbClr val="142A3B"/>
                          </a:solidFill>
                          <a:latin typeface="Arial"/>
                          <a:ea typeface="Arial"/>
                          <a:cs typeface="Arial"/>
                        </a:rPr>
                        <a:t>0,167</a:t>
                      </a:r>
                    </a:p>
                  </a:txBody>
                  <a:tcPr anchor="ctr">
                    <a:solidFill>
                      <a:srgbClr val="FFFFFF"/>
                    </a:solidFill>
                  </a:tcPr>
                </a:tc>
                <a:tc>
                  <a:txBody>
                    <a:bodyPr/>
                    <a:lstStyle/>
                    <a:p>
                      <a:pPr algn="l"/>
                      <a:r>
                        <a:rPr lang="cs-CZ" altLang="cs-CZ" sz="2100" b="0" noProof="0">
                          <a:solidFill>
                            <a:srgbClr val="142A3B"/>
                          </a:solidFill>
                          <a:latin typeface="Arial"/>
                          <a:ea typeface="Arial"/>
                          <a:cs typeface="Arial"/>
                        </a:rPr>
                        <a:t>16,7 %</a:t>
                      </a:r>
                    </a:p>
                  </a:txBody>
                  <a:tcPr anchor="ctr">
                    <a:solidFill>
                      <a:srgbClr val="FFFFFF"/>
                    </a:solidFill>
                  </a:tcPr>
                </a:tc>
                <a:extLst>
                  <a:ext uri="{0D108BD9-81ED-4DB2-BD59-A6C34878D82A}">
                    <a16:rowId xmlns:a16="http://schemas.microsoft.com/office/drawing/2014/main" val="10001"/>
                  </a:ext>
                </a:extLst>
              </a:tr>
              <a:tr h="628650">
                <a:tc>
                  <a:txBody>
                    <a:bodyPr/>
                    <a:lstStyle/>
                    <a:p>
                      <a:pPr algn="l"/>
                      <a:r>
                        <a:rPr lang="cs-CZ" altLang="cs-CZ" sz="2100" b="0" noProof="0" dirty="0">
                          <a:solidFill>
                            <a:srgbClr val="142A3B"/>
                          </a:solidFill>
                          <a:latin typeface="Arial"/>
                          <a:ea typeface="Arial"/>
                          <a:cs typeface="Arial"/>
                        </a:rPr>
                        <a:t>Trochu</a:t>
                      </a:r>
                    </a:p>
                  </a:txBody>
                  <a:tcPr anchor="ctr">
                    <a:solidFill>
                      <a:srgbClr val="DCEEF2"/>
                    </a:solidFill>
                  </a:tcPr>
                </a:tc>
                <a:tc>
                  <a:txBody>
                    <a:bodyPr/>
                    <a:lstStyle/>
                    <a:p>
                      <a:pPr algn="l"/>
                      <a:r>
                        <a:rPr lang="cs-CZ" altLang="cs-CZ" sz="2100" b="0" noProof="0" dirty="0">
                          <a:solidFill>
                            <a:srgbClr val="142A3B"/>
                          </a:solidFill>
                          <a:latin typeface="Arial"/>
                          <a:ea typeface="Arial"/>
                          <a:cs typeface="Arial"/>
                        </a:rPr>
                        <a:t>2</a:t>
                      </a:r>
                    </a:p>
                  </a:txBody>
                  <a:tcPr anchor="ctr">
                    <a:solidFill>
                      <a:srgbClr val="DCEEF2"/>
                    </a:solidFill>
                  </a:tcPr>
                </a:tc>
                <a:tc>
                  <a:txBody>
                    <a:bodyPr/>
                    <a:lstStyle/>
                    <a:p>
                      <a:pPr algn="l"/>
                      <a:r>
                        <a:rPr lang="cs-CZ" altLang="cs-CZ" sz="2100" b="0" noProof="0" dirty="0">
                          <a:solidFill>
                            <a:srgbClr val="142A3B"/>
                          </a:solidFill>
                          <a:latin typeface="Arial"/>
                          <a:ea typeface="Arial"/>
                          <a:cs typeface="Arial"/>
                        </a:rPr>
                        <a:t>3</a:t>
                      </a:r>
                    </a:p>
                  </a:txBody>
                  <a:tcPr anchor="ctr">
                    <a:solidFill>
                      <a:srgbClr val="DCEEF2"/>
                    </a:solidFill>
                  </a:tcPr>
                </a:tc>
                <a:tc>
                  <a:txBody>
                    <a:bodyPr/>
                    <a:lstStyle/>
                    <a:p>
                      <a:pPr algn="l"/>
                      <a:r>
                        <a:rPr lang="cs-CZ" altLang="cs-CZ" sz="2100" b="0" noProof="0">
                          <a:solidFill>
                            <a:srgbClr val="142A3B"/>
                          </a:solidFill>
                          <a:latin typeface="Arial"/>
                          <a:ea typeface="Arial"/>
                          <a:cs typeface="Arial"/>
                        </a:rPr>
                        <a:t>0,500</a:t>
                      </a:r>
                    </a:p>
                  </a:txBody>
                  <a:tcPr anchor="ctr">
                    <a:solidFill>
                      <a:srgbClr val="DCEEF2"/>
                    </a:solidFill>
                  </a:tcPr>
                </a:tc>
                <a:tc>
                  <a:txBody>
                    <a:bodyPr/>
                    <a:lstStyle/>
                    <a:p>
                      <a:pPr algn="l"/>
                      <a:r>
                        <a:rPr lang="cs-CZ" altLang="cs-CZ" sz="2100" b="0" noProof="0">
                          <a:solidFill>
                            <a:srgbClr val="142A3B"/>
                          </a:solidFill>
                          <a:latin typeface="Arial"/>
                          <a:ea typeface="Arial"/>
                          <a:cs typeface="Arial"/>
                        </a:rPr>
                        <a:t>50,0 %</a:t>
                      </a:r>
                    </a:p>
                  </a:txBody>
                  <a:tcPr anchor="ctr">
                    <a:solidFill>
                      <a:srgbClr val="DCEEF2"/>
                    </a:solidFill>
                  </a:tcPr>
                </a:tc>
                <a:extLst>
                  <a:ext uri="{0D108BD9-81ED-4DB2-BD59-A6C34878D82A}">
                    <a16:rowId xmlns:a16="http://schemas.microsoft.com/office/drawing/2014/main" val="10002"/>
                  </a:ext>
                </a:extLst>
              </a:tr>
              <a:tr h="628650">
                <a:tc>
                  <a:txBody>
                    <a:bodyPr/>
                    <a:lstStyle/>
                    <a:p>
                      <a:pPr algn="l"/>
                      <a:r>
                        <a:rPr lang="cs-CZ" altLang="cs-CZ" sz="2100" b="0" noProof="0" dirty="0">
                          <a:solidFill>
                            <a:srgbClr val="142A3B"/>
                          </a:solidFill>
                          <a:latin typeface="Arial"/>
                          <a:ea typeface="Arial"/>
                          <a:cs typeface="Arial"/>
                        </a:rPr>
                        <a:t>Dost</a:t>
                      </a:r>
                    </a:p>
                  </a:txBody>
                  <a:tcPr anchor="ctr">
                    <a:solidFill>
                      <a:srgbClr val="FFFFFF"/>
                    </a:solidFill>
                  </a:tcPr>
                </a:tc>
                <a:tc>
                  <a:txBody>
                    <a:bodyPr/>
                    <a:lstStyle/>
                    <a:p>
                      <a:pPr algn="l"/>
                      <a:r>
                        <a:rPr lang="cs-CZ" altLang="cs-CZ" sz="2100" b="0" noProof="0" dirty="0">
                          <a:solidFill>
                            <a:srgbClr val="142A3B"/>
                          </a:solidFill>
                          <a:latin typeface="Arial"/>
                          <a:ea typeface="Arial"/>
                          <a:cs typeface="Arial"/>
                        </a:rPr>
                        <a:t>2</a:t>
                      </a:r>
                    </a:p>
                  </a:txBody>
                  <a:tcPr anchor="ctr">
                    <a:solidFill>
                      <a:srgbClr val="FFFFFF"/>
                    </a:solidFill>
                  </a:tcPr>
                </a:tc>
                <a:tc>
                  <a:txBody>
                    <a:bodyPr/>
                    <a:lstStyle/>
                    <a:p>
                      <a:pPr algn="l"/>
                      <a:r>
                        <a:rPr lang="cs-CZ" altLang="cs-CZ" sz="2100" b="0" noProof="0" dirty="0">
                          <a:solidFill>
                            <a:srgbClr val="142A3B"/>
                          </a:solidFill>
                          <a:latin typeface="Arial"/>
                          <a:ea typeface="Arial"/>
                          <a:cs typeface="Arial"/>
                        </a:rPr>
                        <a:t>5</a:t>
                      </a:r>
                    </a:p>
                  </a:txBody>
                  <a:tcPr anchor="ctr">
                    <a:solidFill>
                      <a:srgbClr val="FFFFFF"/>
                    </a:solidFill>
                  </a:tcPr>
                </a:tc>
                <a:tc>
                  <a:txBody>
                    <a:bodyPr/>
                    <a:lstStyle/>
                    <a:p>
                      <a:pPr algn="l"/>
                      <a:r>
                        <a:rPr lang="cs-CZ" altLang="cs-CZ" sz="2100" b="0" noProof="0" dirty="0">
                          <a:solidFill>
                            <a:srgbClr val="142A3B"/>
                          </a:solidFill>
                          <a:latin typeface="Arial"/>
                          <a:ea typeface="Arial"/>
                          <a:cs typeface="Arial"/>
                        </a:rPr>
                        <a:t>0,833</a:t>
                      </a:r>
                    </a:p>
                  </a:txBody>
                  <a:tcPr anchor="ctr">
                    <a:solidFill>
                      <a:srgbClr val="FFFFFF"/>
                    </a:solidFill>
                  </a:tcPr>
                </a:tc>
                <a:tc>
                  <a:txBody>
                    <a:bodyPr/>
                    <a:lstStyle/>
                    <a:p>
                      <a:pPr algn="l"/>
                      <a:r>
                        <a:rPr lang="cs-CZ" altLang="cs-CZ" sz="2100" b="0" noProof="0">
                          <a:solidFill>
                            <a:srgbClr val="142A3B"/>
                          </a:solidFill>
                          <a:latin typeface="Arial"/>
                          <a:ea typeface="Arial"/>
                          <a:cs typeface="Arial"/>
                        </a:rPr>
                        <a:t>83,3 %</a:t>
                      </a:r>
                    </a:p>
                  </a:txBody>
                  <a:tcPr anchor="ctr">
                    <a:solidFill>
                      <a:srgbClr val="FFFFFF"/>
                    </a:solidFill>
                  </a:tcPr>
                </a:tc>
                <a:extLst>
                  <a:ext uri="{0D108BD9-81ED-4DB2-BD59-A6C34878D82A}">
                    <a16:rowId xmlns:a16="http://schemas.microsoft.com/office/drawing/2014/main" val="10003"/>
                  </a:ext>
                </a:extLst>
              </a:tr>
              <a:tr h="628650">
                <a:tc>
                  <a:txBody>
                    <a:bodyPr/>
                    <a:lstStyle/>
                    <a:p>
                      <a:pPr algn="l"/>
                      <a:r>
                        <a:rPr lang="cs-CZ" altLang="cs-CZ" sz="2100" b="0" noProof="0" dirty="0">
                          <a:solidFill>
                            <a:srgbClr val="142A3B"/>
                          </a:solidFill>
                          <a:latin typeface="Arial"/>
                          <a:ea typeface="Arial"/>
                          <a:cs typeface="Arial"/>
                        </a:rPr>
                        <a:t>Zcela</a:t>
                      </a:r>
                    </a:p>
                  </a:txBody>
                  <a:tcPr anchor="ctr">
                    <a:solidFill>
                      <a:srgbClr val="EDF2F3"/>
                    </a:solidFill>
                  </a:tcPr>
                </a:tc>
                <a:tc>
                  <a:txBody>
                    <a:bodyPr/>
                    <a:lstStyle/>
                    <a:p>
                      <a:pPr algn="l"/>
                      <a:r>
                        <a:rPr lang="cs-CZ" altLang="cs-CZ" sz="2100" b="0" noProof="0" dirty="0">
                          <a:solidFill>
                            <a:srgbClr val="142A3B"/>
                          </a:solidFill>
                          <a:latin typeface="Arial"/>
                          <a:ea typeface="Arial"/>
                          <a:cs typeface="Arial"/>
                        </a:rPr>
                        <a:t>1</a:t>
                      </a:r>
                    </a:p>
                  </a:txBody>
                  <a:tcPr anchor="ctr">
                    <a:solidFill>
                      <a:srgbClr val="EDF2F3"/>
                    </a:solidFill>
                  </a:tcPr>
                </a:tc>
                <a:tc>
                  <a:txBody>
                    <a:bodyPr/>
                    <a:lstStyle/>
                    <a:p>
                      <a:pPr algn="l"/>
                      <a:r>
                        <a:rPr lang="cs-CZ" altLang="cs-CZ" sz="2100" b="0" noProof="0" dirty="0">
                          <a:solidFill>
                            <a:srgbClr val="142A3B"/>
                          </a:solidFill>
                          <a:latin typeface="Arial"/>
                          <a:ea typeface="Arial"/>
                          <a:cs typeface="Arial"/>
                        </a:rPr>
                        <a:t>6</a:t>
                      </a:r>
                    </a:p>
                  </a:txBody>
                  <a:tcPr anchor="ctr">
                    <a:solidFill>
                      <a:srgbClr val="EDF2F3"/>
                    </a:solidFill>
                  </a:tcPr>
                </a:tc>
                <a:tc>
                  <a:txBody>
                    <a:bodyPr/>
                    <a:lstStyle/>
                    <a:p>
                      <a:pPr algn="l"/>
                      <a:r>
                        <a:rPr lang="cs-CZ" altLang="cs-CZ" sz="2100" b="0" noProof="0" dirty="0">
                          <a:solidFill>
                            <a:srgbClr val="142A3B"/>
                          </a:solidFill>
                          <a:latin typeface="Arial"/>
                          <a:ea typeface="Arial"/>
                          <a:cs typeface="Arial"/>
                        </a:rPr>
                        <a:t>1,000</a:t>
                      </a:r>
                    </a:p>
                  </a:txBody>
                  <a:tcPr anchor="ctr">
                    <a:solidFill>
                      <a:srgbClr val="EDF2F3"/>
                    </a:solidFill>
                  </a:tcPr>
                </a:tc>
                <a:tc>
                  <a:txBody>
                    <a:bodyPr/>
                    <a:lstStyle/>
                    <a:p>
                      <a:pPr algn="l"/>
                      <a:r>
                        <a:rPr lang="cs-CZ" altLang="cs-CZ" sz="2100" b="0" noProof="0" dirty="0">
                          <a:solidFill>
                            <a:srgbClr val="142A3B"/>
                          </a:solidFill>
                          <a:latin typeface="Arial"/>
                          <a:ea typeface="Arial"/>
                          <a:cs typeface="Arial"/>
                        </a:rPr>
                        <a:t>100,0 %</a:t>
                      </a:r>
                    </a:p>
                  </a:txBody>
                  <a:tcPr anchor="ctr">
                    <a:solidFill>
                      <a:srgbClr val="EDF2F3"/>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6" name="formula_cum_example">
                <a:extLst>
                  <a:ext uri="{FF2B5EF4-FFF2-40B4-BE49-F238E27FC236}">
                    <a16:creationId xmlns:a16="http://schemas.microsoft.com/office/drawing/2014/main" id="{DECEFCF0-B198-478B-B446-8FDC8CEB3DFD}"/>
                  </a:ext>
                </a:extLst>
              </p:cNvPr>
              <p:cNvSpPr>
                <a:spLocks noGrp="1"/>
              </p:cNvSpPr>
              <p:nvPr/>
            </p:nvSpPr>
            <p:spPr>
              <a:xfrm>
                <a:off x="838200" y="6181725"/>
                <a:ext cx="13563600" cy="828675"/>
              </a:xfrm>
              <a:prstGeom prst="rect">
                <a:avLst/>
              </a:prstGeom>
              <a:noFill/>
              <a:ln w="0">
                <a:noFill/>
              </a:ln>
            </p:spPr>
            <p:txBody>
              <a:bodyPr wrap="square" lIns="0" tIns="0" rIns="0" bIns="0">
                <a:noAutofit/>
              </a:bodyPr>
              <a:lstStyle/>
              <a:p>
                <a:pPr algn="l">
                  <a:defRPr lang="cs-CZ" altLang="cs-CZ" sz="2475" noProof="0"/>
                </a:pPr>
                <a14:m>
                  <m:oMathPara xmlns:m="http://schemas.openxmlformats.org/officeDocument/2006/math">
                    <m:oMathParaPr>
                      <m:jc m:val="left"/>
                    </m:oMathParaPr>
                    <m:oMath>
                      <m:sSub>
                        <m:sSubPr>
                          <m:ctrlPr>
                            <a:rPr lang="cs-CZ" altLang="cs-CZ" sz="2475" noProof="0">
                              <a:solidFill>
                                <a:srgbClr val="142A3B"/>
                              </a:solidFill>
                              <a:latin typeface="Cambria Math"/>
                            </a:rPr>
                          </m:ctrlPr>
                        </m:sSubPr>
                        <m:e>
                          <m:r>
                            <a:rPr lang="cs-CZ" altLang="cs-CZ" sz="2475" noProof="0">
                              <a:solidFill>
                                <a:srgbClr val="142A3B"/>
                              </a:solidFill>
                              <a:latin typeface="Cambria Math"/>
                            </a:rPr>
                            <m:t>𝑓</m:t>
                          </m:r>
                        </m:e>
                        <m:sub>
                          <m:r>
                            <m:rPr>
                              <m:sty m:val="p"/>
                            </m:rPr>
                            <a:rPr lang="cs-CZ" altLang="cs-CZ" sz="2475" noProof="0">
                              <a:solidFill>
                                <a:srgbClr val="142A3B"/>
                              </a:solidFill>
                              <a:latin typeface="Cambria Math"/>
                            </a:rPr>
                            <m:t>kum</m:t>
                          </m:r>
                          <m:r>
                            <a:rPr lang="cs-CZ" altLang="cs-CZ" sz="2475" noProof="0">
                              <a:solidFill>
                                <a:srgbClr val="142A3B"/>
                              </a:solidFill>
                              <a:latin typeface="Cambria Math"/>
                            </a:rPr>
                            <m:t>,2</m:t>
                          </m:r>
                        </m:sub>
                      </m:sSub>
                      <m:r>
                        <a:rPr lang="cs-CZ" altLang="cs-CZ" sz="2475" noProof="0">
                          <a:solidFill>
                            <a:srgbClr val="142A3B"/>
                          </a:solidFill>
                          <a:latin typeface="Cambria Math"/>
                        </a:rPr>
                        <m:t> = 1 + 2 = 3;     </m:t>
                      </m:r>
                      <m:sSub>
                        <m:sSubPr>
                          <m:ctrlPr>
                            <a:rPr lang="cs-CZ" altLang="cs-CZ" sz="2475" noProof="0">
                              <a:solidFill>
                                <a:srgbClr val="142A3B"/>
                              </a:solidFill>
                              <a:latin typeface="Cambria Math"/>
                            </a:rPr>
                          </m:ctrlPr>
                        </m:sSubPr>
                        <m:e>
                          <m:r>
                            <a:rPr lang="cs-CZ" altLang="cs-CZ" sz="2475" noProof="0">
                              <a:solidFill>
                                <a:srgbClr val="142A3B"/>
                              </a:solidFill>
                              <a:latin typeface="Cambria Math"/>
                            </a:rPr>
                            <m:t>𝑝</m:t>
                          </m:r>
                        </m:e>
                        <m:sub>
                          <m:r>
                            <m:rPr>
                              <m:sty m:val="p"/>
                            </m:rPr>
                            <a:rPr lang="cs-CZ" altLang="cs-CZ" sz="2475" noProof="0">
                              <a:solidFill>
                                <a:srgbClr val="142A3B"/>
                              </a:solidFill>
                              <a:latin typeface="Cambria Math"/>
                            </a:rPr>
                            <m:t>kum</m:t>
                          </m:r>
                          <m:r>
                            <a:rPr lang="cs-CZ" altLang="cs-CZ" sz="2475" noProof="0">
                              <a:solidFill>
                                <a:srgbClr val="142A3B"/>
                              </a:solidFill>
                              <a:latin typeface="Cambria Math"/>
                            </a:rPr>
                            <m:t>,2</m:t>
                          </m:r>
                        </m:sub>
                      </m:sSub>
                      <m:r>
                        <a:rPr lang="cs-CZ" altLang="cs-CZ" sz="2475" noProof="0">
                          <a:solidFill>
                            <a:srgbClr val="142A3B"/>
                          </a:solidFill>
                          <a:latin typeface="Cambria Math"/>
                        </a:rPr>
                        <m:t> = </m:t>
                      </m:r>
                      <m:f>
                        <m:fPr>
                          <m:ctrlPr>
                            <a:rPr lang="cs-CZ" altLang="cs-CZ" sz="2475" noProof="0">
                              <a:solidFill>
                                <a:srgbClr val="142A3B"/>
                              </a:solidFill>
                              <a:latin typeface="Cambria Math"/>
                            </a:rPr>
                          </m:ctrlPr>
                        </m:fPr>
                        <m:num>
                          <m:r>
                            <a:rPr lang="cs-CZ" altLang="cs-CZ" sz="2475" noProof="0">
                              <a:solidFill>
                                <a:srgbClr val="142A3B"/>
                              </a:solidFill>
                              <a:latin typeface="Cambria Math"/>
                            </a:rPr>
                            <m:t>3</m:t>
                          </m:r>
                        </m:num>
                        <m:den>
                          <m:r>
                            <a:rPr lang="cs-CZ" altLang="cs-CZ" sz="2475" noProof="0">
                              <a:solidFill>
                                <a:srgbClr val="142A3B"/>
                              </a:solidFill>
                              <a:latin typeface="Cambria Math"/>
                            </a:rPr>
                            <m:t>6</m:t>
                          </m:r>
                        </m:den>
                      </m:f>
                      <m:r>
                        <a:rPr lang="cs-CZ" altLang="cs-CZ" sz="2475" noProof="0">
                          <a:solidFill>
                            <a:srgbClr val="142A3B"/>
                          </a:solidFill>
                          <a:latin typeface="Cambria Math"/>
                        </a:rPr>
                        <m:t> = 0,500 = 50,0 %</m:t>
                      </m:r>
                    </m:oMath>
                  </m:oMathPara>
                </a14:m>
                <a:endParaRPr lang="cs-CZ" altLang="cs-CZ" sz="2475" noProof="0"/>
              </a:p>
            </p:txBody>
          </p:sp>
        </mc:Choice>
        <mc:Fallback xmlns="">
          <p:sp>
            <p:nvSpPr>
              <p:cNvPr id="6" name="formula_cum_example">
                <a:extLst>
                  <a:ext uri="{FF2B5EF4-FFF2-40B4-BE49-F238E27FC236}">
                    <a16:creationId xmlns:a16="http://schemas.microsoft.com/office/drawing/2014/main" id="{DECEFCF0-B198-478B-B446-8FDC8CEB3DFD}"/>
                  </a:ext>
                </a:extLst>
              </p:cNvPr>
              <p:cNvSpPr>
                <a:spLocks noGrp="1" noRot="1" noChangeAspect="1" noMove="1" noResize="1" noEditPoints="1" noAdjustHandles="1" noChangeArrowheads="1" noChangeShapeType="1" noTextEdit="1"/>
              </p:cNvSpPr>
              <p:nvPr/>
            </p:nvSpPr>
            <p:spPr>
              <a:xfrm>
                <a:off x="838200" y="6181725"/>
                <a:ext cx="13563600" cy="828675"/>
              </a:xfrm>
              <a:prstGeom prst="rect">
                <a:avLst/>
              </a:prstGeom>
              <a:blipFill>
                <a:blip r:embed="rId5"/>
                <a:stretch>
                  <a:fillRect l="-45"/>
                </a:stretch>
              </a:blipFill>
              <a:ln w="0">
                <a:noFill/>
              </a:ln>
            </p:spPr>
            <p:txBody>
              <a:bodyPr/>
              <a:lstStyle/>
              <a:p>
                <a:r>
                  <a:rPr lang="cs-CZ">
                    <a:noFill/>
                  </a:rPr>
                  <a:t> </a:t>
                </a:r>
              </a:p>
            </p:txBody>
          </p:sp>
        </mc:Fallback>
      </mc:AlternateContent>
      <p:sp>
        <p:nvSpPr>
          <p:cNvPr id="7" name="Obdélník 6">
            <a:extLst>
              <a:ext uri="{FF2B5EF4-FFF2-40B4-BE49-F238E27FC236}">
                <a16:creationId xmlns:a16="http://schemas.microsoft.com/office/drawing/2014/main" id="{31D6F139-8037-4AC3-9297-472F5766CBC4}"/>
              </a:ext>
            </a:extLst>
          </p:cNvPr>
          <p:cNvSpPr>
            <a:spLocks noGrp="1"/>
          </p:cNvSpPr>
          <p:nvPr/>
        </p:nvSpPr>
        <p:spPr>
          <a:xfrm>
            <a:off x="838200" y="7324725"/>
            <a:ext cx="13563600" cy="457200"/>
          </a:xfrm>
          <a:prstGeom prst="rect">
            <a:avLst/>
          </a:prstGeom>
          <a:noFill/>
          <a:ln w="0">
            <a:noFill/>
          </a:ln>
        </p:spPr>
        <p:txBody>
          <a:bodyPr wrap="square" lIns="0" tIns="0" rIns="0" bIns="0">
            <a:noAutofit/>
          </a:bodyPr>
          <a:lstStyle/>
          <a:p>
            <a:pPr>
              <a:defRPr lang="cs-CZ" altLang="cs-CZ" sz="2025" b="0" noProof="0">
                <a:solidFill>
                  <a:srgbClr val="176A83"/>
                </a:solidFill>
                <a:latin typeface="Arial"/>
                <a:ea typeface="Arial"/>
                <a:cs typeface="Arial"/>
              </a:defRPr>
            </a:pPr>
            <a:r>
              <a:rPr lang="cs-CZ" altLang="cs-CZ" sz="2025" b="0" noProof="0">
                <a:solidFill>
                  <a:srgbClr val="176A83"/>
                </a:solidFill>
                <a:latin typeface="Arial"/>
                <a:ea typeface="Arial"/>
                <a:cs typeface="Arial"/>
              </a:rPr>
              <a:t>Poslední hodnoty: n, 1 a 100 %. Kumulativní sloupec nesčítáme.</a:t>
            </a:r>
          </a:p>
        </p:txBody>
      </p:sp>
    </p:spTree>
    <p:extLst>
      <p:ext uri="{BB962C8B-B14F-4D97-AF65-F5344CB8AC3E}">
        <p14:creationId xmlns:p14="http://schemas.microsoft.com/office/powerpoint/2010/main" val="918753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18" name="Obdélník 17">
            <a:extLst>
              <a:ext uri="{FF2B5EF4-FFF2-40B4-BE49-F238E27FC236}">
                <a16:creationId xmlns:a16="http://schemas.microsoft.com/office/drawing/2014/main" id="{3FBE00B1-5E2D-4480-A26F-7F2128CEE5E3}"/>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Intervalové třídění spánku</a:t>
            </a:r>
          </a:p>
        </p:txBody>
      </p:sp>
      <p:sp>
        <p:nvSpPr>
          <p:cNvPr id="2" name="page">
            <a:extLst>
              <a:ext uri="{FF2B5EF4-FFF2-40B4-BE49-F238E27FC236}">
                <a16:creationId xmlns:a16="http://schemas.microsoft.com/office/drawing/2014/main" id="{E4A56646-0E47-46A7-A56A-D4DAB4DD0AFE}"/>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09</a:t>
            </a:r>
          </a:p>
        </p:txBody>
      </p:sp>
      <p:sp>
        <p:nvSpPr>
          <p:cNvPr id="3" name="Obdélník 2">
            <a:extLst>
              <a:ext uri="{FF2B5EF4-FFF2-40B4-BE49-F238E27FC236}">
                <a16:creationId xmlns:a16="http://schemas.microsoft.com/office/drawing/2014/main" id="{9ED3F794-C0F6-4F6F-9B1E-80B53AEC7B4C}"/>
              </a:ext>
            </a:extLst>
          </p:cNvPr>
          <p:cNvSpPr>
            <a:spLocks noGrp="1"/>
          </p:cNvSpPr>
          <p:nvPr/>
        </p:nvSpPr>
        <p:spPr>
          <a:xfrm>
            <a:off x="838200" y="1752600"/>
            <a:ext cx="13563600" cy="666750"/>
          </a:xfrm>
          <a:prstGeom prst="rect">
            <a:avLst/>
          </a:prstGeom>
          <a:noFill/>
          <a:ln w="0">
            <a:noFill/>
          </a:ln>
        </p:spPr>
        <p:txBody>
          <a:bodyPr wrap="square" lIns="0" tIns="0" rIns="0" bIns="0">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Více než 6 až 7 hodin včetně</a:t>
            </a:r>
          </a:p>
        </p:txBody>
      </p:sp>
      <p:sp>
        <p:nvSpPr>
          <p:cNvPr id="4" name="Přímá spojnice 3">
            <a:extLst>
              <a:ext uri="{FF2B5EF4-FFF2-40B4-BE49-F238E27FC236}">
                <a16:creationId xmlns:a16="http://schemas.microsoft.com/office/drawing/2014/main" id="{4553B2F4-7A41-4A6C-A0DC-F8C55CB66535}"/>
              </a:ext>
            </a:extLst>
          </p:cNvPr>
          <p:cNvSpPr>
            <a:spLocks noGrp="1"/>
          </p:cNvSpPr>
          <p:nvPr/>
        </p:nvSpPr>
        <p:spPr>
          <a:xfrm>
            <a:off x="2571750" y="3810000"/>
            <a:ext cx="9525000" cy="0"/>
          </a:xfrm>
          <a:prstGeom prst="line">
            <a:avLst/>
          </a:prstGeom>
          <a:ln w="19050">
            <a:solidFill>
              <a:srgbClr val="142A3B"/>
            </a:solidFill>
          </a:ln>
        </p:spPr>
        <p:txBody>
          <a:bodyPr/>
          <a:lstStyle/>
          <a:p>
            <a:endParaRPr lang="cs-CZ"/>
          </a:p>
        </p:txBody>
      </p:sp>
      <p:sp>
        <p:nvSpPr>
          <p:cNvPr id="5" name="Přímá spojnice 4">
            <a:extLst>
              <a:ext uri="{FF2B5EF4-FFF2-40B4-BE49-F238E27FC236}">
                <a16:creationId xmlns:a16="http://schemas.microsoft.com/office/drawing/2014/main" id="{401D7A93-8EC0-4C16-9DD1-6D50BF5F8441}"/>
              </a:ext>
            </a:extLst>
          </p:cNvPr>
          <p:cNvSpPr>
            <a:spLocks noGrp="1"/>
          </p:cNvSpPr>
          <p:nvPr/>
        </p:nvSpPr>
        <p:spPr>
          <a:xfrm>
            <a:off x="3619500" y="3810000"/>
            <a:ext cx="7429500" cy="0"/>
          </a:xfrm>
          <a:prstGeom prst="line">
            <a:avLst/>
          </a:prstGeom>
          <a:ln w="66675">
            <a:solidFill>
              <a:srgbClr val="176A83"/>
            </a:solidFill>
          </a:ln>
        </p:spPr>
        <p:txBody>
          <a:bodyPr/>
          <a:lstStyle/>
          <a:p>
            <a:endParaRPr lang="cs-CZ"/>
          </a:p>
        </p:txBody>
      </p:sp>
      <p:sp>
        <p:nvSpPr>
          <p:cNvPr id="6" name="Ovál 5">
            <a:extLst>
              <a:ext uri="{FF2B5EF4-FFF2-40B4-BE49-F238E27FC236}">
                <a16:creationId xmlns:a16="http://schemas.microsoft.com/office/drawing/2014/main" id="{8FFB1EBF-BAF3-4DCE-979A-4FD4B9960C70}"/>
              </a:ext>
            </a:extLst>
          </p:cNvPr>
          <p:cNvSpPr>
            <a:spLocks noGrp="1"/>
          </p:cNvSpPr>
          <p:nvPr/>
        </p:nvSpPr>
        <p:spPr>
          <a:xfrm>
            <a:off x="3505200" y="3695700"/>
            <a:ext cx="228600" cy="228600"/>
          </a:xfrm>
          <a:prstGeom prst="ellipse">
            <a:avLst/>
          </a:prstGeom>
          <a:solidFill>
            <a:srgbClr val="FAFAF7"/>
          </a:solidFill>
          <a:ln w="28575">
            <a:solidFill>
              <a:srgbClr val="176A83"/>
            </a:solidFill>
          </a:ln>
        </p:spPr>
        <p:txBody>
          <a:bodyPr/>
          <a:lstStyle/>
          <a:p>
            <a:endParaRPr lang="cs-CZ"/>
          </a:p>
        </p:txBody>
      </p:sp>
      <p:sp>
        <p:nvSpPr>
          <p:cNvPr id="7" name="Obdélník 6">
            <a:extLst>
              <a:ext uri="{FF2B5EF4-FFF2-40B4-BE49-F238E27FC236}">
                <a16:creationId xmlns:a16="http://schemas.microsoft.com/office/drawing/2014/main" id="{254B60A5-7490-4FF3-9ADB-19E7641D341E}"/>
              </a:ext>
            </a:extLst>
          </p:cNvPr>
          <p:cNvSpPr>
            <a:spLocks noGrp="1"/>
          </p:cNvSpPr>
          <p:nvPr/>
        </p:nvSpPr>
        <p:spPr>
          <a:xfrm>
            <a:off x="3143250" y="4143375"/>
            <a:ext cx="1143000" cy="523875"/>
          </a:xfrm>
          <a:prstGeom prst="rect">
            <a:avLst/>
          </a:prstGeom>
          <a:noFill/>
          <a:ln w="0">
            <a:noFill/>
          </a:ln>
        </p:spPr>
        <p:txBody>
          <a:bodyPr wrap="square" lIns="0" tIns="0" rIns="0" bIns="0">
            <a:noAutofit/>
          </a:bodyPr>
          <a:lstStyle/>
          <a:p>
            <a:pPr>
              <a:defRPr lang="cs-CZ" altLang="cs-CZ" sz="2400" b="0" noProof="0">
                <a:solidFill>
                  <a:srgbClr val="142A3B"/>
                </a:solidFill>
                <a:latin typeface="Arial"/>
                <a:ea typeface="Arial"/>
                <a:cs typeface="Arial"/>
              </a:defRPr>
            </a:pPr>
            <a:r>
              <a:rPr lang="cs-CZ" altLang="cs-CZ" sz="2400" b="0" noProof="0">
                <a:solidFill>
                  <a:srgbClr val="142A3B"/>
                </a:solidFill>
                <a:latin typeface="Arial"/>
                <a:ea typeface="Arial"/>
                <a:cs typeface="Arial"/>
              </a:rPr>
              <a:t>6,0</a:t>
            </a:r>
          </a:p>
        </p:txBody>
      </p:sp>
      <p:sp>
        <p:nvSpPr>
          <p:cNvPr id="8" name="Ovál 7">
            <a:extLst>
              <a:ext uri="{FF2B5EF4-FFF2-40B4-BE49-F238E27FC236}">
                <a16:creationId xmlns:a16="http://schemas.microsoft.com/office/drawing/2014/main" id="{C244B125-51AF-4C88-B67B-B7DA37BD5B83}"/>
              </a:ext>
            </a:extLst>
          </p:cNvPr>
          <p:cNvSpPr>
            <a:spLocks noGrp="1"/>
          </p:cNvSpPr>
          <p:nvPr/>
        </p:nvSpPr>
        <p:spPr>
          <a:xfrm>
            <a:off x="4991100" y="3695700"/>
            <a:ext cx="228600" cy="228600"/>
          </a:xfrm>
          <a:prstGeom prst="ellipse">
            <a:avLst/>
          </a:prstGeom>
          <a:solidFill>
            <a:srgbClr val="176A83"/>
          </a:solidFill>
          <a:ln w="28575">
            <a:solidFill>
              <a:srgbClr val="176A83"/>
            </a:solidFill>
          </a:ln>
        </p:spPr>
        <p:txBody>
          <a:bodyPr/>
          <a:lstStyle/>
          <a:p>
            <a:endParaRPr lang="cs-CZ"/>
          </a:p>
        </p:txBody>
      </p:sp>
      <p:sp>
        <p:nvSpPr>
          <p:cNvPr id="9" name="Obdélník 8">
            <a:extLst>
              <a:ext uri="{FF2B5EF4-FFF2-40B4-BE49-F238E27FC236}">
                <a16:creationId xmlns:a16="http://schemas.microsoft.com/office/drawing/2014/main" id="{6761BC19-C444-4AD3-9029-4DB95F7DC095}"/>
              </a:ext>
            </a:extLst>
          </p:cNvPr>
          <p:cNvSpPr>
            <a:spLocks noGrp="1"/>
          </p:cNvSpPr>
          <p:nvPr/>
        </p:nvSpPr>
        <p:spPr>
          <a:xfrm>
            <a:off x="4629150" y="4143375"/>
            <a:ext cx="1143000" cy="523875"/>
          </a:xfrm>
          <a:prstGeom prst="rect">
            <a:avLst/>
          </a:prstGeom>
          <a:noFill/>
          <a:ln w="0">
            <a:noFill/>
          </a:ln>
        </p:spPr>
        <p:txBody>
          <a:bodyPr wrap="square" lIns="0" tIns="0" rIns="0" bIns="0">
            <a:noAutofit/>
          </a:bodyPr>
          <a:lstStyle/>
          <a:p>
            <a:pPr>
              <a:defRPr lang="cs-CZ" altLang="cs-CZ" sz="2400" b="0" noProof="0">
                <a:solidFill>
                  <a:srgbClr val="142A3B"/>
                </a:solidFill>
                <a:latin typeface="Arial"/>
                <a:ea typeface="Arial"/>
                <a:cs typeface="Arial"/>
              </a:defRPr>
            </a:pPr>
            <a:r>
              <a:rPr lang="cs-CZ" altLang="cs-CZ" sz="2400" b="0" noProof="0">
                <a:solidFill>
                  <a:srgbClr val="142A3B"/>
                </a:solidFill>
                <a:latin typeface="Arial"/>
                <a:ea typeface="Arial"/>
                <a:cs typeface="Arial"/>
              </a:rPr>
              <a:t>6,2</a:t>
            </a:r>
          </a:p>
        </p:txBody>
      </p:sp>
      <p:sp>
        <p:nvSpPr>
          <p:cNvPr id="10" name="Ovál 9">
            <a:extLst>
              <a:ext uri="{FF2B5EF4-FFF2-40B4-BE49-F238E27FC236}">
                <a16:creationId xmlns:a16="http://schemas.microsoft.com/office/drawing/2014/main" id="{20E5FEED-4749-4BC5-968C-EEAA9B0770EE}"/>
              </a:ext>
            </a:extLst>
          </p:cNvPr>
          <p:cNvSpPr>
            <a:spLocks noGrp="1"/>
          </p:cNvSpPr>
          <p:nvPr/>
        </p:nvSpPr>
        <p:spPr>
          <a:xfrm>
            <a:off x="9448800" y="3695700"/>
            <a:ext cx="228600" cy="228600"/>
          </a:xfrm>
          <a:prstGeom prst="ellipse">
            <a:avLst/>
          </a:prstGeom>
          <a:solidFill>
            <a:srgbClr val="176A83"/>
          </a:solidFill>
          <a:ln w="28575">
            <a:solidFill>
              <a:srgbClr val="176A83"/>
            </a:solidFill>
          </a:ln>
        </p:spPr>
        <p:txBody>
          <a:bodyPr/>
          <a:lstStyle/>
          <a:p>
            <a:endParaRPr lang="cs-CZ"/>
          </a:p>
        </p:txBody>
      </p:sp>
      <p:sp>
        <p:nvSpPr>
          <p:cNvPr id="11" name="Obdélník 10">
            <a:extLst>
              <a:ext uri="{FF2B5EF4-FFF2-40B4-BE49-F238E27FC236}">
                <a16:creationId xmlns:a16="http://schemas.microsoft.com/office/drawing/2014/main" id="{4C24C7B7-6ADC-41F4-9E0A-92F1F1FF3234}"/>
              </a:ext>
            </a:extLst>
          </p:cNvPr>
          <p:cNvSpPr>
            <a:spLocks noGrp="1"/>
          </p:cNvSpPr>
          <p:nvPr/>
        </p:nvSpPr>
        <p:spPr>
          <a:xfrm>
            <a:off x="9086850" y="4143375"/>
            <a:ext cx="1143000" cy="523875"/>
          </a:xfrm>
          <a:prstGeom prst="rect">
            <a:avLst/>
          </a:prstGeom>
          <a:noFill/>
          <a:ln w="0">
            <a:noFill/>
          </a:ln>
        </p:spPr>
        <p:txBody>
          <a:bodyPr wrap="square" lIns="0" tIns="0" rIns="0" bIns="0">
            <a:noAutofit/>
          </a:bodyPr>
          <a:lstStyle/>
          <a:p>
            <a:pPr>
              <a:defRPr lang="cs-CZ" altLang="cs-CZ" sz="2400" b="0" noProof="0">
                <a:solidFill>
                  <a:srgbClr val="142A3B"/>
                </a:solidFill>
                <a:latin typeface="Arial"/>
                <a:ea typeface="Arial"/>
                <a:cs typeface="Arial"/>
              </a:defRPr>
            </a:pPr>
            <a:r>
              <a:rPr lang="cs-CZ" altLang="cs-CZ" sz="2400" b="0" noProof="0">
                <a:solidFill>
                  <a:srgbClr val="142A3B"/>
                </a:solidFill>
                <a:latin typeface="Arial"/>
                <a:ea typeface="Arial"/>
                <a:cs typeface="Arial"/>
              </a:rPr>
              <a:t>6,8</a:t>
            </a:r>
          </a:p>
        </p:txBody>
      </p:sp>
      <p:sp>
        <p:nvSpPr>
          <p:cNvPr id="12" name="Ovál 11">
            <a:extLst>
              <a:ext uri="{FF2B5EF4-FFF2-40B4-BE49-F238E27FC236}">
                <a16:creationId xmlns:a16="http://schemas.microsoft.com/office/drawing/2014/main" id="{2056B51E-C0DC-4791-A17E-36E75BB1A48E}"/>
              </a:ext>
            </a:extLst>
          </p:cNvPr>
          <p:cNvSpPr>
            <a:spLocks noGrp="1"/>
          </p:cNvSpPr>
          <p:nvPr/>
        </p:nvSpPr>
        <p:spPr>
          <a:xfrm>
            <a:off x="10934700" y="3695700"/>
            <a:ext cx="228600" cy="228600"/>
          </a:xfrm>
          <a:prstGeom prst="ellipse">
            <a:avLst/>
          </a:prstGeom>
          <a:solidFill>
            <a:srgbClr val="176A83"/>
          </a:solidFill>
          <a:ln w="28575">
            <a:solidFill>
              <a:srgbClr val="176A83"/>
            </a:solidFill>
          </a:ln>
        </p:spPr>
        <p:txBody>
          <a:bodyPr/>
          <a:lstStyle/>
          <a:p>
            <a:endParaRPr lang="cs-CZ"/>
          </a:p>
        </p:txBody>
      </p:sp>
      <p:sp>
        <p:nvSpPr>
          <p:cNvPr id="13" name="Obdélník 12">
            <a:extLst>
              <a:ext uri="{FF2B5EF4-FFF2-40B4-BE49-F238E27FC236}">
                <a16:creationId xmlns:a16="http://schemas.microsoft.com/office/drawing/2014/main" id="{A204100B-AB0F-4082-8404-2E2F8C1D8095}"/>
              </a:ext>
            </a:extLst>
          </p:cNvPr>
          <p:cNvSpPr>
            <a:spLocks noGrp="1"/>
          </p:cNvSpPr>
          <p:nvPr/>
        </p:nvSpPr>
        <p:spPr>
          <a:xfrm>
            <a:off x="10572750" y="4143375"/>
            <a:ext cx="1143000" cy="523875"/>
          </a:xfrm>
          <a:prstGeom prst="rect">
            <a:avLst/>
          </a:prstGeom>
          <a:noFill/>
          <a:ln w="0">
            <a:noFill/>
          </a:ln>
        </p:spPr>
        <p:txBody>
          <a:bodyPr wrap="square" lIns="0" tIns="0" rIns="0" bIns="0">
            <a:noAutofit/>
          </a:bodyPr>
          <a:lstStyle/>
          <a:p>
            <a:pPr>
              <a:defRPr lang="cs-CZ" altLang="cs-CZ" sz="2400" b="0" noProof="0">
                <a:solidFill>
                  <a:srgbClr val="142A3B"/>
                </a:solidFill>
                <a:latin typeface="Arial"/>
                <a:ea typeface="Arial"/>
                <a:cs typeface="Arial"/>
              </a:defRPr>
            </a:pPr>
            <a:r>
              <a:rPr lang="cs-CZ" altLang="cs-CZ" sz="2400" b="0" noProof="0">
                <a:solidFill>
                  <a:srgbClr val="142A3B"/>
                </a:solidFill>
                <a:latin typeface="Arial"/>
                <a:ea typeface="Arial"/>
                <a:cs typeface="Arial"/>
              </a:rPr>
              <a:t>7,0</a:t>
            </a:r>
          </a:p>
        </p:txBody>
      </p:sp>
      <p:sp>
        <p:nvSpPr>
          <p:cNvPr id="14" name="Obdélník 13">
            <a:extLst>
              <a:ext uri="{FF2B5EF4-FFF2-40B4-BE49-F238E27FC236}">
                <a16:creationId xmlns:a16="http://schemas.microsoft.com/office/drawing/2014/main" id="{7CF6DDE3-7776-4C87-9627-39C1225A7CA2}"/>
              </a:ext>
            </a:extLst>
          </p:cNvPr>
          <p:cNvSpPr>
            <a:spLocks noGrp="1"/>
          </p:cNvSpPr>
          <p:nvPr/>
        </p:nvSpPr>
        <p:spPr>
          <a:xfrm>
            <a:off x="838200" y="5067300"/>
            <a:ext cx="6191250" cy="857250"/>
          </a:xfrm>
          <a:prstGeom prst="rect">
            <a:avLst/>
          </a:prstGeom>
          <a:noFill/>
          <a:ln w="0">
            <a:noFill/>
          </a:ln>
        </p:spPr>
        <p:txBody>
          <a:bodyPr wrap="square" lIns="0" tIns="0" rIns="0" bIns="0">
            <a:noAutofit/>
          </a:bodyPr>
          <a:lstStyle/>
          <a:p>
            <a:pPr>
              <a:defRPr lang="cs-CZ" altLang="cs-CZ" sz="2325" b="0" noProof="0">
                <a:solidFill>
                  <a:srgbClr val="142A3B"/>
                </a:solidFill>
                <a:latin typeface="Arial"/>
                <a:ea typeface="Arial"/>
                <a:cs typeface="Arial"/>
              </a:defRPr>
            </a:pPr>
            <a:r>
              <a:rPr lang="cs-CZ" altLang="cs-CZ" sz="2325" b="0" noProof="0">
                <a:solidFill>
                  <a:srgbClr val="142A3B"/>
                </a:solidFill>
                <a:latin typeface="Arial"/>
                <a:ea typeface="Arial"/>
                <a:cs typeface="Arial"/>
              </a:rPr>
              <a:t>6,0 patří do předchozího intervalu</a:t>
            </a:r>
          </a:p>
        </p:txBody>
      </p:sp>
      <p:sp>
        <p:nvSpPr>
          <p:cNvPr id="15" name="Obdélník 14">
            <a:extLst>
              <a:ext uri="{FF2B5EF4-FFF2-40B4-BE49-F238E27FC236}">
                <a16:creationId xmlns:a16="http://schemas.microsoft.com/office/drawing/2014/main" id="{DD56908B-C917-4400-B30E-06EC8098D85C}"/>
              </a:ext>
            </a:extLst>
          </p:cNvPr>
          <p:cNvSpPr>
            <a:spLocks noGrp="1"/>
          </p:cNvSpPr>
          <p:nvPr/>
        </p:nvSpPr>
        <p:spPr>
          <a:xfrm>
            <a:off x="8001000" y="5067300"/>
            <a:ext cx="6381750" cy="857250"/>
          </a:xfrm>
          <a:prstGeom prst="rect">
            <a:avLst/>
          </a:prstGeom>
          <a:noFill/>
          <a:ln w="0">
            <a:noFill/>
          </a:ln>
        </p:spPr>
        <p:txBody>
          <a:bodyPr wrap="square" lIns="0" tIns="0" rIns="0" bIns="0">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6,2; 6,8 a 7,0 patří sem</a:t>
            </a:r>
          </a:p>
        </p:txBody>
      </p:sp>
      <p:sp>
        <p:nvSpPr>
          <p:cNvPr id="16" name="Obdélník 15">
            <a:extLst>
              <a:ext uri="{FF2B5EF4-FFF2-40B4-BE49-F238E27FC236}">
                <a16:creationId xmlns:a16="http://schemas.microsoft.com/office/drawing/2014/main" id="{5C023541-1ED0-4E90-8718-2B195E84508A}"/>
              </a:ext>
            </a:extLst>
          </p:cNvPr>
          <p:cNvSpPr>
            <a:spLocks noGrp="1"/>
          </p:cNvSpPr>
          <p:nvPr/>
        </p:nvSpPr>
        <p:spPr>
          <a:xfrm>
            <a:off x="838200" y="6315075"/>
            <a:ext cx="13563600" cy="590550"/>
          </a:xfrm>
          <a:prstGeom prst="rect">
            <a:avLst/>
          </a:prstGeom>
          <a:noFill/>
          <a:ln w="0">
            <a:noFill/>
          </a:ln>
        </p:spPr>
        <p:txBody>
          <a:bodyPr wrap="square" lIns="0" tIns="0" rIns="0" bIns="0">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Šířka = 7 − 6 = 1 hodina</a:t>
            </a:r>
          </a:p>
        </p:txBody>
      </p:sp>
      <p:sp>
        <p:nvSpPr>
          <p:cNvPr id="17" name="Obdélník 16">
            <a:extLst>
              <a:ext uri="{FF2B5EF4-FFF2-40B4-BE49-F238E27FC236}">
                <a16:creationId xmlns:a16="http://schemas.microsoft.com/office/drawing/2014/main" id="{EAF86091-7C14-41AB-A7FE-7EC262B4B416}"/>
              </a:ext>
            </a:extLst>
          </p:cNvPr>
          <p:cNvSpPr>
            <a:spLocks noGrp="1"/>
          </p:cNvSpPr>
          <p:nvPr/>
        </p:nvSpPr>
        <p:spPr>
          <a:xfrm>
            <a:off x="838200" y="7248525"/>
            <a:ext cx="13563600" cy="495300"/>
          </a:xfrm>
          <a:prstGeom prst="rect">
            <a:avLst/>
          </a:prstGeom>
          <a:noFill/>
          <a:ln w="0">
            <a:noFill/>
          </a:ln>
        </p:spPr>
        <p:txBody>
          <a:bodyPr wrap="square" lIns="0" tIns="0" rIns="0" bIns="0">
            <a:noAutofit/>
          </a:bodyPr>
          <a:lstStyle/>
          <a:p>
            <a:pPr>
              <a:defRPr lang="cs-CZ" altLang="cs-CZ" sz="2100" b="0" noProof="0">
                <a:solidFill>
                  <a:srgbClr val="576574"/>
                </a:solidFill>
                <a:latin typeface="Arial"/>
                <a:ea typeface="Arial"/>
                <a:cs typeface="Arial"/>
              </a:defRPr>
            </a:pPr>
            <a:r>
              <a:rPr lang="cs-CZ" altLang="cs-CZ" sz="2100" b="0" noProof="0">
                <a:solidFill>
                  <a:srgbClr val="576574"/>
                </a:solidFill>
                <a:latin typeface="Arial"/>
                <a:ea typeface="Arial"/>
                <a:cs typeface="Arial"/>
              </a:rPr>
              <a:t>Ve cvičných datech první interval zahrne i dolní mez 4,0.</a:t>
            </a:r>
          </a:p>
        </p:txBody>
      </p:sp>
    </p:spTree>
    <p:extLst>
      <p:ext uri="{BB962C8B-B14F-4D97-AF65-F5344CB8AC3E}">
        <p14:creationId xmlns:p14="http://schemas.microsoft.com/office/powerpoint/2010/main" val="1146159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DEEC22B2-DA3F-4EA8-80C3-668760C07F11}"/>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Sloupcový a výsečový graf</a:t>
            </a:r>
            <a:endParaRPr lang="cs-CZ" altLang="cs-CZ" noProof="0"/>
          </a:p>
        </p:txBody>
      </p:sp>
      <p:sp>
        <p:nvSpPr>
          <p:cNvPr id="2" name="Obdélník 1">
            <a:extLst>
              <a:ext uri="{FF2B5EF4-FFF2-40B4-BE49-F238E27FC236}">
                <a16:creationId xmlns:a16="http://schemas.microsoft.com/office/drawing/2014/main" id="{10D54A38-00CD-40B2-86ED-1380E74FBA0C}"/>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Sloupce usnadňují porovnání kategorií.</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Výseče vyžadují části jednoho celku.</a:t>
            </a:r>
            <a:endParaRPr lang="cs-CZ" altLang="cs-CZ" noProof="0"/>
          </a:p>
        </p:txBody>
      </p:sp>
      <p:pic>
        <p:nvPicPr>
          <p:cNvPr id="8" name="Obrázek 7"/>
          <p:cNvPicPr>
            <a:picLocks noChangeAspect="1"/>
          </p:cNvPicPr>
          <p:nvPr/>
        </p:nvPicPr>
        <p:blipFill>
          <a:blip r:embed="rId3"/>
          <a:stretch/>
        </p:blipFill>
        <p:spPr>
          <a:xfrm>
            <a:off x="3709269" y="2762250"/>
            <a:ext cx="7821462" cy="4572000"/>
          </a:xfrm>
          <a:prstGeom prst="rect">
            <a:avLst/>
          </a:prstGeom>
        </p:spPr>
      </p:pic>
      <p:sp>
        <p:nvSpPr>
          <p:cNvPr id="4" name="Obdélník 3">
            <a:extLst>
              <a:ext uri="{FF2B5EF4-FFF2-40B4-BE49-F238E27FC236}">
                <a16:creationId xmlns:a16="http://schemas.microsoft.com/office/drawing/2014/main" id="{E6C581E4-962B-4545-91F0-D3D77ADCD6D2}"/>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Příklad z kapitoly: 36 modelových studentů</a:t>
            </a:r>
            <a:endParaRPr lang="cs-CZ" altLang="cs-CZ" noProof="0"/>
          </a:p>
        </p:txBody>
      </p:sp>
      <p:sp>
        <p:nvSpPr>
          <p:cNvPr id="5" name="Obdélník 4">
            <a:extLst>
              <a:ext uri="{FF2B5EF4-FFF2-40B4-BE49-F238E27FC236}">
                <a16:creationId xmlns:a16="http://schemas.microsoft.com/office/drawing/2014/main" id="{2106DE84-73F4-40ED-97DF-96055B62DAA7}"/>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10</a:t>
            </a:r>
            <a:endParaRPr lang="cs-CZ" altLang="cs-CZ" noProof="0"/>
          </a:p>
        </p:txBody>
      </p:sp>
    </p:spTree>
    <p:extLst>
      <p:ext uri="{BB962C8B-B14F-4D97-AF65-F5344CB8AC3E}">
        <p14:creationId xmlns:p14="http://schemas.microsoft.com/office/powerpoint/2010/main" val="18903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9F006DAC-FEF1-45DE-A2EF-B225D7BD7D11}"/>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dirty="0">
                <a:solidFill>
                  <a:srgbClr val="142A3B"/>
                </a:solidFill>
                <a:latin typeface="Arial"/>
                <a:ea typeface="Arial"/>
                <a:cs typeface="Arial"/>
              </a:rPr>
              <a:t>Jednotlivé hodnoty: tečky, stonek a list</a:t>
            </a:r>
            <a:endParaRPr lang="cs-CZ" altLang="cs-CZ" noProof="0" dirty="0"/>
          </a:p>
        </p:txBody>
      </p:sp>
      <p:sp>
        <p:nvSpPr>
          <p:cNvPr id="2" name="Obdélník 1">
            <a:extLst>
              <a:ext uri="{FF2B5EF4-FFF2-40B4-BE49-F238E27FC236}">
                <a16:creationId xmlns:a16="http://schemas.microsoft.com/office/drawing/2014/main" id="{85E19BAB-429E-4703-8127-FBDCE29B7359}"/>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Jedna tečka nebo jeden list = jeden údaj.</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Stonek a list potřebuje jednoznačný klíč.</a:t>
            </a:r>
            <a:endParaRPr lang="cs-CZ" altLang="cs-CZ" noProof="0"/>
          </a:p>
        </p:txBody>
      </p:sp>
      <p:pic>
        <p:nvPicPr>
          <p:cNvPr id="8" name="Obrázek 7"/>
          <p:cNvPicPr>
            <a:picLocks noChangeAspect="1"/>
          </p:cNvPicPr>
          <p:nvPr/>
        </p:nvPicPr>
        <p:blipFill>
          <a:blip r:embed="rId3"/>
          <a:stretch/>
        </p:blipFill>
        <p:spPr>
          <a:xfrm>
            <a:off x="838200" y="3343275"/>
            <a:ext cx="6381750" cy="4101725"/>
          </a:xfrm>
          <a:prstGeom prst="rect">
            <a:avLst/>
          </a:prstGeom>
        </p:spPr>
      </p:pic>
      <p:sp>
        <p:nvSpPr>
          <p:cNvPr id="4" name="Obdélník 3">
            <a:extLst>
              <a:ext uri="{FF2B5EF4-FFF2-40B4-BE49-F238E27FC236}">
                <a16:creationId xmlns:a16="http://schemas.microsoft.com/office/drawing/2014/main" id="{A715AD8F-BA56-4F04-8825-0F589B127AAE}"/>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Příklad z kapitoly: 36 modelových účastníků</a:t>
            </a:r>
            <a:endParaRPr lang="cs-CZ" altLang="cs-CZ" noProof="0"/>
          </a:p>
        </p:txBody>
      </p:sp>
      <p:sp>
        <p:nvSpPr>
          <p:cNvPr id="5" name="Obdélník 4">
            <a:extLst>
              <a:ext uri="{FF2B5EF4-FFF2-40B4-BE49-F238E27FC236}">
                <a16:creationId xmlns:a16="http://schemas.microsoft.com/office/drawing/2014/main" id="{0AFD046C-BC07-4696-9D19-66E14DA9C960}"/>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11</a:t>
            </a:r>
            <a:endParaRPr lang="cs-CZ" altLang="cs-CZ" noProof="0"/>
          </a:p>
        </p:txBody>
      </p:sp>
      <p:sp>
        <p:nvSpPr>
          <p:cNvPr id="9" name="Stonek a list 1">
            <a:extLst>
              <a:ext uri="{FF2B5EF4-FFF2-40B4-BE49-F238E27FC236}">
                <a16:creationId xmlns:a16="http://schemas.microsoft.com/office/drawing/2014/main" id="{5F7CF02F-02E2-4225-8FC2-9535BC2F307A}"/>
              </a:ext>
            </a:extLst>
          </p:cNvPr>
          <p:cNvSpPr>
            <a:spLocks noGrp="1"/>
          </p:cNvSpPr>
          <p:nvPr/>
        </p:nvSpPr>
        <p:spPr>
          <a:xfrm>
            <a:off x="838200" y="2867025"/>
            <a:ext cx="6477000" cy="476250"/>
          </a:xfrm>
          <a:prstGeom prst="rect">
            <a:avLst/>
          </a:prstGeom>
          <a:noFill/>
          <a:ln w="0">
            <a:noFill/>
          </a:ln>
        </p:spPr>
        <p:txBody>
          <a:bodyPr wrap="none" lIns="0" tIns="0" rIns="0" bIns="0">
            <a:noAutofit/>
          </a:bodyPr>
          <a:lstStyle/>
          <a:p>
            <a:pPr>
              <a:defRPr sz="2550" b="1" lang="cs-CZ" altLang="cs-CZ" noProof="0">
                <a:solidFill>
                  <a:srgbClr val="142A3B"/>
                </a:solidFill>
                <a:latin typeface="Arial"/>
                <a:ea typeface="Arial"/>
                <a:cs typeface="Arial"/>
              </a:defRPr>
            </a:pPr>
            <a:r>
              <a:rPr sz="2550" b="1" lang="cs-CZ" altLang="cs-CZ" noProof="0">
                <a:solidFill>
                  <a:srgbClr val="142A3B"/>
                </a:solidFill>
                <a:latin typeface="Arial"/>
                <a:ea typeface="Arial"/>
                <a:cs typeface="Arial"/>
              </a:rPr>
              <a:t>Tečkový graf</a:t>
            </a:r>
          </a:p>
        </p:txBody>
      </p:sp>
      <p:sp>
        <p:nvSpPr>
          <p:cNvPr id="10" name="Stonek a list 2">
            <a:extLst>
              <a:ext uri="{FF2B5EF4-FFF2-40B4-BE49-F238E27FC236}">
                <a16:creationId xmlns:a16="http://schemas.microsoft.com/office/drawing/2014/main" id="{CBE034B6-674A-4041-BA68-4F3880BB2804}"/>
              </a:ext>
            </a:extLst>
          </p:cNvPr>
          <p:cNvSpPr>
            <a:spLocks noGrp="1"/>
          </p:cNvSpPr>
          <p:nvPr/>
        </p:nvSpPr>
        <p:spPr>
          <a:xfrm>
            <a:off x="7810500" y="2867025"/>
            <a:ext cx="6572250" cy="476250"/>
          </a:xfrm>
          <a:prstGeom prst="rect">
            <a:avLst/>
          </a:prstGeom>
          <a:noFill/>
          <a:ln w="0">
            <a:noFill/>
          </a:ln>
        </p:spPr>
        <p:txBody>
          <a:bodyPr wrap="none" lIns="0" tIns="0" rIns="0" bIns="0">
            <a:noAutofit/>
          </a:bodyPr>
          <a:lstStyle/>
          <a:p>
            <a:pPr>
              <a:defRPr sz="2550" b="1" lang="cs-CZ" altLang="cs-CZ" noProof="0">
                <a:solidFill>
                  <a:srgbClr val="142A3B"/>
                </a:solidFill>
                <a:latin typeface="Arial"/>
                <a:ea typeface="Arial"/>
                <a:cs typeface="Arial"/>
              </a:defRPr>
            </a:pPr>
            <a:r>
              <a:rPr sz="2550" b="1" lang="cs-CZ" altLang="cs-CZ" noProof="0">
                <a:solidFill>
                  <a:srgbClr val="142A3B"/>
                </a:solidFill>
                <a:latin typeface="Arial"/>
                <a:ea typeface="Arial"/>
                <a:cs typeface="Arial"/>
              </a:rPr>
              <a:t>Stonek a list</a:t>
            </a:r>
          </a:p>
        </p:txBody>
      </p:sp>
      <p:sp>
        <p:nvSpPr>
          <p:cNvPr id="11" name="Stonek a list 3">
            <a:extLst>
              <a:ext uri="{FF2B5EF4-FFF2-40B4-BE49-F238E27FC236}">
                <a16:creationId xmlns:a16="http://schemas.microsoft.com/office/drawing/2014/main" id="{FE9B3E29-8B7B-4373-BD32-215B8E92D2F4}"/>
              </a:ext>
            </a:extLst>
          </p:cNvPr>
          <p:cNvSpPr>
            <a:spLocks noGrp="1"/>
          </p:cNvSpPr>
          <p:nvPr/>
        </p:nvSpPr>
        <p:spPr>
          <a:xfrm>
            <a:off x="7810500" y="3619500"/>
            <a:ext cx="1000125" cy="438150"/>
          </a:xfrm>
          <a:prstGeom prst="rect">
            <a:avLst/>
          </a:prstGeom>
          <a:noFill/>
          <a:ln w="0">
            <a:noFill/>
          </a:ln>
        </p:spPr>
        <p:txBody>
          <a:bodyPr wrap="none" lIns="0" tIns="0" rIns="0" bIns="0">
            <a:noAutofit/>
          </a:bodyPr>
          <a:lstStyle/>
          <a:p>
            <a:pPr>
              <a:defRPr sz="1950" b="1" lang="cs-CZ" altLang="cs-CZ" noProof="0">
                <a:solidFill>
                  <a:srgbClr val="142A3B"/>
                </a:solidFill>
                <a:latin typeface="Arial"/>
                <a:ea typeface="Arial"/>
                <a:cs typeface="Arial"/>
              </a:defRPr>
            </a:pPr>
            <a:r>
              <a:rPr sz="1950" b="1" lang="cs-CZ" altLang="cs-CZ" noProof="0">
                <a:solidFill>
                  <a:srgbClr val="142A3B"/>
                </a:solidFill>
                <a:latin typeface="Arial"/>
                <a:ea typeface="Arial"/>
                <a:cs typeface="Arial"/>
              </a:rPr>
              <a:t>Stonek</a:t>
            </a:r>
          </a:p>
        </p:txBody>
      </p:sp>
      <p:sp>
        <p:nvSpPr>
          <p:cNvPr id="12" name="Stonek a list 4">
            <a:extLst>
              <a:ext uri="{FF2B5EF4-FFF2-40B4-BE49-F238E27FC236}">
                <a16:creationId xmlns:a16="http://schemas.microsoft.com/office/drawing/2014/main" id="{517999B2-5E58-49F6-A14A-9C5225304468}"/>
              </a:ext>
            </a:extLst>
          </p:cNvPr>
          <p:cNvSpPr>
            <a:spLocks noGrp="1"/>
          </p:cNvSpPr>
          <p:nvPr/>
        </p:nvSpPr>
        <p:spPr>
          <a:xfrm>
            <a:off x="8953500" y="3619500"/>
            <a:ext cx="5429250" cy="438150"/>
          </a:xfrm>
          <a:prstGeom prst="rect">
            <a:avLst/>
          </a:prstGeom>
          <a:noFill/>
          <a:ln w="0">
            <a:noFill/>
          </a:ln>
        </p:spPr>
        <p:txBody>
          <a:bodyPr wrap="none" lIns="0" tIns="0" rIns="0" bIns="0">
            <a:noAutofit/>
          </a:bodyPr>
          <a:lstStyle/>
          <a:p>
            <a:pPr>
              <a:defRPr sz="1950" b="1" lang="cs-CZ" altLang="cs-CZ" noProof="0">
                <a:solidFill>
                  <a:srgbClr val="142A3B"/>
                </a:solidFill>
                <a:latin typeface="Arial"/>
                <a:ea typeface="Arial"/>
                <a:cs typeface="Arial"/>
              </a:defRPr>
            </a:pPr>
            <a:r>
              <a:rPr sz="1950" b="1" lang="cs-CZ" altLang="cs-CZ" noProof="0">
                <a:solidFill>
                  <a:srgbClr val="142A3B"/>
                </a:solidFill>
                <a:latin typeface="Arial"/>
                <a:ea typeface="Arial"/>
                <a:cs typeface="Arial"/>
              </a:rPr>
              <a:t>Listy</a:t>
            </a:r>
          </a:p>
        </p:txBody>
      </p:sp>
      <p:sp>
        <p:nvSpPr>
          <p:cNvPr id="13" name="Stonek a list 5">
            <a:extLst>
              <a:ext uri="{FF2B5EF4-FFF2-40B4-BE49-F238E27FC236}">
                <a16:creationId xmlns:a16="http://schemas.microsoft.com/office/drawing/2014/main" id="{F965B828-7528-488A-9D7F-5EA9951BFD62}"/>
              </a:ext>
            </a:extLst>
          </p:cNvPr>
          <p:cNvSpPr>
            <a:spLocks noGrp="1"/>
          </p:cNvSpPr>
          <p:nvPr/>
        </p:nvSpPr>
        <p:spPr>
          <a:xfrm>
            <a:off x="7981950" y="4267200"/>
            <a:ext cx="381000" cy="428625"/>
          </a:xfrm>
          <a:prstGeom prst="rect">
            <a:avLst/>
          </a:prstGeom>
          <a:noFill/>
          <a:ln w="0">
            <a:noFill/>
          </a:ln>
        </p:spPr>
        <p:txBody>
          <a:bodyPr wrap="none" lIns="0" tIns="0" rIns="0" bIns="0">
            <a:noAutofit/>
          </a:bodyPr>
          <a:lstStyle/>
          <a:p>
            <a:pPr>
              <a:defRPr sz="2250" b="0" lang="cs-CZ" altLang="cs-CZ" noProof="0">
                <a:solidFill>
                  <a:srgbClr val="142A3B"/>
                </a:solidFill>
                <a:latin typeface="Arial"/>
                <a:ea typeface="Arial"/>
                <a:cs typeface="Arial"/>
              </a:defRPr>
            </a:pPr>
            <a:r>
              <a:rPr sz="2250" b="0" lang="cs-CZ" altLang="cs-CZ" noProof="0">
                <a:solidFill>
                  <a:srgbClr val="142A3B"/>
                </a:solidFill>
                <a:latin typeface="Arial"/>
                <a:ea typeface="Arial"/>
                <a:cs typeface="Arial"/>
              </a:rPr>
              <a:t>0</a:t>
            </a:r>
          </a:p>
        </p:txBody>
      </p:sp>
      <p:sp>
        <p:nvSpPr>
          <p:cNvPr id="14" name="Stonek a list 6">
            <a:extLst>
              <a:ext uri="{FF2B5EF4-FFF2-40B4-BE49-F238E27FC236}">
                <a16:creationId xmlns:a16="http://schemas.microsoft.com/office/drawing/2014/main" id="{C01A3179-3B00-459F-B964-1D2E7852F011}"/>
              </a:ext>
            </a:extLst>
          </p:cNvPr>
          <p:cNvSpPr>
            <a:spLocks noGrp="1"/>
          </p:cNvSpPr>
          <p:nvPr/>
        </p:nvSpPr>
        <p:spPr>
          <a:xfrm>
            <a:off x="7981950" y="4953000"/>
            <a:ext cx="381000" cy="428625"/>
          </a:xfrm>
          <a:prstGeom prst="rect">
            <a:avLst/>
          </a:prstGeom>
          <a:noFill/>
          <a:ln w="0">
            <a:noFill/>
          </a:ln>
        </p:spPr>
        <p:txBody>
          <a:bodyPr wrap="none" lIns="0" tIns="0" rIns="0" bIns="0">
            <a:noAutofit/>
          </a:bodyPr>
          <a:lstStyle/>
          <a:p>
            <a:pPr>
              <a:defRPr sz="2250" b="0" lang="cs-CZ" altLang="cs-CZ" noProof="0">
                <a:solidFill>
                  <a:srgbClr val="142A3B"/>
                </a:solidFill>
                <a:latin typeface="Arial"/>
                <a:ea typeface="Arial"/>
                <a:cs typeface="Arial"/>
              </a:defRPr>
            </a:pPr>
            <a:r>
              <a:rPr sz="2250" b="0" lang="cs-CZ" altLang="cs-CZ" noProof="0">
                <a:solidFill>
                  <a:srgbClr val="142A3B"/>
                </a:solidFill>
                <a:latin typeface="Arial"/>
                <a:ea typeface="Arial"/>
                <a:cs typeface="Arial"/>
              </a:rPr>
              <a:t>1</a:t>
            </a:r>
          </a:p>
        </p:txBody>
      </p:sp>
      <p:sp>
        <p:nvSpPr>
          <p:cNvPr id="15" name="Stonek a list 7">
            <a:extLst>
              <a:ext uri="{FF2B5EF4-FFF2-40B4-BE49-F238E27FC236}">
                <a16:creationId xmlns:a16="http://schemas.microsoft.com/office/drawing/2014/main" id="{BB1928BB-1DFD-40F8-A931-AE40CA7F9FF6}"/>
              </a:ext>
            </a:extLst>
          </p:cNvPr>
          <p:cNvSpPr>
            <a:spLocks noGrp="1"/>
          </p:cNvSpPr>
          <p:nvPr/>
        </p:nvSpPr>
        <p:spPr>
          <a:xfrm>
            <a:off x="8667750" y="4286250"/>
            <a:ext cx="5753100" cy="438150"/>
          </a:xfrm>
          <a:prstGeom prst="rect">
            <a:avLst/>
          </a:prstGeom>
          <a:noFill/>
          <a:ln w="0">
            <a:noFill/>
          </a:ln>
        </p:spPr>
        <p:txBody>
          <a:bodyPr wrap="none" lIns="0" tIns="0" rIns="0" bIns="0">
            <a:noAutofit/>
          </a:bodyPr>
          <a:lstStyle/>
          <a:p>
            <a:pPr>
              <a:defRPr sz="1800" b="0" lang="cs-CZ" altLang="cs-CZ" noProof="0">
                <a:solidFill>
                  <a:srgbClr val="142A3B"/>
                </a:solidFill>
                <a:latin typeface="Arial"/>
                <a:ea typeface="Arial"/>
                <a:cs typeface="Arial"/>
              </a:defRPr>
            </a:pPr>
            <a:r>
              <a:rPr sz="1800" b="0" lang="cs-CZ" altLang="cs-CZ" noProof="0">
                <a:solidFill>
                  <a:srgbClr val="142A3B"/>
                </a:solidFill>
                <a:latin typeface="Arial"/>
                <a:ea typeface="Arial"/>
                <a:cs typeface="Arial"/>
              </a:rPr>
              <a:t>0 2 3 4 4 5 5 5 5 6 6 6 6 6 7 7 7 7 7 7 8 8 8 8 8 8 9 9 9 9</a:t>
            </a:r>
          </a:p>
        </p:txBody>
      </p:sp>
      <p:sp>
        <p:nvSpPr>
          <p:cNvPr id="16" name="Stonek a list 8">
            <a:extLst>
              <a:ext uri="{FF2B5EF4-FFF2-40B4-BE49-F238E27FC236}">
                <a16:creationId xmlns:a16="http://schemas.microsoft.com/office/drawing/2014/main" id="{3E99E822-32BB-4785-A4B1-8D1F698FE4F3}"/>
              </a:ext>
            </a:extLst>
          </p:cNvPr>
          <p:cNvSpPr>
            <a:spLocks noGrp="1"/>
          </p:cNvSpPr>
          <p:nvPr/>
        </p:nvSpPr>
        <p:spPr>
          <a:xfrm>
            <a:off x="8667750" y="4972050"/>
            <a:ext cx="5753100" cy="438150"/>
          </a:xfrm>
          <a:prstGeom prst="rect">
            <a:avLst/>
          </a:prstGeom>
          <a:noFill/>
          <a:ln w="0">
            <a:noFill/>
          </a:ln>
        </p:spPr>
        <p:txBody>
          <a:bodyPr wrap="none" lIns="0" tIns="0" rIns="0" bIns="0">
            <a:noAutofit/>
          </a:bodyPr>
          <a:lstStyle/>
          <a:p>
            <a:pPr>
              <a:defRPr sz="1800" b="0" lang="cs-CZ" altLang="cs-CZ" noProof="0">
                <a:solidFill>
                  <a:srgbClr val="142A3B"/>
                </a:solidFill>
                <a:latin typeface="Arial"/>
                <a:ea typeface="Arial"/>
                <a:cs typeface="Arial"/>
              </a:defRPr>
            </a:pPr>
            <a:r>
              <a:rPr sz="1800" b="0" lang="cs-CZ" altLang="cs-CZ" noProof="0">
                <a:solidFill>
                  <a:srgbClr val="142A3B"/>
                </a:solidFill>
                <a:latin typeface="Arial"/>
                <a:ea typeface="Arial"/>
                <a:cs typeface="Arial"/>
              </a:rPr>
              <a:t>0 0 0 1 1 2</a:t>
            </a:r>
          </a:p>
        </p:txBody>
      </p:sp>
      <p:sp>
        <p:nvSpPr>
          <p:cNvPr id="17" name="Stonek a list 9">
            <a:extLst>
              <a:ext uri="{FF2B5EF4-FFF2-40B4-BE49-F238E27FC236}">
                <a16:creationId xmlns:a16="http://schemas.microsoft.com/office/drawing/2014/main" id="{750366EE-3D50-4D2D-8FA3-EB3D8773D9DA}"/>
              </a:ext>
            </a:extLst>
          </p:cNvPr>
          <p:cNvSpPr>
            <a:spLocks noGrp="1"/>
          </p:cNvSpPr>
          <p:nvPr/>
        </p:nvSpPr>
        <p:spPr>
          <a:xfrm>
            <a:off x="8505825" y="4124325"/>
            <a:ext cx="0" cy="1285875"/>
          </a:xfrm>
          <a:prstGeom prst="line">
            <a:avLst/>
          </a:prstGeom>
          <a:ln w="19050">
            <a:solidFill>
              <a:srgbClr val="142A3B"/>
            </a:solidFill>
          </a:ln>
        </p:spPr>
      </p:sp>
      <p:sp>
        <p:nvSpPr>
          <p:cNvPr id="18" name="Stonek a list 10">
            <a:extLst>
              <a:ext uri="{FF2B5EF4-FFF2-40B4-BE49-F238E27FC236}">
                <a16:creationId xmlns:a16="http://schemas.microsoft.com/office/drawing/2014/main" id="{27A5158B-EC39-4659-882E-5B3B622E9C70}"/>
              </a:ext>
            </a:extLst>
          </p:cNvPr>
          <p:cNvSpPr>
            <a:spLocks noGrp="1"/>
          </p:cNvSpPr>
          <p:nvPr/>
        </p:nvSpPr>
        <p:spPr>
          <a:xfrm>
            <a:off x="7810500" y="5905500"/>
            <a:ext cx="6572250" cy="571500"/>
          </a:xfrm>
          <a:prstGeom prst="rect">
            <a:avLst/>
          </a:prstGeom>
          <a:noFill/>
          <a:ln w="0">
            <a:noFill/>
          </a:ln>
        </p:spPr>
        <p:txBody>
          <a:bodyPr wrap="none" lIns="0" tIns="0" rIns="0" bIns="0">
            <a:noAutofit/>
          </a:bodyPr>
          <a:lstStyle/>
          <a:p>
            <a:pPr>
              <a:defRPr sz="2400" b="1" lang="cs-CZ" altLang="cs-CZ" noProof="0">
                <a:solidFill>
                  <a:srgbClr val="176A83"/>
                </a:solidFill>
                <a:latin typeface="Arial"/>
                <a:ea typeface="Arial"/>
                <a:cs typeface="Arial"/>
              </a:defRPr>
            </a:pPr>
            <a:r>
              <a:rPr sz="2400" b="1" lang="cs-CZ" altLang="cs-CZ" noProof="0">
                <a:solidFill>
                  <a:srgbClr val="176A83"/>
                </a:solidFill>
                <a:latin typeface="Arial"/>
                <a:ea typeface="Arial"/>
                <a:cs typeface="Arial"/>
              </a:rPr>
              <a:t>Klíč: 1 | 2 = 12 slov</a:t>
            </a:r>
          </a:p>
        </p:txBody>
      </p:sp>
      <p:sp>
        <p:nvSpPr>
          <p:cNvPr id="19" name="Stonek a list 11">
            <a:extLst>
              <a:ext uri="{FF2B5EF4-FFF2-40B4-BE49-F238E27FC236}">
                <a16:creationId xmlns:a16="http://schemas.microsoft.com/office/drawing/2014/main" id="{57A363ED-3C5B-4D6C-A2F5-B5598DD96276}"/>
              </a:ext>
            </a:extLst>
          </p:cNvPr>
          <p:cNvSpPr>
            <a:spLocks noGrp="1"/>
          </p:cNvSpPr>
          <p:nvPr/>
        </p:nvSpPr>
        <p:spPr>
          <a:xfrm>
            <a:off x="7810500" y="6534150"/>
            <a:ext cx="6572250" cy="533400"/>
          </a:xfrm>
          <a:prstGeom prst="rect">
            <a:avLst/>
          </a:prstGeom>
          <a:noFill/>
          <a:ln w="0">
            <a:noFill/>
          </a:ln>
        </p:spPr>
        <p:txBody>
          <a:bodyPr wrap="none" lIns="0" tIns="0" rIns="0" bIns="0">
            <a:noAutofit/>
          </a:bodyPr>
          <a:lstStyle/>
          <a:p>
            <a:pPr>
              <a:defRPr sz="2100" b="0" lang="cs-CZ" altLang="cs-CZ" noProof="0">
                <a:solidFill>
                  <a:srgbClr val="142A3B"/>
                </a:solidFill>
                <a:latin typeface="Arial"/>
                <a:ea typeface="Arial"/>
                <a:cs typeface="Arial"/>
              </a:defRPr>
            </a:pPr>
            <a:r>
              <a:rPr sz="2100" b="0" lang="cs-CZ" altLang="cs-CZ" noProof="0">
                <a:solidFill>
                  <a:srgbClr val="142A3B"/>
                </a:solidFill>
                <a:latin typeface="Arial"/>
                <a:ea typeface="Arial"/>
                <a:cs typeface="Arial"/>
              </a:rPr>
              <a:t>Stonek = desítky, list = jednotky.</a:t>
            </a:r>
          </a:p>
        </p:txBody>
      </p:sp>
    </p:spTree>
    <p:extLst>
      <p:ext uri="{BB962C8B-B14F-4D97-AF65-F5344CB8AC3E}">
        <p14:creationId xmlns:p14="http://schemas.microsoft.com/office/powerpoint/2010/main" val="1582048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F23A84F7-38B2-44ED-B750-2940258988C8}"/>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Histogram</a:t>
            </a:r>
            <a:endParaRPr lang="cs-CZ" altLang="cs-CZ" noProof="0"/>
          </a:p>
        </p:txBody>
      </p:sp>
      <p:sp>
        <p:nvSpPr>
          <p:cNvPr id="2" name="Obdélník 1">
            <a:extLst>
              <a:ext uri="{FF2B5EF4-FFF2-40B4-BE49-F238E27FC236}">
                <a16:creationId xmlns:a16="http://schemas.microsoft.com/office/drawing/2014/main" id="{2ED4EFD9-26D5-4B2F-85C5-6FE1A2DE4B70}"/>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Číselná osa a navazující intervaly</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Při stejné šířce může výška vyjadřovat četnost.</a:t>
            </a:r>
            <a:endParaRPr lang="cs-CZ" altLang="cs-CZ" noProof="0"/>
          </a:p>
        </p:txBody>
      </p:sp>
      <p:pic>
        <p:nvPicPr>
          <p:cNvPr id="8" name="Obrázek 7"/>
          <p:cNvPicPr>
            <a:picLocks noChangeAspect="1"/>
          </p:cNvPicPr>
          <p:nvPr/>
        </p:nvPicPr>
        <p:blipFill>
          <a:blip r:embed="rId3"/>
          <a:stretch/>
        </p:blipFill>
        <p:spPr>
          <a:xfrm>
            <a:off x="4063281" y="2762250"/>
            <a:ext cx="7113437" cy="4572000"/>
          </a:xfrm>
          <a:prstGeom prst="rect">
            <a:avLst/>
          </a:prstGeom>
        </p:spPr>
      </p:pic>
      <p:sp>
        <p:nvSpPr>
          <p:cNvPr id="4" name="Obdélník 3">
            <a:extLst>
              <a:ext uri="{FF2B5EF4-FFF2-40B4-BE49-F238E27FC236}">
                <a16:creationId xmlns:a16="http://schemas.microsoft.com/office/drawing/2014/main" id="{00AD9FCB-8644-46FD-A55F-1C59CE0D3299}"/>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Příklad z kapitoly: 33 známých údajů, 3 chybějící</a:t>
            </a:r>
            <a:endParaRPr lang="cs-CZ" altLang="cs-CZ" noProof="0"/>
          </a:p>
        </p:txBody>
      </p:sp>
      <p:sp>
        <p:nvSpPr>
          <p:cNvPr id="5" name="Obdélník 4">
            <a:extLst>
              <a:ext uri="{FF2B5EF4-FFF2-40B4-BE49-F238E27FC236}">
                <a16:creationId xmlns:a16="http://schemas.microsoft.com/office/drawing/2014/main" id="{BDEB8D01-472D-4AB1-A186-4C7323D78871}"/>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12</a:t>
            </a:r>
            <a:endParaRPr lang="cs-CZ" altLang="cs-CZ" noProof="0"/>
          </a:p>
        </p:txBody>
      </p:sp>
    </p:spTree>
    <p:extLst>
      <p:ext uri="{BB962C8B-B14F-4D97-AF65-F5344CB8AC3E}">
        <p14:creationId xmlns:p14="http://schemas.microsoft.com/office/powerpoint/2010/main" val="2025985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959FE5F4-1D53-4C19-AFE1-5CA31A8A1B5B}"/>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Šířka intervalů a obraz dat</a:t>
            </a:r>
            <a:endParaRPr lang="cs-CZ" altLang="cs-CZ" noProof="0"/>
          </a:p>
        </p:txBody>
      </p:sp>
      <p:sp>
        <p:nvSpPr>
          <p:cNvPr id="2" name="Obdélník 1">
            <a:extLst>
              <a:ext uri="{FF2B5EF4-FFF2-40B4-BE49-F238E27FC236}">
                <a16:creationId xmlns:a16="http://schemas.microsoft.com/office/drawing/2014/main" id="{DC1F78F9-7206-4470-91B4-29DDC2120E52}"/>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Stejné údaje, jiné seskupení</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Úzké intervaly ukazují detail, široké jej slučují.</a:t>
            </a:r>
            <a:endParaRPr lang="cs-CZ" altLang="cs-CZ" noProof="0"/>
          </a:p>
        </p:txBody>
      </p:sp>
      <p:pic>
        <p:nvPicPr>
          <p:cNvPr id="8" name="Obrázek 7"/>
          <p:cNvPicPr>
            <a:picLocks noChangeAspect="1"/>
          </p:cNvPicPr>
          <p:nvPr/>
        </p:nvPicPr>
        <p:blipFill>
          <a:blip r:embed="rId3"/>
          <a:stretch/>
        </p:blipFill>
        <p:spPr>
          <a:xfrm>
            <a:off x="2937318" y="2762250"/>
            <a:ext cx="9365363" cy="4572000"/>
          </a:xfrm>
          <a:prstGeom prst="rect">
            <a:avLst/>
          </a:prstGeom>
        </p:spPr>
      </p:pic>
      <p:sp>
        <p:nvSpPr>
          <p:cNvPr id="4" name="Obdélník 3">
            <a:extLst>
              <a:ext uri="{FF2B5EF4-FFF2-40B4-BE49-F238E27FC236}">
                <a16:creationId xmlns:a16="http://schemas.microsoft.com/office/drawing/2014/main" id="{39C6CE7E-5DA1-4B00-A903-B673414C6C60}"/>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Stejný modelový soubor: 33 známých dob spánku</a:t>
            </a:r>
            <a:endParaRPr lang="cs-CZ" altLang="cs-CZ" noProof="0"/>
          </a:p>
        </p:txBody>
      </p:sp>
      <p:sp>
        <p:nvSpPr>
          <p:cNvPr id="5" name="Obdélník 4">
            <a:extLst>
              <a:ext uri="{FF2B5EF4-FFF2-40B4-BE49-F238E27FC236}">
                <a16:creationId xmlns:a16="http://schemas.microsoft.com/office/drawing/2014/main" id="{DAD15477-2F33-4D7E-BB02-D2243930E706}"/>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13</a:t>
            </a:r>
            <a:endParaRPr lang="cs-CZ" altLang="cs-CZ" noProof="0"/>
          </a:p>
        </p:txBody>
      </p:sp>
    </p:spTree>
    <p:extLst>
      <p:ext uri="{BB962C8B-B14F-4D97-AF65-F5344CB8AC3E}">
        <p14:creationId xmlns:p14="http://schemas.microsoft.com/office/powerpoint/2010/main" val="855335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FE9ED79D-345D-4178-8241-6B359B6B8CA7}"/>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Kumulativní graf jednotlivých hodnot</a:t>
            </a:r>
            <a:endParaRPr lang="cs-CZ" altLang="cs-CZ" noProof="0"/>
          </a:p>
        </p:txBody>
      </p:sp>
      <p:sp>
        <p:nvSpPr>
          <p:cNvPr id="2" name="Obdélník 1">
            <a:extLst>
              <a:ext uri="{FF2B5EF4-FFF2-40B4-BE49-F238E27FC236}">
                <a16:creationId xmlns:a16="http://schemas.microsoft.com/office/drawing/2014/main" id="{D51205E8-2524-4ED0-9212-C7A91F7718BA}"/>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„Nejvýše daný počet slov“</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Graf neklesá. Velikost skoku odpovídá četnosti hodnoty.</a:t>
            </a:r>
            <a:endParaRPr lang="cs-CZ" altLang="cs-CZ" noProof="0"/>
          </a:p>
        </p:txBody>
      </p:sp>
      <p:pic>
        <p:nvPicPr>
          <p:cNvPr id="8" name="Obrázek 7"/>
          <p:cNvPicPr>
            <a:picLocks noChangeAspect="1"/>
          </p:cNvPicPr>
          <p:nvPr/>
        </p:nvPicPr>
        <p:blipFill>
          <a:blip r:embed="rId3"/>
          <a:stretch/>
        </p:blipFill>
        <p:spPr>
          <a:xfrm>
            <a:off x="4063281" y="2762250"/>
            <a:ext cx="7113437" cy="4572000"/>
          </a:xfrm>
          <a:prstGeom prst="rect">
            <a:avLst/>
          </a:prstGeom>
        </p:spPr>
      </p:pic>
      <p:sp>
        <p:nvSpPr>
          <p:cNvPr id="4" name="Obdélník 3">
            <a:extLst>
              <a:ext uri="{FF2B5EF4-FFF2-40B4-BE49-F238E27FC236}">
                <a16:creationId xmlns:a16="http://schemas.microsoft.com/office/drawing/2014/main" id="{7FBAFC49-31D6-4E9F-82B9-BBAE1A6A05D9}"/>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Příklad z kapitoly: 36 známých výsledků paměťové úlohy</a:t>
            </a:r>
            <a:endParaRPr lang="cs-CZ" altLang="cs-CZ" noProof="0"/>
          </a:p>
        </p:txBody>
      </p:sp>
      <p:sp>
        <p:nvSpPr>
          <p:cNvPr id="5" name="Obdélník 4">
            <a:extLst>
              <a:ext uri="{FF2B5EF4-FFF2-40B4-BE49-F238E27FC236}">
                <a16:creationId xmlns:a16="http://schemas.microsoft.com/office/drawing/2014/main" id="{2BAF39AE-5E08-4275-8046-0324F88169E8}"/>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14</a:t>
            </a:r>
            <a:endParaRPr lang="cs-CZ" altLang="cs-CZ" noProof="0"/>
          </a:p>
        </p:txBody>
      </p:sp>
    </p:spTree>
    <p:extLst>
      <p:ext uri="{BB962C8B-B14F-4D97-AF65-F5344CB8AC3E}">
        <p14:creationId xmlns:p14="http://schemas.microsoft.com/office/powerpoint/2010/main" val="192253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02905D88-C1BF-4806-8FD5-4467B537D130}"/>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Kumulativní graf intervalů</a:t>
            </a:r>
            <a:endParaRPr lang="cs-CZ" altLang="cs-CZ" noProof="0"/>
          </a:p>
        </p:txBody>
      </p:sp>
      <p:sp>
        <p:nvSpPr>
          <p:cNvPr id="2" name="Obdélník 1">
            <a:extLst>
              <a:ext uri="{FF2B5EF4-FFF2-40B4-BE49-F238E27FC236}">
                <a16:creationId xmlns:a16="http://schemas.microsoft.com/office/drawing/2014/main" id="{89668FC5-9EBA-41A0-8F95-66C39C32F7D6}"/>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Body leží na horních mezích intervalů.</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Zahrnují i mez: „nejvýše tolik hodin“.</a:t>
            </a:r>
            <a:endParaRPr lang="cs-CZ" altLang="cs-CZ" noProof="0"/>
          </a:p>
        </p:txBody>
      </p:sp>
      <p:pic>
        <p:nvPicPr>
          <p:cNvPr id="8" name="Obrázek 7"/>
          <p:cNvPicPr>
            <a:picLocks noChangeAspect="1"/>
          </p:cNvPicPr>
          <p:nvPr/>
        </p:nvPicPr>
        <p:blipFill>
          <a:blip r:embed="rId3"/>
          <a:stretch/>
        </p:blipFill>
        <p:spPr>
          <a:xfrm>
            <a:off x="3946370" y="2762250"/>
            <a:ext cx="7347261" cy="4572000"/>
          </a:xfrm>
          <a:prstGeom prst="rect">
            <a:avLst/>
          </a:prstGeom>
        </p:spPr>
      </p:pic>
      <p:sp>
        <p:nvSpPr>
          <p:cNvPr id="4" name="Obdélník 3">
            <a:extLst>
              <a:ext uri="{FF2B5EF4-FFF2-40B4-BE49-F238E27FC236}">
                <a16:creationId xmlns:a16="http://schemas.microsoft.com/office/drawing/2014/main" id="{86D110D6-1F94-43CD-A97E-43501CBD32A2}"/>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Příklad z kapitoly: 33 známých dob spánku</a:t>
            </a:r>
            <a:endParaRPr lang="cs-CZ" altLang="cs-CZ" noProof="0"/>
          </a:p>
        </p:txBody>
      </p:sp>
      <p:sp>
        <p:nvSpPr>
          <p:cNvPr id="5" name="Obdélník 4">
            <a:extLst>
              <a:ext uri="{FF2B5EF4-FFF2-40B4-BE49-F238E27FC236}">
                <a16:creationId xmlns:a16="http://schemas.microsoft.com/office/drawing/2014/main" id="{D05E338D-B93B-4A05-AD91-12F9C03E1775}"/>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15</a:t>
            </a:r>
            <a:endParaRPr lang="cs-CZ" altLang="cs-CZ" noProof="0"/>
          </a:p>
        </p:txBody>
      </p:sp>
    </p:spTree>
    <p:extLst>
      <p:ext uri="{BB962C8B-B14F-4D97-AF65-F5344CB8AC3E}">
        <p14:creationId xmlns:p14="http://schemas.microsoft.com/office/powerpoint/2010/main" val="49609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6D5726B1-4BCB-48AD-B867-51C1D9D78CA3}"/>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dirty="0">
                <a:solidFill>
                  <a:srgbClr val="142A3B"/>
                </a:solidFill>
                <a:latin typeface="Arial"/>
                <a:ea typeface="Arial"/>
                <a:cs typeface="Arial"/>
              </a:rPr>
              <a:t>Polygon četností</a:t>
            </a:r>
            <a:endParaRPr lang="cs-CZ" altLang="cs-CZ" noProof="0" dirty="0"/>
          </a:p>
        </p:txBody>
      </p:sp>
      <p:sp>
        <p:nvSpPr>
          <p:cNvPr id="2" name="Obdélník 1">
            <a:extLst>
              <a:ext uri="{FF2B5EF4-FFF2-40B4-BE49-F238E27FC236}">
                <a16:creationId xmlns:a16="http://schemas.microsoft.com/office/drawing/2014/main" id="{33A02D5C-7452-4D53-BB47-7D39AA2AA431}"/>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Body leží nad středy intervalů.</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Stejné intervaly a měřítko umožňují porovnání.</a:t>
            </a:r>
            <a:endParaRPr lang="cs-CZ" altLang="cs-CZ" noProof="0"/>
          </a:p>
        </p:txBody>
      </p:sp>
      <p:pic>
        <p:nvPicPr>
          <p:cNvPr id="8" name="Obrázek 7"/>
          <p:cNvPicPr>
            <a:picLocks noChangeAspect="1"/>
          </p:cNvPicPr>
          <p:nvPr/>
        </p:nvPicPr>
        <p:blipFill>
          <a:blip r:embed="rId3"/>
          <a:stretch/>
        </p:blipFill>
        <p:spPr>
          <a:xfrm>
            <a:off x="4063281" y="2762250"/>
            <a:ext cx="7113437" cy="4572000"/>
          </a:xfrm>
          <a:prstGeom prst="rect">
            <a:avLst/>
          </a:prstGeom>
        </p:spPr>
      </p:pic>
      <p:sp>
        <p:nvSpPr>
          <p:cNvPr id="4" name="Obdélník 3">
            <a:extLst>
              <a:ext uri="{FF2B5EF4-FFF2-40B4-BE49-F238E27FC236}">
                <a16:creationId xmlns:a16="http://schemas.microsoft.com/office/drawing/2014/main" id="{18B5788C-8AAC-43F6-B9D1-6B5A10C437A2}"/>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dirty="0">
                <a:solidFill>
                  <a:srgbClr val="576574"/>
                </a:solidFill>
                <a:latin typeface="Arial"/>
                <a:ea typeface="Arial"/>
                <a:cs typeface="Arial"/>
              </a:rPr>
              <a:t>Příklad z kapitoly: stejné četnosti jako v histogramu</a:t>
            </a:r>
            <a:endParaRPr lang="cs-CZ" altLang="cs-CZ" noProof="0" dirty="0"/>
          </a:p>
        </p:txBody>
      </p:sp>
      <p:sp>
        <p:nvSpPr>
          <p:cNvPr id="5" name="Obdélník 4">
            <a:extLst>
              <a:ext uri="{FF2B5EF4-FFF2-40B4-BE49-F238E27FC236}">
                <a16:creationId xmlns:a16="http://schemas.microsoft.com/office/drawing/2014/main" id="{97D6787B-6AC4-4544-BA20-5E2541C492B1}"/>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16</a:t>
            </a:r>
            <a:endParaRPr lang="cs-CZ" altLang="cs-CZ" noProof="0"/>
          </a:p>
        </p:txBody>
      </p:sp>
    </p:spTree>
    <p:extLst>
      <p:ext uri="{BB962C8B-B14F-4D97-AF65-F5344CB8AC3E}">
        <p14:creationId xmlns:p14="http://schemas.microsoft.com/office/powerpoint/2010/main" val="1489100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11C01835-D95A-46DC-A80D-843D9125EA76}"/>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Tvar rozdělení</a:t>
            </a:r>
            <a:endParaRPr lang="cs-CZ" altLang="cs-CZ" noProof="0"/>
          </a:p>
        </p:txBody>
      </p:sp>
      <p:sp>
        <p:nvSpPr>
          <p:cNvPr id="2" name="Obdélník 1">
            <a:extLst>
              <a:ext uri="{FF2B5EF4-FFF2-40B4-BE49-F238E27FC236}">
                <a16:creationId xmlns:a16="http://schemas.microsoft.com/office/drawing/2014/main" id="{6F5C3137-581E-4BBC-B572-47D6D642D8A9}"/>
              </a:ext>
            </a:extLst>
          </p:cNvPr>
          <p:cNvSpPr>
            <a:spLocks noGrp="1"/>
          </p:cNvSpPr>
          <p:nvPr/>
        </p:nvSpPr>
        <p:spPr>
          <a:xfrm>
            <a:off x="838200" y="1733550"/>
            <a:ext cx="13563600" cy="933450"/>
          </a:xfrm>
          <a:prstGeom prst="rect">
            <a:avLst/>
          </a:prstGeom>
          <a:noFill/>
          <a:ln w="0">
            <a:noFill/>
          </a:ln>
        </p:spPr>
        <p:txBody>
          <a:bodyPr wrap="square" lIns="0" tIns="0" rIns="0" bIns="0" anchor="t">
            <a:noAutofit/>
          </a:bodyPr>
          <a:lstStyle/>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Soustředění, šíře, souměrnost, chvosty a vrcholy</a:t>
            </a:r>
            <a:endParaRPr lang="cs-CZ" altLang="cs-CZ" noProof="0"/>
          </a:p>
          <a:p>
            <a:pPr>
              <a:defRPr lang="cs-CZ" altLang="cs-CZ" sz="2325" b="0" noProof="0">
                <a:solidFill>
                  <a:srgbClr val="176A83"/>
                </a:solidFill>
                <a:latin typeface="Arial"/>
                <a:ea typeface="Arial"/>
                <a:cs typeface="Arial"/>
              </a:defRPr>
            </a:pPr>
            <a:r>
              <a:rPr lang="cs-CZ" altLang="cs-CZ" sz="2325" b="0" noProof="0">
                <a:solidFill>
                  <a:srgbClr val="176A83"/>
                </a:solidFill>
                <a:latin typeface="Arial"/>
                <a:ea typeface="Arial"/>
                <a:cs typeface="Arial"/>
              </a:rPr>
              <a:t>Směr zešikmení určuje delší chvost.</a:t>
            </a:r>
            <a:endParaRPr lang="cs-CZ" altLang="cs-CZ" noProof="0"/>
          </a:p>
        </p:txBody>
      </p:sp>
      <p:pic>
        <p:nvPicPr>
          <p:cNvPr id="8" name="Obrázek 7"/>
          <p:cNvPicPr>
            <a:picLocks noChangeAspect="1"/>
          </p:cNvPicPr>
          <p:nvPr/>
        </p:nvPicPr>
        <p:blipFill>
          <a:blip r:embed="rId3"/>
          <a:stretch/>
        </p:blipFill>
        <p:spPr>
          <a:xfrm>
            <a:off x="4068305" y="2762250"/>
            <a:ext cx="7103390" cy="4572000"/>
          </a:xfrm>
          <a:prstGeom prst="rect">
            <a:avLst/>
          </a:prstGeom>
        </p:spPr>
      </p:pic>
      <p:sp>
        <p:nvSpPr>
          <p:cNvPr id="4" name="Obdélník 3">
            <a:extLst>
              <a:ext uri="{FF2B5EF4-FFF2-40B4-BE49-F238E27FC236}">
                <a16:creationId xmlns:a16="http://schemas.microsoft.com/office/drawing/2014/main" id="{D5E280C0-9A94-45A7-BDCE-8E2CCBD4FDBD}"/>
              </a:ext>
            </a:extLst>
          </p:cNvPr>
          <p:cNvSpPr>
            <a:spLocks noGrp="1"/>
          </p:cNvSpPr>
          <p:nvPr/>
        </p:nvSpPr>
        <p:spPr>
          <a:xfrm>
            <a:off x="838200" y="7515225"/>
            <a:ext cx="12858750" cy="323850"/>
          </a:xfrm>
          <a:prstGeom prst="rect">
            <a:avLst/>
          </a:prstGeom>
          <a:noFill/>
          <a:ln w="0">
            <a:noFill/>
          </a:ln>
        </p:spPr>
        <p:txBody>
          <a:bodyPr wrap="square" lIns="0" tIns="0" rIns="0" bIns="0" anchor="t">
            <a:noAutofit/>
          </a:bodyPr>
          <a:lstStyle/>
          <a:p>
            <a:pPr>
              <a:defRPr lang="cs-CZ" altLang="cs-CZ" sz="1650" b="0" noProof="0">
                <a:solidFill>
                  <a:srgbClr val="576574"/>
                </a:solidFill>
                <a:latin typeface="Arial"/>
                <a:ea typeface="Arial"/>
                <a:cs typeface="Arial"/>
              </a:defRPr>
            </a:pPr>
            <a:r>
              <a:rPr lang="cs-CZ" altLang="cs-CZ" sz="1650" b="0" noProof="0">
                <a:solidFill>
                  <a:srgbClr val="576574"/>
                </a:solidFill>
                <a:latin typeface="Arial"/>
                <a:ea typeface="Arial"/>
                <a:cs typeface="Arial"/>
              </a:rPr>
              <a:t>Záměrně sestavené schematické příklady z kapitoly</a:t>
            </a:r>
            <a:endParaRPr lang="cs-CZ" altLang="cs-CZ" noProof="0"/>
          </a:p>
        </p:txBody>
      </p:sp>
      <p:sp>
        <p:nvSpPr>
          <p:cNvPr id="5" name="Obdélník 4">
            <a:extLst>
              <a:ext uri="{FF2B5EF4-FFF2-40B4-BE49-F238E27FC236}">
                <a16:creationId xmlns:a16="http://schemas.microsoft.com/office/drawing/2014/main" id="{A494EFB5-7CF0-40FC-AE8D-86AE59BCA173}"/>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17</a:t>
            </a:r>
            <a:endParaRPr lang="cs-CZ" altLang="cs-CZ" noProof="0"/>
          </a:p>
        </p:txBody>
      </p:sp>
    </p:spTree>
    <p:extLst>
      <p:ext uri="{BB962C8B-B14F-4D97-AF65-F5344CB8AC3E}">
        <p14:creationId xmlns:p14="http://schemas.microsoft.com/office/powerpoint/2010/main" val="2039323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2C0BA93D-4151-4910-A1C5-8BB5B81A0D5A}"/>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Odlehlá pozorování</a:t>
            </a:r>
          </a:p>
        </p:txBody>
      </p:sp>
      <p:sp>
        <p:nvSpPr>
          <p:cNvPr id="2" name="page">
            <a:extLst>
              <a:ext uri="{FF2B5EF4-FFF2-40B4-BE49-F238E27FC236}">
                <a16:creationId xmlns:a16="http://schemas.microsoft.com/office/drawing/2014/main" id="{11BAF88A-6316-4C27-9808-22D3B72380C7}"/>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18</a:t>
            </a:r>
          </a:p>
        </p:txBody>
      </p:sp>
      <p:sp>
        <p:nvSpPr>
          <p:cNvPr id="3" name="Obdélník 2">
            <a:extLst>
              <a:ext uri="{FF2B5EF4-FFF2-40B4-BE49-F238E27FC236}">
                <a16:creationId xmlns:a16="http://schemas.microsoft.com/office/drawing/2014/main" id="{F880DE97-E9CC-4571-BDCA-F9BE2015FDD1}"/>
              </a:ext>
            </a:extLst>
          </p:cNvPr>
          <p:cNvSpPr>
            <a:spLocks noGrp="1"/>
          </p:cNvSpPr>
          <p:nvPr/>
        </p:nvSpPr>
        <p:spPr>
          <a:xfrm>
            <a:off x="838200" y="2047875"/>
            <a:ext cx="13563600" cy="1047750"/>
          </a:xfrm>
          <a:prstGeom prst="rect">
            <a:avLst/>
          </a:prstGeom>
          <a:noFill/>
          <a:ln w="0">
            <a:noFill/>
          </a:ln>
        </p:spPr>
        <p:txBody>
          <a:bodyPr wrap="square" lIns="0" tIns="0" rIns="0" bIns="0">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Neobvyklý údaj vyžaduje kontrolu kontextu.</a:t>
            </a:r>
          </a:p>
        </p:txBody>
      </p:sp>
      <p:sp>
        <p:nvSpPr>
          <p:cNvPr id="4" name="Obdélník 3">
            <a:extLst>
              <a:ext uri="{FF2B5EF4-FFF2-40B4-BE49-F238E27FC236}">
                <a16:creationId xmlns:a16="http://schemas.microsoft.com/office/drawing/2014/main" id="{7AE294C2-A740-49CB-B1ED-604C22CEB72B}"/>
              </a:ext>
            </a:extLst>
          </p:cNvPr>
          <p:cNvSpPr>
            <a:spLocks noGrp="1"/>
          </p:cNvSpPr>
          <p:nvPr/>
        </p:nvSpPr>
        <p:spPr>
          <a:xfrm>
            <a:off x="838200" y="3524250"/>
            <a:ext cx="13563600" cy="1047750"/>
          </a:xfrm>
          <a:prstGeom prst="rect">
            <a:avLst/>
          </a:prstGeom>
          <a:noFill/>
          <a:ln w="0">
            <a:noFill/>
          </a:ln>
        </p:spPr>
        <p:txBody>
          <a:bodyPr wrap="square" lIns="0" tIns="0" rIns="0" bIns="0">
            <a:noAutofit/>
          </a:bodyPr>
          <a:lstStyle/>
          <a:p>
            <a:pPr>
              <a:defRPr lang="cs-CZ" altLang="cs-CZ" sz="2700" b="0" noProof="0">
                <a:solidFill>
                  <a:srgbClr val="142A3B"/>
                </a:solidFill>
                <a:latin typeface="Arial"/>
                <a:ea typeface="Arial"/>
                <a:cs typeface="Arial"/>
              </a:defRPr>
            </a:pPr>
            <a:r>
              <a:rPr lang="cs-CZ" altLang="cs-CZ" sz="2700" b="0" noProof="0">
                <a:solidFill>
                  <a:srgbClr val="142A3B"/>
                </a:solidFill>
                <a:latin typeface="Arial"/>
                <a:ea typeface="Arial"/>
                <a:cs typeface="Arial"/>
              </a:rPr>
              <a:t>Prověříme původní záznam a podmínky měření.</a:t>
            </a:r>
          </a:p>
        </p:txBody>
      </p:sp>
      <p:sp>
        <p:nvSpPr>
          <p:cNvPr id="5" name="Obdélník 4">
            <a:extLst>
              <a:ext uri="{FF2B5EF4-FFF2-40B4-BE49-F238E27FC236}">
                <a16:creationId xmlns:a16="http://schemas.microsoft.com/office/drawing/2014/main" id="{C0A71266-EFE0-4BBD-BE89-30B0F7722A30}"/>
              </a:ext>
            </a:extLst>
          </p:cNvPr>
          <p:cNvSpPr>
            <a:spLocks noGrp="1"/>
          </p:cNvSpPr>
          <p:nvPr/>
        </p:nvSpPr>
        <p:spPr>
          <a:xfrm>
            <a:off x="838200" y="5000625"/>
            <a:ext cx="13563600" cy="1047750"/>
          </a:xfrm>
          <a:prstGeom prst="rect">
            <a:avLst/>
          </a:prstGeom>
          <a:noFill/>
          <a:ln w="0">
            <a:noFill/>
          </a:ln>
        </p:spPr>
        <p:txBody>
          <a:bodyPr wrap="square" lIns="0" tIns="0" rIns="0" bIns="0">
            <a:noAutofit/>
          </a:bodyPr>
          <a:lstStyle/>
          <a:p>
            <a:pPr>
              <a:defRPr lang="cs-CZ" altLang="cs-CZ" sz="2700" b="0" noProof="0">
                <a:solidFill>
                  <a:srgbClr val="142A3B"/>
                </a:solidFill>
                <a:latin typeface="Arial"/>
                <a:ea typeface="Arial"/>
                <a:cs typeface="Arial"/>
              </a:defRPr>
            </a:pPr>
            <a:r>
              <a:rPr lang="cs-CZ" altLang="cs-CZ" sz="2700" b="0" noProof="0">
                <a:solidFill>
                  <a:srgbClr val="142A3B"/>
                </a:solidFill>
                <a:latin typeface="Arial"/>
                <a:ea typeface="Arial"/>
                <a:cs typeface="Arial"/>
              </a:rPr>
              <a:t>Prokazatelnou chybu opravíme, pokud je to možné.</a:t>
            </a:r>
          </a:p>
        </p:txBody>
      </p:sp>
      <p:sp>
        <p:nvSpPr>
          <p:cNvPr id="6" name="Obdélník 5">
            <a:extLst>
              <a:ext uri="{FF2B5EF4-FFF2-40B4-BE49-F238E27FC236}">
                <a16:creationId xmlns:a16="http://schemas.microsoft.com/office/drawing/2014/main" id="{BF7B29E3-93F7-41BC-8489-B6077B83F59D}"/>
              </a:ext>
            </a:extLst>
          </p:cNvPr>
          <p:cNvSpPr>
            <a:spLocks noGrp="1"/>
          </p:cNvSpPr>
          <p:nvPr/>
        </p:nvSpPr>
        <p:spPr>
          <a:xfrm>
            <a:off x="838200" y="6477000"/>
            <a:ext cx="13563600" cy="1047750"/>
          </a:xfrm>
          <a:prstGeom prst="rect">
            <a:avLst/>
          </a:prstGeom>
          <a:noFill/>
          <a:ln w="0">
            <a:noFill/>
          </a:ln>
        </p:spPr>
        <p:txBody>
          <a:bodyPr wrap="square" lIns="0" tIns="0" rIns="0" bIns="0">
            <a:noAutofit/>
          </a:bodyPr>
          <a:lstStyle/>
          <a:p>
            <a:pPr>
              <a:defRPr lang="cs-CZ" altLang="cs-CZ" sz="2700" b="0" noProof="0">
                <a:solidFill>
                  <a:srgbClr val="142A3B"/>
                </a:solidFill>
                <a:latin typeface="Arial"/>
                <a:ea typeface="Arial"/>
                <a:cs typeface="Arial"/>
              </a:defRPr>
            </a:pPr>
            <a:r>
              <a:rPr lang="cs-CZ" altLang="cs-CZ" sz="2700" b="0" noProof="0">
                <a:solidFill>
                  <a:srgbClr val="142A3B"/>
                </a:solidFill>
                <a:latin typeface="Arial"/>
                <a:ea typeface="Arial"/>
                <a:cs typeface="Arial"/>
              </a:rPr>
              <a:t>Samotná vzdálenost od ostatních nestačí k vyřazení.</a:t>
            </a:r>
          </a:p>
        </p:txBody>
      </p:sp>
    </p:spTree>
    <p:extLst>
      <p:ext uri="{BB962C8B-B14F-4D97-AF65-F5344CB8AC3E}">
        <p14:creationId xmlns:p14="http://schemas.microsoft.com/office/powerpoint/2010/main" val="354718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541CBDFC-0783-48EC-8467-C8F8178D96D1}"/>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Efekt podlahy a stropu</a:t>
            </a:r>
          </a:p>
        </p:txBody>
      </p:sp>
      <p:sp>
        <p:nvSpPr>
          <p:cNvPr id="2" name="page">
            <a:extLst>
              <a:ext uri="{FF2B5EF4-FFF2-40B4-BE49-F238E27FC236}">
                <a16:creationId xmlns:a16="http://schemas.microsoft.com/office/drawing/2014/main" id="{4D76DAFD-2B5D-4969-99C8-99324DCFA113}"/>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19</a:t>
            </a:r>
          </a:p>
        </p:txBody>
      </p:sp>
      <p:sp>
        <p:nvSpPr>
          <p:cNvPr id="3" name="Obdélník 2">
            <a:extLst>
              <a:ext uri="{FF2B5EF4-FFF2-40B4-BE49-F238E27FC236}">
                <a16:creationId xmlns:a16="http://schemas.microsoft.com/office/drawing/2014/main" id="{49011B70-F4C6-4902-A97D-E3A37EFAEEB9}"/>
              </a:ext>
            </a:extLst>
          </p:cNvPr>
          <p:cNvSpPr>
            <a:spLocks noGrp="1"/>
          </p:cNvSpPr>
          <p:nvPr/>
        </p:nvSpPr>
        <p:spPr>
          <a:xfrm>
            <a:off x="838200" y="1762125"/>
            <a:ext cx="13563600" cy="742950"/>
          </a:xfrm>
          <a:prstGeom prst="rect">
            <a:avLst/>
          </a:prstGeom>
          <a:noFill/>
          <a:ln w="0">
            <a:noFill/>
          </a:ln>
        </p:spPr>
        <p:txBody>
          <a:bodyPr wrap="square" lIns="0" tIns="0" rIns="0" bIns="0">
            <a:noAutofit/>
          </a:bodyPr>
          <a:lstStyle/>
          <a:p>
            <a:pPr>
              <a:defRPr lang="cs-CZ" altLang="cs-CZ" sz="2400" b="0" noProof="0">
                <a:solidFill>
                  <a:srgbClr val="176A83"/>
                </a:solidFill>
                <a:latin typeface="Arial"/>
                <a:ea typeface="Arial"/>
                <a:cs typeface="Arial"/>
              </a:defRPr>
            </a:pPr>
            <a:r>
              <a:rPr lang="cs-CZ" altLang="cs-CZ" sz="2400" b="0" noProof="0">
                <a:solidFill>
                  <a:srgbClr val="176A83"/>
                </a:solidFill>
                <a:latin typeface="Arial"/>
                <a:ea typeface="Arial"/>
                <a:cs typeface="Arial"/>
              </a:rPr>
              <a:t>Nástroj může nedostatečně rozlišovat na krajích stupnice.</a:t>
            </a:r>
          </a:p>
        </p:txBody>
      </p:sp>
      <p:graphicFrame>
        <p:nvGraphicFramePr>
          <p:cNvPr id="10" name="Chart"/>
          <p:cNvGraphicFramePr/>
          <p:nvPr/>
        </p:nvGraphicFramePr>
        <p:xfrm>
          <a:off x="838200" y="2714625"/>
          <a:ext cx="6515100" cy="4343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p:cNvGraphicFramePr/>
          <p:nvPr/>
        </p:nvGraphicFramePr>
        <p:xfrm>
          <a:off x="7886700" y="2714625"/>
          <a:ext cx="65151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6" name="Obdélník 5">
            <a:extLst>
              <a:ext uri="{FF2B5EF4-FFF2-40B4-BE49-F238E27FC236}">
                <a16:creationId xmlns:a16="http://schemas.microsoft.com/office/drawing/2014/main" id="{96D79F46-6983-4398-9FD2-9A1CD53F5B9C}"/>
              </a:ext>
            </a:extLst>
          </p:cNvPr>
          <p:cNvSpPr>
            <a:spLocks noGrp="1"/>
          </p:cNvSpPr>
          <p:nvPr/>
        </p:nvSpPr>
        <p:spPr>
          <a:xfrm>
            <a:off x="838200" y="7286625"/>
            <a:ext cx="13563600" cy="619125"/>
          </a:xfrm>
          <a:prstGeom prst="rect">
            <a:avLst/>
          </a:prstGeom>
          <a:noFill/>
          <a:ln w="0">
            <a:noFill/>
          </a:ln>
        </p:spPr>
        <p:txBody>
          <a:bodyPr wrap="square" lIns="0" tIns="0" rIns="0" bIns="0">
            <a:noAutofit/>
          </a:bodyPr>
          <a:lstStyle/>
          <a:p>
            <a:pPr>
              <a:defRPr lang="cs-CZ" altLang="cs-CZ" sz="2100" b="0" noProof="0">
                <a:solidFill>
                  <a:srgbClr val="176A83"/>
                </a:solidFill>
                <a:latin typeface="Arial"/>
                <a:ea typeface="Arial"/>
                <a:cs typeface="Arial"/>
              </a:defRPr>
            </a:pPr>
            <a:r>
              <a:rPr lang="cs-CZ" altLang="cs-CZ" sz="2100" b="0" noProof="0">
                <a:solidFill>
                  <a:srgbClr val="176A83"/>
                </a:solidFill>
                <a:latin typeface="Arial"/>
                <a:ea typeface="Arial"/>
                <a:cs typeface="Arial"/>
              </a:rPr>
              <a:t>Samotné hromadění u minima či maxima tento efekt nedokazuje.</a:t>
            </a:r>
          </a:p>
        </p:txBody>
      </p:sp>
    </p:spTree>
    <p:extLst>
      <p:ext uri="{BB962C8B-B14F-4D97-AF65-F5344CB8AC3E}">
        <p14:creationId xmlns:p14="http://schemas.microsoft.com/office/powerpoint/2010/main" val="1961907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4A358862-22E9-4344-BF42-D2DC1E3D4192}"/>
              </a:ext>
            </a:extLst>
          </p:cNvPr>
          <p:cNvSpPr>
            <a:spLocks noGrp="1"/>
          </p:cNvSpPr>
          <p:nvPr/>
        </p:nvSpPr>
        <p:spPr>
          <a:xfrm>
            <a:off x="838200" y="571500"/>
            <a:ext cx="13563600" cy="1104900"/>
          </a:xfrm>
          <a:prstGeom prst="rect">
            <a:avLst/>
          </a:prstGeom>
          <a:noFill/>
          <a:ln w="0">
            <a:noFill/>
          </a:ln>
        </p:spPr>
        <p:txBody>
          <a:bodyPr wrap="square" lIns="0" tIns="0" rIns="0" bIns="0">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Zavádějící grafické porovnání</a:t>
            </a:r>
          </a:p>
        </p:txBody>
      </p:sp>
      <p:sp>
        <p:nvSpPr>
          <p:cNvPr id="2" name="page">
            <a:extLst>
              <a:ext uri="{FF2B5EF4-FFF2-40B4-BE49-F238E27FC236}">
                <a16:creationId xmlns:a16="http://schemas.microsoft.com/office/drawing/2014/main" id="{9E01E70D-1026-4F75-8B64-D313E7BF8278}"/>
              </a:ext>
            </a:extLst>
          </p:cNvPr>
          <p:cNvSpPr>
            <a:spLocks noGrp="1"/>
          </p:cNvSpPr>
          <p:nvPr/>
        </p:nvSpPr>
        <p:spPr>
          <a:xfrm>
            <a:off x="13716000" y="8086725"/>
            <a:ext cx="685800" cy="304800"/>
          </a:xfrm>
          <a:prstGeom prst="rect">
            <a:avLst/>
          </a:prstGeom>
          <a:noFill/>
          <a:ln w="0">
            <a:noFill/>
          </a:ln>
        </p:spPr>
        <p:txBody>
          <a:bodyPr wrap="square" lIns="0" tIns="0" rIns="0" bIns="0">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20</a:t>
            </a:r>
          </a:p>
        </p:txBody>
      </p:sp>
      <p:sp>
        <p:nvSpPr>
          <p:cNvPr id="3" name="Obdélník 2">
            <a:extLst>
              <a:ext uri="{FF2B5EF4-FFF2-40B4-BE49-F238E27FC236}">
                <a16:creationId xmlns:a16="http://schemas.microsoft.com/office/drawing/2014/main" id="{DD66860E-5FAF-4F44-BFF7-F28A4254003F}"/>
              </a:ext>
            </a:extLst>
          </p:cNvPr>
          <p:cNvSpPr>
            <a:spLocks noGrp="1"/>
          </p:cNvSpPr>
          <p:nvPr/>
        </p:nvSpPr>
        <p:spPr>
          <a:xfrm>
            <a:off x="838200" y="1752600"/>
            <a:ext cx="13563600" cy="742950"/>
          </a:xfrm>
          <a:prstGeom prst="rect">
            <a:avLst/>
          </a:prstGeom>
          <a:noFill/>
          <a:ln w="0">
            <a:noFill/>
          </a:ln>
        </p:spPr>
        <p:txBody>
          <a:bodyPr wrap="square" lIns="0" tIns="0" rIns="0" bIns="0">
            <a:noAutofit/>
          </a:bodyPr>
          <a:lstStyle/>
          <a:p>
            <a:pPr>
              <a:defRPr lang="cs-CZ" altLang="cs-CZ" sz="2475" b="0" noProof="0">
                <a:solidFill>
                  <a:srgbClr val="176A83"/>
                </a:solidFill>
                <a:latin typeface="Arial"/>
                <a:ea typeface="Arial"/>
                <a:cs typeface="Arial"/>
              </a:defRPr>
            </a:pPr>
            <a:r>
              <a:rPr lang="cs-CZ" altLang="cs-CZ" sz="2475" b="0" noProof="0">
                <a:solidFill>
                  <a:srgbClr val="176A83"/>
                </a:solidFill>
                <a:latin typeface="Arial"/>
                <a:ea typeface="Arial"/>
                <a:cs typeface="Arial"/>
              </a:rPr>
              <a:t>Stejné hodnoty 30 a 32, jiný dojem</a:t>
            </a:r>
          </a:p>
        </p:txBody>
      </p:sp>
      <p:graphicFrame>
        <p:nvGraphicFramePr>
          <p:cNvPr id="10" name="Chart"/>
          <p:cNvGraphicFramePr/>
          <p:nvPr/>
        </p:nvGraphicFramePr>
        <p:xfrm>
          <a:off x="838200" y="2714625"/>
          <a:ext cx="6515100" cy="4343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p:cNvGraphicFramePr/>
          <p:nvPr/>
        </p:nvGraphicFramePr>
        <p:xfrm>
          <a:off x="7886700" y="2714625"/>
          <a:ext cx="65151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6" name="Obdélník 5">
            <a:extLst>
              <a:ext uri="{FF2B5EF4-FFF2-40B4-BE49-F238E27FC236}">
                <a16:creationId xmlns:a16="http://schemas.microsoft.com/office/drawing/2014/main" id="{41A38C05-558C-43C1-AC6A-82A92E28731A}"/>
              </a:ext>
            </a:extLst>
          </p:cNvPr>
          <p:cNvSpPr>
            <a:spLocks noGrp="1"/>
          </p:cNvSpPr>
          <p:nvPr/>
        </p:nvSpPr>
        <p:spPr>
          <a:xfrm>
            <a:off x="838200" y="7334250"/>
            <a:ext cx="13563600" cy="571500"/>
          </a:xfrm>
          <a:prstGeom prst="rect">
            <a:avLst/>
          </a:prstGeom>
          <a:noFill/>
          <a:ln w="0">
            <a:noFill/>
          </a:ln>
        </p:spPr>
        <p:txBody>
          <a:bodyPr wrap="square" lIns="0" tIns="0" rIns="0" bIns="0">
            <a:noAutofit/>
          </a:bodyPr>
          <a:lstStyle/>
          <a:p>
            <a:pPr>
              <a:defRPr lang="cs-CZ" altLang="cs-CZ" sz="2100" b="0" noProof="0">
                <a:solidFill>
                  <a:srgbClr val="576574"/>
                </a:solidFill>
                <a:latin typeface="Arial"/>
                <a:ea typeface="Arial"/>
                <a:cs typeface="Arial"/>
              </a:defRPr>
            </a:pPr>
            <a:r>
              <a:rPr lang="cs-CZ" altLang="cs-CZ" sz="2100" b="0" noProof="0">
                <a:solidFill>
                  <a:srgbClr val="576574"/>
                </a:solidFill>
                <a:latin typeface="Arial"/>
                <a:ea typeface="Arial"/>
                <a:cs typeface="Arial"/>
              </a:rPr>
              <a:t>Rozdíl je vždy 2 odpovědi. Vpravo jsou viditelné délky sloupců 3 a 5.</a:t>
            </a:r>
          </a:p>
        </p:txBody>
      </p:sp>
    </p:spTree>
    <p:extLst>
      <p:ext uri="{BB962C8B-B14F-4D97-AF65-F5344CB8AC3E}">
        <p14:creationId xmlns:p14="http://schemas.microsoft.com/office/powerpoint/2010/main" val="545216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2A424D1D-FF96-4890-BFD9-E80061932855}"/>
              </a:ext>
            </a:extLst>
          </p:cNvPr>
          <p:cNvSpPr>
            <a:spLocks noGrp="1"/>
          </p:cNvSpPr>
          <p:nvPr/>
        </p:nvSpPr>
        <p:spPr>
          <a:xfrm>
            <a:off x="838200" y="5715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Četnosti v Excelu</a:t>
            </a:r>
            <a:endParaRPr lang="cs-CZ" altLang="cs-CZ" noProof="0"/>
          </a:p>
        </p:txBody>
      </p:sp>
      <p:sp>
        <p:nvSpPr>
          <p:cNvPr id="2" name="Obdélník 1">
            <a:extLst>
              <a:ext uri="{FF2B5EF4-FFF2-40B4-BE49-F238E27FC236}">
                <a16:creationId xmlns:a16="http://schemas.microsoft.com/office/drawing/2014/main" id="{996B2537-0E00-40DF-882A-60783C25311B}"/>
              </a:ext>
            </a:extLst>
          </p:cNvPr>
          <p:cNvSpPr>
            <a:spLocks noGrp="1"/>
          </p:cNvSpPr>
          <p:nvPr/>
        </p:nvSpPr>
        <p:spPr>
          <a:xfrm>
            <a:off x="838200" y="2047875"/>
            <a:ext cx="13563600" cy="116205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POČET: počet číselných údajů</a:t>
            </a:r>
            <a:endParaRPr lang="cs-CZ" altLang="cs-CZ" noProof="0"/>
          </a:p>
        </p:txBody>
      </p:sp>
      <p:sp>
        <p:nvSpPr>
          <p:cNvPr id="3" name="Obdélník 2">
            <a:extLst>
              <a:ext uri="{FF2B5EF4-FFF2-40B4-BE49-F238E27FC236}">
                <a16:creationId xmlns:a16="http://schemas.microsoft.com/office/drawing/2014/main" id="{B4EB6EB5-60DA-4D3F-AE29-E0B9948DC671}"/>
              </a:ext>
            </a:extLst>
          </p:cNvPr>
          <p:cNvSpPr>
            <a:spLocks noGrp="1"/>
          </p:cNvSpPr>
          <p:nvPr/>
        </p:nvSpPr>
        <p:spPr>
          <a:xfrm>
            <a:off x="838200" y="33813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COUNTIFS: počet případů splňujících podmínky</a:t>
            </a:r>
            <a:endParaRPr lang="cs-CZ" altLang="cs-CZ" noProof="0"/>
          </a:p>
        </p:txBody>
      </p:sp>
      <p:sp>
        <p:nvSpPr>
          <p:cNvPr id="4" name="Obdélník 3">
            <a:extLst>
              <a:ext uri="{FF2B5EF4-FFF2-40B4-BE49-F238E27FC236}">
                <a16:creationId xmlns:a16="http://schemas.microsoft.com/office/drawing/2014/main" id="{91F499B8-17A8-47FB-B283-6968C4F15B50}"/>
              </a:ext>
            </a:extLst>
          </p:cNvPr>
          <p:cNvSpPr>
            <a:spLocks noGrp="1"/>
          </p:cNvSpPr>
          <p:nvPr/>
        </p:nvSpPr>
        <p:spPr>
          <a:xfrm>
            <a:off x="838200" y="47148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SUMA: součet četností</a:t>
            </a:r>
            <a:endParaRPr lang="cs-CZ" altLang="cs-CZ" noProof="0"/>
          </a:p>
        </p:txBody>
      </p:sp>
      <p:sp>
        <p:nvSpPr>
          <p:cNvPr id="5" name="Obdélník 4">
            <a:extLst>
              <a:ext uri="{FF2B5EF4-FFF2-40B4-BE49-F238E27FC236}">
                <a16:creationId xmlns:a16="http://schemas.microsoft.com/office/drawing/2014/main" id="{B28EF810-2235-4EFE-B975-2D6A7934C1BE}"/>
              </a:ext>
            </a:extLst>
          </p:cNvPr>
          <p:cNvSpPr>
            <a:spLocks noGrp="1"/>
          </p:cNvSpPr>
          <p:nvPr/>
        </p:nvSpPr>
        <p:spPr>
          <a:xfrm>
            <a:off x="838200" y="6048375"/>
            <a:ext cx="13563600" cy="1162050"/>
          </a:xfrm>
          <a:prstGeom prst="rect">
            <a:avLst/>
          </a:prstGeom>
          <a:noFill/>
          <a:ln w="0">
            <a:noFill/>
          </a:ln>
        </p:spPr>
        <p:txBody>
          <a:bodyPr wrap="square" lIns="0" tIns="0" rIns="0" bIns="0" anchor="t">
            <a:noAutofit/>
          </a:bodyPr>
          <a:lstStyle/>
          <a:p>
            <a:pPr>
              <a:defRPr lang="cs-CZ" altLang="cs-CZ" sz="2850" b="0" noProof="0">
                <a:solidFill>
                  <a:srgbClr val="142A3B"/>
                </a:solidFill>
                <a:latin typeface="Arial"/>
                <a:ea typeface="Arial"/>
                <a:cs typeface="Arial"/>
              </a:defRPr>
            </a:pPr>
            <a:r>
              <a:rPr lang="cs-CZ" altLang="cs-CZ" sz="2850" b="0" noProof="0">
                <a:solidFill>
                  <a:srgbClr val="142A3B"/>
                </a:solidFill>
                <a:latin typeface="Arial"/>
                <a:ea typeface="Arial"/>
                <a:cs typeface="Arial"/>
              </a:rPr>
              <a:t>Procentní formát zobrazuje podíl × 100.</a:t>
            </a:r>
            <a:endParaRPr lang="cs-CZ" altLang="cs-CZ" noProof="0"/>
          </a:p>
        </p:txBody>
      </p:sp>
      <p:sp>
        <p:nvSpPr>
          <p:cNvPr id="6" name="Obdélník 5">
            <a:extLst>
              <a:ext uri="{FF2B5EF4-FFF2-40B4-BE49-F238E27FC236}">
                <a16:creationId xmlns:a16="http://schemas.microsoft.com/office/drawing/2014/main" id="{27B3F24A-A81B-4CC5-AA0E-479C4E4DEA26}"/>
              </a:ext>
            </a:extLst>
          </p:cNvPr>
          <p:cNvSpPr>
            <a:spLocks noGrp="1"/>
          </p:cNvSpPr>
          <p:nvPr/>
        </p:nvSpPr>
        <p:spPr>
          <a:xfrm>
            <a:off x="13716000" y="8086725"/>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23</a:t>
            </a:r>
            <a:endParaRPr lang="cs-CZ" altLang="cs-CZ" noProof="0"/>
          </a:p>
        </p:txBody>
      </p:sp>
    </p:spTree>
    <p:extLst>
      <p:ext uri="{BB962C8B-B14F-4D97-AF65-F5344CB8AC3E}">
        <p14:creationId xmlns:p14="http://schemas.microsoft.com/office/powerpoint/2010/main" val="209786994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6602</Words>
  <Application>Microsoft Office PowerPoint</Application>
  <DocSecurity>0</DocSecurity>
  <PresentationFormat>Vlastní</PresentationFormat>
  <Paragraphs>347</Paragraphs>
  <Slides>21</Slides>
  <Notes>21</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21</vt:i4>
      </vt:variant>
    </vt:vector>
  </HeadingPairs>
  <TitlesOfParts>
    <vt:vector size="25" baseType="lpstr">
      <vt:lpstr>Arial</vt:lpstr>
      <vt:lpstr>Calibri</vt:lpstr>
      <vt:lpstr>Cambria Math</vt:lpstr>
      <vt:lpstr>ChatGPT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Karel Rečka</cp:lastModifiedBy>
  <cp:revision>6</cp:revision>
  <dcterms:created xsi:type="dcterms:W3CDTF">2026-10-05T19:11:40Z</dcterms:created>
  <dcterms:modified xsi:type="dcterms:W3CDTF">2026-10-07T18:31:25Z</dcterms:modified>
</cp:coreProperties>
</file>